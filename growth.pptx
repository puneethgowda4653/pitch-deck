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VKF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0969F"/>
                </a:solidFill>
                <a:latin typeface="Calibri"/>
              </a:rPr>
              <a:t>Catalyzing Enduring Change, Empowering Communities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F262F"/>
                </a:solidFill>
                <a:latin typeface="Calibri"/>
              </a:rPr>
              <a:t>Driving sustainable development and inclusive growth at the grassroots level, aligned with UN SDGs.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62F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262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0969F"/>
                </a:solidFill>
                <a:latin typeface="Calibri"/>
              </a:rPr>
              <a:t>Transforming Karnataka into a Catalyst for India’s Global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676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39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622,301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39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0969F"/>
                </a:solidFill>
                <a:latin typeface="Calibri"/>
              </a:rPr>
              <a:t>Beneficiaries Reached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82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62F"/>
                </a:solidFill>
                <a:latin typeface="Calibri"/>
              </a:rPr>
              <a:t>Across Karnataka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12,000+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0969F"/>
                </a:solidFill>
                <a:latin typeface="Calibri"/>
              </a:rPr>
              <a:t>Rural Startups Created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62F"/>
                </a:solidFill>
                <a:latin typeface="Calibri"/>
              </a:rPr>
              <a:t>Fostering local entrepreneurship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460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17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236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17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0969F"/>
                </a:solidFill>
                <a:latin typeface="Calibri"/>
              </a:rPr>
              <a:t>Presence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60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62F"/>
                </a:solidFill>
                <a:latin typeface="Calibri"/>
              </a:rPr>
              <a:t>Taluqs covered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69F"/>
                </a:solidFill>
                <a:latin typeface="Calibri"/>
              </a:rPr>
              <a:t>VKF Foundation is a leading social impact aggregator and think tank, uniting diverse change champions to drive measurable, SDG-aligned impact. We focus on empowering rural communities and fostering entrepreneurship in Karnataka, with a proven track record of creating sustainable growth.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›  </a:t>
            </a:r>
            <a:r>
              <a:rPr sz="1300" b="1">
                <a:solidFill>
                  <a:srgbClr val="90969F"/>
                </a:solidFill>
                <a:latin typeface="Calibri"/>
              </a:rPr>
              <a:t>Mission:</a:t>
            </a:r>
            <a:r>
              <a:rPr sz="1300" b="0">
                <a:solidFill>
                  <a:srgbClr val="90969F"/>
                </a:solidFill>
                <a:latin typeface="Calibri"/>
              </a:rPr>
              <a:t> Empowering communities for inclusive growth and sustainable development.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›  </a:t>
            </a:r>
            <a:r>
              <a:rPr sz="1300" b="1">
                <a:solidFill>
                  <a:srgbClr val="90969F"/>
                </a:solidFill>
                <a:latin typeface="Calibri"/>
              </a:rPr>
              <a:t>Impact:</a:t>
            </a:r>
            <a:r>
              <a:rPr sz="1300" b="0">
                <a:solidFill>
                  <a:srgbClr val="90969F"/>
                </a:solidFill>
                <a:latin typeface="Calibri"/>
              </a:rPr>
              <a:t> 622,301 beneficiaries reached, 12,000+ rural startups created, presence in 236 taluqs.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›  </a:t>
            </a:r>
            <a:r>
              <a:rPr sz="1300" b="1">
                <a:solidFill>
                  <a:srgbClr val="90969F"/>
                </a:solidFill>
                <a:latin typeface="Calibri"/>
              </a:rPr>
              <a:t>Approach:</a:t>
            </a:r>
            <a:r>
              <a:rPr sz="1300" b="0">
                <a:solidFill>
                  <a:srgbClr val="90969F"/>
                </a:solidFill>
                <a:latin typeface="Calibri"/>
              </a:rPr>
              <a:t> Strategic partnerships, innovative project implementation, capacity building, and accountable resource mobilization.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262F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0969F"/>
                </a:solidFill>
                <a:latin typeface="Calibri"/>
              </a:rPr>
              <a:t>Tapping into India's Booming Social Impact Ecosystem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$11B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0969F"/>
                </a:solidFill>
                <a:latin typeface="Calibri"/>
              </a:rPr>
              <a:t>Impact Investing Market (India)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62F"/>
                </a:solidFill>
                <a:latin typeface="Calibri"/>
              </a:rPr>
              <a:t>Projected by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20%+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0969F"/>
                </a:solidFill>
                <a:latin typeface="Calibri"/>
              </a:rPr>
              <a:t>CAGR (India Impact Investing)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62F"/>
                </a:solidFill>
                <a:latin typeface="Calibri"/>
              </a:rPr>
              <a:t>Estimated annual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69F"/>
                </a:solidFill>
                <a:latin typeface="Calibri"/>
              </a:rPr>
              <a:t>India's impact investing market is experiencing robust growth, driven by increasing awareness of social and environmental issues, government initiatives, and a rising number of social enterprises. This presents a significant opportunity for VKF Foundation to scale its proven models and attract further investment.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›  </a:t>
            </a:r>
            <a:r>
              <a:rPr sz="1300" b="1">
                <a:solidFill>
                  <a:srgbClr val="90969F"/>
                </a:solidFill>
                <a:latin typeface="Calibri"/>
              </a:rPr>
              <a:t>Market Growth:</a:t>
            </a:r>
            <a:r>
              <a:rPr sz="1300" b="0">
                <a:solidFill>
                  <a:srgbClr val="90969F"/>
                </a:solidFill>
                <a:latin typeface="Calibri"/>
              </a:rPr>
              <a:t> India's impact investing market is projected to reach </a:t>
            </a:r>
            <a:r>
              <a:rPr sz="1300" b="1">
                <a:solidFill>
                  <a:srgbClr val="90969F"/>
                </a:solidFill>
                <a:latin typeface="Calibri"/>
              </a:rPr>
              <a:t>$11 billion by 2025</a:t>
            </a:r>
            <a:r>
              <a:rPr sz="1300" b="0">
                <a:solidFill>
                  <a:srgbClr val="90969F"/>
                </a:solidFill>
                <a:latin typeface="Calibri"/>
              </a:rPr>
              <a:t>, growing at a significant CAGR.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›  </a:t>
            </a:r>
            <a:r>
              <a:rPr sz="1300" b="1">
                <a:solidFill>
                  <a:srgbClr val="90969F"/>
                </a:solidFill>
                <a:latin typeface="Calibri"/>
              </a:rPr>
              <a:t>Ecosystem Support:</a:t>
            </a:r>
            <a:r>
              <a:rPr sz="1300" b="0">
                <a:solidFill>
                  <a:srgbClr val="90969F"/>
                </a:solidFill>
                <a:latin typeface="Calibri"/>
              </a:rPr>
              <a:t> Strong government backing for skill development, rural entrepreneurship, and sustainable agriculture initiatives.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›  </a:t>
            </a:r>
            <a:r>
              <a:rPr sz="1300" b="1">
                <a:solidFill>
                  <a:srgbClr val="90969F"/>
                </a:solidFill>
                <a:latin typeface="Calibri"/>
              </a:rPr>
              <a:t>Untapped Potential:</a:t>
            </a:r>
            <a:r>
              <a:rPr sz="1300" b="0">
                <a:solidFill>
                  <a:srgbClr val="90969F"/>
                </a:solidFill>
                <a:latin typeface="Calibri"/>
              </a:rPr>
              <a:t> Vast rural and semi-urban populations in Karnataka and beyond present immense opportunities for inclusive growth and economic empowerment.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262F"/>
                </a:solidFill>
                <a:latin typeface="Calibri"/>
              </a:rPr>
              <a:t>PROBLEM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Problem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0969F"/>
                </a:solidFill>
                <a:latin typeface="Calibri"/>
              </a:rPr>
              <a:t>Bridging Gaps, Building Futures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20E1E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75569"/>
                </a:solidFill>
                <a:latin typeface="Calibri"/>
              </a:rPr>
              <a:t>Economic Disparity &amp; Lack of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•  </a:t>
            </a:r>
            <a:r>
              <a:rPr sz="1300" b="1">
                <a:solidFill>
                  <a:srgbClr val="90969F"/>
                </a:solidFill>
                <a:latin typeface="Calibri"/>
              </a:rPr>
              <a:t>Rural Unemployment:</a:t>
            </a:r>
            <a:r>
              <a:rPr sz="1300" b="0">
                <a:solidFill>
                  <a:srgbClr val="90969F"/>
                </a:solidFill>
                <a:latin typeface="Calibri"/>
              </a:rPr>
              <a:t> High rates of unemployment and underemployment in rural and semi-urban areas, particularly among youth and women.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•  </a:t>
            </a:r>
            <a:r>
              <a:rPr sz="1300" b="1">
                <a:solidFill>
                  <a:srgbClr val="90969F"/>
                </a:solidFill>
                <a:latin typeface="Calibri"/>
              </a:rPr>
              <a:t>Skill Gap:</a:t>
            </a:r>
            <a:r>
              <a:rPr sz="1300" b="0">
                <a:solidFill>
                  <a:srgbClr val="90969F"/>
                </a:solidFill>
                <a:latin typeface="Calibri"/>
              </a:rPr>
              <a:t> Mismatch between available skills and industry demands, hindering employability and entrepreneurial potential.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•  </a:t>
            </a:r>
            <a:r>
              <a:rPr sz="1300" b="1">
                <a:solidFill>
                  <a:srgbClr val="90969F"/>
                </a:solidFill>
                <a:latin typeface="Calibri"/>
              </a:rPr>
              <a:t>Limited Market Access:</a:t>
            </a:r>
            <a:r>
              <a:rPr sz="1300" b="0">
                <a:solidFill>
                  <a:srgbClr val="90969F"/>
                </a:solidFill>
                <a:latin typeface="Calibri"/>
              </a:rPr>
              <a:t> Small-scale producers and artisans struggle with access to markets, capital, and modern techniques.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•  </a:t>
            </a:r>
            <a:r>
              <a:rPr sz="1300" b="1">
                <a:solidFill>
                  <a:srgbClr val="90969F"/>
                </a:solidFill>
                <a:latin typeface="Calibri"/>
              </a:rPr>
              <a:t>Fragmented Impact Efforts:</a:t>
            </a:r>
            <a:r>
              <a:rPr sz="1300" b="0">
                <a:solidFill>
                  <a:srgbClr val="90969F"/>
                </a:solidFill>
                <a:latin typeface="Calibri"/>
              </a:rPr>
              <a:t> Social initiatives often lack coordination, scalability, and measurable outcomes, limiting true transformation.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20E1E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Our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75569"/>
                </a:solidFill>
                <a:latin typeface="Calibri"/>
              </a:rPr>
              <a:t>Integrated Grassroots Empowerment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•  </a:t>
            </a:r>
            <a:r>
              <a:rPr sz="1300" b="1">
                <a:solidFill>
                  <a:srgbClr val="90969F"/>
                </a:solidFill>
                <a:latin typeface="Calibri"/>
              </a:rPr>
              <a:t>Skill Development &amp; Entrepreneurship:</a:t>
            </a:r>
            <a:r>
              <a:rPr sz="1300" b="0">
                <a:solidFill>
                  <a:srgbClr val="90969F"/>
                </a:solidFill>
                <a:latin typeface="Calibri"/>
              </a:rPr>
              <a:t> Tailored training programs and mentorship to foster rural startups and enhance employability.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•  </a:t>
            </a:r>
            <a:r>
              <a:rPr sz="1300" b="1">
                <a:solidFill>
                  <a:srgbClr val="90969F"/>
                </a:solidFill>
                <a:latin typeface="Calibri"/>
              </a:rPr>
              <a:t>Cluster Development:</a:t>
            </a:r>
            <a:r>
              <a:rPr sz="1300" b="0">
                <a:solidFill>
                  <a:srgbClr val="90969F"/>
                </a:solidFill>
                <a:latin typeface="Calibri"/>
              </a:rPr>
              <a:t> Building commodity-specific and artisan clusters (e.g., Jute) to improve production efficiency and market linkages.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•  </a:t>
            </a:r>
            <a:r>
              <a:rPr sz="1300" b="1">
                <a:solidFill>
                  <a:srgbClr val="90969F"/>
                </a:solidFill>
                <a:latin typeface="Calibri"/>
              </a:rPr>
              <a:t>Strategic Partnerships:</a:t>
            </a:r>
            <a:r>
              <a:rPr sz="1300" b="0">
                <a:solidFill>
                  <a:srgbClr val="90969F"/>
                </a:solidFill>
                <a:latin typeface="Calibri"/>
              </a:rPr>
              <a:t> Collaborating with government, corporates (CSR), and academic institutions to amplify reach and resources.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•  </a:t>
            </a:r>
            <a:r>
              <a:rPr sz="1300" b="1">
                <a:solidFill>
                  <a:srgbClr val="90969F"/>
                </a:solidFill>
                <a:latin typeface="Calibri"/>
              </a:rPr>
              <a:t>Data-Driven Impact:</a:t>
            </a:r>
            <a:r>
              <a:rPr sz="1300" b="0">
                <a:solidFill>
                  <a:srgbClr val="90969F"/>
                </a:solidFill>
                <a:latin typeface="Calibri"/>
              </a:rPr>
              <a:t> Utilizing robust monitoring and evaluation systems to ensure accountability and long-term sustainability, aligned with UN SDGs.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28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262F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0969F"/>
                </a:solidFill>
                <a:latin typeface="Calibri"/>
              </a:rPr>
              <a:t>Transforming Vision into Action Across Key Sectors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Agriculture Council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75569"/>
                </a:solidFill>
                <a:latin typeface="Calibri"/>
              </a:rPr>
              <a:t>Agri-Business Corridor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Develops sustainable agribusiness opportunities, identifies geographical areas, and builds commodity-specific clusters. Fosters a new generation of agripreneurs.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Skill Development Council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75569"/>
                </a:solidFill>
                <a:latin typeface="Calibri"/>
              </a:rPr>
              <a:t>Enhanced Employability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Enhances employability and entrepreneurship for rural youth and women through partnerships with institutions and training providers. Focus on future-ready skills.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CSR Council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75569"/>
                </a:solidFill>
                <a:latin typeface="Calibri"/>
              </a:rPr>
              <a:t>SDG 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Aligns VKF initiatives with UN SDGs and engages corporations committed to supporting sustainability and social causes. Maximizes corporate social responsibility impact.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757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Environment Council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57F8E"/>
                </a:solidFill>
                <a:latin typeface="Calibri"/>
              </a:rPr>
              <a:t>Sustainable Practices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Advances sustainability through environmental solutions, eco-friendly practices, and conservation project implementation. Promotes green initiatives.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262F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0969F"/>
                </a:solidFill>
                <a:latin typeface="Calibri"/>
              </a:rPr>
              <a:t>Driving Impact Through Collaborative Ecosystems and Diverse Funding Streams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Strategic Partnerships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75569"/>
                </a:solidFill>
                <a:latin typeface="Calibri"/>
              </a:rPr>
              <a:t>Government &amp; Corporates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Foster collaborations with government bodies (e.g., NABARD, SIDBI, NSDC), international organizations (UNDP, Rotary), and corporate CSR arms to influence policy and attract resources.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Project Implementation &amp;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75569"/>
                </a:solidFill>
                <a:latin typeface="Calibri"/>
              </a:rPr>
              <a:t>Impactful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Design and execute innovative projects using design thinking and data-driven approaches, maximizing impact and optimizing resource allocation across diverse initiatives.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Capacity Building &amp; Mentorship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75569"/>
                </a:solidFill>
                <a:latin typeface="Calibri"/>
              </a:rPr>
              <a:t>Empowering Communities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Provide training, mentorship, and knowledge sharing to local communities, SHGs, and entrepreneurs, empowering them to drive their own sustainable development.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757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Funding &amp; Resource Mobilization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57F8E"/>
                </a:solidFill>
                <a:latin typeface="Calibri"/>
              </a:rPr>
              <a:t>Sustainable Capital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Mobilize financial resources through grants, CSR funds, impact investments, and government schemes, with robust monitoring and evaluation for accountability.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262F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Traction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0969F"/>
                </a:solidFill>
                <a:latin typeface="Calibri"/>
              </a:rPr>
              <a:t>Demonstrated Growth and Community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676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39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39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0969F"/>
                </a:solidFill>
                <a:latin typeface="Calibri"/>
              </a:rPr>
              <a:t>Annual Recurring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82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62F"/>
                </a:solidFill>
                <a:latin typeface="Calibri"/>
              </a:rPr>
              <a:t>Strong financial foundation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10,000+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0969F"/>
                </a:solidFill>
                <a:latin typeface="Calibri"/>
              </a:rPr>
              <a:t>Total Beneficiaries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62F"/>
                </a:solidFill>
                <a:latin typeface="Calibri"/>
              </a:rPr>
              <a:t>Directly impacted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460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17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6,000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17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0969F"/>
                </a:solidFill>
                <a:latin typeface="Calibri"/>
              </a:rPr>
              <a:t>Monthly Active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60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62F"/>
                </a:solidFill>
                <a:latin typeface="Calibri"/>
              </a:rPr>
              <a:t>Engaged in programs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69F"/>
                </a:solidFill>
                <a:latin typeface="Calibri"/>
              </a:rPr>
              <a:t>VKF Foundation has achieved significant milestones, showcasing strong operational capabilities and a deep reach into target communities. Our metrics reflect not just activity, but tangible impact on lives and livelihoods across Karnataka.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›  </a:t>
            </a:r>
            <a:r>
              <a:rPr sz="1300" b="1">
                <a:solidFill>
                  <a:srgbClr val="90969F"/>
                </a:solidFill>
                <a:latin typeface="Calibri"/>
              </a:rPr>
              <a:t>Annual Recurring Revenue (ARR):</a:t>
            </a:r>
            <a:r>
              <a:rPr sz="1300" b="0">
                <a:solidFill>
                  <a:srgbClr val="90969F"/>
                </a:solidFill>
                <a:latin typeface="Calibri"/>
              </a:rPr>
              <a:t> Achieved </a:t>
            </a:r>
            <a:r>
              <a:rPr sz="1300" b="1">
                <a:solidFill>
                  <a:srgbClr val="90969F"/>
                </a:solidFill>
                <a:latin typeface="Calibri"/>
              </a:rPr>
              <a:t>$500,000</a:t>
            </a:r>
            <a:r>
              <a:rPr sz="1300" b="0">
                <a:solidFill>
                  <a:srgbClr val="90969F"/>
                </a:solidFill>
                <a:latin typeface="Calibri"/>
              </a:rPr>
              <a:t> through diverse funding streams and project engagements.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›  </a:t>
            </a:r>
            <a:r>
              <a:rPr sz="1300" b="1">
                <a:solidFill>
                  <a:srgbClr val="90969F"/>
                </a:solidFill>
                <a:latin typeface="Calibri"/>
              </a:rPr>
              <a:t>Monthly Recurring Revenue (MRR):</a:t>
            </a:r>
            <a:r>
              <a:rPr sz="1300" b="0">
                <a:solidFill>
                  <a:srgbClr val="90969F"/>
                </a:solidFill>
                <a:latin typeface="Calibri"/>
              </a:rPr>
              <a:t> Consistently generating </a:t>
            </a:r>
            <a:r>
              <a:rPr sz="1300" b="1">
                <a:solidFill>
                  <a:srgbClr val="90969F"/>
                </a:solidFill>
                <a:latin typeface="Calibri"/>
              </a:rPr>
              <a:t>$20,000</a:t>
            </a:r>
            <a:r>
              <a:rPr sz="1300" b="0">
                <a:solidFill>
                  <a:srgbClr val="90969F"/>
                </a:solidFill>
                <a:latin typeface="Calibri"/>
              </a:rPr>
              <a:t> from ongoing programs and partnerships.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›  </a:t>
            </a:r>
            <a:r>
              <a:rPr sz="1300" b="1">
                <a:solidFill>
                  <a:srgbClr val="90969F"/>
                </a:solidFill>
                <a:latin typeface="Calibri"/>
              </a:rPr>
              <a:t>Total Beneficiaries:</a:t>
            </a:r>
            <a:r>
              <a:rPr sz="1300" b="0">
                <a:solidFill>
                  <a:srgbClr val="90969F"/>
                </a:solidFill>
                <a:latin typeface="Calibri"/>
              </a:rPr>
              <a:t> Reached </a:t>
            </a:r>
            <a:r>
              <a:rPr sz="1300" b="1">
                <a:solidFill>
                  <a:srgbClr val="90969F"/>
                </a:solidFill>
                <a:latin typeface="Calibri"/>
              </a:rPr>
              <a:t>10,000+</a:t>
            </a:r>
            <a:r>
              <a:rPr sz="1300" b="0">
                <a:solidFill>
                  <a:srgbClr val="90969F"/>
                </a:solidFill>
                <a:latin typeface="Calibri"/>
              </a:rPr>
              <a:t> individuals and groups, directly impacting their economic and social well-being.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262F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0969F"/>
                </a:solidFill>
                <a:latin typeface="Calibri"/>
              </a:rPr>
              <a:t>Differentiating Through Integrated Approach &amp; Deep Local Presence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Local NGOs/Trusts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75569"/>
                </a:solidFill>
                <a:latin typeface="Calibri"/>
              </a:rPr>
              <a:t>Limited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Often localized, lack comprehensive sector-specific expertise, and struggle with scaling initiatives beyond a specific region or project. Limited resource mobilization.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Large International NGOs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75569"/>
                </a:solidFill>
                <a:latin typeface="Calibri"/>
              </a:rPr>
              <a:t>Less Localized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May have significant funding but sometimes lack deep, nuanced understanding of specific local challenges and grassroots cultural contexts. Slower adaptation.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Government Development Agencies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75569"/>
                </a:solidFill>
                <a:latin typeface="Calibri"/>
              </a:rPr>
              <a:t>Bureaucratic Hurdles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Can face bureaucratic inefficiencies, slower decision-making processes, and challenges in rapid innovation or adapting to evolving community needs. Limited flexibility.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262F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Core Leadership &amp; Advisory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0969F"/>
                </a:solidFill>
                <a:latin typeface="Calibri"/>
              </a:rPr>
              <a:t>A Collective of Visionaries and Industry Stalwarts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Mr. Kishor Jagirdar — President, Director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75569"/>
                </a:solidFill>
                <a:latin typeface="Calibri"/>
              </a:rPr>
              <a:t>Visionary Leader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Steering the foundation's strategic direction and fostering key partnerships for sustainable development.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Swami Veet Sandeh — Director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75569"/>
                </a:solidFill>
                <a:latin typeface="Calibri"/>
              </a:rPr>
              <a:t>Spiritual &amp; Social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Provides guidance on ethical frameworks and community engagement, reinforcing the foundation's core values.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Dr. Anant R Koppar — Governing Council Member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75569"/>
                </a:solidFill>
                <a:latin typeface="Calibri"/>
              </a:rPr>
              <a:t>Industry Innovator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Brings extensive experience in industry and innovation, guiding strategic initiatives and technological integration.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757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Smt Ratna Prabha IAS (Retd) — Governing Council Member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57F8E"/>
                </a:solidFill>
                <a:latin typeface="Calibri"/>
              </a:rPr>
              <a:t>Former Chief Secretary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Leverages vast experience in public administration and policy-making from her tenure as Former Chief Secretary, Govt of Karnataka.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262F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Sizing &amp; 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0969F"/>
                </a:solidFill>
                <a:latin typeface="Calibri"/>
              </a:rPr>
              <a:t>Sustained Growth in a High-Impact Sector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554480"/>
            <a:ext cx="3840480" cy="3840480"/>
          </a:xfrm>
          <a:prstGeom prst="ellipse">
            <a:avLst/>
          </a:prstGeom>
          <a:solidFill>
            <a:srgbClr val="475569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920240"/>
            <a:ext cx="3108960" cy="3108960"/>
          </a:xfrm>
          <a:prstGeom prst="ellipse">
            <a:avLst/>
          </a:prstGeom>
          <a:solidFill>
            <a:srgbClr val="475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2331720"/>
            <a:ext cx="2240280" cy="2240280"/>
          </a:xfrm>
          <a:prstGeom prst="ellipse">
            <a:avLst/>
          </a:prstGeom>
          <a:solidFill>
            <a:srgbClr val="475569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834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62F"/>
                </a:solidFill>
                <a:latin typeface="Calibri"/>
              </a:rPr>
              <a:t>CAGR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546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57F8E"/>
                </a:solidFill>
                <a:latin typeface="Calibri"/>
              </a:rPr>
              <a:t>20%+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37360"/>
            <a:ext cx="6675120" cy="91440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1737360"/>
            <a:ext cx="64008" cy="914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262F"/>
                </a:solidFill>
                <a:latin typeface="Calibri"/>
              </a:rPr>
              <a:t>TAM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105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75569"/>
                </a:solidFill>
                <a:latin typeface="Calibri"/>
              </a:rPr>
              <a:t>$11B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402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969F"/>
                </a:solidFill>
                <a:latin typeface="Calibri"/>
              </a:rPr>
              <a:t>India Impact Investing Market by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788920"/>
            <a:ext cx="6675120" cy="91440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788920"/>
            <a:ext cx="64008" cy="914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262F"/>
                </a:solidFill>
                <a:latin typeface="Calibri"/>
              </a:rPr>
              <a:t>SAM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8620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75569"/>
                </a:solidFill>
                <a:latin typeface="Calibri"/>
              </a:rPr>
              <a:t>$3B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91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969F"/>
                </a:solidFill>
                <a:latin typeface="Calibri"/>
              </a:rPr>
              <a:t>Karnataka's share of Impact Investing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840480"/>
            <a:ext cx="6675120" cy="91440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0" y="3840480"/>
            <a:ext cx="64008" cy="914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931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262F"/>
                </a:solidFill>
                <a:latin typeface="Calibri"/>
              </a:rPr>
              <a:t>SOM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913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75569"/>
                </a:solidFill>
                <a:latin typeface="Calibri"/>
              </a:rPr>
              <a:t>$300M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343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969F"/>
                </a:solidFill>
                <a:latin typeface="Calibri"/>
              </a:rPr>
              <a:t>~10% SAM capture by 2028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3657600" cy="68580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969F"/>
                </a:solidFill>
                <a:latin typeface="Calibri"/>
              </a:rPr>
              <a:t/>
            </a:r>
            <a:r>
              <a:rPr sz="1200" b="1">
                <a:solidFill>
                  <a:srgbClr val="90969F"/>
                </a:solidFill>
                <a:latin typeface="Calibri"/>
              </a:rPr>
              <a:t>FY2026:</a:t>
            </a:r>
            <a:r>
              <a:rPr sz="1200" b="0">
                <a:solidFill>
                  <a:srgbClr val="90969F"/>
                </a:solidFill>
                <a:latin typeface="Calibri"/>
              </a:rPr>
              <a:t> $1.2M ARR · 25,000 beneficiaries · Expand to 5 new districts with Agri-Business Corridor.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760720"/>
            <a:ext cx="3657600" cy="68580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969F"/>
                </a:solidFill>
                <a:latin typeface="Calibri"/>
              </a:rPr>
              <a:t/>
            </a:r>
            <a:r>
              <a:rPr sz="1200" b="1">
                <a:solidFill>
                  <a:srgbClr val="90969F"/>
                </a:solidFill>
                <a:latin typeface="Calibri"/>
              </a:rPr>
              <a:t>FY2027:</a:t>
            </a:r>
            <a:r>
              <a:rPr sz="1200" b="0">
                <a:solidFill>
                  <a:srgbClr val="90969F"/>
                </a:solidFill>
                <a:latin typeface="Calibri"/>
              </a:rPr>
              <a:t> $3.5M ARR · 75,000 beneficiaries · Launch 3 new skill development centers.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5760720"/>
            <a:ext cx="3657600" cy="68580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969F"/>
                </a:solidFill>
                <a:latin typeface="Calibri"/>
              </a:rPr>
              <a:t/>
            </a:r>
            <a:r>
              <a:rPr sz="1200" b="1">
                <a:solidFill>
                  <a:srgbClr val="90969F"/>
                </a:solidFill>
                <a:latin typeface="Calibri"/>
              </a:rPr>
              <a:t>FY2028:</a:t>
            </a:r>
            <a:r>
              <a:rPr sz="1200" b="0">
                <a:solidFill>
                  <a:srgbClr val="90969F"/>
                </a:solidFill>
                <a:latin typeface="Calibri"/>
              </a:rPr>
              <a:t> $7.5M ARR · 150,000 beneficiaries · Achieve 10% SOM capture in Karnataka.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262F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0969F"/>
                </a:solidFill>
                <a:latin typeface="Calibri"/>
              </a:rPr>
              <a:t>Raising $600,000 to Scale Impact and Innovation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Investment Amount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75569"/>
                </a:solidFill>
                <a:latin typeface="Calibri"/>
              </a:rPr>
              <a:t>$600,000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Seed funding to scale operations and initiatives.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Strategic Expansion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75569"/>
                </a:solidFill>
                <a:latin typeface="Calibri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Funding new Agri-Business Corridors, Jute Clusters, and Skill Development Centers in underserved regions.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Technology &amp; Innovation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75569"/>
                </a:solidFill>
                <a:latin typeface="Calibri"/>
              </a:rPr>
              <a:t>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Investing in digital platforms for program management, impact measurement, and enhanced beneficiary engagement.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757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Team &amp; Capacity Building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57F8E"/>
                </a:solidFill>
                <a:latin typeface="Calibri"/>
              </a:rP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69F"/>
                </a:solidFill>
                <a:latin typeface="Calibri"/>
              </a:rPr>
              <a:t>Strengthening our core team, expert councils, and training local facilitators for broader reach.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Join Us in Building a Brighter Karnataka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0969F"/>
                </a:solidFill>
                <a:latin typeface="Calibri"/>
              </a:rPr>
              <a:t>Invest in Sustainable Impact, Empowering Generations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F262F"/>
                </a:solidFill>
                <a:latin typeface="Calibri"/>
              </a:rPr>
              <a:t>VKF Foundation offers a unique opportunity to invest in measurable social impact that drives economic growth, fosters entrepreneurship, and creates sustainable communities. Together, we can transform Karnataka into a model for inclusive development, serving as a catalyst for India’s global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62F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