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swiggy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swiggy is a quick-commerce platform — in a Large and growing quick-commerce market market growing at Strong double-digit CAGR.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Large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Total quick-commerce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Strong double-digit CAGR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2024–2030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03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Seed stage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Early stage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B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Launching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Growing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>swiggy builds purpose-built solutions for quick-commerce. The convergence of affordable AI infrastructure and widespread cloud adoption has created a window for swiggy to displace entrenched legacy vendors in the quick-commerce market — a transition that was cost-prohibitive just 3 years ago. Seed stage.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The quick-commerce market is at an inflection point — Large and growing quick-commerce market and accelerating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Large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Total quick-commerce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Significant 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Serviceable addressable market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03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Achievable 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SOM (Y3)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3-year capture target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B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Strong double-digit CAGR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CAGR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2024–2030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>The quick-commerce market is undergoing rapid transformation driven by digital adoption and AI integration. Companies in this space face mounting pressure to modernize legacy workflows, creating significant demand for purpose-built solutions. swiggy is positioned at the center of this shift. The convergence of affordable AI infrastructure and widespread cloud adoption has created a window for swiggy to displace entrenched legacy vendors in the quick-commerce market — a transition that was cost-prohibitive just 3 years ago.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Digital transformation accelerating across quick-commerce — 70%+ of enterprises increasing tech spend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AI and automation unlocking new efficiency gains previously unavailable to this sector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Shift from fragmented point solutions to integrated platforms reducing total cost of ownership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quick-commerce Has a Critical Unsolved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Buyers are losing time and money to an outdated status quo.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08DC2"/>
                </a:solidFill>
                <a:latin typeface="Calibri"/>
              </a:rPr>
              <a:t>High costs of existing fragmented tooling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825496"/>
            <a:ext cx="109728" cy="109728"/>
          </a:xfrm>
          <a:prstGeom prst="ellipse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69748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/>
            </a:r>
            <a:r>
              <a:rPr sz="1400" b="1">
                <a:solidFill>
                  <a:srgbClr val="808DC2"/>
                </a:solidFill>
                <a:latin typeface="Calibri"/>
              </a:rPr>
              <a:t>Pain:</a:t>
            </a:r>
            <a:r>
              <a:rPr sz="1400" b="0">
                <a:solidFill>
                  <a:srgbClr val="808DC2"/>
                </a:solidFill>
                <a:latin typeface="Calibri"/>
              </a:rPr>
              <a:t> High costs of existing fragmented tooling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392424"/>
            <a:ext cx="109728" cy="109728"/>
          </a:xfrm>
          <a:prstGeom prst="ellipse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26440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/>
            </a:r>
            <a:r>
              <a:rPr sz="1400" b="1">
                <a:solidFill>
                  <a:srgbClr val="808DC2"/>
                </a:solidFill>
                <a:latin typeface="Calibri"/>
              </a:rPr>
              <a:t>Pain:</a:t>
            </a:r>
            <a:r>
              <a:rPr sz="1400" b="0">
                <a:solidFill>
                  <a:srgbClr val="808DC2"/>
                </a:solidFill>
                <a:latin typeface="Calibri"/>
              </a:rPr>
              <a:t> Time-consuming manual processes reducing productivity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2825496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2697480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/>
            </a:r>
            <a:r>
              <a:rPr sz="1400" b="1">
                <a:solidFill>
                  <a:srgbClr val="808DC2"/>
                </a:solidFill>
                <a:latin typeface="Calibri"/>
              </a:rPr>
              <a:t>Pain:</a:t>
            </a:r>
            <a:r>
              <a:rPr sz="1400" b="0">
                <a:solidFill>
                  <a:srgbClr val="808DC2"/>
                </a:solidFill>
                <a:latin typeface="Calibri"/>
              </a:rPr>
              <a:t> Lack of real-time data for decision-making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3392424"/>
            <a:ext cx="109728" cy="109728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3264408"/>
            <a:ext cx="501091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/>
            </a:r>
            <a:r>
              <a:rPr sz="1400" b="1">
                <a:solidFill>
                  <a:srgbClr val="808DC2"/>
                </a:solidFill>
                <a:latin typeface="Calibri"/>
              </a:rPr>
              <a:t>Pain:</a:t>
            </a:r>
            <a:r>
              <a:rPr sz="1400" b="0">
                <a:solidFill>
                  <a:srgbClr val="808DC2"/>
                </a:solidFill>
                <a:latin typeface="Calibri"/>
              </a:rPr>
              <a:t> Integration complexity slowing teams 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swiggy solves this with a purpose-built quick-commerce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Core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Helps customers achieve outcomes faster and more reliably.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Speed &amp;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Fast onboarding — live in minutes, not months.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AI-powered insights on modern infrastructure.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Three capabilities that make swiggy the obvious choice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Core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Purpose-built for the use case — not a horizontal tool adapted for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Eliminates manual steps — customers save hours every week.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8927" y="269748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Real-time visibility that drives faster, smarter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Recurring revenue with strong expansion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Core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6"/>
                </a:solidFill>
                <a:latin typeface="Calibri"/>
              </a:rPr>
              <a:t>Primary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Technology services / SaaS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Secondary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Professional services and implementation for enterprise customers.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Land &amp; Expand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36BA"/>
                </a:solidFill>
                <a:latin typeface="Calibri"/>
              </a:rPr>
              <a:t>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Low entry point drives adoption; expansion within accounts grows ACV over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swiggy is gaining momentum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Y1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ARR projection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Early 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03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Early stage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B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Growing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Early stage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>Seed-funded and growing.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</a:t>
            </a:r>
            <a:r>
              <a:rPr sz="1300" b="1">
                <a:solidFill>
                  <a:srgbClr val="808DC2"/>
                </a:solidFill>
                <a:latin typeface="Calibri"/>
              </a:rPr>
              <a:t>Customers:</a:t>
            </a:r>
            <a:r>
              <a:rPr sz="1300" b="0">
                <a:solidFill>
                  <a:srgbClr val="808DC2"/>
                </a:solidFill>
                <a:latin typeface="Calibri"/>
              </a:rPr>
              <a:t> Design partners signed and providing active product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</a:t>
            </a:r>
            <a:r>
              <a:rPr sz="1300" b="1">
                <a:solidFill>
                  <a:srgbClr val="808DC2"/>
                </a:solidFill>
                <a:latin typeface="Calibri"/>
              </a:rPr>
              <a:t>Product:</a:t>
            </a:r>
            <a:r>
              <a:rPr sz="1300" b="0">
                <a:solidFill>
                  <a:srgbClr val="808DC2"/>
                </a:solidFill>
                <a:latin typeface="Calibri"/>
              </a:rPr>
              <a:t> Core platform live — onboarding first paying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›  </a:t>
            </a:r>
            <a:r>
              <a:rPr sz="1300" b="1">
                <a:solidFill>
                  <a:srgbClr val="808DC2"/>
                </a:solidFill>
                <a:latin typeface="Calibri"/>
              </a:rPr>
              <a:t>Team:</a:t>
            </a:r>
            <a:r>
              <a:rPr sz="1300" b="0">
                <a:solidFill>
                  <a:srgbClr val="808DC2"/>
                </a:solidFill>
                <a:latin typeface="Calibri"/>
              </a:rPr>
              <a:t> Core team in place across engineering, product, and GTM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swiggy is building the leading platform for quick-commerce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923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327" y="1828800"/>
            <a:ext cx="512064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2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Existing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2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6"/>
                </a:solidFill>
                <a:latin typeface="Calibri"/>
              </a:rPr>
              <a:t>swiggy's purpose-built approach vs. horizontal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Legacy tools and manual processes Slow and expensive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1828800"/>
            <a:ext cx="5120640" cy="347472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828800"/>
            <a:ext cx="512064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Generic platforms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Faster time-to-value with modern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Horizontal tools adapted for vertical use Not purpose-built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The right people to win this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Key Hire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6"/>
                </a:solidFill>
                <a:latin typeface="Calibri"/>
              </a:rPr>
              <a:t>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Actively hiring for this role as we scale.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Key Hire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Actively hiring for this role as we scale.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Key Hire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36BA"/>
                </a:solidFill>
                <a:latin typeface="Calibri"/>
              </a:rPr>
              <a:t>Open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Actively hiring for this role as we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Clear path to scale with defensible unit 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254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$500K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Conservative Y1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50 customers at $10K ACV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Base Y2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150 customers, expanding ACV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036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Optimistic Y3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Enterprise expansion + new verticals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120E1E"/>
          </a:solidFill>
          <a:ln w="19050">
            <a:solidFill>
              <a:srgbClr val="5B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70–80%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08DC2"/>
                </a:solidFill>
                <a:latin typeface="Calibri"/>
              </a:rPr>
              <a:t>Gross Margin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Target at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08DC2"/>
                </a:solidFill>
                <a:latin typeface="Calibri"/>
              </a:rPr>
              <a:t>Assumptions: land-and-expand motion, CAC payback &lt; 12 months, positive unit economics from Day 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01C51"/>
                </a:solidFill>
                <a:latin typeface="Calibri"/>
              </a:rP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08DC2"/>
                </a:solidFill>
                <a:latin typeface="Calibri"/>
              </a:rPr>
              <a:t>Raising to reach $2M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40B6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Scale engineering, ship enterprise features, reach product-market fit.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Go-to-Market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2CBF"/>
                </a:solidFill>
                <a:latin typeface="Calibri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Hire first AEs, launch demand gen, close 10 anchor customers.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20E1E"/>
          </a:solidFill>
          <a:ln w="12700">
            <a:solidFill>
              <a:srgbClr val="282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036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036BA"/>
                </a:solidFill>
                <a:latin typeface="Calibr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08DC2"/>
                </a:solidFill>
                <a:latin typeface="Calibri"/>
              </a:rPr>
              <a:t>Customer success, infrastructure, legal and compliance.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40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7B2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swiggy is building the leading platform for quick-commerce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808DC2"/>
                </a:solidFill>
                <a:latin typeface="Calibri"/>
              </a:rPr>
              <a:t>Join us in building the category leader in quick-commerce.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01C51"/>
                </a:solidFill>
                <a:latin typeface="Calibri"/>
              </a:rPr>
              <a:t>Contact us · swiggy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01C51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