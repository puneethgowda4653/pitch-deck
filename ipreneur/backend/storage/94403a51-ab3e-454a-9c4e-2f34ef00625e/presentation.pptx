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6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46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Calude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8F8F8E"/>
                </a:solidFill>
                <a:latin typeface="Calibri"/>
              </a:rPr>
              <a:t>Building reliable, interpretable, and steerable AI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F1F1E"/>
                </a:solidFill>
                <a:latin typeface="Calibri"/>
              </a:rPr>
              <a:t>Welcome to Calude, a public benefit corporation dedicated to AI safety and research.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E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6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1F1E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F8F8E"/>
                </a:solidFill>
                <a:latin typeface="Calibri"/>
              </a:rPr>
              <a:t>$49,999,999 Series A Funding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F8F8E"/>
                </a:solidFill>
                <a:latin typeface="Calibri"/>
              </a:rPr>
              <a:t>Calude is seeking $49,999,999 in Series A funding to accelerate our AI safety and research initiatives.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6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1F1E"/>
                </a:solidFill>
                <a:latin typeface="Calibri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F8F8E"/>
                </a:solidFill>
                <a:latin typeface="Calibri"/>
              </a:rPr>
              <a:t>High CAGR in AI Safety and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F8F8E"/>
                </a:solidFill>
                <a:latin typeface="Calibri"/>
              </a:rPr>
              <a:t>The global AI safety and research market is growing rapidly, with a high CAGR.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6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1F1E"/>
                </a:solidFill>
                <a:latin typeface="Calibri"/>
              </a:rPr>
              <a:t>PROBLEM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Problem &amp;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F8F8E"/>
                </a:solidFill>
                <a:latin typeface="Calibri"/>
              </a:rPr>
              <a:t>Addressing AI Safety and Ethics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5303520" cy="4114800"/>
          </a:xfrm>
          <a:prstGeom prst="rect">
            <a:avLst/>
          </a:prstGeom>
          <a:solidFill>
            <a:srgbClr val="120E1E"/>
          </a:solidFill>
          <a:ln w="19050">
            <a:solidFill>
              <a:srgbClr val="464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5303520" cy="64008"/>
          </a:xfrm>
          <a:prstGeom prst="rect">
            <a:avLst/>
          </a:prstGeom>
          <a:solidFill>
            <a:srgbClr val="46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3FF"/>
                </a:solidFill>
                <a:latin typeface="Calibr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64643"/>
                </a:solidFill>
                <a:latin typeface="Calibri"/>
              </a:rPr>
              <a:t>Lack of AI safety and ethics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F8F8E"/>
                </a:solidFill>
                <a:latin typeface="Calibri"/>
              </a:rPr>
              <a:t>•  </a:t>
            </a:r>
            <a:r>
              <a:rPr sz="1300" b="1">
                <a:solidFill>
                  <a:srgbClr val="8F8F8E"/>
                </a:solidFill>
                <a:latin typeface="Calibri"/>
              </a:rPr>
              <a:t>Unreliable AI systems:</a:t>
            </a:r>
            <a:r>
              <a:rPr sz="1300" b="0">
                <a:solidFill>
                  <a:srgbClr val="8F8F8E"/>
                </a:solidFill>
                <a:latin typeface="Calibri"/>
              </a:rPr>
              <a:t> Current AI systems are often unreliable and lack interpretability.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564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F8F8E"/>
                </a:solidFill>
                <a:latin typeface="Calibri"/>
              </a:rPr>
              <a:t>•  </a:t>
            </a:r>
            <a:r>
              <a:rPr sz="1300" b="1">
                <a:solidFill>
                  <a:srgbClr val="8F8F8E"/>
                </a:solidFill>
                <a:latin typeface="Calibri"/>
              </a:rPr>
              <a:t>Insufficient safety protocols:</a:t>
            </a:r>
            <a:r>
              <a:rPr sz="1300" b="0">
                <a:solidFill>
                  <a:srgbClr val="8F8F8E"/>
                </a:solidFill>
                <a:latin typeface="Calibri"/>
              </a:rPr>
              <a:t> Existing safety protocols are inadequate, leading to potential risks.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9534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F8F8E"/>
                </a:solidFill>
                <a:latin typeface="Calibri"/>
              </a:rPr>
              <a:t>•  </a:t>
            </a:r>
            <a:r>
              <a:rPr sz="1300" b="1">
                <a:solidFill>
                  <a:srgbClr val="8F8F8E"/>
                </a:solidFill>
                <a:latin typeface="Calibri"/>
              </a:rPr>
              <a:t>Ethical concerns:</a:t>
            </a:r>
            <a:r>
              <a:rPr sz="1300" b="0">
                <a:solidFill>
                  <a:srgbClr val="8F8F8E"/>
                </a:solidFill>
                <a:latin typeface="Calibri"/>
              </a:rPr>
              <a:t> AI development raises significant ethical concerns, including bias and fairness.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737360"/>
            <a:ext cx="5303520" cy="4114800"/>
          </a:xfrm>
          <a:prstGeom prst="rect">
            <a:avLst/>
          </a:prstGeom>
          <a:solidFill>
            <a:srgbClr val="120E1E"/>
          </a:solidFill>
          <a:ln w="19050">
            <a:solidFill>
              <a:srgbClr val="464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737360"/>
            <a:ext cx="5303520" cy="64008"/>
          </a:xfrm>
          <a:prstGeom prst="rect">
            <a:avLst/>
          </a:prstGeom>
          <a:solidFill>
            <a:srgbClr val="46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3FF"/>
                </a:solidFill>
                <a:latin typeface="Calibri"/>
              </a:rPr>
              <a:t>Our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64643"/>
                </a:solidFill>
                <a:latin typeface="Calibri"/>
              </a:rPr>
              <a:t>Reliable, interpretable, and steerable AI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017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F8F8E"/>
                </a:solidFill>
                <a:latin typeface="Calibri"/>
              </a:rPr>
              <a:t>•  </a:t>
            </a:r>
            <a:r>
              <a:rPr sz="1300" b="1">
                <a:solidFill>
                  <a:srgbClr val="8F8F8E"/>
                </a:solidFill>
                <a:latin typeface="Calibri"/>
              </a:rPr>
              <a:t>Advanced AI research:</a:t>
            </a:r>
            <a:r>
              <a:rPr sz="1300" b="0">
                <a:solidFill>
                  <a:srgbClr val="8F8F8E"/>
                </a:solidFill>
                <a:latin typeface="Calibri"/>
              </a:rPr>
              <a:t> We conduct cutting-edge research to develop reliable and interpretable AI systems.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4564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F8F8E"/>
                </a:solidFill>
                <a:latin typeface="Calibri"/>
              </a:rPr>
              <a:t>•  </a:t>
            </a:r>
            <a:r>
              <a:rPr sz="1300" b="1">
                <a:solidFill>
                  <a:srgbClr val="8F8F8E"/>
                </a:solidFill>
                <a:latin typeface="Calibri"/>
              </a:rPr>
              <a:t>Safety-focused development:</a:t>
            </a:r>
            <a:r>
              <a:rPr sz="1300" b="0">
                <a:solidFill>
                  <a:srgbClr val="8F8F8E"/>
                </a:solidFill>
                <a:latin typeface="Calibri"/>
              </a:rPr>
              <a:t> Our development process prioritizes safety and ethics, ensuring responsible AI deployment.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89534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F8F8E"/>
                </a:solidFill>
                <a:latin typeface="Calibri"/>
              </a:rPr>
              <a:t>•  </a:t>
            </a:r>
            <a:r>
              <a:rPr sz="1300" b="1">
                <a:solidFill>
                  <a:srgbClr val="8F8F8E"/>
                </a:solidFill>
                <a:latin typeface="Calibri"/>
              </a:rPr>
              <a:t>Collaborative approach:</a:t>
            </a:r>
            <a:r>
              <a:rPr sz="1300" b="0">
                <a:solidFill>
                  <a:srgbClr val="8F8F8E"/>
                </a:solidFill>
                <a:latin typeface="Calibri"/>
              </a:rPr>
              <a:t> We work with researchers, policymakers, and industry leaders to establish best practices for AI safety and ethics.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4768" y="2011680"/>
            <a:ext cx="27432" cy="3566160"/>
          </a:xfrm>
          <a:prstGeom prst="rect">
            <a:avLst/>
          </a:prstGeom>
          <a:solidFill>
            <a:srgbClr val="28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6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1F1E"/>
                </a:solidFill>
                <a:latin typeface="Calibri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F8F8E"/>
                </a:solidFill>
                <a:latin typeface="Calibri"/>
              </a:rPr>
              <a:t>AI Research and Products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92327" y="1828800"/>
            <a:ext cx="5120640" cy="347472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2327" y="1828800"/>
            <a:ext cx="5120640" cy="54864"/>
          </a:xfrm>
          <a:prstGeom prst="rect">
            <a:avLst/>
          </a:prstGeom>
          <a:solidFill>
            <a:srgbClr val="46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5207" y="2011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Claude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207" y="25603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64643"/>
                </a:solidFill>
                <a:latin typeface="Calibri"/>
              </a:rPr>
              <a:t>AI Research Initiative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5207" y="306324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F8F8E"/>
                </a:solidFill>
                <a:latin typeface="Calibri"/>
              </a:rPr>
              <a:t>Claude is our flagship AI research initiative, focusing on developing reliable and interpretable AI systems.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8727" y="1828800"/>
            <a:ext cx="5120640" cy="347472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78727" y="1828800"/>
            <a:ext cx="5120640" cy="54864"/>
          </a:xfrm>
          <a:prstGeom prst="rect">
            <a:avLst/>
          </a:prstGeom>
          <a:solidFill>
            <a:srgbClr val="46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1607" y="2011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Anthropic Institute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1607" y="25603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64643"/>
                </a:solidFill>
                <a:latin typeface="Calibri"/>
              </a:rPr>
              <a:t>Research and Development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1607" y="306324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F8F8E"/>
                </a:solidFill>
                <a:latin typeface="Calibri"/>
              </a:rPr>
              <a:t>The Anthropic Institute is our research and development arm, dedicated to advancing AI safety and ethics.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6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1F1E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F8F8E"/>
                </a:solidFill>
                <a:latin typeface="Calibri"/>
              </a:rPr>
              <a:t>Public Benefit Corporation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92327" y="1828800"/>
            <a:ext cx="5120640" cy="347472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2327" y="1828800"/>
            <a:ext cx="5120640" cy="54864"/>
          </a:xfrm>
          <a:prstGeom prst="rect">
            <a:avLst/>
          </a:prstGeom>
          <a:solidFill>
            <a:srgbClr val="46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5207" y="2011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Revenue Streams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207" y="25603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64643"/>
                </a:solidFill>
                <a:latin typeface="Calibri"/>
              </a:rPr>
              <a:t>Grants, Partnerships, and Licensing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5207" y="306324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F8F8E"/>
                </a:solidFill>
                <a:latin typeface="Calibri"/>
              </a:rPr>
              <a:t>We generate revenue through grants, partnerships, and licensing our AI research and products.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8727" y="1828800"/>
            <a:ext cx="5120640" cy="347472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78727" y="1828800"/>
            <a:ext cx="5120640" cy="54864"/>
          </a:xfrm>
          <a:prstGeom prst="rect">
            <a:avLst/>
          </a:prstGeom>
          <a:solidFill>
            <a:srgbClr val="46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1607" y="2011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Cost 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1607" y="25603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64643"/>
                </a:solidFill>
                <a:latin typeface="Calibri"/>
              </a:rPr>
              <a:t>Research and Development, Operations, and Administration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1607" y="306324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F8F8E"/>
                </a:solidFill>
                <a:latin typeface="Calibri"/>
              </a:rPr>
              <a:t>Our cost structure includes research and development, operations, and administration expenses.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6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1F1E"/>
                </a:solidFill>
                <a:latin typeface="Calibri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F8F8E"/>
                </a:solidFill>
                <a:latin typeface="Calibri"/>
              </a:rPr>
              <a:t>$20,000,000 ARR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F8F8E"/>
                </a:solidFill>
                <a:latin typeface="Calibri"/>
              </a:rPr>
              <a:t>We have achieved significant traction, with $20,000,000 in annual recurring revenue.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6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1F1E"/>
                </a:solidFill>
                <a:latin typeface="Calibri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F8F8E"/>
                </a:solidFill>
                <a:latin typeface="Calibri"/>
              </a:rPr>
              <a:t>AI Safety and Research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46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Google DeepMind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64643"/>
                </a:solidFill>
                <a:latin typeface="Calibri"/>
              </a:rPr>
              <a:t>Well-funded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F8F8E"/>
                </a:solidFill>
                <a:latin typeface="Calibri"/>
              </a:rPr>
              <a:t>Google DeepMind is a well-funded competitor, with a strong focus on AI research and development.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46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Microsoft Research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64643"/>
                </a:solidFill>
                <a:latin typeface="Calibri"/>
              </a:rPr>
              <a:t>Established Player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F8F8E"/>
                </a:solidFill>
                <a:latin typeface="Calibri"/>
              </a:rPr>
              <a:t>Microsoft Research is an established player in the AI research and development space, with a strong focus on innovation.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46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OpenAI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64643"/>
                </a:solidFill>
                <a:latin typeface="Calibri"/>
              </a:rPr>
              <a:t>Well-funded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F8F8E"/>
                </a:solidFill>
                <a:latin typeface="Calibri"/>
              </a:rPr>
              <a:t>OpenAI is a well-funded competitor, with a strong focus on AI research and development, and a commitment to safety and ethics.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6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1F1E"/>
                </a:solidFill>
                <a:latin typeface="Calibri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F8F8E"/>
                </a:solidFill>
                <a:latin typeface="Calibri"/>
              </a:rPr>
              <a:t>Founders and Leadership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3535527" y="1828800"/>
            <a:ext cx="5120640" cy="347472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35527" y="1828800"/>
            <a:ext cx="5120640" cy="54864"/>
          </a:xfrm>
          <a:prstGeom prst="rect">
            <a:avLst/>
          </a:prstGeom>
          <a:solidFill>
            <a:srgbClr val="46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18407" y="2011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Daniela Amodei — Co-founder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18407" y="25603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64643"/>
                </a:solidFill>
                <a:latin typeface="Calibri"/>
              </a:rPr>
              <a:t>Not specified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18407" y="306324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F8F8E"/>
                </a:solidFill>
                <a:latin typeface="Calibri"/>
              </a:rPr>
              <a:t>Daniela Amodei is a co-founder of Calude, with a strong background in AI research and development.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6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1F1E"/>
                </a:solidFill>
                <a:latin typeface="Calibri"/>
              </a:rPr>
              <a:t>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Market Sizing &amp; Financial Projections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F8F8E"/>
                </a:solidFill>
                <a:latin typeface="Calibri"/>
              </a:rPr>
              <a:t>AI Safety and Research Market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554480"/>
            <a:ext cx="3840480" cy="3840480"/>
          </a:xfrm>
          <a:prstGeom prst="ellipse">
            <a:avLst/>
          </a:prstGeom>
          <a:solidFill>
            <a:srgbClr val="46464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920240"/>
            <a:ext cx="3108960" cy="3108960"/>
          </a:xfrm>
          <a:prstGeom prst="ellipse">
            <a:avLst/>
          </a:prstGeom>
          <a:solidFill>
            <a:srgbClr val="46464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25880" y="2331720"/>
            <a:ext cx="2240280" cy="2240280"/>
          </a:xfrm>
          <a:prstGeom prst="ellipse">
            <a:avLst/>
          </a:prstGeom>
          <a:solidFill>
            <a:srgbClr val="464643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283464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F1F1E"/>
                </a:solidFill>
                <a:latin typeface="Calibri"/>
              </a:rPr>
              <a:t>CAGR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15468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747472"/>
                </a:solidFill>
                <a:latin typeface="Calibri"/>
              </a:rPr>
              <a:t>30%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737360"/>
            <a:ext cx="6675120" cy="91440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46320" y="1737360"/>
            <a:ext cx="64008" cy="914400"/>
          </a:xfrm>
          <a:prstGeom prst="rect">
            <a:avLst/>
          </a:prstGeom>
          <a:solidFill>
            <a:srgbClr val="46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828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1F1E"/>
                </a:solidFill>
                <a:latin typeface="Calibri"/>
              </a:rPr>
              <a:t>TAM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81051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64643"/>
                </a:solidFill>
                <a:latin typeface="Calibri"/>
              </a:rPr>
              <a:t>$100B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24028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8F8E"/>
                </a:solidFill>
                <a:latin typeface="Calibri"/>
              </a:rPr>
              <a:t>Global AI safety and research market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2788920"/>
            <a:ext cx="6675120" cy="91440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2788920"/>
            <a:ext cx="64008" cy="914400"/>
          </a:xfrm>
          <a:prstGeom prst="rect">
            <a:avLst/>
          </a:prstGeom>
          <a:solidFill>
            <a:srgbClr val="46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2880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1F1E"/>
                </a:solidFill>
                <a:latin typeface="Calibri"/>
              </a:rPr>
              <a:t>SAM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86207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64643"/>
                </a:solidFill>
                <a:latin typeface="Calibri"/>
              </a:rPr>
              <a:t>$20B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2918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8F8E"/>
                </a:solidFill>
                <a:latin typeface="Calibri"/>
              </a:rPr>
              <a:t>AI safety and research market in the United States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3840480"/>
            <a:ext cx="6675120" cy="91440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46320" y="3840480"/>
            <a:ext cx="64008" cy="914400"/>
          </a:xfrm>
          <a:prstGeom prst="rect">
            <a:avLst/>
          </a:prstGeom>
          <a:solidFill>
            <a:srgbClr val="46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39319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1F1E"/>
                </a:solidFill>
                <a:latin typeface="Calibri"/>
              </a:rPr>
              <a:t>SOM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39136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64643"/>
                </a:solidFill>
                <a:latin typeface="Calibri"/>
              </a:rPr>
              <a:t>$5B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3434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8F8E"/>
                </a:solidFill>
                <a:latin typeface="Calibri"/>
              </a:rPr>
              <a:t>AI safety and research market for small and medium-sized businesses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760720"/>
            <a:ext cx="3657600" cy="68580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852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8F8E"/>
                </a:solidFill>
                <a:latin typeface="Calibri"/>
              </a:rPr>
              <a:t/>
            </a:r>
            <a:r>
              <a:rPr sz="1200" b="1">
                <a:solidFill>
                  <a:srgbClr val="8F8F8E"/>
                </a:solidFill>
                <a:latin typeface="Calibri"/>
              </a:rPr>
              <a:t>FY2026:</a:t>
            </a:r>
            <a:r>
              <a:rPr sz="1200" b="0">
                <a:solidFill>
                  <a:srgbClr val="8F8F8E"/>
                </a:solidFill>
                <a:latin typeface="Calibri"/>
              </a:rPr>
              <a:t> $40,000,000 ARR · 1,000,000 customers · Expand to 10 new markets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5760720"/>
            <a:ext cx="3657600" cy="68580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5852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8F8E"/>
                </a:solidFill>
                <a:latin typeface="Calibri"/>
              </a:rPr>
              <a:t/>
            </a:r>
            <a:r>
              <a:rPr sz="1200" b="1">
                <a:solidFill>
                  <a:srgbClr val="8F8F8E"/>
                </a:solidFill>
                <a:latin typeface="Calibri"/>
              </a:rPr>
              <a:t>FY2027:</a:t>
            </a:r>
            <a:r>
              <a:rPr sz="1200" b="0">
                <a:solidFill>
                  <a:srgbClr val="8F8F8E"/>
                </a:solidFill>
                <a:latin typeface="Calibri"/>
              </a:rPr>
              <a:t> $80,000,000 ARR · 2,000,000 customers · Series B raise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5760720"/>
            <a:ext cx="3657600" cy="68580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5852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8F8E"/>
                </a:solidFill>
                <a:latin typeface="Calibri"/>
              </a:rPr>
              <a:t/>
            </a:r>
            <a:r>
              <a:rPr sz="1200" b="1">
                <a:solidFill>
                  <a:srgbClr val="8F8F8E"/>
                </a:solidFill>
                <a:latin typeface="Calibri"/>
              </a:rPr>
              <a:t>FY2028:</a:t>
            </a:r>
            <a:r>
              <a:rPr sz="1200" b="0">
                <a:solidFill>
                  <a:srgbClr val="8F8F8E"/>
                </a:solidFill>
                <a:latin typeface="Calibri"/>
              </a:rPr>
              <a:t> $160,000,000 ARR · 4,000,000 customers · 30% gross margin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6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1F1E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F8F8E"/>
                </a:solidFill>
                <a:latin typeface="Calibri"/>
              </a:rPr>
              <a:t>$49,999,999 Series A Funding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535527" y="1828800"/>
            <a:ext cx="5120640" cy="347472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35527" y="1828800"/>
            <a:ext cx="5120640" cy="54864"/>
          </a:xfrm>
          <a:prstGeom prst="rect">
            <a:avLst/>
          </a:prstGeom>
          <a:solidFill>
            <a:srgbClr val="46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18407" y="2011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Use of Funds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18407" y="25603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64643"/>
                </a:solidFill>
                <a:latin typeface="Calibri"/>
              </a:rPr>
              <a:t>Research and Development, Operations, and Administration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18407" y="306324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F8F8E"/>
                </a:solidFill>
                <a:latin typeface="Calibri"/>
              </a:rPr>
              <a:t>The funds will be used to accelerate our research and development, operations, and administration.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6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46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8F8F8E"/>
                </a:solidFill>
                <a:latin typeface="Calibri"/>
              </a:rPr>
              <a:t>Join Us in Building a Safer AI Future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F1F1E"/>
                </a:solidFill>
                <a:latin typeface="Calibri"/>
              </a:rPr>
              <a:t>Thank you for considering our proposal. We believe that together, we can build a safer AI future.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E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