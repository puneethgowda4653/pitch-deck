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5181447" y="274320"/>
            <a:ext cx="1828800" cy="731520"/>
          </a:xfrm>
          <a:prstGeom prst="rect">
            <a:avLst/>
          </a:prstGeom>
        </p:spPr>
      </p:pic>
      <p:sp>
        <p:nvSpPr>
          <p:cNvPr id="5" name="TextBox 4"/>
          <p:cNvSpPr txBox="1"/>
          <p:nvPr/>
        </p:nvSpPr>
        <p:spPr>
          <a:xfrm>
            <a:off x="914400" y="1280160"/>
            <a:ext cx="10332720" cy="1463040"/>
          </a:xfrm>
          <a:prstGeom prst="rect">
            <a:avLst/>
          </a:prstGeom>
          <a:noFill/>
        </p:spPr>
        <p:txBody>
          <a:bodyPr wrap="square">
            <a:spAutoFit/>
          </a:bodyPr>
          <a:lstStyle/>
          <a:p>
            <a:pPr algn="ctr"/>
            <a:r>
              <a:rPr sz="4800" b="1">
                <a:solidFill>
                  <a:srgbClr val="F5F3FF"/>
                </a:solidFill>
                <a:latin typeface="Calibri"/>
              </a:rPr>
              <a:t>Infopace</a:t>
            </a:r>
          </a:p>
        </p:txBody>
      </p:sp>
      <p:sp>
        <p:nvSpPr>
          <p:cNvPr id="6" name="TextBox 5"/>
          <p:cNvSpPr txBox="1"/>
          <p:nvPr/>
        </p:nvSpPr>
        <p:spPr>
          <a:xfrm>
            <a:off x="1371600" y="2834640"/>
            <a:ext cx="9418320" cy="731520"/>
          </a:xfrm>
          <a:prstGeom prst="rect">
            <a:avLst/>
          </a:prstGeom>
          <a:noFill/>
        </p:spPr>
        <p:txBody>
          <a:bodyPr wrap="square">
            <a:spAutoFit/>
          </a:bodyPr>
          <a:lstStyle/>
          <a:p>
            <a:pPr algn="ctr"/>
            <a:r>
              <a:rPr sz="2200" b="0">
                <a:solidFill>
                  <a:srgbClr val="7091D5"/>
                </a:solidFill>
                <a:latin typeface="Calibri"/>
              </a:rPr>
              <a:t>Driving Strategic Change &amp; Business Transformation</a:t>
            </a:r>
          </a:p>
        </p:txBody>
      </p:sp>
      <p:sp>
        <p:nvSpPr>
          <p:cNvPr id="7" name="TextBox 6"/>
          <p:cNvSpPr txBox="1"/>
          <p:nvPr/>
        </p:nvSpPr>
        <p:spPr>
          <a:xfrm>
            <a:off x="1828800" y="3657600"/>
            <a:ext cx="8503920" cy="731520"/>
          </a:xfrm>
          <a:prstGeom prst="rect">
            <a:avLst/>
          </a:prstGeom>
          <a:noFill/>
        </p:spPr>
        <p:txBody>
          <a:bodyPr wrap="square">
            <a:spAutoFit/>
          </a:bodyPr>
          <a:lstStyle/>
          <a:p>
            <a:pPr algn="ctr"/>
            <a:r>
              <a:rPr sz="1500" b="0">
                <a:solidFill>
                  <a:srgbClr val="002165"/>
                </a:solidFill>
                <a:latin typeface="Calibri"/>
              </a:rPr>
              <a:t>Empowering enterprises to navigate complex challenges, accelerate growth, and achieve sustainable success through innovative, people-first solutions.</a:t>
            </a:r>
          </a:p>
        </p:txBody>
      </p:sp>
      <p:sp>
        <p:nvSpPr>
          <p:cNvPr id="8" name="TextBox 7"/>
          <p:cNvSpPr txBox="1"/>
          <p:nvPr/>
        </p:nvSpPr>
        <p:spPr>
          <a:xfrm>
            <a:off x="3200400" y="6309360"/>
            <a:ext cx="5760720" cy="365760"/>
          </a:xfrm>
          <a:prstGeom prst="rect">
            <a:avLst/>
          </a:prstGeom>
          <a:noFill/>
        </p:spPr>
        <p:txBody>
          <a:bodyPr wrap="square">
            <a:spAutoFit/>
          </a:bodyPr>
          <a:lstStyle/>
          <a:p>
            <a:pPr algn="ctr"/>
            <a:r>
              <a:rPr sz="1000" b="0">
                <a:solidFill>
                  <a:srgbClr val="002165"/>
                </a:solidFill>
                <a:latin typeface="Calibri"/>
              </a:rPr>
              <a:t>Investor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EXECUTIVE SUMMARY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Executive Summary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Unlocking Growth Through Strategic Transformation</a:t>
            </a:r>
          </a:p>
        </p:txBody>
      </p:sp>
      <p:sp>
        <p:nvSpPr>
          <p:cNvPr id="6" name="Rectangle 5"/>
          <p:cNvSpPr/>
          <p:nvPr/>
        </p:nvSpPr>
        <p:spPr>
          <a:xfrm>
            <a:off x="342122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$500K</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7091D5"/>
                </a:solidFill>
                <a:latin typeface="Calibri"/>
              </a:rPr>
              <a:t>Annual Recurring Revenue (ARR)</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002165"/>
                </a:solidFill>
                <a:latin typeface="Calibri"/>
              </a:rPr>
              <a:t>Strong, consistent growth</a:t>
            </a:r>
          </a:p>
        </p:txBody>
      </p:sp>
      <p:sp>
        <p:nvSpPr>
          <p:cNvPr id="10" name="Rectangle 9"/>
          <p:cNvSpPr/>
          <p:nvPr/>
        </p:nvSpPr>
        <p:spPr>
          <a:xfrm>
            <a:off x="621014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5,000+</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7091D5"/>
                </a:solidFill>
                <a:latin typeface="Calibri"/>
              </a:rPr>
              <a:t>Total Customers</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002165"/>
                </a:solidFill>
                <a:latin typeface="Calibri"/>
              </a:rPr>
              <a:t>Diverse client portfolio</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Infopace is a bootstrapped, profitable strategic change management and business transformation firm with a proven track record since 1999. We provide comprehensive solutions ranging from growth acceleration and digital transformation to strategic investment and market access, serving a diverse client base across numerous industries in India.</a:t>
            </a:r>
          </a:p>
        </p:txBody>
      </p:sp>
      <p:sp>
        <p:nvSpPr>
          <p:cNvPr id="15" name="TextBox 14"/>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Proven Expertise:</a:t>
            </a:r>
            <a:r>
              <a:rPr sz="1300" b="0">
                <a:solidFill>
                  <a:srgbClr val="7091D5"/>
                </a:solidFill>
                <a:latin typeface="Calibri"/>
              </a:rPr>
              <a:t> 25 years of experience in strategic change management and business transformation.</a:t>
            </a:r>
          </a:p>
        </p:txBody>
      </p:sp>
      <p:sp>
        <p:nvSpPr>
          <p:cNvPr id="16" name="TextBox 15"/>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Strong Traction:</a:t>
            </a:r>
            <a:r>
              <a:rPr sz="1300" b="0">
                <a:solidFill>
                  <a:srgbClr val="7091D5"/>
                </a:solidFill>
                <a:latin typeface="Calibri"/>
              </a:rPr>
              <a:t> $500,000 ARR with 5,000 total customers and 2,000 monthly active users.</a:t>
            </a:r>
          </a:p>
        </p:txBody>
      </p:sp>
      <p:sp>
        <p:nvSpPr>
          <p:cNvPr id="17" name="TextBox 16"/>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Comprehensive Services:</a:t>
            </a:r>
            <a:r>
              <a:rPr sz="1300" b="0">
                <a:solidFill>
                  <a:srgbClr val="7091D5"/>
                </a:solidFill>
                <a:latin typeface="Calibri"/>
              </a:rPr>
              <a:t> End-to-end solutions including Growth Acceleration, Digital Transformation, and Go-To-Market Strategy.</a:t>
            </a:r>
          </a:p>
        </p:txBody>
      </p:sp>
      <p:pic>
        <p:nvPicPr>
          <p:cNvPr id="18" name="Picture 17"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MARKET OPPORTUNITY</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Opportunity</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The Exploding Demand for Strategic Transformation</a:t>
            </a:r>
          </a:p>
        </p:txBody>
      </p:sp>
      <p:sp>
        <p:nvSpPr>
          <p:cNvPr id="6" name="Rectangle 5"/>
          <p:cNvSpPr/>
          <p:nvPr/>
        </p:nvSpPr>
        <p:spPr>
          <a:xfrm>
            <a:off x="342122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58387" y="2331720"/>
            <a:ext cx="2286000" cy="914400"/>
          </a:xfrm>
          <a:prstGeom prst="rect">
            <a:avLst/>
          </a:prstGeom>
          <a:noFill/>
        </p:spPr>
        <p:txBody>
          <a:bodyPr wrap="square">
            <a:spAutoFit/>
          </a:bodyPr>
          <a:lstStyle/>
          <a:p>
            <a:pPr algn="ctr"/>
            <a:r>
              <a:rPr sz="3400" b="1">
                <a:solidFill>
                  <a:srgbClr val="F5F3FF"/>
                </a:solidFill>
                <a:latin typeface="Calibri"/>
              </a:rPr>
              <a:t>$350B+</a:t>
            </a:r>
          </a:p>
        </p:txBody>
      </p:sp>
      <p:sp>
        <p:nvSpPr>
          <p:cNvPr id="8" name="TextBox 7"/>
          <p:cNvSpPr txBox="1"/>
          <p:nvPr/>
        </p:nvSpPr>
        <p:spPr>
          <a:xfrm>
            <a:off x="3558387" y="3246120"/>
            <a:ext cx="2286000" cy="411480"/>
          </a:xfrm>
          <a:prstGeom prst="rect">
            <a:avLst/>
          </a:prstGeom>
          <a:noFill/>
        </p:spPr>
        <p:txBody>
          <a:bodyPr wrap="square">
            <a:spAutoFit/>
          </a:bodyPr>
          <a:lstStyle/>
          <a:p>
            <a:pPr algn="ctr"/>
            <a:r>
              <a:rPr sz="1200" b="0">
                <a:solidFill>
                  <a:srgbClr val="7091D5"/>
                </a:solidFill>
                <a:latin typeface="Calibri"/>
              </a:rPr>
              <a:t>Global Consulting Market</a:t>
            </a:r>
          </a:p>
        </p:txBody>
      </p:sp>
      <p:sp>
        <p:nvSpPr>
          <p:cNvPr id="9" name="TextBox 8"/>
          <p:cNvSpPr txBox="1"/>
          <p:nvPr/>
        </p:nvSpPr>
        <p:spPr>
          <a:xfrm>
            <a:off x="3512667" y="3657600"/>
            <a:ext cx="2377440" cy="457200"/>
          </a:xfrm>
          <a:prstGeom prst="rect">
            <a:avLst/>
          </a:prstGeom>
          <a:noFill/>
        </p:spPr>
        <p:txBody>
          <a:bodyPr wrap="square">
            <a:spAutoFit/>
          </a:bodyPr>
          <a:lstStyle/>
          <a:p>
            <a:pPr algn="ctr"/>
            <a:r>
              <a:rPr sz="1000" b="0">
                <a:solidFill>
                  <a:srgbClr val="002165"/>
                </a:solidFill>
                <a:latin typeface="Calibri"/>
              </a:rPr>
              <a:t>Projected by 2028 · Source: Statista</a:t>
            </a:r>
          </a:p>
        </p:txBody>
      </p:sp>
      <p:sp>
        <p:nvSpPr>
          <p:cNvPr id="10" name="Rectangle 9"/>
          <p:cNvSpPr/>
          <p:nvPr/>
        </p:nvSpPr>
        <p:spPr>
          <a:xfrm>
            <a:off x="621014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47307" y="2331720"/>
            <a:ext cx="2286000" cy="914400"/>
          </a:xfrm>
          <a:prstGeom prst="rect">
            <a:avLst/>
          </a:prstGeom>
          <a:noFill/>
        </p:spPr>
        <p:txBody>
          <a:bodyPr wrap="square">
            <a:spAutoFit/>
          </a:bodyPr>
          <a:lstStyle/>
          <a:p>
            <a:pPr algn="ctr"/>
            <a:r>
              <a:rPr sz="3400" b="1">
                <a:solidFill>
                  <a:srgbClr val="F5F3FF"/>
                </a:solidFill>
                <a:latin typeface="Calibri"/>
              </a:rPr>
              <a:t>20.5%</a:t>
            </a:r>
          </a:p>
        </p:txBody>
      </p:sp>
      <p:sp>
        <p:nvSpPr>
          <p:cNvPr id="12" name="TextBox 11"/>
          <p:cNvSpPr txBox="1"/>
          <p:nvPr/>
        </p:nvSpPr>
        <p:spPr>
          <a:xfrm>
            <a:off x="6347307" y="3246120"/>
            <a:ext cx="2286000" cy="411480"/>
          </a:xfrm>
          <a:prstGeom prst="rect">
            <a:avLst/>
          </a:prstGeom>
          <a:noFill/>
        </p:spPr>
        <p:txBody>
          <a:bodyPr wrap="square">
            <a:spAutoFit/>
          </a:bodyPr>
          <a:lstStyle/>
          <a:p>
            <a:pPr algn="ctr"/>
            <a:r>
              <a:rPr sz="1200" b="0">
                <a:solidFill>
                  <a:srgbClr val="7091D5"/>
                </a:solidFill>
                <a:latin typeface="Calibri"/>
              </a:rPr>
              <a:t>Digital Transformation CAGR</a:t>
            </a:r>
          </a:p>
        </p:txBody>
      </p:sp>
      <p:sp>
        <p:nvSpPr>
          <p:cNvPr id="13" name="TextBox 12"/>
          <p:cNvSpPr txBox="1"/>
          <p:nvPr/>
        </p:nvSpPr>
        <p:spPr>
          <a:xfrm>
            <a:off x="6301587" y="3657600"/>
            <a:ext cx="2377440" cy="457200"/>
          </a:xfrm>
          <a:prstGeom prst="rect">
            <a:avLst/>
          </a:prstGeom>
          <a:noFill/>
        </p:spPr>
        <p:txBody>
          <a:bodyPr wrap="square">
            <a:spAutoFit/>
          </a:bodyPr>
          <a:lstStyle/>
          <a:p>
            <a:pPr algn="ctr"/>
            <a:r>
              <a:rPr sz="1000" b="0">
                <a:solidFill>
                  <a:srgbClr val="002165"/>
                </a:solidFill>
                <a:latin typeface="Calibri"/>
              </a:rPr>
              <a:t>2023-2030 · Source: Grand View Research</a:t>
            </a:r>
          </a:p>
        </p:txBody>
      </p:sp>
      <p:sp>
        <p:nvSpPr>
          <p:cNvPr id="14" name="TextBox 13"/>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The global market for business and management consulting, which encompasses strategic change management and digital transformation, is experiencing significant growth. Organizations worldwide are increasingly seeking external expertise to navigate digital disruption, optimize operations, and achieve sustainable growth.</a:t>
            </a:r>
          </a:p>
        </p:txBody>
      </p:sp>
      <p:sp>
        <p:nvSpPr>
          <p:cNvPr id="15" name="TextBox 14"/>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Digital Transformation Imperative:</a:t>
            </a:r>
            <a:r>
              <a:rPr sz="1300" b="0">
                <a:solidFill>
                  <a:srgbClr val="7091D5"/>
                </a:solidFill>
                <a:latin typeface="Calibri"/>
              </a:rPr>
              <a:t> Companies are investing heavily in digital adoption to enhance efficiency and customer experience, driving demand for expert guidance.</a:t>
            </a:r>
          </a:p>
        </p:txBody>
      </p:sp>
      <p:sp>
        <p:nvSpPr>
          <p:cNvPr id="16" name="TextBox 15"/>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Complex Business Landscape:</a:t>
            </a:r>
            <a:r>
              <a:rPr sz="1300" b="0">
                <a:solidFill>
                  <a:srgbClr val="7091D5"/>
                </a:solidFill>
                <a:latin typeface="Calibri"/>
              </a:rPr>
              <a:t> Rapid technological shifts and global economic dynamics necessitate strategic pivots and operational excellence.</a:t>
            </a:r>
          </a:p>
        </p:txBody>
      </p:sp>
      <p:sp>
        <p:nvSpPr>
          <p:cNvPr id="17" name="TextBox 16"/>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Focus on Growth Acceleration:</a:t>
            </a:r>
            <a:r>
              <a:rPr sz="1300" b="0">
                <a:solidFill>
                  <a:srgbClr val="7091D5"/>
                </a:solidFill>
                <a:latin typeface="Calibri"/>
              </a:rPr>
              <a:t> Businesses are actively seeking partners to identify new market opportunities, optimize costs, and secure strategic funding.</a:t>
            </a:r>
          </a:p>
        </p:txBody>
      </p:sp>
      <p:pic>
        <p:nvPicPr>
          <p:cNvPr id="18" name="Picture 17"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PROBLEM SOLUTION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Challenge &amp; Our Strategic Advantage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Bridging the Gap Between Ambition and Execution</a:t>
            </a:r>
          </a:p>
        </p:txBody>
      </p:sp>
      <p:sp>
        <p:nvSpPr>
          <p:cNvPr id="6" name="Rectangle 5"/>
          <p:cNvSpPr/>
          <p:nvPr/>
        </p:nvSpPr>
        <p:spPr>
          <a:xfrm>
            <a:off x="640080" y="1737360"/>
            <a:ext cx="5303520" cy="411480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737360"/>
            <a:ext cx="5303520" cy="64008"/>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20240"/>
            <a:ext cx="4937760" cy="502920"/>
          </a:xfrm>
          <a:prstGeom prst="rect">
            <a:avLst/>
          </a:prstGeom>
          <a:noFill/>
        </p:spPr>
        <p:txBody>
          <a:bodyPr wrap="square">
            <a:spAutoFit/>
          </a:bodyPr>
          <a:lstStyle/>
          <a:p>
            <a:pPr algn="l"/>
            <a:r>
              <a:rPr sz="1800" b="1">
                <a:solidFill>
                  <a:srgbClr val="F5F3FF"/>
                </a:solidFill>
                <a:latin typeface="Calibri"/>
              </a:rPr>
              <a:t>The Problem</a:t>
            </a:r>
          </a:p>
        </p:txBody>
      </p:sp>
      <p:sp>
        <p:nvSpPr>
          <p:cNvPr id="9" name="TextBox 8"/>
          <p:cNvSpPr txBox="1"/>
          <p:nvPr/>
        </p:nvSpPr>
        <p:spPr>
          <a:xfrm>
            <a:off x="822960" y="2468880"/>
            <a:ext cx="4937760" cy="502920"/>
          </a:xfrm>
          <a:prstGeom prst="rect">
            <a:avLst/>
          </a:prstGeom>
          <a:noFill/>
        </p:spPr>
        <p:txBody>
          <a:bodyPr wrap="square">
            <a:spAutoFit/>
          </a:bodyPr>
          <a:lstStyle/>
          <a:p>
            <a:pPr algn="l"/>
            <a:r>
              <a:rPr sz="2400" b="1">
                <a:solidFill>
                  <a:srgbClr val="004BE2"/>
                </a:solidFill>
                <a:latin typeface="Calibri"/>
              </a:rPr>
              <a:t>90% of strategies fail due to poor execution</a:t>
            </a:r>
          </a:p>
        </p:txBody>
      </p:sp>
      <p:sp>
        <p:nvSpPr>
          <p:cNvPr id="10" name="TextBox 9"/>
          <p:cNvSpPr txBox="1"/>
          <p:nvPr/>
        </p:nvSpPr>
        <p:spPr>
          <a:xfrm>
            <a:off x="914400" y="3017520"/>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Ineffective Change Management:</a:t>
            </a:r>
            <a:r>
              <a:rPr sz="1300" b="0">
                <a:solidFill>
                  <a:srgbClr val="7091D5"/>
                </a:solidFill>
                <a:latin typeface="Calibri"/>
              </a:rPr>
              <a:t> Many organizations struggle to implement strategic changes, leading to high failure rates and wasted investments.</a:t>
            </a:r>
          </a:p>
        </p:txBody>
      </p:sp>
      <p:sp>
        <p:nvSpPr>
          <p:cNvPr id="11" name="TextBox 10"/>
          <p:cNvSpPr txBox="1"/>
          <p:nvPr/>
        </p:nvSpPr>
        <p:spPr>
          <a:xfrm>
            <a:off x="914400" y="3456432"/>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Lack of Integrated Solutions:</a:t>
            </a:r>
            <a:r>
              <a:rPr sz="1300" b="0">
                <a:solidFill>
                  <a:srgbClr val="7091D5"/>
                </a:solidFill>
                <a:latin typeface="Calibri"/>
              </a:rPr>
              <a:t> Businesses often engage multiple vendors for different aspects of transformation (strategy, digital, talent), leading to fragmented efforts and inefficiencies.</a:t>
            </a:r>
          </a:p>
        </p:txBody>
      </p:sp>
      <p:sp>
        <p:nvSpPr>
          <p:cNvPr id="12" name="TextBox 11"/>
          <p:cNvSpPr txBox="1"/>
          <p:nvPr/>
        </p:nvSpPr>
        <p:spPr>
          <a:xfrm>
            <a:off x="914400" y="3895344"/>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Difficulty in Growth Acceleration:</a:t>
            </a:r>
            <a:r>
              <a:rPr sz="1300" b="0">
                <a:solidFill>
                  <a:srgbClr val="7091D5"/>
                </a:solidFill>
                <a:latin typeface="Calibri"/>
              </a:rPr>
              <a:t> Companies face challenges in identifying and capitalizing on new market opportunities, optimizing costs, and securing crucial funding for expansion.</a:t>
            </a:r>
          </a:p>
        </p:txBody>
      </p:sp>
      <p:sp>
        <p:nvSpPr>
          <p:cNvPr id="13" name="TextBox 12"/>
          <p:cNvSpPr txBox="1"/>
          <p:nvPr/>
        </p:nvSpPr>
        <p:spPr>
          <a:xfrm>
            <a:off x="914400" y="4334256"/>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Talent Skill Gaps:</a:t>
            </a:r>
            <a:r>
              <a:rPr sz="1300" b="0">
                <a:solidFill>
                  <a:srgbClr val="7091D5"/>
                </a:solidFill>
                <a:latin typeface="Calibri"/>
              </a:rPr>
              <a:t> The rapid pace of technological change creates significant skill gaps, hindering an organization's ability to innovate and compete.</a:t>
            </a:r>
          </a:p>
        </p:txBody>
      </p:sp>
      <p:sp>
        <p:nvSpPr>
          <p:cNvPr id="14" name="Rectangle 13"/>
          <p:cNvSpPr/>
          <p:nvPr/>
        </p:nvSpPr>
        <p:spPr>
          <a:xfrm>
            <a:off x="6400800" y="1737360"/>
            <a:ext cx="5303520" cy="411480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1737360"/>
            <a:ext cx="5303520" cy="6400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1920240"/>
            <a:ext cx="4937760" cy="502920"/>
          </a:xfrm>
          <a:prstGeom prst="rect">
            <a:avLst/>
          </a:prstGeom>
          <a:noFill/>
        </p:spPr>
        <p:txBody>
          <a:bodyPr wrap="square">
            <a:spAutoFit/>
          </a:bodyPr>
          <a:lstStyle/>
          <a:p>
            <a:pPr algn="l"/>
            <a:r>
              <a:rPr sz="1800" b="1">
                <a:solidFill>
                  <a:srgbClr val="F5F3FF"/>
                </a:solidFill>
                <a:latin typeface="Calibri"/>
              </a:rPr>
              <a:t>Our Solution</a:t>
            </a:r>
          </a:p>
        </p:txBody>
      </p:sp>
      <p:sp>
        <p:nvSpPr>
          <p:cNvPr id="17" name="TextBox 16"/>
          <p:cNvSpPr txBox="1"/>
          <p:nvPr/>
        </p:nvSpPr>
        <p:spPr>
          <a:xfrm>
            <a:off x="6583680" y="2468880"/>
            <a:ext cx="4937760" cy="502920"/>
          </a:xfrm>
          <a:prstGeom prst="rect">
            <a:avLst/>
          </a:prstGeom>
          <a:noFill/>
        </p:spPr>
        <p:txBody>
          <a:bodyPr wrap="square">
            <a:spAutoFit/>
          </a:bodyPr>
          <a:lstStyle/>
          <a:p>
            <a:pPr algn="l"/>
            <a:r>
              <a:rPr sz="2400" b="1">
                <a:solidFill>
                  <a:srgbClr val="475569"/>
                </a:solidFill>
                <a:latin typeface="Calibri"/>
              </a:rPr>
              <a:t>Holistic, People-First Transformation</a:t>
            </a:r>
          </a:p>
        </p:txBody>
      </p:sp>
      <p:sp>
        <p:nvSpPr>
          <p:cNvPr id="18" name="TextBox 17"/>
          <p:cNvSpPr txBox="1"/>
          <p:nvPr/>
        </p:nvSpPr>
        <p:spPr>
          <a:xfrm>
            <a:off x="6675120" y="3017520"/>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Strategic Change Management:</a:t>
            </a:r>
            <a:r>
              <a:rPr sz="1300" b="0">
                <a:solidFill>
                  <a:srgbClr val="7091D5"/>
                </a:solidFill>
                <a:latin typeface="Calibri"/>
              </a:rPr>
              <a:t> We provide end-to-end, people-centric transformation initiatives that ensure successful adoption and sustained impact.</a:t>
            </a:r>
          </a:p>
        </p:txBody>
      </p:sp>
      <p:sp>
        <p:nvSpPr>
          <p:cNvPr id="19" name="TextBox 18"/>
          <p:cNvSpPr txBox="1"/>
          <p:nvPr/>
        </p:nvSpPr>
        <p:spPr>
          <a:xfrm>
            <a:off x="6675120" y="3456432"/>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Integrated Business Solutions:</a:t>
            </a:r>
            <a:r>
              <a:rPr sz="1300" b="0">
                <a:solidFill>
                  <a:srgbClr val="7091D5"/>
                </a:solidFill>
                <a:latin typeface="Calibri"/>
              </a:rPr>
              <a:t> Our comprehensive suite of services, from Growth Acceleration to Digital Transformation, offers a unified approach to business challenges.</a:t>
            </a:r>
          </a:p>
        </p:txBody>
      </p:sp>
      <p:sp>
        <p:nvSpPr>
          <p:cNvPr id="20" name="TextBox 19"/>
          <p:cNvSpPr txBox="1"/>
          <p:nvPr/>
        </p:nvSpPr>
        <p:spPr>
          <a:xfrm>
            <a:off x="6675120" y="3895344"/>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Entrepreneurial Ecosystem Enablement:</a:t>
            </a:r>
            <a:r>
              <a:rPr sz="1300" b="0">
                <a:solidFill>
                  <a:srgbClr val="7091D5"/>
                </a:solidFill>
                <a:latin typeface="Calibri"/>
              </a:rPr>
              <a:t> We connect businesses to vital tools, innovation networks, expert mentorship, and funding channels for scalable growth.</a:t>
            </a:r>
          </a:p>
        </p:txBody>
      </p:sp>
      <p:sp>
        <p:nvSpPr>
          <p:cNvPr id="21" name="TextBox 20"/>
          <p:cNvSpPr txBox="1"/>
          <p:nvPr/>
        </p:nvSpPr>
        <p:spPr>
          <a:xfrm>
            <a:off x="6675120" y="4334256"/>
            <a:ext cx="4846320" cy="438912"/>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Learning &amp; Development:</a:t>
            </a:r>
            <a:r>
              <a:rPr sz="1300" b="0">
                <a:solidFill>
                  <a:srgbClr val="7091D5"/>
                </a:solidFill>
                <a:latin typeface="Calibri"/>
              </a:rPr>
              <a:t> We drive talent growth with strategic training, digital learning platforms, and personalized development paths to bridge skill gaps.</a:t>
            </a:r>
          </a:p>
        </p:txBody>
      </p:sp>
      <p:sp>
        <p:nvSpPr>
          <p:cNvPr id="22" name="Rectangle 21"/>
          <p:cNvSpPr/>
          <p:nvPr/>
        </p:nvSpPr>
        <p:spPr>
          <a:xfrm>
            <a:off x="6144768" y="2011680"/>
            <a:ext cx="27432" cy="3566160"/>
          </a:xfrm>
          <a:prstGeom prst="rect">
            <a:avLst/>
          </a:prstGeom>
          <a:solidFill>
            <a:srgbClr val="2820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PRODUCT</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Core Service Offerings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Empowering Businesses with Specialized Expertise</a:t>
            </a:r>
          </a:p>
        </p:txBody>
      </p:sp>
      <p:sp>
        <p:nvSpPr>
          <p:cNvPr id="6" name="Rectangle 5"/>
          <p:cNvSpPr/>
          <p:nvPr/>
        </p:nvSpPr>
        <p:spPr>
          <a:xfrm>
            <a:off x="2665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Growth Acceleration Partner (GAP)</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004BE2"/>
                </a:solidFill>
                <a:latin typeface="Calibri"/>
              </a:rPr>
              <a:t>Strategic Funding</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Tailored Strategies:</a:t>
            </a:r>
            <a:r>
              <a:rPr sz="1300" b="0">
                <a:solidFill>
                  <a:srgbClr val="7091D5"/>
                </a:solidFill>
                <a:latin typeface="Calibri"/>
              </a:rPr>
              <a:t> Driving business growth through operational excellence, tech innovation, cost optimization, and strategic funding.</a:t>
            </a:r>
          </a:p>
        </p:txBody>
      </p:sp>
      <p:sp>
        <p:nvSpPr>
          <p:cNvPr id="11" name="Rectangle 10"/>
          <p:cNvSpPr/>
          <p:nvPr/>
        </p:nvSpPr>
        <p:spPr>
          <a:xfrm>
            <a:off x="32383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Digital Transformation</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475569"/>
                </a:solidFill>
                <a:latin typeface="Calibri"/>
              </a:rPr>
              <a:t>Enhanced Agility</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Efficiency &amp; Experience:</a:t>
            </a:r>
            <a:r>
              <a:rPr sz="1300" b="0">
                <a:solidFill>
                  <a:srgbClr val="7091D5"/>
                </a:solidFill>
                <a:latin typeface="Calibri"/>
              </a:rPr>
              <a:t> Enabling digital adoption to streamline operations, enhance agility, and elevate customer experience across all touchpoints.</a:t>
            </a:r>
          </a:p>
        </p:txBody>
      </p:sp>
      <p:sp>
        <p:nvSpPr>
          <p:cNvPr id="16" name="Rectangle 15"/>
          <p:cNvSpPr/>
          <p:nvPr/>
        </p:nvSpPr>
        <p:spPr>
          <a:xfrm>
            <a:off x="62101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Strategic Change Management</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2350A5"/>
                </a:solidFill>
                <a:latin typeface="Calibri"/>
              </a:rPr>
              <a:t>People-Centric</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Organizational Resilience:</a:t>
            </a:r>
            <a:r>
              <a:rPr sz="1300" b="0">
                <a:solidFill>
                  <a:srgbClr val="7091D5"/>
                </a:solidFill>
                <a:latin typeface="Calibri"/>
              </a:rPr>
              <a:t> Driving organizational, technological, process, strategic, and cultural change through people-centric initiatives.</a:t>
            </a:r>
          </a:p>
        </p:txBody>
      </p:sp>
      <p:sp>
        <p:nvSpPr>
          <p:cNvPr id="21" name="Rectangle 20"/>
          <p:cNvSpPr/>
          <p:nvPr/>
        </p:nvSpPr>
        <p:spPr>
          <a:xfrm>
            <a:off x="91819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3F7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Go To Market Strategy &amp; Research</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3F78E9"/>
                </a:solidFill>
                <a:latin typeface="Calibri"/>
              </a:rPr>
              <a:t>Market Entry</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Data-Driven Insights:</a:t>
            </a:r>
            <a:r>
              <a:rPr sz="1300" b="0">
                <a:solidFill>
                  <a:srgbClr val="7091D5"/>
                </a:solidFill>
                <a:latin typeface="Calibri"/>
              </a:rPr>
              <a:t> Accelerating market entry through data-driven strategies, competitive intelligence, and regulatory alignment.</a:t>
            </a:r>
          </a:p>
        </p:txBody>
      </p:sp>
      <p:pic>
        <p:nvPicPr>
          <p:cNvPr id="26" name="Picture 25"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BUSINESS MODEL</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Business Model</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Value-Driven Partnerships for Sustainable Revenue</a:t>
            </a:r>
          </a:p>
        </p:txBody>
      </p:sp>
      <p:sp>
        <p:nvSpPr>
          <p:cNvPr id="6" name="Rectangle 5"/>
          <p:cNvSpPr/>
          <p:nvPr/>
        </p:nvSpPr>
        <p:spPr>
          <a:xfrm>
            <a:off x="2665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Project-Based Engagements</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004BE2"/>
                </a:solidFill>
                <a:latin typeface="Calibri"/>
              </a:rPr>
              <a:t>Tailored Solutions</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Customized Projects:</a:t>
            </a:r>
            <a:r>
              <a:rPr sz="1300" b="0">
                <a:solidFill>
                  <a:srgbClr val="7091D5"/>
                </a:solidFill>
                <a:latin typeface="Calibri"/>
              </a:rPr>
              <a:t> Delivering specific outcomes for clients across various transformation initiatives, from strategy development to implementation.</a:t>
            </a:r>
          </a:p>
        </p:txBody>
      </p:sp>
      <p:sp>
        <p:nvSpPr>
          <p:cNvPr id="11" name="Rectangle 10"/>
          <p:cNvSpPr/>
          <p:nvPr/>
        </p:nvSpPr>
        <p:spPr>
          <a:xfrm>
            <a:off x="32383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Retainer &amp; Advisory Services</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475569"/>
                </a:solidFill>
                <a:latin typeface="Calibri"/>
              </a:rPr>
              <a:t>Ongoing Support</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Long-Term Partnerships:</a:t>
            </a:r>
            <a:r>
              <a:rPr sz="1300" b="0">
                <a:solidFill>
                  <a:srgbClr val="7091D5"/>
                </a:solidFill>
                <a:latin typeface="Calibri"/>
              </a:rPr>
              <a:t> Providing continuous strategic guidance and support to clients, ensuring sustained progress and adaptability.</a:t>
            </a:r>
          </a:p>
        </p:txBody>
      </p:sp>
      <p:sp>
        <p:nvSpPr>
          <p:cNvPr id="16" name="Rectangle 15"/>
          <p:cNvSpPr/>
          <p:nvPr/>
        </p:nvSpPr>
        <p:spPr>
          <a:xfrm>
            <a:off x="62101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Value-Based Pricing</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2350A5"/>
                </a:solidFill>
                <a:latin typeface="Calibri"/>
              </a:rPr>
              <a:t>Outcome-Oriented</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Shared Success:</a:t>
            </a:r>
            <a:r>
              <a:rPr sz="1300" b="0">
                <a:solidFill>
                  <a:srgbClr val="7091D5"/>
                </a:solidFill>
                <a:latin typeface="Calibri"/>
              </a:rPr>
              <a:t> Structuring engagements to align our success with the tangible value and impact we deliver to our clients.</a:t>
            </a:r>
          </a:p>
        </p:txBody>
      </p:sp>
      <p:sp>
        <p:nvSpPr>
          <p:cNvPr id="21" name="Rectangle 20"/>
          <p:cNvSpPr/>
          <p:nvPr/>
        </p:nvSpPr>
        <p:spPr>
          <a:xfrm>
            <a:off x="91819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3F7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Ecosystem Enablement Fees</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3F78E9"/>
                </a:solidFill>
                <a:latin typeface="Calibri"/>
              </a:rPr>
              <a:t>Growth Platforms</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Connecting Entrepreneurs:</a:t>
            </a:r>
            <a:r>
              <a:rPr sz="1300" b="0">
                <a:solidFill>
                  <a:srgbClr val="7091D5"/>
                </a:solidFill>
                <a:latin typeface="Calibri"/>
              </a:rPr>
              <a:t> Monetizing our role in connecting entrepreneurs with tools, mentors, and funding channels.</a:t>
            </a:r>
          </a:p>
        </p:txBody>
      </p:sp>
      <p:pic>
        <p:nvPicPr>
          <p:cNvPr id="26" name="Picture 25"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TRACTION</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Proven Traction &amp; Momentum</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Delivering Measurable Results and Impact</a:t>
            </a:r>
          </a:p>
        </p:txBody>
      </p:sp>
      <p:sp>
        <p:nvSpPr>
          <p:cNvPr id="6" name="Rectangle 5"/>
          <p:cNvSpPr/>
          <p:nvPr/>
        </p:nvSpPr>
        <p:spPr>
          <a:xfrm>
            <a:off x="2026767" y="2103120"/>
            <a:ext cx="2560320" cy="2194560"/>
          </a:xfrm>
          <a:prstGeom prst="rect">
            <a:avLst/>
          </a:prstGeom>
          <a:solidFill>
            <a:srgbClr val="120E24"/>
          </a:solidFill>
          <a:ln w="19050">
            <a:solidFill>
              <a:srgbClr val="004B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63927" y="2331720"/>
            <a:ext cx="2286000" cy="914400"/>
          </a:xfrm>
          <a:prstGeom prst="rect">
            <a:avLst/>
          </a:prstGeom>
          <a:noFill/>
        </p:spPr>
        <p:txBody>
          <a:bodyPr wrap="square">
            <a:spAutoFit/>
          </a:bodyPr>
          <a:lstStyle/>
          <a:p>
            <a:pPr algn="ctr"/>
            <a:r>
              <a:rPr sz="3400" b="1">
                <a:solidFill>
                  <a:srgbClr val="F5F3FF"/>
                </a:solidFill>
                <a:latin typeface="Calibri"/>
              </a:rPr>
              <a:t>$500,000</a:t>
            </a:r>
          </a:p>
        </p:txBody>
      </p:sp>
      <p:sp>
        <p:nvSpPr>
          <p:cNvPr id="8" name="TextBox 7"/>
          <p:cNvSpPr txBox="1"/>
          <p:nvPr/>
        </p:nvSpPr>
        <p:spPr>
          <a:xfrm>
            <a:off x="2163927" y="3246120"/>
            <a:ext cx="2286000" cy="411480"/>
          </a:xfrm>
          <a:prstGeom prst="rect">
            <a:avLst/>
          </a:prstGeom>
          <a:noFill/>
        </p:spPr>
        <p:txBody>
          <a:bodyPr wrap="square">
            <a:spAutoFit/>
          </a:bodyPr>
          <a:lstStyle/>
          <a:p>
            <a:pPr algn="ctr"/>
            <a:r>
              <a:rPr sz="1200" b="0">
                <a:solidFill>
                  <a:srgbClr val="7091D5"/>
                </a:solidFill>
                <a:latin typeface="Calibri"/>
              </a:rPr>
              <a:t>Annual Recurring Revenue (ARR)</a:t>
            </a:r>
          </a:p>
        </p:txBody>
      </p:sp>
      <p:sp>
        <p:nvSpPr>
          <p:cNvPr id="9" name="TextBox 8"/>
          <p:cNvSpPr txBox="1"/>
          <p:nvPr/>
        </p:nvSpPr>
        <p:spPr>
          <a:xfrm>
            <a:off x="2118207" y="3657600"/>
            <a:ext cx="2377440" cy="457200"/>
          </a:xfrm>
          <a:prstGeom prst="rect">
            <a:avLst/>
          </a:prstGeom>
          <a:noFill/>
        </p:spPr>
        <p:txBody>
          <a:bodyPr wrap="square">
            <a:spAutoFit/>
          </a:bodyPr>
          <a:lstStyle/>
          <a:p>
            <a:pPr algn="ctr"/>
            <a:r>
              <a:rPr sz="1000" b="0">
                <a:solidFill>
                  <a:srgbClr val="002165"/>
                </a:solidFill>
                <a:latin typeface="Calibri"/>
              </a:rPr>
              <a:t>Strong current run rate</a:t>
            </a:r>
          </a:p>
        </p:txBody>
      </p:sp>
      <p:sp>
        <p:nvSpPr>
          <p:cNvPr id="10" name="Rectangle 9"/>
          <p:cNvSpPr/>
          <p:nvPr/>
        </p:nvSpPr>
        <p:spPr>
          <a:xfrm>
            <a:off x="4815687" y="2103120"/>
            <a:ext cx="2560320" cy="2194560"/>
          </a:xfrm>
          <a:prstGeom prst="rect">
            <a:avLst/>
          </a:prstGeom>
          <a:solidFill>
            <a:srgbClr val="120E24"/>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52847" y="2331720"/>
            <a:ext cx="2286000" cy="914400"/>
          </a:xfrm>
          <a:prstGeom prst="rect">
            <a:avLst/>
          </a:prstGeom>
          <a:noFill/>
        </p:spPr>
        <p:txBody>
          <a:bodyPr wrap="square">
            <a:spAutoFit/>
          </a:bodyPr>
          <a:lstStyle/>
          <a:p>
            <a:pPr algn="ctr"/>
            <a:r>
              <a:rPr sz="3400" b="1">
                <a:solidFill>
                  <a:srgbClr val="F5F3FF"/>
                </a:solidFill>
                <a:latin typeface="Calibri"/>
              </a:rPr>
              <a:t>5,000</a:t>
            </a:r>
          </a:p>
        </p:txBody>
      </p:sp>
      <p:sp>
        <p:nvSpPr>
          <p:cNvPr id="12" name="TextBox 11"/>
          <p:cNvSpPr txBox="1"/>
          <p:nvPr/>
        </p:nvSpPr>
        <p:spPr>
          <a:xfrm>
            <a:off x="4952847" y="3246120"/>
            <a:ext cx="2286000" cy="411480"/>
          </a:xfrm>
          <a:prstGeom prst="rect">
            <a:avLst/>
          </a:prstGeom>
          <a:noFill/>
        </p:spPr>
        <p:txBody>
          <a:bodyPr wrap="square">
            <a:spAutoFit/>
          </a:bodyPr>
          <a:lstStyle/>
          <a:p>
            <a:pPr algn="ctr"/>
            <a:r>
              <a:rPr sz="1200" b="0">
                <a:solidFill>
                  <a:srgbClr val="7091D5"/>
                </a:solidFill>
                <a:latin typeface="Calibri"/>
              </a:rPr>
              <a:t>Total Customers</a:t>
            </a:r>
          </a:p>
        </p:txBody>
      </p:sp>
      <p:sp>
        <p:nvSpPr>
          <p:cNvPr id="13" name="TextBox 12"/>
          <p:cNvSpPr txBox="1"/>
          <p:nvPr/>
        </p:nvSpPr>
        <p:spPr>
          <a:xfrm>
            <a:off x="4907127" y="3657600"/>
            <a:ext cx="2377440" cy="457200"/>
          </a:xfrm>
          <a:prstGeom prst="rect">
            <a:avLst/>
          </a:prstGeom>
          <a:noFill/>
        </p:spPr>
        <p:txBody>
          <a:bodyPr wrap="square">
            <a:spAutoFit/>
          </a:bodyPr>
          <a:lstStyle/>
          <a:p>
            <a:pPr algn="ctr"/>
            <a:r>
              <a:rPr sz="1000" b="0">
                <a:solidFill>
                  <a:srgbClr val="002165"/>
                </a:solidFill>
                <a:latin typeface="Calibri"/>
              </a:rPr>
              <a:t>Diverse and expanding client base</a:t>
            </a:r>
          </a:p>
        </p:txBody>
      </p:sp>
      <p:sp>
        <p:nvSpPr>
          <p:cNvPr id="14" name="Rectangle 13"/>
          <p:cNvSpPr/>
          <p:nvPr/>
        </p:nvSpPr>
        <p:spPr>
          <a:xfrm>
            <a:off x="7604607" y="2103120"/>
            <a:ext cx="2560320" cy="2194560"/>
          </a:xfrm>
          <a:prstGeom prst="rect">
            <a:avLst/>
          </a:prstGeom>
          <a:solidFill>
            <a:srgbClr val="120E24"/>
          </a:solidFill>
          <a:ln w="19050">
            <a:solidFill>
              <a:srgbClr val="2350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41767" y="2331720"/>
            <a:ext cx="2286000" cy="914400"/>
          </a:xfrm>
          <a:prstGeom prst="rect">
            <a:avLst/>
          </a:prstGeom>
          <a:noFill/>
        </p:spPr>
        <p:txBody>
          <a:bodyPr wrap="square">
            <a:spAutoFit/>
          </a:bodyPr>
          <a:lstStyle/>
          <a:p>
            <a:pPr algn="ctr"/>
            <a:r>
              <a:rPr sz="3400" b="1">
                <a:solidFill>
                  <a:srgbClr val="F5F3FF"/>
                </a:solidFill>
                <a:latin typeface="Calibri"/>
              </a:rPr>
              <a:t>2,000</a:t>
            </a:r>
          </a:p>
        </p:txBody>
      </p:sp>
      <p:sp>
        <p:nvSpPr>
          <p:cNvPr id="16" name="TextBox 15"/>
          <p:cNvSpPr txBox="1"/>
          <p:nvPr/>
        </p:nvSpPr>
        <p:spPr>
          <a:xfrm>
            <a:off x="7741767" y="3246120"/>
            <a:ext cx="2286000" cy="411480"/>
          </a:xfrm>
          <a:prstGeom prst="rect">
            <a:avLst/>
          </a:prstGeom>
          <a:noFill/>
        </p:spPr>
        <p:txBody>
          <a:bodyPr wrap="square">
            <a:spAutoFit/>
          </a:bodyPr>
          <a:lstStyle/>
          <a:p>
            <a:pPr algn="ctr"/>
            <a:r>
              <a:rPr sz="1200" b="0">
                <a:solidFill>
                  <a:srgbClr val="7091D5"/>
                </a:solidFill>
                <a:latin typeface="Calibri"/>
              </a:rPr>
              <a:t>Monthly Active Users</a:t>
            </a:r>
          </a:p>
        </p:txBody>
      </p:sp>
      <p:sp>
        <p:nvSpPr>
          <p:cNvPr id="17" name="TextBox 16"/>
          <p:cNvSpPr txBox="1"/>
          <p:nvPr/>
        </p:nvSpPr>
        <p:spPr>
          <a:xfrm>
            <a:off x="7696047" y="3657600"/>
            <a:ext cx="2377440" cy="457200"/>
          </a:xfrm>
          <a:prstGeom prst="rect">
            <a:avLst/>
          </a:prstGeom>
          <a:noFill/>
        </p:spPr>
        <p:txBody>
          <a:bodyPr wrap="square">
            <a:spAutoFit/>
          </a:bodyPr>
          <a:lstStyle/>
          <a:p>
            <a:pPr algn="ctr"/>
            <a:r>
              <a:rPr sz="1000" b="0">
                <a:solidFill>
                  <a:srgbClr val="002165"/>
                </a:solidFill>
                <a:latin typeface="Calibri"/>
              </a:rPr>
              <a:t>Engaged platform users</a:t>
            </a:r>
          </a:p>
        </p:txBody>
      </p:sp>
      <p:sp>
        <p:nvSpPr>
          <p:cNvPr id="18" name="TextBox 17"/>
          <p:cNvSpPr txBox="1"/>
          <p:nvPr/>
        </p:nvSpPr>
        <p:spPr>
          <a:xfrm>
            <a:off x="731520" y="4572000"/>
            <a:ext cx="10698480" cy="822960"/>
          </a:xfrm>
          <a:prstGeom prst="rect">
            <a:avLst/>
          </a:prstGeom>
          <a:noFill/>
        </p:spPr>
        <p:txBody>
          <a:bodyPr wrap="square">
            <a:spAutoFit/>
          </a:bodyPr>
          <a:lstStyle/>
          <a:p>
            <a:pPr algn="l"/>
            <a:r>
              <a:rPr sz="1400" b="0">
                <a:solidFill>
                  <a:srgbClr val="7091D5"/>
                </a:solidFill>
                <a:latin typeface="Calibri"/>
              </a:rPr>
              <a:t>Infopace has consistently demonstrated strong growth and client satisfaction, building a robust foundation for future expansion. Our metrics reflect successful project delivery, expanding customer relationships, and a growing presence in key industries.</a:t>
            </a:r>
          </a:p>
        </p:txBody>
      </p:sp>
      <p:sp>
        <p:nvSpPr>
          <p:cNvPr id="19" name="TextBox 18"/>
          <p:cNvSpPr txBox="1"/>
          <p:nvPr/>
        </p:nvSpPr>
        <p:spPr>
          <a:xfrm>
            <a:off x="914400" y="539496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Founded in 1999:</a:t>
            </a:r>
            <a:r>
              <a:rPr sz="1300" b="0">
                <a:solidFill>
                  <a:srgbClr val="7091D5"/>
                </a:solidFill>
                <a:latin typeface="Calibri"/>
              </a:rPr>
              <a:t> Over two decades of sustained operation and growth.</a:t>
            </a:r>
          </a:p>
        </p:txBody>
      </p:sp>
      <p:sp>
        <p:nvSpPr>
          <p:cNvPr id="20" name="TextBox 19"/>
          <p:cNvSpPr txBox="1"/>
          <p:nvPr/>
        </p:nvSpPr>
        <p:spPr>
          <a:xfrm>
            <a:off x="914400" y="580644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Delighted Clients:</a:t>
            </a:r>
            <a:r>
              <a:rPr sz="1300" b="0">
                <a:solidFill>
                  <a:srgbClr val="7091D5"/>
                </a:solidFill>
                <a:latin typeface="Calibri"/>
              </a:rPr>
              <a:t> Long-lasting partnerships with exceptional experience, validated by repeat business.</a:t>
            </a:r>
          </a:p>
        </p:txBody>
      </p:sp>
      <p:sp>
        <p:nvSpPr>
          <p:cNvPr id="21" name="TextBox 20"/>
          <p:cNvSpPr txBox="1"/>
          <p:nvPr/>
        </p:nvSpPr>
        <p:spPr>
          <a:xfrm>
            <a:off x="914400" y="6217920"/>
            <a:ext cx="10332720" cy="365760"/>
          </a:xfrm>
          <a:prstGeom prst="rect">
            <a:avLst/>
          </a:prstGeom>
          <a:noFill/>
        </p:spPr>
        <p:txBody>
          <a:bodyPr wrap="square">
            <a:spAutoFit/>
          </a:bodyPr>
          <a:lstStyle/>
          <a:p>
            <a:pPr algn="l"/>
            <a:r>
              <a:rPr sz="1300" b="0">
                <a:solidFill>
                  <a:srgbClr val="7091D5"/>
                </a:solidFill>
                <a:latin typeface="Calibri"/>
              </a:rPr>
              <a:t>›  </a:t>
            </a:r>
            <a:r>
              <a:rPr sz="1300" b="1">
                <a:solidFill>
                  <a:srgbClr val="7091D5"/>
                </a:solidFill>
                <a:latin typeface="Calibri"/>
              </a:rPr>
              <a:t>High Project Delivery Rate:</a:t>
            </a:r>
            <a:r>
              <a:rPr sz="1300" b="0">
                <a:solidFill>
                  <a:srgbClr val="7091D5"/>
                </a:solidFill>
                <a:latin typeface="Calibri"/>
              </a:rPr>
              <a:t> Guiding businesses through their digital transformation with a track record of successful project completion.</a:t>
            </a:r>
          </a:p>
        </p:txBody>
      </p:sp>
      <p:pic>
        <p:nvPicPr>
          <p:cNvPr id="22" name="Picture 21"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COMPETITIVE LANDSCAPE</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Competitive Landscape</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Our Differentiated Approach to Transformation</a:t>
            </a:r>
          </a:p>
        </p:txBody>
      </p:sp>
      <p:sp>
        <p:nvSpPr>
          <p:cNvPr id="6" name="Rectangle 5"/>
          <p:cNvSpPr/>
          <p:nvPr/>
        </p:nvSpPr>
        <p:spPr>
          <a:xfrm>
            <a:off x="17524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7524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35327" y="2103120"/>
            <a:ext cx="2377440" cy="548640"/>
          </a:xfrm>
          <a:prstGeom prst="rect">
            <a:avLst/>
          </a:prstGeom>
          <a:noFill/>
        </p:spPr>
        <p:txBody>
          <a:bodyPr wrap="square">
            <a:spAutoFit/>
          </a:bodyPr>
          <a:lstStyle/>
          <a:p>
            <a:pPr algn="l"/>
            <a:r>
              <a:rPr sz="1600" b="1">
                <a:solidFill>
                  <a:srgbClr val="F5F3FF"/>
                </a:solidFill>
                <a:latin typeface="Calibri"/>
              </a:rPr>
              <a:t>YCP Group</a:t>
            </a:r>
          </a:p>
        </p:txBody>
      </p:sp>
      <p:sp>
        <p:nvSpPr>
          <p:cNvPr id="9" name="TextBox 8"/>
          <p:cNvSpPr txBox="1"/>
          <p:nvPr/>
        </p:nvSpPr>
        <p:spPr>
          <a:xfrm>
            <a:off x="1935327" y="2651760"/>
            <a:ext cx="2377440" cy="502920"/>
          </a:xfrm>
          <a:prstGeom prst="rect">
            <a:avLst/>
          </a:prstGeom>
          <a:noFill/>
        </p:spPr>
        <p:txBody>
          <a:bodyPr wrap="square">
            <a:spAutoFit/>
          </a:bodyPr>
          <a:lstStyle/>
          <a:p>
            <a:pPr algn="l"/>
            <a:r>
              <a:rPr sz="2200" b="1">
                <a:solidFill>
                  <a:srgbClr val="004BE2"/>
                </a:solidFill>
                <a:latin typeface="Calibri"/>
              </a:rPr>
              <a:t>Unknown Funding</a:t>
            </a:r>
          </a:p>
        </p:txBody>
      </p:sp>
      <p:sp>
        <p:nvSpPr>
          <p:cNvPr id="10" name="TextBox 9"/>
          <p:cNvSpPr txBox="1"/>
          <p:nvPr/>
        </p:nvSpPr>
        <p:spPr>
          <a:xfrm>
            <a:off x="19353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Lack of Localized Agility:</a:t>
            </a:r>
            <a:r>
              <a:rPr sz="1300" b="0">
                <a:solidFill>
                  <a:srgbClr val="7091D5"/>
                </a:solidFill>
                <a:latin typeface="Calibri"/>
              </a:rPr>
              <a:t> As a large global firm, YCP Group may lack the localized agility and nuanced understanding of specific regional market dynamics compared to Infopace.</a:t>
            </a:r>
          </a:p>
        </p:txBody>
      </p:sp>
      <p:sp>
        <p:nvSpPr>
          <p:cNvPr id="11" name="Rectangle 10"/>
          <p:cNvSpPr/>
          <p:nvPr/>
        </p:nvSpPr>
        <p:spPr>
          <a:xfrm>
            <a:off x="47242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242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07127" y="2103120"/>
            <a:ext cx="2377440" cy="548640"/>
          </a:xfrm>
          <a:prstGeom prst="rect">
            <a:avLst/>
          </a:prstGeom>
          <a:noFill/>
        </p:spPr>
        <p:txBody>
          <a:bodyPr wrap="square">
            <a:spAutoFit/>
          </a:bodyPr>
          <a:lstStyle/>
          <a:p>
            <a:pPr algn="l"/>
            <a:r>
              <a:rPr sz="1600" b="1">
                <a:solidFill>
                  <a:srgbClr val="F5F3FF"/>
                </a:solidFill>
                <a:latin typeface="Calibri"/>
              </a:rPr>
              <a:t>BMGI India</a:t>
            </a:r>
          </a:p>
        </p:txBody>
      </p:sp>
      <p:sp>
        <p:nvSpPr>
          <p:cNvPr id="14" name="TextBox 13"/>
          <p:cNvSpPr txBox="1"/>
          <p:nvPr/>
        </p:nvSpPr>
        <p:spPr>
          <a:xfrm>
            <a:off x="4907127" y="2651760"/>
            <a:ext cx="2377440" cy="502920"/>
          </a:xfrm>
          <a:prstGeom prst="rect">
            <a:avLst/>
          </a:prstGeom>
          <a:noFill/>
        </p:spPr>
        <p:txBody>
          <a:bodyPr wrap="square">
            <a:spAutoFit/>
          </a:bodyPr>
          <a:lstStyle/>
          <a:p>
            <a:pPr algn="l"/>
            <a:r>
              <a:rPr sz="2200" b="1">
                <a:solidFill>
                  <a:srgbClr val="475569"/>
                </a:solidFill>
                <a:latin typeface="Calibri"/>
              </a:rPr>
              <a:t>Unknown Funding</a:t>
            </a:r>
          </a:p>
        </p:txBody>
      </p:sp>
      <p:sp>
        <p:nvSpPr>
          <p:cNvPr id="15" name="TextBox 14"/>
          <p:cNvSpPr txBox="1"/>
          <p:nvPr/>
        </p:nvSpPr>
        <p:spPr>
          <a:xfrm>
            <a:off x="49071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Niche Focus:</a:t>
            </a:r>
            <a:r>
              <a:rPr sz="1300" b="0">
                <a:solidFill>
                  <a:srgbClr val="7091D5"/>
                </a:solidFill>
                <a:latin typeface="Calibri"/>
              </a:rPr>
              <a:t> BMGI India is often specialized in specific methodologies (e.g., Lean Six Sigma), potentially lacking the broad, integrated strategic transformation capabilities offered by Infopace.</a:t>
            </a:r>
          </a:p>
        </p:txBody>
      </p:sp>
      <p:sp>
        <p:nvSpPr>
          <p:cNvPr id="16" name="Rectangle 15"/>
          <p:cNvSpPr/>
          <p:nvPr/>
        </p:nvSpPr>
        <p:spPr>
          <a:xfrm>
            <a:off x="76960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960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78927" y="2103120"/>
            <a:ext cx="2377440" cy="548640"/>
          </a:xfrm>
          <a:prstGeom prst="rect">
            <a:avLst/>
          </a:prstGeom>
          <a:noFill/>
        </p:spPr>
        <p:txBody>
          <a:bodyPr wrap="square">
            <a:spAutoFit/>
          </a:bodyPr>
          <a:lstStyle/>
          <a:p>
            <a:pPr algn="l"/>
            <a:r>
              <a:rPr sz="1600" b="1">
                <a:solidFill>
                  <a:srgbClr val="F5F3FF"/>
                </a:solidFill>
                <a:latin typeface="Calibri"/>
              </a:rPr>
              <a:t>PwC</a:t>
            </a:r>
          </a:p>
        </p:txBody>
      </p:sp>
      <p:sp>
        <p:nvSpPr>
          <p:cNvPr id="19" name="TextBox 18"/>
          <p:cNvSpPr txBox="1"/>
          <p:nvPr/>
        </p:nvSpPr>
        <p:spPr>
          <a:xfrm>
            <a:off x="7878927" y="2651760"/>
            <a:ext cx="2377440" cy="502920"/>
          </a:xfrm>
          <a:prstGeom prst="rect">
            <a:avLst/>
          </a:prstGeom>
          <a:noFill/>
        </p:spPr>
        <p:txBody>
          <a:bodyPr wrap="square">
            <a:spAutoFit/>
          </a:bodyPr>
          <a:lstStyle/>
          <a:p>
            <a:pPr algn="l"/>
            <a:r>
              <a:rPr sz="2200" b="1">
                <a:solidFill>
                  <a:srgbClr val="2350A5"/>
                </a:solidFill>
                <a:latin typeface="Calibri"/>
              </a:rPr>
              <a:t>$50B+ Revenue (Global)</a:t>
            </a:r>
          </a:p>
        </p:txBody>
      </p:sp>
      <p:sp>
        <p:nvSpPr>
          <p:cNvPr id="20" name="TextBox 19"/>
          <p:cNvSpPr txBox="1"/>
          <p:nvPr/>
        </p:nvSpPr>
        <p:spPr>
          <a:xfrm>
            <a:off x="78789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High Cost &amp; Bureaucracy:</a:t>
            </a:r>
            <a:r>
              <a:rPr sz="1300" b="0">
                <a:solidFill>
                  <a:srgbClr val="7091D5"/>
                </a:solidFill>
                <a:latin typeface="Calibri"/>
              </a:rPr>
              <a:t> Large consulting firms like PwC often come with higher costs and more bureaucratic processes, which can be less appealing to mid-sized enterprises seeking agile solutions.</a:t>
            </a:r>
          </a:p>
        </p:txBody>
      </p:sp>
      <p:pic>
        <p:nvPicPr>
          <p:cNvPr id="21" name="Picture 20"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TEAM</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Our Visionary Leadership</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Driving Innovation with Experience and Expertise</a:t>
            </a:r>
          </a:p>
        </p:txBody>
      </p:sp>
      <p:sp>
        <p:nvSpPr>
          <p:cNvPr id="6" name="Rectangle 5"/>
          <p:cNvSpPr/>
          <p:nvPr/>
        </p:nvSpPr>
        <p:spPr>
          <a:xfrm>
            <a:off x="3535527" y="1828800"/>
            <a:ext cx="5120640" cy="347472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535527" y="1828800"/>
            <a:ext cx="512064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18407" y="2011680"/>
            <a:ext cx="4754880" cy="548640"/>
          </a:xfrm>
          <a:prstGeom prst="rect">
            <a:avLst/>
          </a:prstGeom>
          <a:noFill/>
        </p:spPr>
        <p:txBody>
          <a:bodyPr wrap="square">
            <a:spAutoFit/>
          </a:bodyPr>
          <a:lstStyle/>
          <a:p>
            <a:pPr algn="l"/>
            <a:r>
              <a:rPr sz="1600" b="1">
                <a:solidFill>
                  <a:srgbClr val="F5F3FF"/>
                </a:solidFill>
                <a:latin typeface="Calibri"/>
              </a:rPr>
              <a:t>Kishor Jagirdar — Co-founder &amp; Chairman &amp; Managing Director</a:t>
            </a:r>
          </a:p>
        </p:txBody>
      </p:sp>
      <p:sp>
        <p:nvSpPr>
          <p:cNvPr id="9" name="TextBox 8"/>
          <p:cNvSpPr txBox="1"/>
          <p:nvPr/>
        </p:nvSpPr>
        <p:spPr>
          <a:xfrm>
            <a:off x="3718407" y="2560320"/>
            <a:ext cx="4754880" cy="502920"/>
          </a:xfrm>
          <a:prstGeom prst="rect">
            <a:avLst/>
          </a:prstGeom>
          <a:noFill/>
        </p:spPr>
        <p:txBody>
          <a:bodyPr wrap="square">
            <a:spAutoFit/>
          </a:bodyPr>
          <a:lstStyle/>
          <a:p>
            <a:pPr algn="l"/>
            <a:r>
              <a:rPr sz="2200" b="1">
                <a:solidFill>
                  <a:srgbClr val="004BE2"/>
                </a:solidFill>
                <a:latin typeface="Calibri"/>
              </a:rPr>
              <a:t>FKCCI President (2011-2012)</a:t>
            </a:r>
          </a:p>
        </p:txBody>
      </p:sp>
      <p:sp>
        <p:nvSpPr>
          <p:cNvPr id="10" name="TextBox 9"/>
          <p:cNvSpPr txBox="1"/>
          <p:nvPr/>
        </p:nvSpPr>
        <p:spPr>
          <a:xfrm>
            <a:off x="3718407" y="3063240"/>
            <a:ext cx="4754880" cy="2057400"/>
          </a:xfrm>
          <a:prstGeom prst="rect">
            <a:avLst/>
          </a:prstGeom>
          <a:noFill/>
        </p:spPr>
        <p:txBody>
          <a:bodyPr wrap="square">
            <a:spAutoFit/>
          </a:bodyPr>
          <a:lstStyle/>
          <a:p>
            <a:pPr algn="l"/>
            <a:r>
              <a:rPr sz="1300" b="0">
                <a:solidFill>
                  <a:srgbClr val="7091D5"/>
                </a:solidFill>
                <a:latin typeface="Calibri"/>
              </a:rPr>
              <a:t>President of Federation of Karnataka Chambers of Commerce and Industry (FKCCI) from 2011 to 2012. Instrumental in formulating Arbitration Dispute Resolution Mechanism Cell (ADR) in FKCCI. Worked with state government, industry bodies, and Karnataka Udyog Mitra, raising ₹12,000 crores as EOI for Chamrajnagar district development.</a:t>
            </a:r>
          </a:p>
        </p:txBody>
      </p:sp>
      <p:pic>
        <p:nvPicPr>
          <p:cNvPr id="11" name="Picture 10"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FINANCIALS</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Market Sizing &amp; Financial Projections</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Strategic Consulting Opportunity · Infopace Trajectory</a:t>
            </a:r>
          </a:p>
        </p:txBody>
      </p:sp>
      <p:sp>
        <p:nvSpPr>
          <p:cNvPr id="6" name="Oval 5"/>
          <p:cNvSpPr/>
          <p:nvPr/>
        </p:nvSpPr>
        <p:spPr>
          <a:xfrm>
            <a:off x="548640" y="1554480"/>
            <a:ext cx="3840480" cy="3840480"/>
          </a:xfrm>
          <a:prstGeom prst="ellipse">
            <a:avLst/>
          </a:prstGeom>
          <a:solidFill>
            <a:srgbClr val="004BE2">
              <a:alpha val="2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14400" y="1920240"/>
            <a:ext cx="3108960" cy="3108960"/>
          </a:xfrm>
          <a:prstGeom prst="ellipse">
            <a:avLst/>
          </a:prstGeom>
          <a:solidFill>
            <a:srgbClr val="475569">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25880" y="2331720"/>
            <a:ext cx="2240280" cy="2240280"/>
          </a:xfrm>
          <a:prstGeom prst="ellipse">
            <a:avLst/>
          </a:prstGeom>
          <a:solidFill>
            <a:srgbClr val="2350A5">
              <a:alpha val="6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17320" y="2834640"/>
            <a:ext cx="2057400" cy="320040"/>
          </a:xfrm>
          <a:prstGeom prst="rect">
            <a:avLst/>
          </a:prstGeom>
          <a:noFill/>
        </p:spPr>
        <p:txBody>
          <a:bodyPr wrap="square">
            <a:spAutoFit/>
          </a:bodyPr>
          <a:lstStyle/>
          <a:p>
            <a:pPr algn="ctr"/>
            <a:r>
              <a:rPr sz="900" b="1">
                <a:solidFill>
                  <a:srgbClr val="002165"/>
                </a:solidFill>
                <a:latin typeface="Calibri"/>
              </a:rPr>
              <a:t>CAGR</a:t>
            </a:r>
          </a:p>
        </p:txBody>
      </p:sp>
      <p:sp>
        <p:nvSpPr>
          <p:cNvPr id="10" name="TextBox 9"/>
          <p:cNvSpPr txBox="1"/>
          <p:nvPr/>
        </p:nvSpPr>
        <p:spPr>
          <a:xfrm>
            <a:off x="1417320" y="3154680"/>
            <a:ext cx="2057400" cy="548640"/>
          </a:xfrm>
          <a:prstGeom prst="rect">
            <a:avLst/>
          </a:prstGeom>
          <a:noFill/>
        </p:spPr>
        <p:txBody>
          <a:bodyPr wrap="square">
            <a:spAutoFit/>
          </a:bodyPr>
          <a:lstStyle/>
          <a:p>
            <a:pPr algn="ctr"/>
            <a:r>
              <a:rPr sz="2200" b="1">
                <a:solidFill>
                  <a:srgbClr val="3F78E9"/>
                </a:solidFill>
                <a:latin typeface="Calibri"/>
              </a:rPr>
              <a:t>8.5%</a:t>
            </a:r>
          </a:p>
        </p:txBody>
      </p:sp>
      <p:sp>
        <p:nvSpPr>
          <p:cNvPr id="11" name="Rectangle 10"/>
          <p:cNvSpPr/>
          <p:nvPr/>
        </p:nvSpPr>
        <p:spPr>
          <a:xfrm>
            <a:off x="4846320" y="1737360"/>
            <a:ext cx="6675120" cy="9144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846320" y="1737360"/>
            <a:ext cx="64008" cy="9144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0" y="1828800"/>
            <a:ext cx="914400" cy="320040"/>
          </a:xfrm>
          <a:prstGeom prst="rect">
            <a:avLst/>
          </a:prstGeom>
          <a:noFill/>
        </p:spPr>
        <p:txBody>
          <a:bodyPr wrap="square">
            <a:spAutoFit/>
          </a:bodyPr>
          <a:lstStyle/>
          <a:p>
            <a:pPr algn="l"/>
            <a:r>
              <a:rPr sz="900" b="1">
                <a:solidFill>
                  <a:srgbClr val="002165"/>
                </a:solidFill>
                <a:latin typeface="Calibri"/>
              </a:rPr>
              <a:t>TAM</a:t>
            </a:r>
          </a:p>
        </p:txBody>
      </p:sp>
      <p:sp>
        <p:nvSpPr>
          <p:cNvPr id="14" name="TextBox 13"/>
          <p:cNvSpPr txBox="1"/>
          <p:nvPr/>
        </p:nvSpPr>
        <p:spPr>
          <a:xfrm>
            <a:off x="6035040" y="1810512"/>
            <a:ext cx="2286000" cy="411480"/>
          </a:xfrm>
          <a:prstGeom prst="rect">
            <a:avLst/>
          </a:prstGeom>
          <a:noFill/>
        </p:spPr>
        <p:txBody>
          <a:bodyPr wrap="square">
            <a:spAutoFit/>
          </a:bodyPr>
          <a:lstStyle/>
          <a:p>
            <a:pPr algn="l"/>
            <a:r>
              <a:rPr sz="2800" b="1">
                <a:solidFill>
                  <a:srgbClr val="004BE2"/>
                </a:solidFill>
                <a:latin typeface="Calibri"/>
              </a:rPr>
              <a:t>$350B</a:t>
            </a:r>
          </a:p>
        </p:txBody>
      </p:sp>
      <p:sp>
        <p:nvSpPr>
          <p:cNvPr id="15" name="TextBox 14"/>
          <p:cNvSpPr txBox="1"/>
          <p:nvPr/>
        </p:nvSpPr>
        <p:spPr>
          <a:xfrm>
            <a:off x="5029200" y="2240280"/>
            <a:ext cx="6400800" cy="347472"/>
          </a:xfrm>
          <a:prstGeom prst="rect">
            <a:avLst/>
          </a:prstGeom>
          <a:noFill/>
        </p:spPr>
        <p:txBody>
          <a:bodyPr wrap="square">
            <a:spAutoFit/>
          </a:bodyPr>
          <a:lstStyle/>
          <a:p>
            <a:pPr algn="l"/>
            <a:r>
              <a:rPr sz="1100" b="0">
                <a:solidFill>
                  <a:srgbClr val="7091D5"/>
                </a:solidFill>
                <a:latin typeface="Calibri"/>
              </a:rPr>
              <a:t>Global Consulting Market 2028 · Source: Statista</a:t>
            </a:r>
          </a:p>
        </p:txBody>
      </p:sp>
      <p:sp>
        <p:nvSpPr>
          <p:cNvPr id="16" name="Rectangle 15"/>
          <p:cNvSpPr/>
          <p:nvPr/>
        </p:nvSpPr>
        <p:spPr>
          <a:xfrm>
            <a:off x="4846320" y="2788920"/>
            <a:ext cx="6675120" cy="9144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846320" y="2788920"/>
            <a:ext cx="64008" cy="9144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2880360"/>
            <a:ext cx="914400" cy="320040"/>
          </a:xfrm>
          <a:prstGeom prst="rect">
            <a:avLst/>
          </a:prstGeom>
          <a:noFill/>
        </p:spPr>
        <p:txBody>
          <a:bodyPr wrap="square">
            <a:spAutoFit/>
          </a:bodyPr>
          <a:lstStyle/>
          <a:p>
            <a:pPr algn="l"/>
            <a:r>
              <a:rPr sz="900" b="1">
                <a:solidFill>
                  <a:srgbClr val="002165"/>
                </a:solidFill>
                <a:latin typeface="Calibri"/>
              </a:rPr>
              <a:t>SAM</a:t>
            </a:r>
          </a:p>
        </p:txBody>
      </p:sp>
      <p:sp>
        <p:nvSpPr>
          <p:cNvPr id="19" name="TextBox 18"/>
          <p:cNvSpPr txBox="1"/>
          <p:nvPr/>
        </p:nvSpPr>
        <p:spPr>
          <a:xfrm>
            <a:off x="6035040" y="2862072"/>
            <a:ext cx="2286000" cy="411480"/>
          </a:xfrm>
          <a:prstGeom prst="rect">
            <a:avLst/>
          </a:prstGeom>
          <a:noFill/>
        </p:spPr>
        <p:txBody>
          <a:bodyPr wrap="square">
            <a:spAutoFit/>
          </a:bodyPr>
          <a:lstStyle/>
          <a:p>
            <a:pPr algn="l"/>
            <a:r>
              <a:rPr sz="2800" b="1">
                <a:solidFill>
                  <a:srgbClr val="475569"/>
                </a:solidFill>
                <a:latin typeface="Calibri"/>
              </a:rPr>
              <a:t>$25B</a:t>
            </a:r>
          </a:p>
        </p:txBody>
      </p:sp>
      <p:sp>
        <p:nvSpPr>
          <p:cNvPr id="20" name="TextBox 19"/>
          <p:cNvSpPr txBox="1"/>
          <p:nvPr/>
        </p:nvSpPr>
        <p:spPr>
          <a:xfrm>
            <a:off x="5029200" y="3291840"/>
            <a:ext cx="6400800" cy="347472"/>
          </a:xfrm>
          <a:prstGeom prst="rect">
            <a:avLst/>
          </a:prstGeom>
          <a:noFill/>
        </p:spPr>
        <p:txBody>
          <a:bodyPr wrap="square">
            <a:spAutoFit/>
          </a:bodyPr>
          <a:lstStyle/>
          <a:p>
            <a:pPr algn="l"/>
            <a:r>
              <a:rPr sz="1100" b="0">
                <a:solidFill>
                  <a:srgbClr val="7091D5"/>
                </a:solidFill>
                <a:latin typeface="Calibri"/>
              </a:rPr>
              <a:t>APAC Strategic Consulting Market 2028</a:t>
            </a:r>
          </a:p>
        </p:txBody>
      </p:sp>
      <p:sp>
        <p:nvSpPr>
          <p:cNvPr id="21" name="Rectangle 20"/>
          <p:cNvSpPr/>
          <p:nvPr/>
        </p:nvSpPr>
        <p:spPr>
          <a:xfrm>
            <a:off x="4846320" y="3840480"/>
            <a:ext cx="6675120" cy="9144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846320" y="3840480"/>
            <a:ext cx="64008" cy="914400"/>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0" y="3931920"/>
            <a:ext cx="914400" cy="320040"/>
          </a:xfrm>
          <a:prstGeom prst="rect">
            <a:avLst/>
          </a:prstGeom>
          <a:noFill/>
        </p:spPr>
        <p:txBody>
          <a:bodyPr wrap="square">
            <a:spAutoFit/>
          </a:bodyPr>
          <a:lstStyle/>
          <a:p>
            <a:pPr algn="l"/>
            <a:r>
              <a:rPr sz="900" b="1">
                <a:solidFill>
                  <a:srgbClr val="002165"/>
                </a:solidFill>
                <a:latin typeface="Calibri"/>
              </a:rPr>
              <a:t>SOM</a:t>
            </a:r>
          </a:p>
        </p:txBody>
      </p:sp>
      <p:sp>
        <p:nvSpPr>
          <p:cNvPr id="24" name="TextBox 23"/>
          <p:cNvSpPr txBox="1"/>
          <p:nvPr/>
        </p:nvSpPr>
        <p:spPr>
          <a:xfrm>
            <a:off x="6035040" y="3913632"/>
            <a:ext cx="2286000" cy="411480"/>
          </a:xfrm>
          <a:prstGeom prst="rect">
            <a:avLst/>
          </a:prstGeom>
          <a:noFill/>
        </p:spPr>
        <p:txBody>
          <a:bodyPr wrap="square">
            <a:spAutoFit/>
          </a:bodyPr>
          <a:lstStyle/>
          <a:p>
            <a:pPr algn="l"/>
            <a:r>
              <a:rPr sz="2800" b="1">
                <a:solidFill>
                  <a:srgbClr val="2350A5"/>
                </a:solidFill>
                <a:latin typeface="Calibri"/>
              </a:rPr>
              <a:t>$250M</a:t>
            </a:r>
          </a:p>
        </p:txBody>
      </p:sp>
      <p:sp>
        <p:nvSpPr>
          <p:cNvPr id="25" name="TextBox 24"/>
          <p:cNvSpPr txBox="1"/>
          <p:nvPr/>
        </p:nvSpPr>
        <p:spPr>
          <a:xfrm>
            <a:off x="5029200" y="4343400"/>
            <a:ext cx="6400800" cy="347472"/>
          </a:xfrm>
          <a:prstGeom prst="rect">
            <a:avLst/>
          </a:prstGeom>
          <a:noFill/>
        </p:spPr>
        <p:txBody>
          <a:bodyPr wrap="square">
            <a:spAutoFit/>
          </a:bodyPr>
          <a:lstStyle/>
          <a:p>
            <a:pPr algn="l"/>
            <a:r>
              <a:rPr sz="1100" b="0">
                <a:solidFill>
                  <a:srgbClr val="7091D5"/>
                </a:solidFill>
                <a:latin typeface="Calibri"/>
              </a:rPr>
              <a:t>~1% SAM capture · Target by 2027</a:t>
            </a:r>
          </a:p>
        </p:txBody>
      </p:sp>
      <p:sp>
        <p:nvSpPr>
          <p:cNvPr id="26" name="Rectangle 25"/>
          <p:cNvSpPr/>
          <p:nvPr/>
        </p:nvSpPr>
        <p:spPr>
          <a:xfrm>
            <a:off x="457200" y="5760720"/>
            <a:ext cx="3657600" cy="6858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852160"/>
            <a:ext cx="3383280" cy="502920"/>
          </a:xfrm>
          <a:prstGeom prst="rect">
            <a:avLst/>
          </a:prstGeom>
          <a:noFill/>
        </p:spPr>
        <p:txBody>
          <a:bodyPr wrap="square">
            <a:spAutoFit/>
          </a:bodyPr>
          <a:lstStyle/>
          <a:p>
            <a:pPr algn="l"/>
            <a:r>
              <a:rPr sz="1200" b="0">
                <a:solidFill>
                  <a:srgbClr val="7091D5"/>
                </a:solidFill>
                <a:latin typeface="Calibri"/>
              </a:rPr>
              <a:t/>
            </a:r>
            <a:r>
              <a:rPr sz="1200" b="1">
                <a:solidFill>
                  <a:srgbClr val="7091D5"/>
                </a:solidFill>
                <a:latin typeface="Calibri"/>
              </a:rPr>
              <a:t>FY2026:</a:t>
            </a:r>
            <a:r>
              <a:rPr sz="1200" b="0">
                <a:solidFill>
                  <a:srgbClr val="7091D5"/>
                </a:solidFill>
                <a:latin typeface="Calibri"/>
              </a:rPr>
              <a:t> $1.5M ARR · 6,500 customers · Expand service offerings and geographic reach.</a:t>
            </a:r>
          </a:p>
        </p:txBody>
      </p:sp>
      <p:sp>
        <p:nvSpPr>
          <p:cNvPr id="28" name="Rectangle 27"/>
          <p:cNvSpPr/>
          <p:nvPr/>
        </p:nvSpPr>
        <p:spPr>
          <a:xfrm>
            <a:off x="4343400" y="5760720"/>
            <a:ext cx="3657600" cy="6858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60" y="5852160"/>
            <a:ext cx="3383280" cy="502920"/>
          </a:xfrm>
          <a:prstGeom prst="rect">
            <a:avLst/>
          </a:prstGeom>
          <a:noFill/>
        </p:spPr>
        <p:txBody>
          <a:bodyPr wrap="square">
            <a:spAutoFit/>
          </a:bodyPr>
          <a:lstStyle/>
          <a:p>
            <a:pPr algn="l"/>
            <a:r>
              <a:rPr sz="1200" b="0">
                <a:solidFill>
                  <a:srgbClr val="7091D5"/>
                </a:solidFill>
                <a:latin typeface="Calibri"/>
              </a:rPr>
              <a:t/>
            </a:r>
            <a:r>
              <a:rPr sz="1200" b="1">
                <a:solidFill>
                  <a:srgbClr val="7091D5"/>
                </a:solidFill>
                <a:latin typeface="Calibri"/>
              </a:rPr>
              <a:t>FY2027:</a:t>
            </a:r>
            <a:r>
              <a:rPr sz="1200" b="0">
                <a:solidFill>
                  <a:srgbClr val="7091D5"/>
                </a:solidFill>
                <a:latin typeface="Calibri"/>
              </a:rPr>
              <a:t> $4.5M ARR · 8,000 customers · Establish strategic partnerships for wider market access.</a:t>
            </a:r>
          </a:p>
        </p:txBody>
      </p:sp>
      <p:sp>
        <p:nvSpPr>
          <p:cNvPr id="30" name="Rectangle 29"/>
          <p:cNvSpPr/>
          <p:nvPr/>
        </p:nvSpPr>
        <p:spPr>
          <a:xfrm>
            <a:off x="8229600" y="5760720"/>
            <a:ext cx="3657600" cy="68580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66760" y="5852160"/>
            <a:ext cx="3383280" cy="502920"/>
          </a:xfrm>
          <a:prstGeom prst="rect">
            <a:avLst/>
          </a:prstGeom>
          <a:noFill/>
        </p:spPr>
        <p:txBody>
          <a:bodyPr wrap="square">
            <a:spAutoFit/>
          </a:bodyPr>
          <a:lstStyle/>
          <a:p>
            <a:pPr algn="l"/>
            <a:r>
              <a:rPr sz="1200" b="0">
                <a:solidFill>
                  <a:srgbClr val="7091D5"/>
                </a:solidFill>
                <a:latin typeface="Calibri"/>
              </a:rPr>
              <a:t/>
            </a:r>
            <a:r>
              <a:rPr sz="1200" b="1">
                <a:solidFill>
                  <a:srgbClr val="7091D5"/>
                </a:solidFill>
                <a:latin typeface="Calibri"/>
              </a:rPr>
              <a:t>FY2028:</a:t>
            </a:r>
            <a:r>
              <a:rPr sz="1200" b="0">
                <a:solidFill>
                  <a:srgbClr val="7091D5"/>
                </a:solidFill>
                <a:latin typeface="Calibri"/>
              </a:rPr>
              <a:t> $10M ARR · 10,000 customers · Position for next funding round and international expansion.</a:t>
            </a:r>
          </a:p>
        </p:txBody>
      </p:sp>
      <p:pic>
        <p:nvPicPr>
          <p:cNvPr id="32" name="Picture 31"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64008" cy="6858000"/>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
            <a:ext cx="4572000" cy="347472"/>
          </a:xfrm>
          <a:prstGeom prst="rect">
            <a:avLst/>
          </a:prstGeom>
          <a:noFill/>
        </p:spPr>
        <p:txBody>
          <a:bodyPr wrap="square">
            <a:spAutoFit/>
          </a:bodyPr>
          <a:lstStyle/>
          <a:p>
            <a:pPr algn="l"/>
            <a:r>
              <a:rPr sz="900" b="1">
                <a:solidFill>
                  <a:srgbClr val="002165"/>
                </a:solidFill>
                <a:latin typeface="Calibri"/>
              </a:rPr>
              <a:t>THE ASK</a:t>
            </a:r>
          </a:p>
        </p:txBody>
      </p:sp>
      <p:sp>
        <p:nvSpPr>
          <p:cNvPr id="4" name="TextBox 3"/>
          <p:cNvSpPr txBox="1"/>
          <p:nvPr/>
        </p:nvSpPr>
        <p:spPr>
          <a:xfrm>
            <a:off x="731520" y="502920"/>
            <a:ext cx="10698480" cy="777240"/>
          </a:xfrm>
          <a:prstGeom prst="rect">
            <a:avLst/>
          </a:prstGeom>
          <a:noFill/>
        </p:spPr>
        <p:txBody>
          <a:bodyPr wrap="square">
            <a:spAutoFit/>
          </a:bodyPr>
          <a:lstStyle/>
          <a:p>
            <a:pPr algn="l"/>
            <a:r>
              <a:rPr sz="3000" b="1">
                <a:solidFill>
                  <a:srgbClr val="F5F3FF"/>
                </a:solidFill>
                <a:latin typeface="Calibri"/>
              </a:rPr>
              <a:t>The Ask</a:t>
            </a:r>
          </a:p>
        </p:txBody>
      </p:sp>
      <p:sp>
        <p:nvSpPr>
          <p:cNvPr id="5" name="TextBox 4"/>
          <p:cNvSpPr txBox="1"/>
          <p:nvPr/>
        </p:nvSpPr>
        <p:spPr>
          <a:xfrm>
            <a:off x="731520" y="1280160"/>
            <a:ext cx="10698480" cy="548640"/>
          </a:xfrm>
          <a:prstGeom prst="rect">
            <a:avLst/>
          </a:prstGeom>
          <a:noFill/>
        </p:spPr>
        <p:txBody>
          <a:bodyPr wrap="square">
            <a:spAutoFit/>
          </a:bodyPr>
          <a:lstStyle/>
          <a:p>
            <a:pPr algn="l"/>
            <a:r>
              <a:rPr sz="1600" b="0">
                <a:solidFill>
                  <a:srgbClr val="7091D5"/>
                </a:solidFill>
                <a:latin typeface="Calibri"/>
              </a:rPr>
              <a:t>Raising $500,000 to Accelerate Growth</a:t>
            </a:r>
          </a:p>
        </p:txBody>
      </p:sp>
      <p:sp>
        <p:nvSpPr>
          <p:cNvPr id="6" name="Rectangle 5"/>
          <p:cNvSpPr/>
          <p:nvPr/>
        </p:nvSpPr>
        <p:spPr>
          <a:xfrm>
            <a:off x="2665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66547" y="1920240"/>
            <a:ext cx="2743200" cy="54864"/>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427" y="2103120"/>
            <a:ext cx="2377440" cy="548640"/>
          </a:xfrm>
          <a:prstGeom prst="rect">
            <a:avLst/>
          </a:prstGeom>
          <a:noFill/>
        </p:spPr>
        <p:txBody>
          <a:bodyPr wrap="square">
            <a:spAutoFit/>
          </a:bodyPr>
          <a:lstStyle/>
          <a:p>
            <a:pPr algn="l"/>
            <a:r>
              <a:rPr sz="1600" b="1">
                <a:solidFill>
                  <a:srgbClr val="F5F3FF"/>
                </a:solidFill>
                <a:latin typeface="Calibri"/>
              </a:rPr>
              <a:t>Product &amp; Technology Development</a:t>
            </a:r>
          </a:p>
        </p:txBody>
      </p:sp>
      <p:sp>
        <p:nvSpPr>
          <p:cNvPr id="9" name="TextBox 8"/>
          <p:cNvSpPr txBox="1"/>
          <p:nvPr/>
        </p:nvSpPr>
        <p:spPr>
          <a:xfrm>
            <a:off x="449427" y="2651760"/>
            <a:ext cx="2377440" cy="502920"/>
          </a:xfrm>
          <a:prstGeom prst="rect">
            <a:avLst/>
          </a:prstGeom>
          <a:noFill/>
        </p:spPr>
        <p:txBody>
          <a:bodyPr wrap="square">
            <a:spAutoFit/>
          </a:bodyPr>
          <a:lstStyle/>
          <a:p>
            <a:pPr algn="l"/>
            <a:r>
              <a:rPr sz="2200" b="1">
                <a:solidFill>
                  <a:srgbClr val="004BE2"/>
                </a:solidFill>
                <a:latin typeface="Calibri"/>
              </a:rPr>
              <a:t>40%</a:t>
            </a:r>
          </a:p>
        </p:txBody>
      </p:sp>
      <p:sp>
        <p:nvSpPr>
          <p:cNvPr id="10" name="TextBox 9"/>
          <p:cNvSpPr txBox="1"/>
          <p:nvPr/>
        </p:nvSpPr>
        <p:spPr>
          <a:xfrm>
            <a:off x="4494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AI &amp; Psychometric Tools:</a:t>
            </a:r>
            <a:r>
              <a:rPr sz="1300" b="0">
                <a:solidFill>
                  <a:srgbClr val="7091D5"/>
                </a:solidFill>
                <a:latin typeface="Calibri"/>
              </a:rPr>
              <a:t> Investing in advanced psychometric assessments and AI-driven insights for smarter decision-making.</a:t>
            </a:r>
          </a:p>
        </p:txBody>
      </p:sp>
      <p:sp>
        <p:nvSpPr>
          <p:cNvPr id="11" name="Rectangle 10"/>
          <p:cNvSpPr/>
          <p:nvPr/>
        </p:nvSpPr>
        <p:spPr>
          <a:xfrm>
            <a:off x="32383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38347" y="1920240"/>
            <a:ext cx="2743200"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21227" y="2103120"/>
            <a:ext cx="2377440" cy="548640"/>
          </a:xfrm>
          <a:prstGeom prst="rect">
            <a:avLst/>
          </a:prstGeom>
          <a:noFill/>
        </p:spPr>
        <p:txBody>
          <a:bodyPr wrap="square">
            <a:spAutoFit/>
          </a:bodyPr>
          <a:lstStyle/>
          <a:p>
            <a:pPr algn="l"/>
            <a:r>
              <a:rPr sz="1600" b="1">
                <a:solidFill>
                  <a:srgbClr val="F5F3FF"/>
                </a:solidFill>
                <a:latin typeface="Calibri"/>
              </a:rPr>
              <a:t>Market Expansion &amp; GTM</a:t>
            </a:r>
          </a:p>
        </p:txBody>
      </p:sp>
      <p:sp>
        <p:nvSpPr>
          <p:cNvPr id="14" name="TextBox 13"/>
          <p:cNvSpPr txBox="1"/>
          <p:nvPr/>
        </p:nvSpPr>
        <p:spPr>
          <a:xfrm>
            <a:off x="3421227" y="2651760"/>
            <a:ext cx="2377440" cy="502920"/>
          </a:xfrm>
          <a:prstGeom prst="rect">
            <a:avLst/>
          </a:prstGeom>
          <a:noFill/>
        </p:spPr>
        <p:txBody>
          <a:bodyPr wrap="square">
            <a:spAutoFit/>
          </a:bodyPr>
          <a:lstStyle/>
          <a:p>
            <a:pPr algn="l"/>
            <a:r>
              <a:rPr sz="2200" b="1">
                <a:solidFill>
                  <a:srgbClr val="475569"/>
                </a:solidFill>
                <a:latin typeface="Calibri"/>
              </a:rPr>
              <a:t>30%</a:t>
            </a:r>
          </a:p>
        </p:txBody>
      </p:sp>
      <p:sp>
        <p:nvSpPr>
          <p:cNvPr id="15" name="TextBox 14"/>
          <p:cNvSpPr txBox="1"/>
          <p:nvPr/>
        </p:nvSpPr>
        <p:spPr>
          <a:xfrm>
            <a:off x="34212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New Geographies &amp; Verticals:</a:t>
            </a:r>
            <a:r>
              <a:rPr sz="1300" b="0">
                <a:solidFill>
                  <a:srgbClr val="7091D5"/>
                </a:solidFill>
                <a:latin typeface="Calibri"/>
              </a:rPr>
              <a:t> Expanding our presence in key Indian markets and targeting new industry verticals.</a:t>
            </a:r>
          </a:p>
        </p:txBody>
      </p:sp>
      <p:sp>
        <p:nvSpPr>
          <p:cNvPr id="16" name="Rectangle 15"/>
          <p:cNvSpPr/>
          <p:nvPr/>
        </p:nvSpPr>
        <p:spPr>
          <a:xfrm>
            <a:off x="62101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0147" y="1920240"/>
            <a:ext cx="2743200" cy="54864"/>
          </a:xfrm>
          <a:prstGeom prst="rect">
            <a:avLst/>
          </a:prstGeom>
          <a:solidFill>
            <a:srgbClr val="2350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93027" y="2103120"/>
            <a:ext cx="2377440" cy="548640"/>
          </a:xfrm>
          <a:prstGeom prst="rect">
            <a:avLst/>
          </a:prstGeom>
          <a:noFill/>
        </p:spPr>
        <p:txBody>
          <a:bodyPr wrap="square">
            <a:spAutoFit/>
          </a:bodyPr>
          <a:lstStyle/>
          <a:p>
            <a:pPr algn="l"/>
            <a:r>
              <a:rPr sz="1600" b="1">
                <a:solidFill>
                  <a:srgbClr val="F5F3FF"/>
                </a:solidFill>
                <a:latin typeface="Calibri"/>
              </a:rPr>
              <a:t>Talent Acquisition &amp; Development</a:t>
            </a:r>
          </a:p>
        </p:txBody>
      </p:sp>
      <p:sp>
        <p:nvSpPr>
          <p:cNvPr id="19" name="TextBox 18"/>
          <p:cNvSpPr txBox="1"/>
          <p:nvPr/>
        </p:nvSpPr>
        <p:spPr>
          <a:xfrm>
            <a:off x="6393027" y="2651760"/>
            <a:ext cx="2377440" cy="502920"/>
          </a:xfrm>
          <a:prstGeom prst="rect">
            <a:avLst/>
          </a:prstGeom>
          <a:noFill/>
        </p:spPr>
        <p:txBody>
          <a:bodyPr wrap="square">
            <a:spAutoFit/>
          </a:bodyPr>
          <a:lstStyle/>
          <a:p>
            <a:pPr algn="l"/>
            <a:r>
              <a:rPr sz="2200" b="1">
                <a:solidFill>
                  <a:srgbClr val="2350A5"/>
                </a:solidFill>
                <a:latin typeface="Calibri"/>
              </a:rPr>
              <a:t>20%</a:t>
            </a:r>
          </a:p>
        </p:txBody>
      </p:sp>
      <p:sp>
        <p:nvSpPr>
          <p:cNvPr id="20" name="TextBox 19"/>
          <p:cNvSpPr txBox="1"/>
          <p:nvPr/>
        </p:nvSpPr>
        <p:spPr>
          <a:xfrm>
            <a:off x="63930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Expert Team Growth:</a:t>
            </a:r>
            <a:r>
              <a:rPr sz="1300" b="0">
                <a:solidFill>
                  <a:srgbClr val="7091D5"/>
                </a:solidFill>
                <a:latin typeface="Calibri"/>
              </a:rPr>
              <a:t> Strengthening our team with specialized consultants and nurturing existing talent through advanced training.</a:t>
            </a:r>
          </a:p>
        </p:txBody>
      </p:sp>
      <p:sp>
        <p:nvSpPr>
          <p:cNvPr id="21" name="Rectangle 20"/>
          <p:cNvSpPr/>
          <p:nvPr/>
        </p:nvSpPr>
        <p:spPr>
          <a:xfrm>
            <a:off x="9181947" y="1920240"/>
            <a:ext cx="2743200" cy="3291840"/>
          </a:xfrm>
          <a:prstGeom prst="rect">
            <a:avLst/>
          </a:prstGeom>
          <a:solidFill>
            <a:srgbClr val="120E24"/>
          </a:solidFill>
          <a:ln w="12700">
            <a:solidFill>
              <a:srgbClr val="2820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81947" y="1920240"/>
            <a:ext cx="2743200" cy="54864"/>
          </a:xfrm>
          <a:prstGeom prst="rect">
            <a:avLst/>
          </a:prstGeom>
          <a:solidFill>
            <a:srgbClr val="3F78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64827" y="2103120"/>
            <a:ext cx="2377440" cy="548640"/>
          </a:xfrm>
          <a:prstGeom prst="rect">
            <a:avLst/>
          </a:prstGeom>
          <a:noFill/>
        </p:spPr>
        <p:txBody>
          <a:bodyPr wrap="square">
            <a:spAutoFit/>
          </a:bodyPr>
          <a:lstStyle/>
          <a:p>
            <a:pPr algn="l"/>
            <a:r>
              <a:rPr sz="1600" b="1">
                <a:solidFill>
                  <a:srgbClr val="F5F3FF"/>
                </a:solidFill>
                <a:latin typeface="Calibri"/>
              </a:rPr>
              <a:t>Operational Enhancements</a:t>
            </a:r>
          </a:p>
        </p:txBody>
      </p:sp>
      <p:sp>
        <p:nvSpPr>
          <p:cNvPr id="24" name="TextBox 23"/>
          <p:cNvSpPr txBox="1"/>
          <p:nvPr/>
        </p:nvSpPr>
        <p:spPr>
          <a:xfrm>
            <a:off x="9364827" y="2651760"/>
            <a:ext cx="2377440" cy="502920"/>
          </a:xfrm>
          <a:prstGeom prst="rect">
            <a:avLst/>
          </a:prstGeom>
          <a:noFill/>
        </p:spPr>
        <p:txBody>
          <a:bodyPr wrap="square">
            <a:spAutoFit/>
          </a:bodyPr>
          <a:lstStyle/>
          <a:p>
            <a:pPr algn="l"/>
            <a:r>
              <a:rPr sz="2200" b="1">
                <a:solidFill>
                  <a:srgbClr val="3F78E9"/>
                </a:solidFill>
                <a:latin typeface="Calibri"/>
              </a:rPr>
              <a:t>10%</a:t>
            </a:r>
          </a:p>
        </p:txBody>
      </p:sp>
      <p:sp>
        <p:nvSpPr>
          <p:cNvPr id="25" name="TextBox 24"/>
          <p:cNvSpPr txBox="1"/>
          <p:nvPr/>
        </p:nvSpPr>
        <p:spPr>
          <a:xfrm>
            <a:off x="9364827" y="3154680"/>
            <a:ext cx="2377440" cy="1874520"/>
          </a:xfrm>
          <a:prstGeom prst="rect">
            <a:avLst/>
          </a:prstGeom>
          <a:noFill/>
        </p:spPr>
        <p:txBody>
          <a:bodyPr wrap="square">
            <a:spAutoFit/>
          </a:bodyPr>
          <a:lstStyle/>
          <a:p>
            <a:pPr algn="l"/>
            <a:r>
              <a:rPr sz="1300" b="0">
                <a:solidFill>
                  <a:srgbClr val="7091D5"/>
                </a:solidFill>
                <a:latin typeface="Calibri"/>
              </a:rPr>
              <a:t/>
            </a:r>
            <a:r>
              <a:rPr sz="1300" b="1">
                <a:solidFill>
                  <a:srgbClr val="7091D5"/>
                </a:solidFill>
                <a:latin typeface="Calibri"/>
              </a:rPr>
              <a:t>Infrastructure &amp; Processes:</a:t>
            </a:r>
            <a:r>
              <a:rPr sz="1300" b="0">
                <a:solidFill>
                  <a:srgbClr val="7091D5"/>
                </a:solidFill>
                <a:latin typeface="Calibri"/>
              </a:rPr>
              <a:t> Optimizing our internal systems and processes to support rapid scaling and efficiency.</a:t>
            </a:r>
          </a:p>
        </p:txBody>
      </p:sp>
      <p:pic>
        <p:nvPicPr>
          <p:cNvPr id="26" name="Picture 25"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612"/>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4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803136"/>
            <a:ext cx="12191695" cy="54864"/>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463040"/>
          </a:xfrm>
          <a:prstGeom prst="rect">
            <a:avLst/>
          </a:prstGeom>
          <a:noFill/>
        </p:spPr>
        <p:txBody>
          <a:bodyPr wrap="square">
            <a:spAutoFit/>
          </a:bodyPr>
          <a:lstStyle/>
          <a:p>
            <a:pPr algn="ctr"/>
            <a:r>
              <a:rPr sz="4800" b="1">
                <a:solidFill>
                  <a:srgbClr val="F5F3FF"/>
                </a:solidFill>
                <a:latin typeface="Calibri"/>
              </a:rPr>
              <a:t>Transforming Businesses, Building Futures.</a:t>
            </a:r>
          </a:p>
        </p:txBody>
      </p:sp>
      <p:sp>
        <p:nvSpPr>
          <p:cNvPr id="5" name="TextBox 4"/>
          <p:cNvSpPr txBox="1"/>
          <p:nvPr/>
        </p:nvSpPr>
        <p:spPr>
          <a:xfrm>
            <a:off x="1371600" y="3200400"/>
            <a:ext cx="9418320" cy="731520"/>
          </a:xfrm>
          <a:prstGeom prst="rect">
            <a:avLst/>
          </a:prstGeom>
          <a:noFill/>
        </p:spPr>
        <p:txBody>
          <a:bodyPr wrap="square">
            <a:spAutoFit/>
          </a:bodyPr>
          <a:lstStyle/>
          <a:p>
            <a:pPr algn="ctr"/>
            <a:r>
              <a:rPr sz="2200" b="0">
                <a:solidFill>
                  <a:srgbClr val="7091D5"/>
                </a:solidFill>
                <a:latin typeface="Calibri"/>
              </a:rPr>
              <a:t>Partner with Infopace for Sustainable Growth.</a:t>
            </a:r>
          </a:p>
        </p:txBody>
      </p:sp>
      <p:sp>
        <p:nvSpPr>
          <p:cNvPr id="6" name="TextBox 5"/>
          <p:cNvSpPr txBox="1"/>
          <p:nvPr/>
        </p:nvSpPr>
        <p:spPr>
          <a:xfrm>
            <a:off x="1828800" y="4023360"/>
            <a:ext cx="8503920" cy="731520"/>
          </a:xfrm>
          <a:prstGeom prst="rect">
            <a:avLst/>
          </a:prstGeom>
          <a:noFill/>
        </p:spPr>
        <p:txBody>
          <a:bodyPr wrap="square">
            <a:spAutoFit/>
          </a:bodyPr>
          <a:lstStyle/>
          <a:p>
            <a:pPr algn="ctr"/>
            <a:r>
              <a:rPr sz="1500" b="0">
                <a:solidFill>
                  <a:srgbClr val="002165"/>
                </a:solidFill>
                <a:latin typeface="Calibri"/>
              </a:rPr>
              <a:t>Infopace is uniquely positioned to empower enterprises through strategic change and innovation. We invite you to join us in shaping the future of business transformation.</a:t>
            </a:r>
          </a:p>
        </p:txBody>
      </p:sp>
      <p:sp>
        <p:nvSpPr>
          <p:cNvPr id="7" name="TextBox 6"/>
          <p:cNvSpPr txBox="1"/>
          <p:nvPr/>
        </p:nvSpPr>
        <p:spPr>
          <a:xfrm>
            <a:off x="3200400" y="6309360"/>
            <a:ext cx="5760720" cy="365760"/>
          </a:xfrm>
          <a:prstGeom prst="rect">
            <a:avLst/>
          </a:prstGeom>
          <a:noFill/>
        </p:spPr>
        <p:txBody>
          <a:bodyPr wrap="square">
            <a:spAutoFit/>
          </a:bodyPr>
          <a:lstStyle/>
          <a:p>
            <a:pPr algn="ctr"/>
            <a:r>
              <a:rPr sz="1000" b="0">
                <a:solidFill>
                  <a:srgbClr val="002165"/>
                </a:solidFill>
                <a:latin typeface="Calibri"/>
              </a:rPr>
              <a:t>Investor Presentation  •  Confidential</a:t>
            </a:r>
          </a:p>
        </p:txBody>
      </p:sp>
      <p:pic>
        <p:nvPicPr>
          <p:cNvPr id="8" name="Picture 7" descr="image.png"/>
          <p:cNvPicPr>
            <a:picLocks noChangeAspect="1"/>
          </p:cNvPicPr>
          <p:nvPr/>
        </p:nvPicPr>
        <p:blipFill>
          <a:blip r:embed="rId2"/>
          <a:stretch>
            <a:fillRect/>
          </a:stretch>
        </p:blipFill>
        <p:spPr>
          <a:xfrm>
            <a:off x="11002975" y="91440"/>
            <a:ext cx="1005840" cy="411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