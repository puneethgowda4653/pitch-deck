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447" y="274320"/>
            <a:ext cx="182880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2801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Ola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29692"/>
                </a:solidFill>
                <a:latin typeface="Calibri"/>
              </a:rPr>
              <a:t>Connecting India, One Ride at a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6576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722622"/>
                </a:solidFill>
                <a:latin typeface="Calibri"/>
              </a:rPr>
              <a:t>Revolutionizing urban mobility with a seamless, on-demand transportation platform.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2622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622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9692"/>
                </a:solidFill>
                <a:latin typeface="Calibri"/>
              </a:rPr>
              <a:t>Leading the charge in accessible and efficient urban mobility.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230E1E"/>
          </a:solidFill>
          <a:ln w="19050">
            <a:solidFill>
              <a:srgbClr val="FE5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100,000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9692"/>
                </a:solidFill>
                <a:latin typeface="Calibri"/>
              </a:rPr>
              <a:t>Total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2622"/>
                </a:solidFill>
                <a:latin typeface="Calibri"/>
              </a:rPr>
              <a:t>Active riders on our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230E1E"/>
          </a:solidFill>
          <a:ln w="19050">
            <a:solidFill>
              <a:srgbClr val="FE5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9692"/>
                </a:solidFill>
                <a:latin typeface="Calibri"/>
              </a:rPr>
              <a:t>Annual Recurring Revenue (ARR)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2622"/>
                </a:solidFill>
                <a:latin typeface="Calibri"/>
              </a:rPr>
              <a:t>As of current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9692"/>
                </a:solidFill>
                <a:latin typeface="Calibri"/>
              </a:rPr>
              <a:t>Ola has rapidly established itself as a dominant force in the ride-hailing market, delivering unparalleled convenience and affordability. With strong financial performance and a clear growth trajectory, we are poised for significant expansion.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›  </a:t>
            </a:r>
            <a:r>
              <a:rPr sz="1300" b="1">
                <a:solidFill>
                  <a:srgbClr val="E29692"/>
                </a:solidFill>
                <a:latin typeface="Calibri"/>
              </a:rPr>
              <a:t>Market Leadership:</a:t>
            </a:r>
            <a:r>
              <a:rPr sz="1300" b="0">
                <a:solidFill>
                  <a:srgbClr val="E29692"/>
                </a:solidFill>
                <a:latin typeface="Calibri"/>
              </a:rPr>
              <a:t> Dominant player in key Indian cities, expanding rapidly.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›  </a:t>
            </a:r>
            <a:r>
              <a:rPr sz="1300" b="1">
                <a:solidFill>
                  <a:srgbClr val="E29692"/>
                </a:solidFill>
                <a:latin typeface="Calibri"/>
              </a:rPr>
              <a:t>Robust Growth:</a:t>
            </a:r>
            <a:r>
              <a:rPr sz="1300" b="0">
                <a:solidFill>
                  <a:srgbClr val="E29692"/>
                </a:solidFill>
                <a:latin typeface="Calibri"/>
              </a:rPr>
              <a:t> Strong revenue and customer acquisition, demonstrating market fit.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›  </a:t>
            </a:r>
            <a:r>
              <a:rPr sz="1300" b="1">
                <a:solidFill>
                  <a:srgbClr val="E29692"/>
                </a:solidFill>
                <a:latin typeface="Calibri"/>
              </a:rPr>
              <a:t>Technological Edge:</a:t>
            </a:r>
            <a:r>
              <a:rPr sz="1300" b="0">
                <a:solidFill>
                  <a:srgbClr val="E29692"/>
                </a:solidFill>
                <a:latin typeface="Calibri"/>
              </a:rPr>
              <a:t> Proprietary platform optimizing driver-rider matching and efficiency.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622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9692"/>
                </a:solidFill>
                <a:latin typeface="Calibri"/>
              </a:rPr>
              <a:t>Tapping into a multi-billion dollar urban mobility market.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230E1E"/>
          </a:solidFill>
          <a:ln w="19050">
            <a:solidFill>
              <a:srgbClr val="FE5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$280B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9692"/>
                </a:solidFill>
                <a:latin typeface="Calibri"/>
              </a:rPr>
              <a:t>Global Ride-Hailing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2622"/>
                </a:solidFill>
                <a:latin typeface="Calibri"/>
              </a:rPr>
              <a:t>Projected by 2030 · Source: Statista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230E1E"/>
          </a:solidFill>
          <a:ln w="19050">
            <a:solidFill>
              <a:srgbClr val="FE5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9692"/>
                </a:solidFill>
                <a:latin typeface="Calibri"/>
              </a:rPr>
              <a:t>India Ride-Hailing Market 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2622"/>
                </a:solidFill>
                <a:latin typeface="Calibri"/>
              </a:rPr>
              <a:t>2023-2028 · Source: Mordor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9692"/>
                </a:solidFill>
                <a:latin typeface="Calibri"/>
              </a:rPr>
              <a:t>The global ride-hailing market is experiencing exponential growth, driven by urbanization, smartphone penetration, and a shift towards shared mobility. India, in particular, presents a massive untapped potential.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›  </a:t>
            </a:r>
            <a:r>
              <a:rPr sz="1300" b="1">
                <a:solidFill>
                  <a:srgbClr val="E29692"/>
                </a:solidFill>
                <a:latin typeface="Calibri"/>
              </a:rPr>
              <a:t>Urbanization Boom:</a:t>
            </a:r>
            <a:r>
              <a:rPr sz="1300" b="0">
                <a:solidFill>
                  <a:srgbClr val="E29692"/>
                </a:solidFill>
                <a:latin typeface="Calibri"/>
              </a:rPr>
              <a:t> Rapid growth of metropolitan areas fuels demand for efficient transport.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›  </a:t>
            </a:r>
            <a:r>
              <a:rPr sz="1300" b="1">
                <a:solidFill>
                  <a:srgbClr val="E29692"/>
                </a:solidFill>
                <a:latin typeface="Calibri"/>
              </a:rPr>
              <a:t>Digital Adoption:</a:t>
            </a:r>
            <a:r>
              <a:rPr sz="1300" b="0">
                <a:solidFill>
                  <a:srgbClr val="E29692"/>
                </a:solidFill>
                <a:latin typeface="Calibri"/>
              </a:rPr>
              <a:t> Increasing smartphone penetration and digital payment adoption simplifies booking.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›  </a:t>
            </a:r>
            <a:r>
              <a:rPr sz="1300" b="1">
                <a:solidFill>
                  <a:srgbClr val="E29692"/>
                </a:solidFill>
                <a:latin typeface="Calibri"/>
              </a:rPr>
              <a:t>Cost Efficiency:</a:t>
            </a:r>
            <a:r>
              <a:rPr sz="1300" b="0">
                <a:solidFill>
                  <a:srgbClr val="E29692"/>
                </a:solidFill>
                <a:latin typeface="Calibri"/>
              </a:rPr>
              <a:t> Consumers seek affordable alternatives to personal vehicle ownership.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622"/>
                </a:solidFill>
                <a:latin typeface="Calibri"/>
              </a:rPr>
              <a:t>PROBLEM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Problem &amp;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9692"/>
                </a:solidFill>
                <a:latin typeface="Calibri"/>
              </a:rPr>
              <a:t>Addressing urban commute inefficiencies with smart mobility.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solidFill>
            <a:srgbClr val="230E1E"/>
          </a:solidFill>
          <a:ln w="19050">
            <a:solidFill>
              <a:srgbClr val="FE5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03520" cy="64008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E554C"/>
                </a:solidFill>
                <a:latin typeface="Calibri"/>
              </a:rPr>
              <a:t>High Cost &amp; Inefficiency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•  </a:t>
            </a:r>
            <a:r>
              <a:rPr sz="1300" b="1">
                <a:solidFill>
                  <a:srgbClr val="E29692"/>
                </a:solidFill>
                <a:latin typeface="Calibri"/>
              </a:rPr>
              <a:t>Unreliable Transport:</a:t>
            </a:r>
            <a:r>
              <a:rPr sz="1300" b="0">
                <a:solidFill>
                  <a:srgbClr val="E29692"/>
                </a:solidFill>
                <a:latin typeface="Calibri"/>
              </a:rPr>
              <a:t> Long wait times and unpredictable availability, especially in peak hours.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•  </a:t>
            </a:r>
            <a:r>
              <a:rPr sz="1300" b="1">
                <a:solidFill>
                  <a:srgbClr val="E29692"/>
                </a:solidFill>
                <a:latin typeface="Calibri"/>
              </a:rPr>
              <a:t>High Ownership Costs:</a:t>
            </a:r>
            <a:r>
              <a:rPr sz="1300" b="0">
                <a:solidFill>
                  <a:srgbClr val="E29692"/>
                </a:solidFill>
                <a:latin typeface="Calibri"/>
              </a:rPr>
              <a:t> Personal vehicle ownership is expensive with maintenance, fuel, and parking.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•  </a:t>
            </a:r>
            <a:r>
              <a:rPr sz="1300" b="1">
                <a:solidFill>
                  <a:srgbClr val="E29692"/>
                </a:solidFill>
                <a:latin typeface="Calibri"/>
              </a:rPr>
              <a:t>Lack of Transparency:</a:t>
            </a:r>
            <a:r>
              <a:rPr sz="1300" b="0">
                <a:solidFill>
                  <a:srgbClr val="E29692"/>
                </a:solidFill>
                <a:latin typeface="Calibri"/>
              </a:rPr>
              <a:t> Opaque pricing and safety concerns with traditional taxi services.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342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•  </a:t>
            </a:r>
            <a:r>
              <a:rPr sz="1300" b="1">
                <a:solidFill>
                  <a:srgbClr val="E29692"/>
                </a:solidFill>
                <a:latin typeface="Calibri"/>
              </a:rPr>
              <a:t>Environmental Impact:</a:t>
            </a:r>
            <a:r>
              <a:rPr sz="1300" b="0">
                <a:solidFill>
                  <a:srgbClr val="E29692"/>
                </a:solidFill>
                <a:latin typeface="Calibri"/>
              </a:rPr>
              <a:t> Increased traffic congestion and pollution from private vehicles.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5303520" cy="4114800"/>
          </a:xfrm>
          <a:prstGeom prst="rect">
            <a:avLst/>
          </a:prstGeom>
          <a:solidFill>
            <a:srgbClr val="230E1E"/>
          </a:solidFill>
          <a:ln w="19050">
            <a:solidFill>
              <a:srgbClr val="FE5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737360"/>
            <a:ext cx="5303520" cy="64008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Our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E554C"/>
                </a:solidFill>
                <a:latin typeface="Calibri"/>
              </a:rPr>
              <a:t>Seamless On-Demand Mobility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•  </a:t>
            </a:r>
            <a:r>
              <a:rPr sz="1300" b="1">
                <a:solidFill>
                  <a:srgbClr val="E29692"/>
                </a:solidFill>
                <a:latin typeface="Calibri"/>
              </a:rPr>
              <a:t>Instant Booking:</a:t>
            </a:r>
            <a:r>
              <a:rPr sz="1300" b="0">
                <a:solidFill>
                  <a:srgbClr val="E29692"/>
                </a:solidFill>
                <a:latin typeface="Calibri"/>
              </a:rPr>
              <a:t> Connects riders with nearby cabs in minutes via a user-friendly app.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•  </a:t>
            </a:r>
            <a:r>
              <a:rPr sz="1300" b="1">
                <a:solidFill>
                  <a:srgbClr val="E29692"/>
                </a:solidFill>
                <a:latin typeface="Calibri"/>
              </a:rPr>
              <a:t>Affordable Fares:</a:t>
            </a:r>
            <a:r>
              <a:rPr sz="1300" b="0">
                <a:solidFill>
                  <a:srgbClr val="E29692"/>
                </a:solidFill>
                <a:latin typeface="Calibri"/>
              </a:rPr>
              <a:t> Competitive pricing with transparent fare estimates and multiple ride options.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•  </a:t>
            </a:r>
            <a:r>
              <a:rPr sz="1300" b="1">
                <a:solidFill>
                  <a:srgbClr val="E29692"/>
                </a:solidFill>
                <a:latin typeface="Calibri"/>
              </a:rPr>
              <a:t>Enhanced Safety:</a:t>
            </a:r>
            <a:r>
              <a:rPr sz="1300" b="0">
                <a:solidFill>
                  <a:srgbClr val="E29692"/>
                </a:solidFill>
                <a:latin typeface="Calibri"/>
              </a:rPr>
              <a:t> GPS tracking, emergency assistance, and driver verification for peace of mind.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3342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•  </a:t>
            </a:r>
            <a:r>
              <a:rPr sz="1300" b="1">
                <a:solidFill>
                  <a:srgbClr val="E29692"/>
                </a:solidFill>
                <a:latin typeface="Calibri"/>
              </a:rPr>
              <a:t>Reduced Congestion:</a:t>
            </a:r>
            <a:r>
              <a:rPr sz="1300" b="0">
                <a:solidFill>
                  <a:srgbClr val="E29692"/>
                </a:solidFill>
                <a:latin typeface="Calibri"/>
              </a:rPr>
              <a:t> Promotes shared mobility, decreasing the number of private cars on roads.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011680"/>
            <a:ext cx="27432" cy="3566160"/>
          </a:xfrm>
          <a:prstGeom prst="rect">
            <a:avLst/>
          </a:prstGeom>
          <a:solidFill>
            <a:srgbClr val="51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622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Our Product: Ola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9692"/>
                </a:solidFill>
                <a:latin typeface="Calibri"/>
              </a:rPr>
              <a:t>Intuitive, feature-rich platform for a superior ride experience.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Easy Booking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E554C"/>
                </a:solidFill>
                <a:latin typeface="Calibri"/>
              </a:rPr>
              <a:t>Tap, Book, Ride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Seamless booking process with real-time tracking and estimated arrival times.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Multiple Ride Options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E554C"/>
                </a:solidFill>
                <a:latin typeface="Calibri"/>
              </a:rPr>
              <a:t>Economy to Premium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Choose from various categories like Mini, Sedan, Prime, and Rentals to suit your needs.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Secure Payments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E554C"/>
                </a:solidFill>
                <a:latin typeface="Calibri"/>
              </a:rPr>
              <a:t>Cashless &amp; Convenient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Integrated digital payment options, including Ola Money, UPI, and cards.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FE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Safety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E7F78"/>
                </a:solidFill>
                <a:latin typeface="Calibri"/>
              </a:rPr>
              <a:t>Track &amp; Share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Live GPS tracking, SOS button, and ability to share ride details with loved ones.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622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9692"/>
                </a:solidFill>
                <a:latin typeface="Calibri"/>
              </a:rPr>
              <a:t>Generating sustainable revenue through a diversified approach.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Commission on Rides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E554C"/>
                </a:solidFill>
                <a:latin typeface="Calibri"/>
              </a:rPr>
              <a:t>Core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A percentage of each ride fare collected from drivers, varying by region and ride type.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Surge Pricing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E554C"/>
                </a:solidFill>
                <a:latin typeface="Calibri"/>
              </a:rPr>
              <a:t>Demand-Driven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Dynamic pricing during peak hours or high-demand areas to balance supply and demand.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Ola Corporate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E554C"/>
                </a:solidFill>
                <a:latin typeface="Calibri"/>
              </a:rPr>
              <a:t>B2B Solutions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Providing integrated mobility solutions for businesses, managing employee travel efficiently.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FE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Advertising &amp; Partnerships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E7F78"/>
                </a:solidFill>
                <a:latin typeface="Calibri"/>
              </a:rPr>
              <a:t>Ancillary Revenue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In-app advertising and strategic alliances with businesses for promotions and services.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622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9692"/>
                </a:solidFill>
                <a:latin typeface="Calibri"/>
              </a:rPr>
              <a:t>Demonstrated growth and strong market adoption.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230E1E"/>
          </a:solidFill>
          <a:ln w="19050">
            <a:solidFill>
              <a:srgbClr val="FE5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$15,000,000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9692"/>
                </a:solidFill>
                <a:latin typeface="Calibri"/>
              </a:rPr>
              <a:t>Annual Recurring Revenue (ARR)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2622"/>
                </a:solidFill>
                <a:latin typeface="Calibri"/>
              </a:rPr>
              <a:t>As of current 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230E1E"/>
          </a:solidFill>
          <a:ln w="19050">
            <a:solidFill>
              <a:srgbClr val="FE5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50,000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9692"/>
                </a:solidFill>
                <a:latin typeface="Calibri"/>
              </a:rPr>
              <a:t>Monthly Active Users (MAU)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2622"/>
                </a:solidFill>
                <a:latin typeface="Calibri"/>
              </a:rPr>
              <a:t>Engaged users monthly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230E1E"/>
          </a:solidFill>
          <a:ln w="19050">
            <a:solidFill>
              <a:srgbClr val="FE5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100,000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9692"/>
                </a:solidFill>
                <a:latin typeface="Calibri"/>
              </a:rPr>
              <a:t>Total 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2622"/>
                </a:solidFill>
                <a:latin typeface="Calibri"/>
              </a:rPr>
              <a:t>Registered users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230E1E"/>
          </a:solidFill>
          <a:ln w="19050">
            <a:solidFill>
              <a:srgbClr val="FE7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$1,000,000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9692"/>
                </a:solidFill>
                <a:latin typeface="Calibri"/>
              </a:rPr>
              <a:t>Monthly Recurring Revenue (MRR)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2622"/>
                </a:solidFill>
                <a:latin typeface="Calibri"/>
              </a:rPr>
              <a:t>Current monthly revenue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9692"/>
                </a:solidFill>
                <a:latin typeface="Calibri"/>
              </a:rPr>
              <a:t>Ola has achieved significant milestones, reflecting our strong product-market fit and effective growth strategies.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›  </a:t>
            </a:r>
            <a:r>
              <a:rPr sz="1300" b="1">
                <a:solidFill>
                  <a:srgbClr val="E29692"/>
                </a:solidFill>
                <a:latin typeface="Calibri"/>
              </a:rPr>
              <a:t>Customer Loyalty:</a:t>
            </a:r>
            <a:r>
              <a:rPr sz="1300" b="0">
                <a:solidFill>
                  <a:srgbClr val="E29692"/>
                </a:solidFill>
                <a:latin typeface="Calibri"/>
              </a:rPr>
              <a:t> High retention rates and frequent usage indicate strong user satisfaction.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›  </a:t>
            </a:r>
            <a:r>
              <a:rPr sz="1300" b="1">
                <a:solidFill>
                  <a:srgbClr val="E29692"/>
                </a:solidFill>
                <a:latin typeface="Calibri"/>
              </a:rPr>
              <a:t>Operational Efficiency:</a:t>
            </a:r>
            <a:r>
              <a:rPr sz="1300" b="0">
                <a:solidFill>
                  <a:srgbClr val="E29692"/>
                </a:solidFill>
                <a:latin typeface="Calibri"/>
              </a:rPr>
              <a:t> Continuously optimizing driver network and ride fulfillment.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›  </a:t>
            </a:r>
            <a:r>
              <a:rPr sz="1300" b="1">
                <a:solidFill>
                  <a:srgbClr val="E29692"/>
                </a:solidFill>
                <a:latin typeface="Calibri"/>
              </a:rPr>
              <a:t>Brand Recognition:</a:t>
            </a:r>
            <a:r>
              <a:rPr sz="1300" b="0">
                <a:solidFill>
                  <a:srgbClr val="E29692"/>
                </a:solidFill>
                <a:latin typeface="Calibri"/>
              </a:rPr>
              <a:t> Ola is a household name in urban India, driving organic growth.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622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9692"/>
                </a:solidFill>
                <a:latin typeface="Calibri"/>
              </a:rPr>
              <a:t>Differentiated by local focus, technology, and service breadth.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Uber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E554C"/>
                </a:solidFill>
                <a:latin typeface="Calibri"/>
              </a:rPr>
              <a:t>$82B 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Global giant with strong brand, but often faces local regulatory hurdles and higher pricing in some markets.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Rapido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E554C"/>
                </a:solidFill>
                <a:latin typeface="Calibri"/>
              </a:rPr>
              <a:t>$300M+ Funding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Focuses on bike taxis, which limits reach for larger group travel or luggage, less comprehensive car offering.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Local Taxi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E554C"/>
                </a:solidFill>
                <a:latin typeface="Calibri"/>
              </a:rPr>
              <a:t>Fragmented Market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Lack of standardization, digital integration, transparent pricing, and robust safety features.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622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Our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9692"/>
                </a:solidFill>
                <a:latin typeface="Calibri"/>
              </a:rPr>
              <a:t>Experienced leaders driving innovation and execution.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535527" y="1828800"/>
            <a:ext cx="5120640" cy="347472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35527" y="1828800"/>
            <a:ext cx="5120640" cy="54864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18407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Founding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8407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E554C"/>
                </a:solidFill>
                <a:latin typeface="Calibri"/>
              </a:rPr>
              <a:t>Experienced Leadership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8407" y="306324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Profiles available upon request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622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Market Sizing &amp; Financial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9692"/>
                </a:solidFill>
                <a:latin typeface="Calibri"/>
              </a:rPr>
              <a:t>Significant market opportunity with strong growth trajectory.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554480"/>
            <a:ext cx="3840480" cy="3840480"/>
          </a:xfrm>
          <a:prstGeom prst="ellipse">
            <a:avLst/>
          </a:prstGeom>
          <a:solidFill>
            <a:srgbClr val="FE554C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920240"/>
            <a:ext cx="3108960" cy="3108960"/>
          </a:xfrm>
          <a:prstGeom prst="ellipse">
            <a:avLst/>
          </a:prstGeom>
          <a:solidFill>
            <a:srgbClr val="FE554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25880" y="2331720"/>
            <a:ext cx="2240280" cy="2240280"/>
          </a:xfrm>
          <a:prstGeom prst="ellipse">
            <a:avLst/>
          </a:prstGeom>
          <a:solidFill>
            <a:srgbClr val="FE554C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8346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22622"/>
                </a:solidFill>
                <a:latin typeface="Calibri"/>
              </a:rPr>
              <a:t>CAGR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1546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E7F78"/>
                </a:solidFill>
                <a:latin typeface="Calibri"/>
              </a:rPr>
              <a:t>20%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737360"/>
            <a:ext cx="6675120" cy="91440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46320" y="1737360"/>
            <a:ext cx="64008" cy="914400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828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622"/>
                </a:solidFill>
                <a:latin typeface="Calibri"/>
              </a:rPr>
              <a:t>TAM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105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E554C"/>
                </a:solidFill>
                <a:latin typeface="Calibri"/>
              </a:rPr>
              <a:t>$47B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24028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9692"/>
                </a:solidFill>
                <a:latin typeface="Calibri"/>
              </a:rPr>
              <a:t>Global ride-hailing 2024 · Source: Statista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788920"/>
            <a:ext cx="6675120" cy="91440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2788920"/>
            <a:ext cx="64008" cy="914400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880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622"/>
                </a:solidFill>
                <a:latin typeface="Calibri"/>
              </a:rPr>
              <a:t>SAM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8620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E554C"/>
                </a:solidFill>
                <a:latin typeface="Calibri"/>
              </a:rPr>
              <a:t>$15B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291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9692"/>
                </a:solidFill>
                <a:latin typeface="Calibri"/>
              </a:rPr>
              <a:t>India urban ride-hailing segment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3840480"/>
            <a:ext cx="6675120" cy="91440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46320" y="3840480"/>
            <a:ext cx="64008" cy="914400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3931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622"/>
                </a:solidFill>
                <a:latin typeface="Calibri"/>
              </a:rPr>
              <a:t>SOM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913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E554C"/>
                </a:solidFill>
                <a:latin typeface="Calibri"/>
              </a:rPr>
              <a:t>$1.5B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343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9692"/>
                </a:solidFill>
                <a:latin typeface="Calibri"/>
              </a:rPr>
              <a:t>~10% SAM capture · Target by 2028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60720"/>
            <a:ext cx="3657600" cy="68580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9692"/>
                </a:solidFill>
                <a:latin typeface="Calibri"/>
              </a:rPr>
              <a:t/>
            </a:r>
            <a:r>
              <a:rPr sz="1200" b="1">
                <a:solidFill>
                  <a:srgbClr val="E29692"/>
                </a:solidFill>
                <a:latin typeface="Calibri"/>
              </a:rPr>
              <a:t>FY2026:</a:t>
            </a:r>
            <a:r>
              <a:rPr sz="1200" b="0">
                <a:solidFill>
                  <a:srgbClr val="E29692"/>
                </a:solidFill>
                <a:latin typeface="Calibri"/>
              </a:rPr>
              <a:t> $30M ARR · 180,000 customers · Expand to 10 new Tier-2 cities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5760720"/>
            <a:ext cx="3657600" cy="68580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9692"/>
                </a:solidFill>
                <a:latin typeface="Calibri"/>
              </a:rPr>
              <a:t/>
            </a:r>
            <a:r>
              <a:rPr sz="1200" b="1">
                <a:solidFill>
                  <a:srgbClr val="E29692"/>
                </a:solidFill>
                <a:latin typeface="Calibri"/>
              </a:rPr>
              <a:t>FY2027:</a:t>
            </a:r>
            <a:r>
              <a:rPr sz="1200" b="0">
                <a:solidFill>
                  <a:srgbClr val="E29692"/>
                </a:solidFill>
                <a:latin typeface="Calibri"/>
              </a:rPr>
              <a:t> $60M ARR · 350,000 customers · Launch new premium service category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5760720"/>
            <a:ext cx="3657600" cy="68580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9692"/>
                </a:solidFill>
                <a:latin typeface="Calibri"/>
              </a:rPr>
              <a:t/>
            </a:r>
            <a:r>
              <a:rPr sz="1200" b="1">
                <a:solidFill>
                  <a:srgbClr val="E29692"/>
                </a:solidFill>
                <a:latin typeface="Calibri"/>
              </a:rPr>
              <a:t>FY2028:</a:t>
            </a:r>
            <a:r>
              <a:rPr sz="1200" b="0">
                <a:solidFill>
                  <a:srgbClr val="E29692"/>
                </a:solidFill>
                <a:latin typeface="Calibri"/>
              </a:rPr>
              <a:t> $120M ARR · 700,000 customers · Achieve positive EBITDA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622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9692"/>
                </a:solidFill>
                <a:latin typeface="Calibri"/>
              </a:rPr>
              <a:t>Raising $15M to accelerate growth and expand market leadership.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Product &amp;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E554C"/>
                </a:solidFill>
                <a:latin typeface="Calibri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Investing in AI-driven matching, predictive analytics, and enhanced safety features.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Market Expansion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E554C"/>
                </a:solidFill>
                <a:latin typeface="Calibri"/>
              </a:rPr>
              <a:t>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Entering new Tier-2 and Tier-3 cities, increasing geographical footprint.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Marketing &amp; Customer Acquisition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E554C"/>
                </a:solidFill>
                <a:latin typeface="Calibri"/>
              </a:rP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Targeted campaigns to onboard new riders and drivers, build brand loyalty.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FE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Operational Scaling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E7F78"/>
                </a:solidFill>
                <a:latin typeface="Calibri"/>
              </a:rPr>
              <a:t>10%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Strengthening our operational teams and infrastructure to support rapid growth.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Join Ola's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29692"/>
                </a:solidFill>
                <a:latin typeface="Calibri"/>
              </a:rPr>
              <a:t>Invest in the future of mobility.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722622"/>
                </a:solidFill>
                <a:latin typeface="Calibri"/>
              </a:rPr>
              <a:t>Ola is more than just a ride-hailing service; we are building a comprehensive mobility ecosystem. We invite you to be a part of this exciting journey, delivering innovation and convenience to millions.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2622"/>
                </a:solidFill>
                <a:latin typeface="Calibri"/>
              </a:rPr>
              <a:t>Investor Presentation  •  Confidential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