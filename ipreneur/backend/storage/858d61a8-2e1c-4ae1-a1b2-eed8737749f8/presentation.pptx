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274320"/>
            <a:ext cx="182880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Airbnb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989A"/>
                </a:solidFill>
                <a:latin typeface="Calibri"/>
              </a:rPr>
              <a:t>Investor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72282A"/>
                </a:solidFill>
                <a:latin typeface="Calibri"/>
              </a:rPr>
              <a:t>Your gateway to unique stays and global experiences, shaping the future of travel.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89A"/>
                </a:solidFill>
                <a:latin typeface="Calibri"/>
              </a:rPr>
              <a:t>Leading the future of travel and hospitality with a global community.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89A"/>
                </a:solidFill>
                <a:latin typeface="Calibri"/>
              </a:rPr>
              <a:t>Total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Cumulative unique customers to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220+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89A"/>
                </a:solidFill>
                <a:latin typeface="Calibri"/>
              </a:rPr>
              <a:t>Global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Over 100,000 cities and towns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$6B+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89A"/>
                </a:solidFill>
                <a:latin typeface="Calibri"/>
              </a:rPr>
              <a:t>Private Funding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Total capital raised before IPO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F8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$79.4B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89A"/>
                </a:solidFill>
                <a:latin typeface="Calibri"/>
              </a:rPr>
              <a:t>Market Cap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As of March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989A"/>
                </a:solidFill>
                <a:latin typeface="Calibri"/>
              </a:rPr>
              <a:t>Airbnb is a global platform transforming how people experience travel. We connect millions of guests with unique homes, experiences, and a comprehensive suite of travel services, fostering belonging and economic opportunity worldwide.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Massive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89A"/>
                </a:solidFill>
                <a:latin typeface="Calibri"/>
              </a:rPr>
              <a:t>Tapping into the accelerating global online accommodation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$292.63B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89A"/>
                </a:solidFill>
                <a:latin typeface="Calibri"/>
              </a:rPr>
              <a:t>TAM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Global Online Accommodation Booking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15.2%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89A"/>
                </a:solidFill>
                <a:latin typeface="Calibri"/>
              </a:rPr>
              <a:t>Market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2026–2033 · Source: SkyQuest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989A"/>
                </a:solidFill>
                <a:latin typeface="Calibri"/>
              </a:rPr>
              <a:t>The travel industry is undergoing a significant digital transformation, with a strong and growing demand for convenient, personalized, and authentic experiences. Airbnb is uniquely positioned to capture a substantial share of this rapidly expanding market.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›  </a:t>
            </a:r>
            <a:r>
              <a:rPr sz="1300" b="1">
                <a:solidFill>
                  <a:srgbClr val="E2989A"/>
                </a:solidFill>
                <a:latin typeface="Calibri"/>
              </a:rPr>
              <a:t>Digital Transformation:</a:t>
            </a:r>
            <a:r>
              <a:rPr sz="1300" b="0">
                <a:solidFill>
                  <a:srgbClr val="E2989A"/>
                </a:solidFill>
                <a:latin typeface="Calibri"/>
              </a:rPr>
              <a:t> Growing reliance on mobile apps and online platforms for seamless travel planning and booking.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›  </a:t>
            </a:r>
            <a:r>
              <a:rPr sz="1300" b="1">
                <a:solidFill>
                  <a:srgbClr val="E2989A"/>
                </a:solidFill>
                <a:latin typeface="Calibri"/>
              </a:rPr>
              <a:t>Personalization &amp; Convenience:</a:t>
            </a:r>
            <a:r>
              <a:rPr sz="1300" b="0">
                <a:solidFill>
                  <a:srgbClr val="E2989A"/>
                </a:solidFill>
                <a:latin typeface="Calibri"/>
              </a:rPr>
              <a:t> Increasing traveler demand for tailored experiences and seamless booking processes, driven by AI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›  </a:t>
            </a:r>
            <a:r>
              <a:rPr sz="1300" b="1">
                <a:solidFill>
                  <a:srgbClr val="E2989A"/>
                </a:solidFill>
                <a:latin typeface="Calibri"/>
              </a:rPr>
              <a:t>Unique Experiences:</a:t>
            </a:r>
            <a:r>
              <a:rPr sz="1300" b="0">
                <a:solidFill>
                  <a:srgbClr val="E2989A"/>
                </a:solidFill>
                <a:latin typeface="Calibri"/>
              </a:rPr>
              <a:t> A rising preference for authentic, local, and non-traditional accommodations beyond conventional hotels.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Redefining Travel: Problem &amp;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89A"/>
                </a:solidFill>
                <a:latin typeface="Calibri"/>
              </a:rPr>
              <a:t>Addressing traditional travel pain points with a community-driven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230E1E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5A5F"/>
                </a:solidFill>
                <a:latin typeface="Calibri"/>
              </a:rPr>
              <a:t>Lack of Authentic &amp; Local Experiences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•  </a:t>
            </a:r>
            <a:r>
              <a:rPr sz="1300" b="1">
                <a:solidFill>
                  <a:srgbClr val="E2989A"/>
                </a:solidFill>
                <a:latin typeface="Calibri"/>
              </a:rPr>
              <a:t>Limited Choice:</a:t>
            </a:r>
            <a:r>
              <a:rPr sz="1300" b="0">
                <a:solidFill>
                  <a:srgbClr val="E2989A"/>
                </a:solidFill>
                <a:latin typeface="Calibri"/>
              </a:rPr>
              <a:t> Traditional hotels often lack unique character and local immersion, leading to generic travel experiences.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•  </a:t>
            </a:r>
            <a:r>
              <a:rPr sz="1300" b="1">
                <a:solidFill>
                  <a:srgbClr val="E2989A"/>
                </a:solidFill>
                <a:latin typeface="Calibri"/>
              </a:rPr>
              <a:t>Inflexible Stays:</a:t>
            </a:r>
            <a:r>
              <a:rPr sz="1300" b="0">
                <a:solidFill>
                  <a:srgbClr val="E2989A"/>
                </a:solidFill>
                <a:latin typeface="Calibri"/>
              </a:rPr>
              <a:t> Rigid booking policies and standardized offerings don't cater to diverse traveler needs or spontaneous trips.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•  </a:t>
            </a:r>
            <a:r>
              <a:rPr sz="1300" b="1">
                <a:solidFill>
                  <a:srgbClr val="E2989A"/>
                </a:solidFill>
                <a:latin typeface="Calibri"/>
              </a:rPr>
              <a:t>Underutilized Assets:</a:t>
            </a:r>
            <a:r>
              <a:rPr sz="1300" b="0">
                <a:solidFill>
                  <a:srgbClr val="E2989A"/>
                </a:solidFill>
                <a:latin typeface="Calibri"/>
              </a:rPr>
              <a:t> Millions of homes worldwide sit empty or underutilized, representing massive economic opportunity.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•  </a:t>
            </a:r>
            <a:r>
              <a:rPr sz="1300" b="1">
                <a:solidFill>
                  <a:srgbClr val="E2989A"/>
                </a:solidFill>
                <a:latin typeface="Calibri"/>
              </a:rPr>
              <a:t>High Costs:</a:t>
            </a:r>
            <a:r>
              <a:rPr sz="1300" b="0">
                <a:solidFill>
                  <a:srgbClr val="E2989A"/>
                </a:solidFill>
                <a:latin typeface="Calibri"/>
              </a:rPr>
              <a:t> Traditional accommodations can be expensive, limiting access to travel and local immersion for many.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230E1E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5A5F"/>
                </a:solidFill>
                <a:latin typeface="Calibri"/>
              </a:rPr>
              <a:t>Global Community &amp; Personalized Journeys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•  </a:t>
            </a:r>
            <a:r>
              <a:rPr sz="1300" b="1">
                <a:solidFill>
                  <a:srgbClr val="E2989A"/>
                </a:solidFill>
                <a:latin typeface="Calibri"/>
              </a:rPr>
              <a:t>Diverse Inventory:</a:t>
            </a:r>
            <a:r>
              <a:rPr sz="1300" b="0">
                <a:solidFill>
                  <a:srgbClr val="E2989A"/>
                </a:solidFill>
                <a:latin typeface="Calibri"/>
              </a:rPr>
              <a:t> Over 7 million unique holiday rentals globally, from city apartments to treehouses, offering unparalleled choice.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•  </a:t>
            </a:r>
            <a:r>
              <a:rPr sz="1300" b="1">
                <a:solidFill>
                  <a:srgbClr val="E2989A"/>
                </a:solidFill>
                <a:latin typeface="Calibri"/>
              </a:rPr>
              <a:t>Experiences &amp; Services:</a:t>
            </a:r>
            <a:r>
              <a:rPr sz="1300" b="0">
                <a:solidFill>
                  <a:srgbClr val="E2989A"/>
                </a:solidFill>
                <a:latin typeface="Calibri"/>
              </a:rPr>
              <a:t> Curated local experiences and integrated travel services (e.g., airport pickups, car rentals) for seamless trips.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•  </a:t>
            </a:r>
            <a:r>
              <a:rPr sz="1300" b="1">
                <a:solidFill>
                  <a:srgbClr val="E2989A"/>
                </a:solidFill>
                <a:latin typeface="Calibri"/>
              </a:rPr>
              <a:t>Empowering Hosts:</a:t>
            </a:r>
            <a:r>
              <a:rPr sz="1300" b="0">
                <a:solidFill>
                  <a:srgbClr val="E2989A"/>
                </a:solidFill>
                <a:latin typeface="Calibri"/>
              </a:rPr>
              <a:t> Advanced tools, robust AirCover protection, and a Co-Host Network enable individuals to monetize their spaces and skills easily.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•  </a:t>
            </a:r>
            <a:r>
              <a:rPr sz="1300" b="1">
                <a:solidFill>
                  <a:srgbClr val="E2989A"/>
                </a:solidFill>
                <a:latin typeface="Calibri"/>
              </a:rPr>
              <a:t>Value &amp; Connection:</a:t>
            </a:r>
            <a:r>
              <a:rPr sz="1300" b="0">
                <a:solidFill>
                  <a:srgbClr val="E2989A"/>
                </a:solidFill>
                <a:latin typeface="Calibri"/>
              </a:rPr>
              <a:t> Provides travelers with more affordable and authentic options, fostering genuine connections with local communities.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51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Innovative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89A"/>
                </a:solidFill>
                <a:latin typeface="Calibri"/>
              </a:rPr>
              <a:t>Connecting guests with unique stays and experiences, powered by continuous innovation.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7M+ Unique Stays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Access to an unparalleled global inventory of homes, from city apartments to remote cabins and luxury villas, offering diverse accommodation options.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Experiences &amp;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12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Discover curated local activities and seamlessly integrate essential travel services like airport pickups, car rentals, luggage storage, and grocery delivery.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Host Empowerment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Advanced tools for smart pricing, insightful calendar management, auto-reply for guest questions, and robust AirCover protection for peace of mind.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F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Personalized Journeys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48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AI-driven recommendations, the 'Icons' category for extraordinary experiences, and new features designed specifically for group trips and more personalized app interactions.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Scalable &amp; Sustainable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89A"/>
                </a:solidFill>
                <a:latin typeface="Calibri"/>
              </a:rPr>
              <a:t>A two-sided marketplace driving global revenue through commissions and value-added services.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Guest Service 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A5F"/>
                </a:solidFill>
                <a:latin typeface="Calibri"/>
              </a:rPr>
              <a:t>0% to 14.2%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A variable percentage charged to guests on each booking, supporting platform operations, customer service, and continuous innovation.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Host Service 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A5F"/>
                </a:solidFill>
                <a:latin typeface="Calibri"/>
              </a:rPr>
              <a:t>Typically 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A commission taken from hosts for each reservation, generally 3% for most hosts, covering platform tools, marketing, and AirCover protections.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Value-Added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A5F"/>
                </a:solidFill>
                <a:latin typeface="Calibri"/>
              </a:rPr>
              <a:t>Expanding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Revenue streams from new integrated offerings such as in-app car rentals, airport pickups, luggage storage, and grocery delivery partnerships, enhancing the complete travel journey.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F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Experiences &amp; Partnerships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8387"/>
                </a:solidFill>
                <a:latin typeface="Calibri"/>
              </a:rPr>
              <a:t>Growing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Commissions derived from unique local experiences booked through the platform, alongside strategic partnerships providing incremental revenue.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Unprecedented Global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89A"/>
                </a:solidFill>
                <a:latin typeface="Calibri"/>
              </a:rPr>
              <a:t>Demonstrated market leadership and consistent growth across key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8,000,000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89A"/>
                </a:solidFill>
                <a:latin typeface="Calibri"/>
              </a:rPr>
              <a:t>Total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Unique users to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$12,000,000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89A"/>
                </a:solidFill>
                <a:latin typeface="Calibri"/>
              </a:rPr>
              <a:t>Annual Recurring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Current ARR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89A"/>
                </a:solidFill>
                <a:latin typeface="Calibri"/>
              </a:rPr>
              <a:t>Monthly Active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Engaged users on the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F8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220+ Countries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89A"/>
                </a:solidFill>
                <a:latin typeface="Calibri"/>
              </a:rPr>
              <a:t>Global Reach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Operations worldwide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989A"/>
                </a:solidFill>
                <a:latin typeface="Calibri"/>
              </a:rPr>
              <a:t>Airbnb continues to expand its global footprint and user engagement, driven by strong brand loyalty, a vibrant community, and continuous product innovation across our platform.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›  </a:t>
            </a:r>
            <a:r>
              <a:rPr sz="1300" b="1">
                <a:solidFill>
                  <a:srgbClr val="E2989A"/>
                </a:solidFill>
                <a:latin typeface="Calibri"/>
              </a:rPr>
              <a:t>Global Reach:</a:t>
            </a:r>
            <a:r>
              <a:rPr sz="1300" b="0">
                <a:solidFill>
                  <a:srgbClr val="E2989A"/>
                </a:solidFill>
                <a:latin typeface="Calibri"/>
              </a:rPr>
              <a:t> Operating in over 220+ countries and regions, spanning more than 100,000 cities and towns worldwide, solidifying our international presence.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›  </a:t>
            </a:r>
            <a:r>
              <a:rPr sz="1300" b="1">
                <a:solidFill>
                  <a:srgbClr val="E2989A"/>
                </a:solidFill>
                <a:latin typeface="Calibri"/>
              </a:rPr>
              <a:t>Platform Innovation:</a:t>
            </a:r>
            <a:r>
              <a:rPr sz="1300" b="0">
                <a:solidFill>
                  <a:srgbClr val="E2989A"/>
                </a:solidFill>
                <a:latin typeface="Calibri"/>
              </a:rPr>
              <a:t> Launched major expansion in May 2026, including airport pickups, luggage storage, grocery delivery via Instacart, in-app car rentals, and boutique hotel bookings.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›  </a:t>
            </a:r>
            <a:r>
              <a:rPr sz="1300" b="1">
                <a:solidFill>
                  <a:srgbClr val="E2989A"/>
                </a:solidFill>
                <a:latin typeface="Calibri"/>
              </a:rPr>
              <a:t>Enhanced Experience:</a:t>
            </a:r>
            <a:r>
              <a:rPr sz="1300" b="0">
                <a:solidFill>
                  <a:srgbClr val="E2989A"/>
                </a:solidFill>
                <a:latin typeface="Calibri"/>
              </a:rPr>
              <a:t> Introduced the Co-Host Network and over 50 significant upgrades for guests in October 2024, leading to a more personalized app experience.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89A"/>
                </a:solidFill>
                <a:latin typeface="Calibri"/>
              </a:rPr>
              <a:t>Differentiating through unique offerings and a strong community focus.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Vrbo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A5F"/>
                </a:solidFill>
                <a:latin typeface="Calibri"/>
              </a:rPr>
              <a:t>Part of Expedia Group (Public)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Primarily focuses on entire homes and may appeal to an older clientele; lacks Airbnb's diverse offerings in terms of unique property types and integrated experiences.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Booking.com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A5F"/>
                </a:solidFill>
                <a:latin typeface="Calibri"/>
              </a:rPr>
              <a:t>Booking Holdings (Public)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Primarily known for traditional hotel bookings; while expanding into vacation rentals, it places less emphasis on unique, local experiences and the community aspect that defines Airbnb.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Expedia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A5F"/>
                </a:solidFill>
                <a:latin typeface="Calibri"/>
              </a:rPr>
              <a:t>Publicly traded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A massive travel conglomerate, but its subsidiary brands lack the same global brand recognition, dedicated community, and singular focus on unique vacation rentals and experiences as Airbnb.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Visionary Leadership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89A"/>
                </a:solidFill>
                <a:latin typeface="Calibri"/>
              </a:rPr>
              <a:t>Experienced founders driving innovation and global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Brian Chesky — Co-founder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A5F"/>
                </a:solidFill>
                <a:latin typeface="Calibri"/>
              </a:rPr>
              <a:t>Forbes Billionaire (2026)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Rhode Island School of Design, Bachelor of Fine Arts in Industrial Design, 2004. Prior: Industrial designer at 3DID.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Joe Gebbia — Co-founder, Strategic Advisor, Board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A5F"/>
                </a:solidFill>
                <a:latin typeface="Calibri"/>
              </a:rPr>
              <a:t>Co-founder of Samara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Rhode Island School of Design. Prior: Industrial designer.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Nathan Blecharczyk — Co-founder &amp; Chief Strategy Officer (CSO)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A5F"/>
                </a:solidFill>
                <a:latin typeface="Calibri"/>
              </a:rPr>
              <a:t>Harvard University (Computer Science)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Harvard University, Computer Science.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Financial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89A"/>
                </a:solidFill>
                <a:latin typeface="Calibri"/>
              </a:rPr>
              <a:t>Capturing significant share in a rapidly growing market with robust financial performance.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FF5A5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FF5A5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FF5A5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2282A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8387"/>
                </a:solidFill>
                <a:latin typeface="Calibri"/>
              </a:rPr>
              <a:t>15.2%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5A5F"/>
                </a:solidFill>
                <a:latin typeface="Calibri"/>
              </a:rPr>
              <a:t>$292.63B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989A"/>
                </a:solidFill>
                <a:latin typeface="Calibri"/>
              </a:rPr>
              <a:t>Global Online Accommodation Booking Market 2025 · Source: SkyQuest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5A5F"/>
                </a:solidFill>
                <a:latin typeface="Calibri"/>
              </a:rPr>
              <a:t>$292.63B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989A"/>
                </a:solidFill>
                <a:latin typeface="Calibri"/>
              </a:rPr>
              <a:t>Entire online accommodation market · Global Operations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5A5F"/>
                </a:solidFill>
                <a:latin typeface="Calibri"/>
              </a:rPr>
              <a:t>$41.8B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989A"/>
                </a:solidFill>
                <a:latin typeface="Calibri"/>
              </a:rPr>
              <a:t>~7% Capture of SAM by 2030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989A"/>
                </a:solidFill>
                <a:latin typeface="Calibri"/>
              </a:rPr>
              <a:t/>
            </a:r>
            <a:r>
              <a:rPr sz="1200" b="1">
                <a:solidFill>
                  <a:srgbClr val="E2989A"/>
                </a:solidFill>
                <a:latin typeface="Calibri"/>
              </a:rPr>
              <a:t>FY2026:</a:t>
            </a:r>
            <a:r>
              <a:rPr sz="1200" b="0">
                <a:solidFill>
                  <a:srgbClr val="E2989A"/>
                </a:solidFill>
                <a:latin typeface="Calibri"/>
              </a:rPr>
              <a:t> $12.0M ARR · 8.0M customers · Launched major platform expansions (airport pickups, car rentals, grocery delivery).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989A"/>
                </a:solidFill>
                <a:latin typeface="Calibri"/>
              </a:rPr>
              <a:t/>
            </a:r>
            <a:r>
              <a:rPr sz="1200" b="1">
                <a:solidFill>
                  <a:srgbClr val="E2989A"/>
                </a:solidFill>
                <a:latin typeface="Calibri"/>
              </a:rPr>
              <a:t>FY2027:</a:t>
            </a:r>
            <a:r>
              <a:rPr sz="1200" b="0">
                <a:solidFill>
                  <a:srgbClr val="E2989A"/>
                </a:solidFill>
                <a:latin typeface="Calibri"/>
              </a:rPr>
              <a:t> $13.8M ARR · 9.2M customers · Deepening market penetration in key regions and expanding into new travel segments.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989A"/>
                </a:solidFill>
                <a:latin typeface="Calibri"/>
              </a:rPr>
              <a:t/>
            </a:r>
            <a:r>
              <a:rPr sz="1200" b="1">
                <a:solidFill>
                  <a:srgbClr val="E2989A"/>
                </a:solidFill>
                <a:latin typeface="Calibri"/>
              </a:rPr>
              <a:t>FY2028:</a:t>
            </a:r>
            <a:r>
              <a:rPr sz="1200" b="0">
                <a:solidFill>
                  <a:srgbClr val="E2989A"/>
                </a:solidFill>
                <a:latin typeface="Calibri"/>
              </a:rPr>
              <a:t> $15.9M ARR · 10.6M customers · Sustained innovation in 'Icons' and host tools, exploring strategic acquisitions for ecosystem growth.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82A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89A"/>
                </a:solidFill>
                <a:latin typeface="Calibri"/>
              </a:rPr>
              <a:t>Fueling our next phase of innovation and global leadership.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Raising Capital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A5F"/>
                </a:solidFill>
                <a:latin typeface="Calibri"/>
              </a:rPr>
              <a:t>$10,000,000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Targeting a strategic investment to significantly accelerate our next phase of expansion and innovation.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Growth Acceleration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Invest in advanced AI for hyper-personalization, enhance core platform infrastructure, and strategically expand into new high-potential markets.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 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Further develop 'Icons' extraordinary experiences, empower hosts with advanced tools, and seamlessly integrate new services into our travel ecosystem.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0E1E"/>
          </a:solidFill>
          <a:ln w="12700">
            <a:solidFill>
              <a:srgbClr val="51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F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Talent Acquisition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48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89A"/>
                </a:solidFill>
                <a:latin typeface="Calibri"/>
              </a:rPr>
              <a:t>Expand our world-class engineering, product development, and market expansion teams to maintain our competitive edge and drive innovation.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Join Us in Shaping the Future of Travel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989A"/>
                </a:solidFill>
                <a:latin typeface="Calibri"/>
              </a:rPr>
              <a:t>Airbnb: Where you don't just stay, you belong.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72282A"/>
                </a:solidFill>
                <a:latin typeface="Calibri"/>
              </a:rPr>
              <a:t>We are building more than just a platform; we are fostering a global community, driven by human connection and the spirit of adventure. Partner with Airbnb as we continue to redefine travel for millions worldwide, creating economic opportunity and memorable experiences.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82A"/>
                </a:solidFill>
                <a:latin typeface="Calibri"/>
              </a:rPr>
              <a:t>Investor Presentation  •  Confidential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