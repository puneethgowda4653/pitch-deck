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KPIT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D70E1"/>
                </a:solidFill>
                <a:latin typeface="Calibri"/>
              </a:rPr>
              <a:t>Investor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D0071"/>
                </a:solidFill>
                <a:latin typeface="Calibri"/>
              </a:rPr>
              <a:t>Shaping the Future of Mobility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D007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071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0E1"/>
                </a:solidFill>
                <a:latin typeface="Calibri"/>
              </a:rPr>
              <a:t>Powering the Software-Defined Vehicle Revolution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30E28"/>
          </a:solidFill>
          <a:ln w="19050">
            <a:solidFill>
              <a:srgbClr val="890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0E1"/>
                </a:solidFill>
                <a:latin typeface="Calibri"/>
              </a:rPr>
              <a:t>Current 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›  </a:t>
            </a:r>
            <a:r>
              <a:rPr sz="1300" b="1">
                <a:solidFill>
                  <a:srgbClr val="AD70E1"/>
                </a:solidFill>
                <a:latin typeface="Calibri"/>
              </a:rPr>
              <a:t>What:</a:t>
            </a:r>
            <a:r>
              <a:rPr sz="1300" b="0">
                <a:solidFill>
                  <a:srgbClr val="AD70E1"/>
                </a:solidFill>
                <a:latin typeface="Calibri"/>
              </a:rPr>
              <a:t> KPIT Technologies is a leading partner for global OEMs, accelerating the development and integration of software-defined vehicles.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›  </a:t>
            </a:r>
            <a:r>
              <a:rPr sz="1300" b="1">
                <a:solidFill>
                  <a:srgbClr val="AD70E1"/>
                </a:solidFill>
                <a:latin typeface="Calibri"/>
              </a:rPr>
              <a:t>How:</a:t>
            </a:r>
            <a:r>
              <a:rPr sz="1300" b="0">
                <a:solidFill>
                  <a:srgbClr val="AD70E1"/>
                </a:solidFill>
                <a:latin typeface="Calibri"/>
              </a:rPr>
              <a:t> We provide deep expertise across ADAS, electrification, vehicle OS, and cloud-edge analytics, delivered through proprietary platforms and strong engineering talent.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›  </a:t>
            </a:r>
            <a:r>
              <a:rPr sz="1300" b="1">
                <a:solidFill>
                  <a:srgbClr val="AD70E1"/>
                </a:solidFill>
                <a:latin typeface="Calibri"/>
              </a:rPr>
              <a:t>Market:</a:t>
            </a:r>
            <a:r>
              <a:rPr sz="1300" b="0">
                <a:solidFill>
                  <a:srgbClr val="AD70E1"/>
                </a:solidFill>
                <a:latin typeface="Calibri"/>
              </a:rPr>
              <a:t> The automotive software and electronics market is experiencing explosive growth, projected to reach </a:t>
            </a:r>
            <a:r>
              <a:rPr sz="1300" b="1">
                <a:solidFill>
                  <a:srgbClr val="AD70E1"/>
                </a:solidFill>
                <a:latin typeface="Calibri"/>
              </a:rPr>
              <a:t>$650B+ by 2030</a:t>
            </a:r>
            <a:r>
              <a:rPr sz="1300" b="0">
                <a:solidFill>
                  <a:srgbClr val="AD70E1"/>
                </a:solidFill>
                <a:latin typeface="Calibri"/>
              </a:rPr>
              <a:t>, driven by electrification and autonomy.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071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Massive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0E1"/>
                </a:solidFill>
                <a:latin typeface="Calibri"/>
              </a:rPr>
              <a:t>The Automotive Software &amp; Electronics Boom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30E28"/>
          </a:solidFill>
          <a:ln w="19050">
            <a:solidFill>
              <a:srgbClr val="890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$656.40B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0E1"/>
                </a:solidFill>
                <a:latin typeface="Calibri"/>
              </a:rPr>
              <a:t>Projected TAM (2030)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30E28"/>
          </a:solidFill>
          <a:ln w="19050">
            <a:solidFill>
              <a:srgbClr val="007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14.00%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0E1"/>
                </a:solidFill>
                <a:latin typeface="Calibri"/>
              </a:rPr>
              <a:t>CAGR (2023-2030)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30E28"/>
          </a:solidFill>
          <a:ln w="19050">
            <a:solidFill>
              <a:srgbClr val="443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$235.98B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0E1"/>
                </a:solidFill>
                <a:latin typeface="Calibri"/>
              </a:rPr>
              <a:t>TAM (2022)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›  </a:t>
            </a:r>
            <a:r>
              <a:rPr sz="1300" b="1">
                <a:solidFill>
                  <a:srgbClr val="AD70E1"/>
                </a:solidFill>
                <a:latin typeface="Calibri"/>
              </a:rPr>
              <a:t>Explosive Growth:</a:t>
            </a:r>
            <a:r>
              <a:rPr sz="1300" b="0">
                <a:solidFill>
                  <a:srgbClr val="AD70E1"/>
                </a:solidFill>
                <a:latin typeface="Calibri"/>
              </a:rPr>
              <a:t> The global automotive software and electronics market is projected to reach </a:t>
            </a:r>
            <a:r>
              <a:rPr sz="1300" b="1">
                <a:solidFill>
                  <a:srgbClr val="AD70E1"/>
                </a:solidFill>
                <a:latin typeface="Calibri"/>
              </a:rPr>
              <a:t>$656.40 billion by 2030</a:t>
            </a:r>
            <a:r>
              <a:rPr sz="1300" b="0">
                <a:solidFill>
                  <a:srgbClr val="AD70E1"/>
                </a:solidFill>
                <a:latin typeface="Calibri"/>
              </a:rPr>
              <a:t>, growing at a </a:t>
            </a:r>
            <a:r>
              <a:rPr sz="1300" b="1">
                <a:solidFill>
                  <a:srgbClr val="AD70E1"/>
                </a:solidFill>
                <a:latin typeface="Calibri"/>
              </a:rPr>
              <a:t>14.00% CAGR</a:t>
            </a:r>
            <a:r>
              <a:rPr sz="1300" b="0">
                <a:solidFill>
                  <a:srgbClr val="AD70E1"/>
                </a:solidFill>
                <a:latin typeface="Calibr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›  </a:t>
            </a:r>
            <a:r>
              <a:rPr sz="1300" b="1">
                <a:solidFill>
                  <a:srgbClr val="AD70E1"/>
                </a:solidFill>
                <a:latin typeface="Calibri"/>
              </a:rPr>
              <a:t>Software-Defined Vehicle (SDV) Revolution:</a:t>
            </a:r>
            <a:r>
              <a:rPr sz="1300" b="0">
                <a:solidFill>
                  <a:srgbClr val="AD70E1"/>
                </a:solidFill>
                <a:latin typeface="Calibri"/>
              </a:rPr>
              <a:t> Shift from hardware-centric to software-centric vehicle architecture is transforming the industry, creating new revenue streams and complex integration needs.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›  </a:t>
            </a:r>
            <a:r>
              <a:rPr sz="1300" b="1">
                <a:solidFill>
                  <a:srgbClr val="AD70E1"/>
                </a:solidFill>
                <a:latin typeface="Calibri"/>
              </a:rPr>
              <a:t>Electrification &amp; Autonomy Drivers:</a:t>
            </a:r>
            <a:r>
              <a:rPr sz="1300" b="0">
                <a:solidFill>
                  <a:srgbClr val="AD70E1"/>
                </a:solidFill>
                <a:latin typeface="Calibri"/>
              </a:rPr>
              <a:t> Rapid adoption of EVs, advanced driver-assistance systems (ADAS), and eventual autonomous driving mandates sophisticated software at every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071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Roadblocks to Software-Defined Mobility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0E1"/>
                </a:solidFill>
                <a:latin typeface="Calibri"/>
              </a:rPr>
              <a:t>OEMs Struggle with Complexity and Pace of Innovation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70E1"/>
                </a:solidFill>
                <a:latin typeface="Calibri"/>
              </a:rPr>
              <a:t/>
            </a:r>
            <a:r>
              <a:rPr sz="1400" b="1">
                <a:solidFill>
                  <a:srgbClr val="AD70E1"/>
                </a:solidFill>
                <a:latin typeface="Calibri"/>
              </a:rPr>
              <a:t>Immense Complexity:</a:t>
            </a:r>
            <a:r>
              <a:rPr sz="1400" b="0">
                <a:solidFill>
                  <a:srgbClr val="AD70E1"/>
                </a:solidFill>
                <a:latin typeface="Calibri"/>
              </a:rPr>
              <a:t> OEMs face an exponential increase in software lines of code and integration challenges across diverse vehicle domains (ADAS, powertrain, cockpit, connectivity).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70E1"/>
                </a:solidFill>
                <a:latin typeface="Calibri"/>
              </a:rPr>
              <a:t/>
            </a:r>
            <a:r>
              <a:rPr sz="1400" b="1">
                <a:solidFill>
                  <a:srgbClr val="AD70E1"/>
                </a:solidFill>
                <a:latin typeface="Calibri"/>
              </a:rPr>
              <a:t>Talent &amp; Skill Gap:</a:t>
            </a:r>
            <a:r>
              <a:rPr sz="1400" b="0">
                <a:solidFill>
                  <a:srgbClr val="AD70E1"/>
                </a:solidFill>
                <a:latin typeface="Calibri"/>
              </a:rPr>
              <a:t> Critical shortage of specialized automotive software engineers and architects capable of developing and validating next-generation vehicle systems.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054096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70E1"/>
                </a:solidFill>
                <a:latin typeface="Calibri"/>
              </a:rPr>
              <a:t/>
            </a:r>
            <a:r>
              <a:rPr sz="1400" b="1">
                <a:solidFill>
                  <a:srgbClr val="AD70E1"/>
                </a:solidFill>
                <a:latin typeface="Calibri"/>
              </a:rPr>
              <a:t>Slow Development Cycles:</a:t>
            </a:r>
            <a:r>
              <a:rPr sz="1400" b="0">
                <a:solidFill>
                  <a:srgbClr val="AD70E1"/>
                </a:solidFill>
                <a:latin typeface="Calibri"/>
              </a:rPr>
              <a:t> Traditional automotive development processes are too slow to keep pace with rapid software innovation and evolving customer expectations.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007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70E1"/>
                </a:solidFill>
                <a:latin typeface="Calibri"/>
              </a:rPr>
              <a:t/>
            </a:r>
            <a:r>
              <a:rPr sz="1400" b="1">
                <a:solidFill>
                  <a:srgbClr val="AD70E1"/>
                </a:solidFill>
                <a:latin typeface="Calibri"/>
              </a:rPr>
              <a:t>Integration &amp; Validation Nightmares:</a:t>
            </a:r>
            <a:r>
              <a:rPr sz="1400" b="0">
                <a:solidFill>
                  <a:srgbClr val="AD70E1"/>
                </a:solidFill>
                <a:latin typeface="Calibri"/>
              </a:rPr>
              <a:t> Seamlessly integrating software from multiple vendors and ensuring robust, secure, and compliant operation across the entire vehicle lifecycle is a major hurdle.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007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70E1"/>
                </a:solidFill>
                <a:latin typeface="Calibri"/>
              </a:rPr>
              <a:t/>
            </a:r>
            <a:r>
              <a:rPr sz="1400" b="1">
                <a:solidFill>
                  <a:srgbClr val="AD70E1"/>
                </a:solidFill>
                <a:latin typeface="Calibri"/>
              </a:rPr>
              <a:t>Cybersecurity Threats:</a:t>
            </a:r>
            <a:r>
              <a:rPr sz="1400" b="0">
                <a:solidFill>
                  <a:srgbClr val="AD70E1"/>
                </a:solidFill>
                <a:latin typeface="Calibri"/>
              </a:rPr>
              <a:t> Connected and software-rich vehicles create new attack surfaces, demanding advanced security solutions and continuous, over-the-air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071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Accelerating the Software-Defined Vehicle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0E1"/>
                </a:solidFill>
                <a:latin typeface="Calibri"/>
              </a:rPr>
              <a:t>KPIT's Integrated Approach to Mobility 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End-to-End Automotive Software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Comprehensive services from architecture design to validation across ADAS, electrification, digital cockpit, vehicle OS, and cloud-edge analytics.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7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Proprietary Platforms &amp; Accelerators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Leveraging reusable software components, modular architectures, toolchains, and frameworks to drastically reduce development time and cost for OEMs.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443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Global Talent &amp; Delivery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A global network of 10,000+ specialized engineers working as an integrated extension of OEM R&amp;D teams, ensuring seamless collaboration and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071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Core Offerings: Enabling Tomorrow's Vehicles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0E1"/>
                </a:solidFill>
                <a:latin typeface="Calibri"/>
              </a:rPr>
              <a:t>Key Solutions Driving Automotive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Autonomous Driving &amp; ADAS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/>
            </a:r>
            <a:r>
              <a:rPr sz="1300" b="1">
                <a:solidFill>
                  <a:srgbClr val="AD70E1"/>
                </a:solidFill>
                <a:latin typeface="Calibri"/>
              </a:rPr>
              <a:t>Benefit:</a:t>
            </a:r>
            <a:r>
              <a:rPr sz="1300" b="0">
                <a:solidFill>
                  <a:srgbClr val="AD70E1"/>
                </a:solidFill>
                <a:latin typeface="Calibri"/>
              </a:rPr>
              <a:t> Accelerate safe and reliable autonomous functionalities by integrating perception, planning, and control software with advanced validation.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7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Electrification &amp; Powertrain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/>
            </a:r>
            <a:r>
              <a:rPr sz="1300" b="1">
                <a:solidFill>
                  <a:srgbClr val="AD70E1"/>
                </a:solidFill>
                <a:latin typeface="Calibri"/>
              </a:rPr>
              <a:t>Benefit:</a:t>
            </a:r>
            <a:r>
              <a:rPr sz="1300" b="0">
                <a:solidFill>
                  <a:srgbClr val="AD70E1"/>
                </a:solidFill>
                <a:latin typeface="Calibri"/>
              </a:rPr>
              <a:t> Optimize battery management, motor control, and charging solutions for efficient, high-performance, and sustainable electric vehicles.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443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Vehicle OS &amp; Middleware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/>
            </a:r>
            <a:r>
              <a:rPr sz="1300" b="1">
                <a:solidFill>
                  <a:srgbClr val="AD70E1"/>
                </a:solidFill>
                <a:latin typeface="Calibri"/>
              </a:rPr>
              <a:t>Benefit:</a:t>
            </a:r>
            <a:r>
              <a:rPr sz="1300" b="0">
                <a:solidFill>
                  <a:srgbClr val="AD70E1"/>
                </a:solidFill>
                <a:latin typeface="Calibri"/>
              </a:rPr>
              <a:t> Simplify complex E/E architectures, enable seamless over-the-air software updates, and lay the robust foundation for future vehicle innovations.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071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Diverse Revenue Streams, High Value Partnerships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0E1"/>
                </a:solidFill>
                <a:latin typeface="Calibri"/>
              </a:rPr>
              <a:t>Scalable Model Driving Sustainable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Project-Based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/>
            </a:r>
            <a:r>
              <a:rPr sz="1300" b="1">
                <a:solidFill>
                  <a:srgbClr val="AD70E1"/>
                </a:solidFill>
                <a:latin typeface="Calibri"/>
              </a:rPr>
              <a:t>Revenue:</a:t>
            </a:r>
            <a:r>
              <a:rPr sz="1300" b="0">
                <a:solidFill>
                  <a:srgbClr val="AD70E1"/>
                </a:solidFill>
                <a:latin typeface="Calibri"/>
              </a:rPr>
              <a:t> Time &amp; Material or Fixed-Price contracts for specific software development, integration, and validation projects. </a:t>
            </a:r>
            <a:r>
              <a:rPr sz="1300" b="1">
                <a:solidFill>
                  <a:srgbClr val="AD70E1"/>
                </a:solidFill>
                <a:latin typeface="Calibri"/>
              </a:rPr>
              <a:t>Model:</a:t>
            </a:r>
            <a:r>
              <a:rPr sz="1300" b="0">
                <a:solidFill>
                  <a:srgbClr val="AD70E1"/>
                </a:solidFill>
                <a:latin typeface="Calibri"/>
              </a:rPr>
              <a:t> Tailored solutions for complex OEM requirements.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7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Platform &amp; IP Licensing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/>
            </a:r>
            <a:r>
              <a:rPr sz="1300" b="1">
                <a:solidFill>
                  <a:srgbClr val="AD70E1"/>
                </a:solidFill>
                <a:latin typeface="Calibri"/>
              </a:rPr>
              <a:t>Revenue:</a:t>
            </a:r>
            <a:r>
              <a:rPr sz="1300" b="0">
                <a:solidFill>
                  <a:srgbClr val="AD70E1"/>
                </a:solidFill>
                <a:latin typeface="Calibri"/>
              </a:rPr>
              <a:t> Recurring license fees for proprietary software components, toolchains, accelerators, and embedded platforms. </a:t>
            </a:r>
            <a:r>
              <a:rPr sz="1300" b="1">
                <a:solidFill>
                  <a:srgbClr val="AD70E1"/>
                </a:solidFill>
                <a:latin typeface="Calibri"/>
              </a:rPr>
              <a:t>Model:</a:t>
            </a:r>
            <a:r>
              <a:rPr sz="1300" b="0">
                <a:solidFill>
                  <a:srgbClr val="AD70E1"/>
                </a:solidFill>
                <a:latin typeface="Calibri"/>
              </a:rPr>
              <a:t> Drives scalability and higher margins with recurring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443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Managed Services &amp; Co-Development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/>
            </a:r>
            <a:r>
              <a:rPr sz="1300" b="1">
                <a:solidFill>
                  <a:srgbClr val="AD70E1"/>
                </a:solidFill>
                <a:latin typeface="Calibri"/>
              </a:rPr>
              <a:t>Revenue:</a:t>
            </a:r>
            <a:r>
              <a:rPr sz="1300" b="0">
                <a:solidFill>
                  <a:srgbClr val="AD70E1"/>
                </a:solidFill>
                <a:latin typeface="Calibri"/>
              </a:rPr>
              <a:t> Long-term contracts for ongoing software maintenance, continuous updates, and joint R&amp;D initiatives. </a:t>
            </a:r>
            <a:r>
              <a:rPr sz="1300" b="1">
                <a:solidFill>
                  <a:srgbClr val="AD70E1"/>
                </a:solidFill>
                <a:latin typeface="Calibri"/>
              </a:rPr>
              <a:t>Model:</a:t>
            </a:r>
            <a:r>
              <a:rPr sz="1300" b="0">
                <a:solidFill>
                  <a:srgbClr val="AD70E1"/>
                </a:solidFill>
                <a:latin typeface="Calibri"/>
              </a:rPr>
              <a:t> Deep strategic partnerships, embedded teams, fostering strong customer loyalty.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071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Proven Traction &amp; Market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0E1"/>
                </a:solidFill>
                <a:latin typeface="Calibri"/>
              </a:rPr>
              <a:t>Consistent Performance and Broad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30E28"/>
          </a:solidFill>
          <a:ln w="19050">
            <a:solidFill>
              <a:srgbClr val="890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$10,000,000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0E1"/>
                </a:solidFill>
                <a:latin typeface="Calibri"/>
              </a:rPr>
              <a:t>Current ARR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30E28"/>
          </a:solidFill>
          <a:ln w="19050">
            <a:solidFill>
              <a:srgbClr val="007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0E1"/>
                </a:solidFill>
                <a:latin typeface="Calibri"/>
              </a:rPr>
              <a:t>Total Customers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30E28"/>
          </a:solidFill>
          <a:ln w="19050">
            <a:solidFill>
              <a:srgbClr val="443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0E1"/>
                </a:solidFill>
                <a:latin typeface="Calibri"/>
              </a:rPr>
              <a:t>Monthly Active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›  </a:t>
            </a:r>
            <a:r>
              <a:rPr sz="1300" b="1">
                <a:solidFill>
                  <a:srgbClr val="AD70E1"/>
                </a:solidFill>
                <a:latin typeface="Calibri"/>
              </a:rPr>
              <a:t>Strong Recurring Revenue:</a:t>
            </a:r>
            <a:r>
              <a:rPr sz="1300" b="0">
                <a:solidFill>
                  <a:srgbClr val="AD70E1"/>
                </a:solidFill>
                <a:latin typeface="Calibri"/>
              </a:rPr>
              <a:t> Achieved </a:t>
            </a:r>
            <a:r>
              <a:rPr sz="1300" b="1">
                <a:solidFill>
                  <a:srgbClr val="AD70E1"/>
                </a:solidFill>
                <a:latin typeface="Calibri"/>
              </a:rPr>
              <a:t>$10,000,000 in Annual Recurring Revenue (ARR)</a:t>
            </a:r>
            <a:r>
              <a:rPr sz="1300" b="0">
                <a:solidFill>
                  <a:srgbClr val="AD70E1"/>
                </a:solidFill>
                <a:latin typeface="Calibri"/>
              </a:rPr>
              <a:t>, demonstrating robust product-market fit and customer retention.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›  </a:t>
            </a:r>
            <a:r>
              <a:rPr sz="1300" b="1">
                <a:solidFill>
                  <a:srgbClr val="AD70E1"/>
                </a:solidFill>
                <a:latin typeface="Calibri"/>
              </a:rPr>
              <a:t>Consistent Monthly Performance:</a:t>
            </a:r>
            <a:r>
              <a:rPr sz="1300" b="0">
                <a:solidFill>
                  <a:srgbClr val="AD70E1"/>
                </a:solidFill>
                <a:latin typeface="Calibri"/>
              </a:rPr>
              <a:t> Maintained </a:t>
            </a:r>
            <a:r>
              <a:rPr sz="1300" b="1">
                <a:solidFill>
                  <a:srgbClr val="AD70E1"/>
                </a:solidFill>
                <a:latin typeface="Calibri"/>
              </a:rPr>
              <a:t>$1,000,000 in Monthly Recurring Revenue (MRR)</a:t>
            </a:r>
            <a:r>
              <a:rPr sz="1300" b="0">
                <a:solidFill>
                  <a:srgbClr val="AD70E1"/>
                </a:solidFill>
                <a:latin typeface="Calibri"/>
              </a:rPr>
              <a:t>, highlighting stable and predictable cash 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›  </a:t>
            </a:r>
            <a:r>
              <a:rPr sz="1300" b="1">
                <a:solidFill>
                  <a:srgbClr val="AD70E1"/>
                </a:solidFill>
                <a:latin typeface="Calibri"/>
              </a:rPr>
              <a:t>Expansive Customer Base:</a:t>
            </a:r>
            <a:r>
              <a:rPr sz="1300" b="0">
                <a:solidFill>
                  <a:srgbClr val="AD70E1"/>
                </a:solidFill>
                <a:latin typeface="Calibri"/>
              </a:rPr>
              <a:t> Serving </a:t>
            </a:r>
            <a:r>
              <a:rPr sz="1300" b="1">
                <a:solidFill>
                  <a:srgbClr val="AD70E1"/>
                </a:solidFill>
                <a:latin typeface="Calibri"/>
              </a:rPr>
              <a:t>200,000 total customers</a:t>
            </a:r>
            <a:r>
              <a:rPr sz="1300" b="0">
                <a:solidFill>
                  <a:srgbClr val="AD70E1"/>
                </a:solidFill>
                <a:latin typeface="Calibri"/>
              </a:rPr>
              <a:t>, indicating broad market adoption and the significant impact of our solutions.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071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0E1"/>
                </a:solidFill>
                <a:latin typeface="Calibri"/>
              </a:rPr>
              <a:t>Our Distinct Edge in Automotive 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Tata Elxsi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/>
            </a:r>
            <a:r>
              <a:rPr sz="1300" b="1">
                <a:solidFill>
                  <a:srgbClr val="AD70E1"/>
                </a:solidFill>
                <a:latin typeface="Calibri"/>
              </a:rPr>
              <a:t>Focus:</a:t>
            </a:r>
            <a:r>
              <a:rPr sz="1300" b="0">
                <a:solidFill>
                  <a:srgbClr val="AD70E1"/>
                </a:solidFill>
                <a:latin typeface="Calibri"/>
              </a:rPr>
              <a:t> Design and technology services, strong in product engineering, specific automotive projects. </a:t>
            </a:r>
            <a:r>
              <a:rPr sz="1300" b="1">
                <a:solidFill>
                  <a:srgbClr val="AD70E1"/>
                </a:solidFill>
                <a:latin typeface="Calibri"/>
              </a:rPr>
              <a:t>KPIT Edge:</a:t>
            </a:r>
            <a:r>
              <a:rPr sz="1300" b="0">
                <a:solidFill>
                  <a:srgbClr val="AD70E1"/>
                </a:solidFill>
                <a:latin typeface="Calibri"/>
              </a:rPr>
              <a:t> Deeper specialization and proprietary platforms specifically for software-defined vehicle architecture and mission-critical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7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Luxoft (DXC Technology)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/>
            </a:r>
            <a:r>
              <a:rPr sz="1300" b="1">
                <a:solidFill>
                  <a:srgbClr val="AD70E1"/>
                </a:solidFill>
                <a:latin typeface="Calibri"/>
              </a:rPr>
              <a:t>Focus:</a:t>
            </a:r>
            <a:r>
              <a:rPr sz="1300" b="0">
                <a:solidFill>
                  <a:srgbClr val="AD70E1"/>
                </a:solidFill>
                <a:latin typeface="Calibri"/>
              </a:rPr>
              <a:t> Global IT services, broad digital transformation across multiple industries, automotive is one segment. </a:t>
            </a:r>
            <a:r>
              <a:rPr sz="1300" b="1">
                <a:solidFill>
                  <a:srgbClr val="AD70E1"/>
                </a:solidFill>
                <a:latin typeface="Calibri"/>
              </a:rPr>
              <a:t>KPIT Edge:</a:t>
            </a:r>
            <a:r>
              <a:rPr sz="1300" b="0">
                <a:solidFill>
                  <a:srgbClr val="AD70E1"/>
                </a:solidFill>
                <a:latin typeface="Calibri"/>
              </a:rPr>
              <a:t> Pure-play automotive software focus, dedicated R&amp;D in core mobility areas like electrification, ADAS, and Vehicle OS, leading to superior domain depth.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443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Capgemini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/>
            </a:r>
            <a:r>
              <a:rPr sz="1300" b="1">
                <a:solidFill>
                  <a:srgbClr val="AD70E1"/>
                </a:solidFill>
                <a:latin typeface="Calibri"/>
              </a:rPr>
              <a:t>Focus:</a:t>
            </a:r>
            <a:r>
              <a:rPr sz="1300" b="0">
                <a:solidFill>
                  <a:srgbClr val="AD70E1"/>
                </a:solidFill>
                <a:latin typeface="Calibri"/>
              </a:rPr>
              <a:t> Global engineering and R&amp;D services, broad industry coverage with a significant automotive presence. </a:t>
            </a:r>
            <a:r>
              <a:rPr sz="1300" b="1">
                <a:solidFill>
                  <a:srgbClr val="AD70E1"/>
                </a:solidFill>
                <a:latin typeface="Calibri"/>
              </a:rPr>
              <a:t>KPIT Edge:</a:t>
            </a:r>
            <a:r>
              <a:rPr sz="1300" b="0">
                <a:solidFill>
                  <a:srgbClr val="AD70E1"/>
                </a:solidFill>
                <a:latin typeface="Calibri"/>
              </a:rPr>
              <a:t> Unparalleled depth in automotive middleware, vehicle OS, and integrated software validation, positioning us as a preferred strategic partner for complex SDV programs.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071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Visionary Leadership Driving Mobility's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0E1"/>
                </a:solidFill>
                <a:latin typeface="Calibri"/>
              </a:rPr>
              <a:t>Experienced Team at the Helm of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Ravi Pandit — Co-founder &amp; Chairman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/>
            </a:r>
            <a:r>
              <a:rPr sz="1300" b="1">
                <a:solidFill>
                  <a:srgbClr val="AD70E1"/>
                </a:solidFill>
                <a:latin typeface="Calibri"/>
              </a:rPr>
              <a:t>Background:</a:t>
            </a:r>
            <a:r>
              <a:rPr sz="1300" b="0">
                <a:solidFill>
                  <a:srgbClr val="AD70E1"/>
                </a:solidFill>
                <a:latin typeface="Calibri"/>
              </a:rPr>
              <a:t> Over 30 years experience pioneering technology solutions for the automotive industry. Alumnus of IIT Delhi &amp; IIM Calcutta. Drives strategic vision, corporate governance, and global partnerships.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7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Kishor Patil — Co-founder, MD &amp; 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/>
            </a:r>
            <a:r>
              <a:rPr sz="1300" b="1">
                <a:solidFill>
                  <a:srgbClr val="AD70E1"/>
                </a:solidFill>
                <a:latin typeface="Calibri"/>
              </a:rPr>
              <a:t>Background:</a:t>
            </a:r>
            <a:r>
              <a:rPr sz="1300" b="0">
                <a:solidFill>
                  <a:srgbClr val="AD70E1"/>
                </a:solidFill>
                <a:latin typeface="Calibri"/>
              </a:rPr>
              <a:t> Leads global operations and growth strategy, with deep expertise in scaling automotive software businesses. Alumnus of IIT Madras &amp; IIM Calcutta. Instrumental in KPIT's global expansion.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443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Anup Sable — CTO &amp; Board Member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/>
            </a:r>
            <a:r>
              <a:rPr sz="1300" b="1">
                <a:solidFill>
                  <a:srgbClr val="AD70E1"/>
                </a:solidFill>
                <a:latin typeface="Calibri"/>
              </a:rPr>
              <a:t>Background:</a:t>
            </a:r>
            <a:r>
              <a:rPr sz="1300" b="0">
                <a:solidFill>
                  <a:srgbClr val="AD70E1"/>
                </a:solidFill>
                <a:latin typeface="Calibri"/>
              </a:rPr>
              <a:t> Extensive experience in embedded software and automotive electronics. Instrumental in developing KPIT's technological roadmap and driving innovation in cutting-edge mobility solutions.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071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0E1"/>
                </a:solidFill>
                <a:latin typeface="Calibri"/>
              </a:rPr>
              <a:t>Clear Path to Accelerated Growth &amp; Profitability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30E28"/>
          </a:solidFill>
          <a:ln w="19050">
            <a:solidFill>
              <a:srgbClr val="890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0E1"/>
                </a:solidFill>
                <a:latin typeface="Calibri"/>
              </a:rPr>
              <a:t>Current ARR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30E28"/>
          </a:solidFill>
          <a:ln w="19050">
            <a:solidFill>
              <a:srgbClr val="007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0E1"/>
                </a:solidFill>
                <a:latin typeface="Calibri"/>
              </a:rPr>
              <a:t>Projected ARR (Y3)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30E28"/>
          </a:solidFill>
          <a:ln w="19050">
            <a:solidFill>
              <a:srgbClr val="443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40-45%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0E1"/>
                </a:solidFill>
                <a:latin typeface="Calibri"/>
              </a:rPr>
              <a:t>Gross Margin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›  </a:t>
            </a:r>
            <a:r>
              <a:rPr sz="1300" b="1">
                <a:solidFill>
                  <a:srgbClr val="AD70E1"/>
                </a:solidFill>
                <a:latin typeface="Calibri"/>
              </a:rPr>
              <a:t>Current ARR:</a:t>
            </a:r>
            <a:r>
              <a:rPr sz="1300" b="0">
                <a:solidFill>
                  <a:srgbClr val="AD70E1"/>
                </a:solidFill>
                <a:latin typeface="Calibri"/>
              </a:rPr>
              <a:t> </a:t>
            </a:r>
            <a:r>
              <a:rPr sz="1300" b="1">
                <a:solidFill>
                  <a:srgbClr val="AD70E1"/>
                </a:solidFill>
                <a:latin typeface="Calibri"/>
              </a:rPr>
              <a:t>$10,000,000</a:t>
            </a:r>
            <a:r>
              <a:rPr sz="1300" b="0">
                <a:solidFill>
                  <a:srgbClr val="AD70E1"/>
                </a:solidFill>
                <a:latin typeface="Calibri"/>
              </a:rPr>
              <a:t> as of the latest reporting period, demonstrating a strong foundation (ground truth).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›  </a:t>
            </a:r>
            <a:r>
              <a:rPr sz="1300" b="1">
                <a:solidFill>
                  <a:srgbClr val="AD70E1"/>
                </a:solidFill>
                <a:latin typeface="Calibri"/>
              </a:rPr>
              <a:t>Healthy MRR:</a:t>
            </a:r>
            <a:r>
              <a:rPr sz="1300" b="0">
                <a:solidFill>
                  <a:srgbClr val="AD70E1"/>
                </a:solidFill>
                <a:latin typeface="Calibri"/>
              </a:rPr>
              <a:t> Consistent </a:t>
            </a:r>
            <a:r>
              <a:rPr sz="1300" b="1">
                <a:solidFill>
                  <a:srgbClr val="AD70E1"/>
                </a:solidFill>
                <a:latin typeface="Calibri"/>
              </a:rPr>
              <a:t>$1,000,000 MRR</a:t>
            </a:r>
            <a:r>
              <a:rPr sz="1300" b="0">
                <a:solidFill>
                  <a:srgbClr val="AD70E1"/>
                </a:solidFill>
                <a:latin typeface="Calibri"/>
              </a:rPr>
              <a:t> indicating stable and predictable revenue generation.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›  </a:t>
            </a:r>
            <a:r>
              <a:rPr sz="1300" b="1">
                <a:solidFill>
                  <a:srgbClr val="AD70E1"/>
                </a:solidFill>
                <a:latin typeface="Calibri"/>
              </a:rPr>
              <a:t>Projected ARR Year 1 (Post-Investment):</a:t>
            </a:r>
            <a:r>
              <a:rPr sz="1300" b="0">
                <a:solidFill>
                  <a:srgbClr val="AD70E1"/>
                </a:solidFill>
                <a:latin typeface="Calibri"/>
              </a:rPr>
              <a:t> Anticipate reaching </a:t>
            </a:r>
            <a:r>
              <a:rPr sz="1300" b="1">
                <a:solidFill>
                  <a:srgbClr val="AD70E1"/>
                </a:solidFill>
                <a:latin typeface="Calibri"/>
              </a:rPr>
              <a:t>$18,000,000</a:t>
            </a:r>
            <a:r>
              <a:rPr sz="1300" b="0">
                <a:solidFill>
                  <a:srgbClr val="AD70E1"/>
                </a:solidFill>
                <a:latin typeface="Calibri"/>
              </a:rPr>
              <a:t> (80% growth), fueled by increased R&amp;D and market penetration.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071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Ask: Fueling the Next Phase of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0E1"/>
                </a:solidFill>
                <a:latin typeface="Calibri"/>
              </a:rPr>
              <a:t>Strategic Investment for Market Leadership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Raising: $147,000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Seeking strategic investment to capitalize on the surging demand for automotive software solutions and accelerate our market leadership in software-defined vehicles.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007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40% — R&amp;D and Product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12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Invest in cutting-edge research for Gen-AI driven software development, advanced ADAS platforms, and next-gen electrification solutions to maintain our technological edge.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443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40% — Global Expansion &amp; Talent Acquisition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Expand engineering centers in key mobility hubs, recruit top-tier automotive software talent, and scale delivery capabilities to meet growing client demand worldwide.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30E28"/>
          </a:solidFill>
          <a:ln w="12700">
            <a:solidFill>
              <a:srgbClr val="2B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A6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20% — Sales &amp; 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48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0E1"/>
                </a:solidFill>
                <a:latin typeface="Calibri"/>
              </a:rPr>
              <a:t>Strengthen market penetration, build strategic partnerships with new OEMs, enhance brand visibility, and drive thought leadership in the SDV space.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90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KPIT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D70E1"/>
                </a:solidFill>
                <a:latin typeface="Calibri"/>
              </a:rPr>
              <a:t>Redefining Mobility, One Line of Code at a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D0071"/>
                </a:solidFill>
                <a:latin typeface="Calibri"/>
              </a:rPr>
              <a:t/>
            </a:r>
            <a:r>
              <a:rPr sz="1500" b="1">
                <a:solidFill>
                  <a:srgbClr val="3D0071"/>
                </a:solidFill>
                <a:latin typeface="Calibri"/>
              </a:rPr>
              <a:t>Join us in shaping a cleaner, safer, and smarter future of mobility.</a:t>
            </a:r>
            <a:r>
              <a:rPr sz="1500" b="0">
                <a:solidFill>
                  <a:srgbClr val="3D0071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D007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