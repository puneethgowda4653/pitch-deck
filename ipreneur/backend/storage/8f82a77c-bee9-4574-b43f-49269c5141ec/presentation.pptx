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Linear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B8EC4"/>
                </a:solidFill>
                <a:latin typeface="Calibri"/>
              </a:rPr>
              <a:t>The product development system for teams and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Linear is a purpose-built product development system designed for modern teams with AI workflows at its core, setting a new standard for planning and building products.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The AI-native product development system for high-velocity teams in a $281B SaaS market.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$281.8B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Global SaaS Market (2024)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18.3% CAGR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SaaS market (2024-2030)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$1.25B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Series C (June 2025)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$134.2M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Funding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Total Capital Raised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The global SaaS market is experiencing explosive growth, projected to reach $774.3 billion by 2030 with an 18.3% CAGR, driven by pervasive digital transformation and AI integration. Linear is strategically positioned within this high-growth landscape, addressing the critical and underserved need for AI-powered, high-velocity product development systems specifically designed for modern teams, a segment ripe for disruption and efficiency gains. The market is at a critical inflection point, largely driven by the pervasive integration of AI into enterprise software, which presents an unprecedented opportunity for Linear to lead.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Inefficient legacy tools hinder modern product development teams.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Slow Workflows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090A"/>
                </a:solidFill>
                <a:latin typeface="Calibri"/>
              </a:rPr>
              <a:t>Prolonged time-to-market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Inefficient software project management workflows lead to developer frustration and significant project delays, directly impacting time-to-market.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Manual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F3F3F"/>
                </a:solidFill>
                <a:latin typeface="Calibri"/>
              </a:rPr>
              <a:t>Hours lost weekly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Time-consuming manual processes for issue triage, feedback summarization, and sprint planning divert critical engineering resources from core development tasks.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Legacy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Fragmented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Reliance on disparate or legacy project management tools lacks the unified, high-velocity capabilities and critical AI integration modern teams require.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Linear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Purpose-built AI workflows automate operations and accelerate product velocity.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Self-Driving Operations:</a:t>
            </a:r>
            <a:r>
              <a:rPr sz="1400" b="0">
                <a:solidFill>
                  <a:srgbClr val="9B8EC4"/>
                </a:solidFill>
                <a:latin typeface="Calibri"/>
              </a:rPr>
              <a:t> Automates issue triage, feedback summarization, and sprint planning with AI, freeing critical engineering resources for core development.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High Velocity Workflows:</a:t>
            </a:r>
            <a:r>
              <a:rPr sz="1400" b="0">
                <a:solidFill>
                  <a:srgbClr val="9B8EC4"/>
                </a:solidFill>
                <a:latin typeface="Calibri"/>
              </a:rPr>
              <a:t> Purpose-built for speed to reduce noise and restore momentum, enabling modern teams to ship products with unparalleled efficiency and focus.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Unified Product System:</a:t>
            </a:r>
            <a:r>
              <a:rPr sz="1400" b="0">
                <a:solidFill>
                  <a:srgbClr val="9B8EC4"/>
                </a:solidFill>
                <a:latin typeface="Calibri"/>
              </a:rPr>
              <a:t> Provides a cohesive platform for defining product direction, managing issues, reviewing agent output, and tracking progress at scale.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AI-Native Collaboration:</a:t>
            </a:r>
            <a:r>
              <a:rPr sz="1400" b="0">
                <a:solidFill>
                  <a:srgbClr val="9B8EC4"/>
                </a:solidFill>
                <a:latin typeface="Calibri"/>
              </a:rPr>
              <a:t> Designed for seamless workflows shared by humans and AI agents, from drafting PRDs to pushing pull requests, embedding intelligence at every step.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Product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Defining a new standard for planning and building with AI.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AI-Powered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090A"/>
                </a:solidFill>
                <a:latin typeface="Calibri"/>
              </a:rPr>
              <a:t>High-velocity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Leverage proprietary AI agents to automate product operations like issue triage and feedback summarization, transforming manual tasks into self-driving workflows.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High-Velocity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F3F3F"/>
                </a:solidFill>
                <a:latin typeface="Calibri"/>
              </a:rPr>
              <a:t>Faster app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A purpose-built product development system designed for speed, reducing noise and restoring momentum to help modern teams ship products faster and with greater focus.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Unified Product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Seamless collaboration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Define product direction, manage work across human and AI agents, and gain a holistic view of progress at scale through a single, integrated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The $281.8B global SaaS market is at an AI-driven inflection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$281.8B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Global SaaS market (2024)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$28.18B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AI Product Dev SaaS (est.)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$250M ARR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SOM (2028)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Realistic 3-year capture (est.)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18.3%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CAGR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SaaS market (2024-2030)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The global SaaS market is experiencing explosive growth, driven by pervasive digital transformation and the deep integration of AI into enterprise software. This market is at a critical inflection point, creating an unprecedented opportunity for Linear to lead in transforming product development by offering AI-powered automation, high velocity, and focused workflows for modern teams.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›  </a:t>
            </a:r>
            <a:r>
              <a:rPr sz="1300" b="1">
                <a:solidFill>
                  <a:srgbClr val="9B8EC4"/>
                </a:solidFill>
                <a:latin typeface="Calibri"/>
              </a:rPr>
              <a:t>Public Cloud Adoption:</a:t>
            </a:r>
            <a:r>
              <a:rPr sz="1300" b="0">
                <a:solidFill>
                  <a:srgbClr val="9B8EC4"/>
                </a:solidFill>
                <a:latin typeface="Calibri"/>
              </a:rPr>
              <a:t> Enterprises are accelerating public cloud service adoption, creating foundational demand for scalable and flexible SaaS solutions across all business functions.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›  </a:t>
            </a:r>
            <a:r>
              <a:rPr sz="1300" b="1">
                <a:solidFill>
                  <a:srgbClr val="9B8EC4"/>
                </a:solidFill>
                <a:latin typeface="Calibri"/>
              </a:rPr>
              <a:t>Digital Transformation:</a:t>
            </a:r>
            <a:r>
              <a:rPr sz="1300" b="0">
                <a:solidFill>
                  <a:srgbClr val="9B8EC4"/>
                </a:solidFill>
                <a:latin typeface="Calibri"/>
              </a:rPr>
              <a:t> Global businesses are intensifying digital transformation initiatives, necessitating modern, subscription-based software to enhance operational efficiency and innovation.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›  </a:t>
            </a:r>
            <a:r>
              <a:rPr sz="1300" b="1">
                <a:solidFill>
                  <a:srgbClr val="9B8EC4"/>
                </a:solidFill>
                <a:latin typeface="Calibri"/>
              </a:rPr>
              <a:t>Disruptive AI Integration:</a:t>
            </a:r>
            <a:r>
              <a:rPr sz="1300" b="0">
                <a:solidFill>
                  <a:srgbClr val="9B8EC4"/>
                </a:solidFill>
                <a:latin typeface="Calibri"/>
              </a:rPr>
              <a:t> The rapid rise of AI is disrupting traditional software landscapes, driving its fusion into SaaS platforms to automate workflows and provide intelligent insights.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Recurring SaaS revenue with clear expansion pathways.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SaaS Subscriptions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090A"/>
                </a:solidFill>
                <a:latin typeface="Calibri"/>
              </a:rPr>
              <a:t>~$12K-$250K ACV (est.)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Primary revenue from tiered SaaS licenses based on team size, features, and usage, providing predictable recurring revenue.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Professional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F3F3F"/>
                </a:solidFill>
                <a:latin typeface="Calibri"/>
              </a:rPr>
              <a:t>Value-added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Secondary stream from expert onboarding, custom integrations, and advanced support, ensuring seamless adoption for enterprise clients.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Enterprise 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Strong NRR potential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Drive upsell and cross-sell through enterprise-grade customization, premium support, and future potential for marketplace fees.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Validated by market, investors, and explosive revenue growth.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$134.2M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Funding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Total Capital Raised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$1.25B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Series C (June 2025)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$100M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2025 ARR (Proj.)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Rapid Growth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$8.4M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2023 ARR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Strong Momentum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Linear demonstrates exceptional market validation and rapid adoption, with significant investor confidence and explosive revenue growth fueled by its AI-driven product roadmap.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GO TO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Go-to-Market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Acquiring and expanding within high-performance product &amp; engineering teams through AI-driven value.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Product-Led Growth (PLG):</a:t>
            </a:r>
            <a:r>
              <a:rPr sz="1400" b="0">
                <a:solidFill>
                  <a:srgbClr val="9B8EC4"/>
                </a:solidFill>
                <a:latin typeface="Calibri"/>
              </a:rPr>
              <a:t> Drive adoption among individual engineers and small teams via intuitive UX and rapid value realization, demonstrating AI-driven velocity from day one.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Direct Sales:</a:t>
            </a:r>
            <a:r>
              <a:rPr sz="1400" b="0">
                <a:solidFill>
                  <a:srgbClr val="9B8EC4"/>
                </a:solidFill>
                <a:latin typeface="Calibri"/>
              </a:rPr>
              <a:t> Target mid-market to enterprise product and engineering leadership with tailored solutions, emphasizing AI-driven efficiency and quantifiable operational ROI.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Content &amp; Community:</a:t>
            </a:r>
            <a:r>
              <a:rPr sz="1400" b="0">
                <a:solidFill>
                  <a:srgbClr val="9B8EC4"/>
                </a:solidFill>
                <a:latin typeface="Calibri"/>
              </a:rPr>
              <a:t> Establish thought leadership in AI-native product development and foster a vibrant community for modern product and engineering teams.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Land-and-Expand Model:</a:t>
            </a:r>
            <a:r>
              <a:rPr sz="1400" b="0">
                <a:solidFill>
                  <a:srgbClr val="9B8EC4"/>
                </a:solidFill>
                <a:latin typeface="Calibri"/>
              </a:rPr>
              <a:t> Leverage initial team adoption to upsell and cross-sell across departments within larger organizations, driven by proven ROI in critical workflows.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Linear is the AI-native leader in a market dominated by legacy generalists.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Linear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8090A"/>
                </a:solidFill>
                <a:latin typeface="Calibri"/>
              </a:rPr>
              <a:t>AI-Native &amp; High-Velocity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Purpose-built AI workflows for self-driving product operations and human-agent collaboration.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Designed for speed, focus, and modern development teams, reducing noise and restoring momentum.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Creates high switching costs through deep integration and proprietary data for optimized product cycles.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Unifies product direction, issue management, and progress tracking for complete visibility.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Legacy &amp; Generalist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3F3F"/>
                </a:solidFill>
                <a:latin typeface="Calibri"/>
              </a:rPr>
              <a:t>Lacking AI &amp; Developer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Jira: Complex, slower, legacy feel, not purpose-built for AI era dev workflows.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Asana: Not optimized for high-velocity, developer-centric software product development.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ClickUp &amp; monday: Overwhelming feature breadth or less purpose-built for specific dev team needs.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General lack of deep AI integration for automation, predictive insights, and self-driving operations.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2A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A proven team poised to lead the future of product development.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A proven team poised to lead the future of product development.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B8EC4"/>
                </a:solidFill>
                <a:latin typeface="Calibri"/>
              </a:rPr>
              <a:t>Experienced founding team with a proven track record of venture success and significant operational expertise — details available on request.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Aggressive growth towards market leadership.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$180M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2026 ARR (Proj.)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Conservative Estimate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$260M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2027 ARR (Proj.)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Base Case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$320M+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2028 ARR (Proj.)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Optimistic Scenario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40-80% YoY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Key Assumption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From $100M ARR (2025)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Linear is positioned for aggressive ARR growth, driven by sustained market penetration, enterprise expansion, and the increasing adoption of AI-native product development solutions.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Strategic Series D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Fueling the next phase of AI-native product innovation and global expansion.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Accelerate Product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090A"/>
                </a:solidFill>
                <a:latin typeface="Calibri"/>
              </a:rPr>
              <a:t>~$60M (40%)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Invest in R&amp;D to further accelerate AI agent development, expand platform capabilities, and enhance integration for 'self-driving' product operations.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Scale Go-to-Market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F3F3F"/>
                </a:solidFill>
                <a:latin typeface="Calibri"/>
              </a:rPr>
              <a:t>~$50M (33%)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Expand direct sales teams globally, boost product-led growth initiatives, and amplify content marketing to penetrate new enterprise segments.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Global Operations &amp; Talent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~$40M (27%)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Strengthen operational infrastructure, scale engineering and customer success teams, and invest in strategic partnerships for ecosystem growth.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Defining the Future of Product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B8EC4"/>
                </a:solidFill>
                <a:latin typeface="Calibri"/>
              </a:rPr>
              <a:t>Backed by the right partners, we will redefine how modern teams build products with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Thank you. Let's build the future of product development, together.
[Contact: investors@linear.app]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