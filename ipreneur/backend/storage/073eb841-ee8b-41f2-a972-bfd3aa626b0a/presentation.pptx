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F5F3FF"/>
                </a:solidFill>
                <a:latin typeface="Calibri"/>
              </a:rPr>
              <a:t>infopace</a:t>
            </a:r>
          </a:p>
        </p:txBody>
      </p:sp>
      <p:sp>
        <p:nvSpPr>
          <p:cNvPr id="5" name="TextBox 4"/>
          <p:cNvSpPr txBox="1"/>
          <p:nvPr/>
        </p:nvSpPr>
        <p:spPr>
          <a:xfrm>
            <a:off x="1371600" y="3200400"/>
            <a:ext cx="9418320" cy="731520"/>
          </a:xfrm>
          <a:prstGeom prst="rect">
            <a:avLst/>
          </a:prstGeom>
          <a:noFill/>
        </p:spPr>
        <p:txBody>
          <a:bodyPr wrap="square">
            <a:spAutoFit/>
          </a:bodyPr>
          <a:lstStyle/>
          <a:p>
            <a:pPr algn="ctr"/>
            <a:r>
              <a:rPr sz="2200" b="0">
                <a:solidFill>
                  <a:srgbClr val="7091D5"/>
                </a:solidFill>
                <a:latin typeface="Calibri"/>
              </a:rPr>
              <a:t>India's First Strategic Change Management</a:t>
            </a:r>
          </a:p>
        </p:txBody>
      </p:sp>
      <p:sp>
        <p:nvSpPr>
          <p:cNvPr id="6" name="TextBox 5"/>
          <p:cNvSpPr txBox="1"/>
          <p:nvPr/>
        </p:nvSpPr>
        <p:spPr>
          <a:xfrm>
            <a:off x="1828800" y="4023360"/>
            <a:ext cx="8503920" cy="731520"/>
          </a:xfrm>
          <a:prstGeom prst="rect">
            <a:avLst/>
          </a:prstGeom>
          <a:noFill/>
        </p:spPr>
        <p:txBody>
          <a:bodyPr wrap="square">
            <a:spAutoFit/>
          </a:bodyPr>
          <a:lstStyle/>
          <a:p>
            <a:pPr algn="ctr"/>
            <a:r>
              <a:rPr sz="1500" b="0">
                <a:solidFill>
                  <a:srgbClr val="002165"/>
                </a:solidFill>
                <a:latin typeface="Calibri"/>
              </a:rPr>
              <a:t>Empowering enterprises to navigate and lead strategic change, digital transformation, and sustainable growth through people-first solutions and innovative technology.</a:t>
            </a:r>
          </a:p>
        </p:txBody>
      </p:sp>
      <p:sp>
        <p:nvSpPr>
          <p:cNvPr id="7" name="TextBox 6"/>
          <p:cNvSpPr txBox="1"/>
          <p:nvPr/>
        </p:nvSpPr>
        <p:spPr>
          <a:xfrm>
            <a:off x="3200400" y="6309360"/>
            <a:ext cx="5760720" cy="365760"/>
          </a:xfrm>
          <a:prstGeom prst="rect">
            <a:avLst/>
          </a:prstGeom>
          <a:noFill/>
        </p:spPr>
        <p:txBody>
          <a:bodyPr wrap="square">
            <a:spAutoFit/>
          </a:bodyPr>
          <a:lstStyle/>
          <a:p>
            <a:pPr algn="ctr"/>
            <a:r>
              <a:rPr sz="1000" b="0">
                <a:solidFill>
                  <a:srgbClr val="002165"/>
                </a:solidFill>
                <a:latin typeface="Calibri"/>
              </a:rPr>
              <a:t>Investor Presentation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EXECUTIVE SUMMARY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Executive Summary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Driving Transformation with Proven Impact</a:t>
            </a:r>
          </a:p>
        </p:txBody>
      </p:sp>
      <p:sp>
        <p:nvSpPr>
          <p:cNvPr id="6" name="Rectangle 5"/>
          <p:cNvSpPr/>
          <p:nvPr/>
        </p:nvSpPr>
        <p:spPr>
          <a:xfrm>
            <a:off x="2026767" y="2103120"/>
            <a:ext cx="2560320" cy="2194560"/>
          </a:xfrm>
          <a:prstGeom prst="rect">
            <a:avLst/>
          </a:prstGeom>
          <a:solidFill>
            <a:srgbClr val="120E24"/>
          </a:solidFill>
          <a:ln w="19050">
            <a:solidFill>
              <a:srgbClr val="004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63927" y="2331720"/>
            <a:ext cx="2286000" cy="914400"/>
          </a:xfrm>
          <a:prstGeom prst="rect">
            <a:avLst/>
          </a:prstGeom>
          <a:noFill/>
        </p:spPr>
        <p:txBody>
          <a:bodyPr wrap="square">
            <a:spAutoFit/>
          </a:bodyPr>
          <a:lstStyle/>
          <a:p>
            <a:pPr algn="ctr"/>
            <a:r>
              <a:rPr sz="3400" b="1">
                <a:solidFill>
                  <a:srgbClr val="F5F3FF"/>
                </a:solidFill>
                <a:latin typeface="Calibri"/>
              </a:rPr>
              <a:t>$80M</a:t>
            </a:r>
          </a:p>
        </p:txBody>
      </p:sp>
      <p:sp>
        <p:nvSpPr>
          <p:cNvPr id="8" name="TextBox 7"/>
          <p:cNvSpPr txBox="1"/>
          <p:nvPr/>
        </p:nvSpPr>
        <p:spPr>
          <a:xfrm>
            <a:off x="2163927" y="3246120"/>
            <a:ext cx="2286000" cy="411480"/>
          </a:xfrm>
          <a:prstGeom prst="rect">
            <a:avLst/>
          </a:prstGeom>
          <a:noFill/>
        </p:spPr>
        <p:txBody>
          <a:bodyPr wrap="square">
            <a:spAutoFit/>
          </a:bodyPr>
          <a:lstStyle/>
          <a:p>
            <a:pPr algn="ctr"/>
            <a:r>
              <a:rPr sz="1200" b="0">
                <a:solidFill>
                  <a:srgbClr val="7091D5"/>
                </a:solidFill>
                <a:latin typeface="Calibri"/>
              </a:rPr>
              <a:t>Annual Recurring Revenue (ARR)</a:t>
            </a:r>
          </a:p>
        </p:txBody>
      </p:sp>
      <p:sp>
        <p:nvSpPr>
          <p:cNvPr id="9" name="TextBox 8"/>
          <p:cNvSpPr txBox="1"/>
          <p:nvPr/>
        </p:nvSpPr>
        <p:spPr>
          <a:xfrm>
            <a:off x="2118207" y="3657600"/>
            <a:ext cx="2377440" cy="457200"/>
          </a:xfrm>
          <a:prstGeom prst="rect">
            <a:avLst/>
          </a:prstGeom>
          <a:noFill/>
        </p:spPr>
        <p:txBody>
          <a:bodyPr wrap="square">
            <a:spAutoFit/>
          </a:bodyPr>
          <a:lstStyle/>
          <a:p>
            <a:pPr algn="ctr"/>
            <a:r>
              <a:rPr sz="1000" b="0">
                <a:solidFill>
                  <a:srgbClr val="002165"/>
                </a:solidFill>
                <a:latin typeface="Calibri"/>
              </a:rPr>
              <a:t>Strong, consistent growth</a:t>
            </a:r>
          </a:p>
        </p:txBody>
      </p:sp>
      <p:sp>
        <p:nvSpPr>
          <p:cNvPr id="10" name="Rectangle 9"/>
          <p:cNvSpPr/>
          <p:nvPr/>
        </p:nvSpPr>
        <p:spPr>
          <a:xfrm>
            <a:off x="4815687" y="2103120"/>
            <a:ext cx="2560320" cy="2194560"/>
          </a:xfrm>
          <a:prstGeom prst="rect">
            <a:avLst/>
          </a:prstGeom>
          <a:solidFill>
            <a:srgbClr val="120E24"/>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52847" y="2331720"/>
            <a:ext cx="2286000" cy="914400"/>
          </a:xfrm>
          <a:prstGeom prst="rect">
            <a:avLst/>
          </a:prstGeom>
          <a:noFill/>
        </p:spPr>
        <p:txBody>
          <a:bodyPr wrap="square">
            <a:spAutoFit/>
          </a:bodyPr>
          <a:lstStyle/>
          <a:p>
            <a:pPr algn="ctr"/>
            <a:r>
              <a:rPr sz="3400" b="1">
                <a:solidFill>
                  <a:srgbClr val="F5F3FF"/>
                </a:solidFill>
                <a:latin typeface="Calibri"/>
              </a:rPr>
              <a:t>80,000</a:t>
            </a:r>
          </a:p>
        </p:txBody>
      </p:sp>
      <p:sp>
        <p:nvSpPr>
          <p:cNvPr id="12" name="TextBox 11"/>
          <p:cNvSpPr txBox="1"/>
          <p:nvPr/>
        </p:nvSpPr>
        <p:spPr>
          <a:xfrm>
            <a:off x="4952847" y="3246120"/>
            <a:ext cx="2286000" cy="411480"/>
          </a:xfrm>
          <a:prstGeom prst="rect">
            <a:avLst/>
          </a:prstGeom>
          <a:noFill/>
        </p:spPr>
        <p:txBody>
          <a:bodyPr wrap="square">
            <a:spAutoFit/>
          </a:bodyPr>
          <a:lstStyle/>
          <a:p>
            <a:pPr algn="ctr"/>
            <a:r>
              <a:rPr sz="1200" b="0">
                <a:solidFill>
                  <a:srgbClr val="7091D5"/>
                </a:solidFill>
                <a:latin typeface="Calibri"/>
              </a:rPr>
              <a:t>Total Customers</a:t>
            </a:r>
          </a:p>
        </p:txBody>
      </p:sp>
      <p:sp>
        <p:nvSpPr>
          <p:cNvPr id="13" name="TextBox 12"/>
          <p:cNvSpPr txBox="1"/>
          <p:nvPr/>
        </p:nvSpPr>
        <p:spPr>
          <a:xfrm>
            <a:off x="4907127" y="3657600"/>
            <a:ext cx="2377440" cy="457200"/>
          </a:xfrm>
          <a:prstGeom prst="rect">
            <a:avLst/>
          </a:prstGeom>
          <a:noFill/>
        </p:spPr>
        <p:txBody>
          <a:bodyPr wrap="square">
            <a:spAutoFit/>
          </a:bodyPr>
          <a:lstStyle/>
          <a:p>
            <a:pPr algn="ctr"/>
            <a:r>
              <a:rPr sz="1000" b="0">
                <a:solidFill>
                  <a:srgbClr val="002165"/>
                </a:solidFill>
                <a:latin typeface="Calibri"/>
              </a:rPr>
              <a:t>Broad enterprise adoption</a:t>
            </a:r>
          </a:p>
        </p:txBody>
      </p:sp>
      <p:sp>
        <p:nvSpPr>
          <p:cNvPr id="14" name="Rectangle 13"/>
          <p:cNvSpPr/>
          <p:nvPr/>
        </p:nvSpPr>
        <p:spPr>
          <a:xfrm>
            <a:off x="7604607" y="2103120"/>
            <a:ext cx="2560320" cy="2194560"/>
          </a:xfrm>
          <a:prstGeom prst="rect">
            <a:avLst/>
          </a:prstGeom>
          <a:solidFill>
            <a:srgbClr val="120E24"/>
          </a:solidFill>
          <a:ln w="19050">
            <a:solidFill>
              <a:srgbClr val="2350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41767" y="2331720"/>
            <a:ext cx="2286000" cy="914400"/>
          </a:xfrm>
          <a:prstGeom prst="rect">
            <a:avLst/>
          </a:prstGeom>
          <a:noFill/>
        </p:spPr>
        <p:txBody>
          <a:bodyPr wrap="square">
            <a:spAutoFit/>
          </a:bodyPr>
          <a:lstStyle/>
          <a:p>
            <a:pPr algn="ctr"/>
            <a:r>
              <a:rPr sz="3400" b="1">
                <a:solidFill>
                  <a:srgbClr val="F5F3FF"/>
                </a:solidFill>
                <a:latin typeface="Calibri"/>
              </a:rPr>
              <a:t>19,998</a:t>
            </a:r>
          </a:p>
        </p:txBody>
      </p:sp>
      <p:sp>
        <p:nvSpPr>
          <p:cNvPr id="16" name="TextBox 15"/>
          <p:cNvSpPr txBox="1"/>
          <p:nvPr/>
        </p:nvSpPr>
        <p:spPr>
          <a:xfrm>
            <a:off x="7741767" y="3246120"/>
            <a:ext cx="2286000" cy="411480"/>
          </a:xfrm>
          <a:prstGeom prst="rect">
            <a:avLst/>
          </a:prstGeom>
          <a:noFill/>
        </p:spPr>
        <p:txBody>
          <a:bodyPr wrap="square">
            <a:spAutoFit/>
          </a:bodyPr>
          <a:lstStyle/>
          <a:p>
            <a:pPr algn="ctr"/>
            <a:r>
              <a:rPr sz="1200" b="0">
                <a:solidFill>
                  <a:srgbClr val="7091D5"/>
                </a:solidFill>
                <a:latin typeface="Calibri"/>
              </a:rPr>
              <a:t>Monthly Active Platform Users</a:t>
            </a:r>
          </a:p>
        </p:txBody>
      </p:sp>
      <p:sp>
        <p:nvSpPr>
          <p:cNvPr id="17" name="TextBox 16"/>
          <p:cNvSpPr txBox="1"/>
          <p:nvPr/>
        </p:nvSpPr>
        <p:spPr>
          <a:xfrm>
            <a:off x="7696047" y="3657600"/>
            <a:ext cx="2377440" cy="457200"/>
          </a:xfrm>
          <a:prstGeom prst="rect">
            <a:avLst/>
          </a:prstGeom>
          <a:noFill/>
        </p:spPr>
        <p:txBody>
          <a:bodyPr wrap="square">
            <a:spAutoFit/>
          </a:bodyPr>
          <a:lstStyle/>
          <a:p>
            <a:pPr algn="ctr"/>
            <a:r>
              <a:rPr sz="1000" b="0">
                <a:solidFill>
                  <a:srgbClr val="002165"/>
                </a:solidFill>
                <a:latin typeface="Calibri"/>
              </a:rPr>
              <a:t>High engagement with digital tools</a:t>
            </a:r>
          </a:p>
        </p:txBody>
      </p:sp>
      <p:sp>
        <p:nvSpPr>
          <p:cNvPr id="18" name="TextBox 17"/>
          <p:cNvSpPr txBox="1"/>
          <p:nvPr/>
        </p:nvSpPr>
        <p:spPr>
          <a:xfrm>
            <a:off x="731520" y="4572000"/>
            <a:ext cx="10698480" cy="822960"/>
          </a:xfrm>
          <a:prstGeom prst="rect">
            <a:avLst/>
          </a:prstGeom>
          <a:noFill/>
        </p:spPr>
        <p:txBody>
          <a:bodyPr wrap="square">
            <a:spAutoFit/>
          </a:bodyPr>
          <a:lstStyle/>
          <a:p>
            <a:pPr algn="l"/>
            <a:r>
              <a:rPr sz="1400" b="0">
                <a:solidFill>
                  <a:srgbClr val="7091D5"/>
                </a:solidFill>
                <a:latin typeface="Calibri"/>
              </a:rPr>
              <a:t>Infopace stands as a pioneer in strategic change management and digital transformation, offering integrated consulting services and innovative SaaS solutions. We empower enterprises to achieve significant growth and operational excellence by blending deep strategic expertise with cutting-edge AI and learning technologies.</a:t>
            </a:r>
          </a:p>
        </p:txBody>
      </p:sp>
      <p:sp>
        <p:nvSpPr>
          <p:cNvPr id="19" name="TextBox 18"/>
          <p:cNvSpPr txBox="1"/>
          <p:nvPr/>
        </p:nvSpPr>
        <p:spPr>
          <a:xfrm>
            <a:off x="914400" y="539496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Unmatched Expertise:</a:t>
            </a:r>
            <a:r>
              <a:rPr sz="1300" b="0">
                <a:solidFill>
                  <a:srgbClr val="7091D5"/>
                </a:solidFill>
                <a:latin typeface="Calibri"/>
              </a:rPr>
              <a:t> India's first strategic change management firm with a people-first approach.</a:t>
            </a:r>
          </a:p>
        </p:txBody>
      </p:sp>
      <p:sp>
        <p:nvSpPr>
          <p:cNvPr id="20" name="TextBox 19"/>
          <p:cNvSpPr txBox="1"/>
          <p:nvPr/>
        </p:nvSpPr>
        <p:spPr>
          <a:xfrm>
            <a:off x="914400" y="580644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Integrated Solutions:</a:t>
            </a:r>
            <a:r>
              <a:rPr sz="1300" b="0">
                <a:solidFill>
                  <a:srgbClr val="7091D5"/>
                </a:solidFill>
                <a:latin typeface="Calibri"/>
              </a:rPr>
              <a:t> Combining strategic advisory, digital transformation, and proprietary AI/LMS platforms.</a:t>
            </a:r>
          </a:p>
        </p:txBody>
      </p:sp>
      <p:sp>
        <p:nvSpPr>
          <p:cNvPr id="21" name="TextBox 20"/>
          <p:cNvSpPr txBox="1"/>
          <p:nvPr/>
        </p:nvSpPr>
        <p:spPr>
          <a:xfrm>
            <a:off x="914400" y="621792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Scalable Growth:</a:t>
            </a:r>
            <a:r>
              <a:rPr sz="1300" b="0">
                <a:solidFill>
                  <a:srgbClr val="7091D5"/>
                </a:solidFill>
                <a:latin typeface="Calibri"/>
              </a:rPr>
              <a:t> Serving 80,000 customers with strong recurring revenue and a clear path to market leadership.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MARKET OPPORTUNITY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Massive &amp; Accelerating Market Opportunity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The Imperative for Digital Transformation &amp; Strategic Change</a:t>
            </a:r>
          </a:p>
        </p:txBody>
      </p:sp>
      <p:sp>
        <p:nvSpPr>
          <p:cNvPr id="6" name="Rectangle 5"/>
          <p:cNvSpPr/>
          <p:nvPr/>
        </p:nvSpPr>
        <p:spPr>
          <a:xfrm>
            <a:off x="3421227" y="2103120"/>
            <a:ext cx="2560320" cy="2194560"/>
          </a:xfrm>
          <a:prstGeom prst="rect">
            <a:avLst/>
          </a:prstGeom>
          <a:solidFill>
            <a:srgbClr val="120E24"/>
          </a:solidFill>
          <a:ln w="19050">
            <a:solidFill>
              <a:srgbClr val="004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$350B</a:t>
            </a:r>
          </a:p>
        </p:txBody>
      </p:sp>
      <p:sp>
        <p:nvSpPr>
          <p:cNvPr id="8" name="TextBox 7"/>
          <p:cNvSpPr txBox="1"/>
          <p:nvPr/>
        </p:nvSpPr>
        <p:spPr>
          <a:xfrm>
            <a:off x="3558387" y="3246120"/>
            <a:ext cx="2286000" cy="411480"/>
          </a:xfrm>
          <a:prstGeom prst="rect">
            <a:avLst/>
          </a:prstGeom>
          <a:noFill/>
        </p:spPr>
        <p:txBody>
          <a:bodyPr wrap="square">
            <a:spAutoFit/>
          </a:bodyPr>
          <a:lstStyle/>
          <a:p>
            <a:pPr algn="ctr"/>
            <a:r>
              <a:rPr sz="1200" b="0">
                <a:solidFill>
                  <a:srgbClr val="7091D5"/>
                </a:solidFill>
                <a:latin typeface="Calibri"/>
              </a:rPr>
              <a:t>Global TAM</a:t>
            </a:r>
          </a:p>
        </p:txBody>
      </p:sp>
      <p:sp>
        <p:nvSpPr>
          <p:cNvPr id="9" name="TextBox 8"/>
          <p:cNvSpPr txBox="1"/>
          <p:nvPr/>
        </p:nvSpPr>
        <p:spPr>
          <a:xfrm>
            <a:off x="3512667" y="3657600"/>
            <a:ext cx="2377440" cy="457200"/>
          </a:xfrm>
          <a:prstGeom prst="rect">
            <a:avLst/>
          </a:prstGeom>
          <a:noFill/>
        </p:spPr>
        <p:txBody>
          <a:bodyPr wrap="square">
            <a:spAutoFit/>
          </a:bodyPr>
          <a:lstStyle/>
          <a:p>
            <a:pPr algn="ctr"/>
            <a:r>
              <a:rPr sz="1000" b="0">
                <a:solidFill>
                  <a:srgbClr val="002165"/>
                </a:solidFill>
                <a:latin typeface="Calibri"/>
              </a:rPr>
              <a:t>Digital Transformation &amp; Management Consulting (2024)</a:t>
            </a:r>
          </a:p>
        </p:txBody>
      </p:sp>
      <p:sp>
        <p:nvSpPr>
          <p:cNvPr id="10" name="Rectangle 9"/>
          <p:cNvSpPr/>
          <p:nvPr/>
        </p:nvSpPr>
        <p:spPr>
          <a:xfrm>
            <a:off x="6210147" y="2103120"/>
            <a:ext cx="2560320" cy="2194560"/>
          </a:xfrm>
          <a:prstGeom prst="rect">
            <a:avLst/>
          </a:prstGeom>
          <a:solidFill>
            <a:srgbClr val="120E24"/>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18%</a:t>
            </a:r>
          </a:p>
        </p:txBody>
      </p:sp>
      <p:sp>
        <p:nvSpPr>
          <p:cNvPr id="12" name="TextBox 11"/>
          <p:cNvSpPr txBox="1"/>
          <p:nvPr/>
        </p:nvSpPr>
        <p:spPr>
          <a:xfrm>
            <a:off x="6347307" y="3246120"/>
            <a:ext cx="2286000" cy="411480"/>
          </a:xfrm>
          <a:prstGeom prst="rect">
            <a:avLst/>
          </a:prstGeom>
          <a:noFill/>
        </p:spPr>
        <p:txBody>
          <a:bodyPr wrap="square">
            <a:spAutoFit/>
          </a:bodyPr>
          <a:lstStyle/>
          <a:p>
            <a:pPr algn="ctr"/>
            <a:r>
              <a:rPr sz="1200" b="0">
                <a:solidFill>
                  <a:srgbClr val="7091D5"/>
                </a:solidFill>
                <a:latin typeface="Calibri"/>
              </a:rPr>
              <a:t>Market CAGR</a:t>
            </a:r>
          </a:p>
        </p:txBody>
      </p:sp>
      <p:sp>
        <p:nvSpPr>
          <p:cNvPr id="13" name="TextBox 12"/>
          <p:cNvSpPr txBox="1"/>
          <p:nvPr/>
        </p:nvSpPr>
        <p:spPr>
          <a:xfrm>
            <a:off x="6301587" y="3657600"/>
            <a:ext cx="2377440" cy="457200"/>
          </a:xfrm>
          <a:prstGeom prst="rect">
            <a:avLst/>
          </a:prstGeom>
          <a:noFill/>
        </p:spPr>
        <p:txBody>
          <a:bodyPr wrap="square">
            <a:spAutoFit/>
          </a:bodyPr>
          <a:lstStyle/>
          <a:p>
            <a:pPr algn="ctr"/>
            <a:r>
              <a:rPr sz="1000" b="0">
                <a:solidFill>
                  <a:srgbClr val="002165"/>
                </a:solidFill>
                <a:latin typeface="Calibri"/>
              </a:rPr>
              <a:t>2024–2028 (Source: Grand View Research, Statista)</a:t>
            </a:r>
          </a:p>
        </p:txBody>
      </p:sp>
      <p:sp>
        <p:nvSpPr>
          <p:cNvPr id="14" name="TextBox 13"/>
          <p:cNvSpPr txBox="1"/>
          <p:nvPr/>
        </p:nvSpPr>
        <p:spPr>
          <a:xfrm>
            <a:off x="731520" y="4572000"/>
            <a:ext cx="10698480" cy="822960"/>
          </a:xfrm>
          <a:prstGeom prst="rect">
            <a:avLst/>
          </a:prstGeom>
          <a:noFill/>
        </p:spPr>
        <p:txBody>
          <a:bodyPr wrap="square">
            <a:spAutoFit/>
          </a:bodyPr>
          <a:lstStyle/>
          <a:p>
            <a:pPr algn="l"/>
            <a:r>
              <a:rPr sz="1400" b="0">
                <a:solidFill>
                  <a:srgbClr val="7091D5"/>
                </a:solidFill>
                <a:latin typeface="Calibri"/>
              </a:rPr>
              <a:t>The global economy is undergoing unprecedented disruption, forcing enterprises to rapidly transform their operations, culture, and strategy. This fuels an enormous and growing demand for specialized expertise in strategic change management and digital transformation.</a:t>
            </a:r>
          </a:p>
        </p:txBody>
      </p:sp>
      <p:sp>
        <p:nvSpPr>
          <p:cNvPr id="15" name="TextBox 14"/>
          <p:cNvSpPr txBox="1"/>
          <p:nvPr/>
        </p:nvSpPr>
        <p:spPr>
          <a:xfrm>
            <a:off x="914400" y="539496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Digital Acceleration:</a:t>
            </a:r>
            <a:r>
              <a:rPr sz="1300" b="0">
                <a:solidFill>
                  <a:srgbClr val="7091D5"/>
                </a:solidFill>
                <a:latin typeface="Calibri"/>
              </a:rPr>
              <a:t> Post-pandemic, companies are prioritizing digital initiatives to enhance resilience and competitiveness.</a:t>
            </a:r>
          </a:p>
        </p:txBody>
      </p:sp>
      <p:sp>
        <p:nvSpPr>
          <p:cNvPr id="16" name="TextBox 15"/>
          <p:cNvSpPr txBox="1"/>
          <p:nvPr/>
        </p:nvSpPr>
        <p:spPr>
          <a:xfrm>
            <a:off x="914400" y="580644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AI Integration:</a:t>
            </a:r>
            <a:r>
              <a:rPr sz="1300" b="0">
                <a:solidFill>
                  <a:srgbClr val="7091D5"/>
                </a:solidFill>
                <a:latin typeface="Calibri"/>
              </a:rPr>
              <a:t> The rise of AI demands new strategies for workforce skilling, operational efficiency, and innovation.</a:t>
            </a:r>
          </a:p>
        </p:txBody>
      </p:sp>
      <p:sp>
        <p:nvSpPr>
          <p:cNvPr id="17" name="TextBox 16"/>
          <p:cNvSpPr txBox="1"/>
          <p:nvPr/>
        </p:nvSpPr>
        <p:spPr>
          <a:xfrm>
            <a:off x="914400" y="621792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Talent Gaps:</a:t>
            </a:r>
            <a:r>
              <a:rPr sz="1300" b="0">
                <a:solidFill>
                  <a:srgbClr val="7091D5"/>
                </a:solidFill>
                <a:latin typeface="Calibri"/>
              </a:rPr>
              <a:t> Organizations face a critical need for upskilling, reskilling, and cross-skilling to meet future demands.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PROBLEM SOLUTION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Problem &amp; Solution</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Navigating Complexity with Clarity and Impact</a:t>
            </a:r>
          </a:p>
        </p:txBody>
      </p:sp>
      <p:sp>
        <p:nvSpPr>
          <p:cNvPr id="6" name="Rectangle 5"/>
          <p:cNvSpPr/>
          <p:nvPr/>
        </p:nvSpPr>
        <p:spPr>
          <a:xfrm>
            <a:off x="640080" y="1737360"/>
            <a:ext cx="5303520" cy="4114800"/>
          </a:xfrm>
          <a:prstGeom prst="rect">
            <a:avLst/>
          </a:prstGeom>
          <a:solidFill>
            <a:srgbClr val="120E24"/>
          </a:solidFill>
          <a:ln w="19050">
            <a:solidFill>
              <a:srgbClr val="004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737360"/>
            <a:ext cx="5303520" cy="64008"/>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4937760" cy="502920"/>
          </a:xfrm>
          <a:prstGeom prst="rect">
            <a:avLst/>
          </a:prstGeom>
          <a:noFill/>
        </p:spPr>
        <p:txBody>
          <a:bodyPr wrap="square">
            <a:spAutoFit/>
          </a:bodyPr>
          <a:lstStyle/>
          <a:p>
            <a:pPr algn="l"/>
            <a:r>
              <a:rPr sz="1800" b="1">
                <a:solidFill>
                  <a:srgbClr val="F5F3FF"/>
                </a:solidFill>
                <a:latin typeface="Calibri"/>
              </a:rPr>
              <a:t>The Problem</a:t>
            </a:r>
          </a:p>
        </p:txBody>
      </p:sp>
      <p:sp>
        <p:nvSpPr>
          <p:cNvPr id="9" name="TextBox 8"/>
          <p:cNvSpPr txBox="1"/>
          <p:nvPr/>
        </p:nvSpPr>
        <p:spPr>
          <a:xfrm>
            <a:off x="822960" y="2468880"/>
            <a:ext cx="4937760" cy="502920"/>
          </a:xfrm>
          <a:prstGeom prst="rect">
            <a:avLst/>
          </a:prstGeom>
          <a:noFill/>
        </p:spPr>
        <p:txBody>
          <a:bodyPr wrap="square">
            <a:spAutoFit/>
          </a:bodyPr>
          <a:lstStyle/>
          <a:p>
            <a:pPr algn="l"/>
            <a:r>
              <a:rPr sz="2400" b="1">
                <a:solidFill>
                  <a:srgbClr val="004BE2"/>
                </a:solidFill>
                <a:latin typeface="Calibri"/>
              </a:rPr>
              <a:t>80% of digital transformations fail to meet objectives.</a:t>
            </a:r>
          </a:p>
        </p:txBody>
      </p:sp>
      <p:sp>
        <p:nvSpPr>
          <p:cNvPr id="10" name="TextBox 9"/>
          <p:cNvSpPr txBox="1"/>
          <p:nvPr/>
        </p:nvSpPr>
        <p:spPr>
          <a:xfrm>
            <a:off x="914400" y="3017520"/>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Strategic Drift:</a:t>
            </a:r>
            <a:r>
              <a:rPr sz="1300" b="0">
                <a:solidFill>
                  <a:srgbClr val="7091D5"/>
                </a:solidFill>
                <a:latin typeface="Calibri"/>
              </a:rPr>
              <a:t> Enterprises struggle to align complex digital initiatives with overarching business goals.</a:t>
            </a:r>
          </a:p>
        </p:txBody>
      </p:sp>
      <p:sp>
        <p:nvSpPr>
          <p:cNvPr id="11" name="TextBox 10"/>
          <p:cNvSpPr txBox="1"/>
          <p:nvPr/>
        </p:nvSpPr>
        <p:spPr>
          <a:xfrm>
            <a:off x="914400" y="3456432"/>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Resistance to Change:</a:t>
            </a:r>
            <a:r>
              <a:rPr sz="1300" b="0">
                <a:solidFill>
                  <a:srgbClr val="7091D5"/>
                </a:solidFill>
                <a:latin typeface="Calibri"/>
              </a:rPr>
              <a:t> People-centric challenges and cultural inertia undermine transformation efforts.</a:t>
            </a:r>
          </a:p>
        </p:txBody>
      </p:sp>
      <p:sp>
        <p:nvSpPr>
          <p:cNvPr id="12" name="TextBox 11"/>
          <p:cNvSpPr txBox="1"/>
          <p:nvPr/>
        </p:nvSpPr>
        <p:spPr>
          <a:xfrm>
            <a:off x="914400" y="3895344"/>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Fragmented Solutions:</a:t>
            </a:r>
            <a:r>
              <a:rPr sz="1300" b="0">
                <a:solidFill>
                  <a:srgbClr val="7091D5"/>
                </a:solidFill>
                <a:latin typeface="Calibri"/>
              </a:rPr>
              <a:t> Disjointed tools and external consultants lead to inefficiency and incomplete outcomes.</a:t>
            </a:r>
          </a:p>
        </p:txBody>
      </p:sp>
      <p:sp>
        <p:nvSpPr>
          <p:cNvPr id="13" name="TextBox 12"/>
          <p:cNvSpPr txBox="1"/>
          <p:nvPr/>
        </p:nvSpPr>
        <p:spPr>
          <a:xfrm>
            <a:off x="914400" y="4334256"/>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Talent Mismatch:</a:t>
            </a:r>
            <a:r>
              <a:rPr sz="1300" b="0">
                <a:solidFill>
                  <a:srgbClr val="7091D5"/>
                </a:solidFill>
                <a:latin typeface="Calibri"/>
              </a:rPr>
              <a:t> Rapid technological shifts leave organizations with critical skills gaps and unoptimized workforces.</a:t>
            </a:r>
          </a:p>
        </p:txBody>
      </p:sp>
      <p:sp>
        <p:nvSpPr>
          <p:cNvPr id="14" name="Rectangle 13"/>
          <p:cNvSpPr/>
          <p:nvPr/>
        </p:nvSpPr>
        <p:spPr>
          <a:xfrm>
            <a:off x="6400800" y="1737360"/>
            <a:ext cx="5303520" cy="4114800"/>
          </a:xfrm>
          <a:prstGeom prst="rect">
            <a:avLst/>
          </a:prstGeom>
          <a:solidFill>
            <a:srgbClr val="120E24"/>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1737360"/>
            <a:ext cx="5303520" cy="64008"/>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1920240"/>
            <a:ext cx="4937760" cy="502920"/>
          </a:xfrm>
          <a:prstGeom prst="rect">
            <a:avLst/>
          </a:prstGeom>
          <a:noFill/>
        </p:spPr>
        <p:txBody>
          <a:bodyPr wrap="square">
            <a:spAutoFit/>
          </a:bodyPr>
          <a:lstStyle/>
          <a:p>
            <a:pPr algn="l"/>
            <a:r>
              <a:rPr sz="1800" b="1">
                <a:solidFill>
                  <a:srgbClr val="F5F3FF"/>
                </a:solidFill>
                <a:latin typeface="Calibri"/>
              </a:rPr>
              <a:t>Our Solution</a:t>
            </a:r>
          </a:p>
        </p:txBody>
      </p:sp>
      <p:sp>
        <p:nvSpPr>
          <p:cNvPr id="17" name="TextBox 16"/>
          <p:cNvSpPr txBox="1"/>
          <p:nvPr/>
        </p:nvSpPr>
        <p:spPr>
          <a:xfrm>
            <a:off x="6583680" y="2468880"/>
            <a:ext cx="4937760" cy="502920"/>
          </a:xfrm>
          <a:prstGeom prst="rect">
            <a:avLst/>
          </a:prstGeom>
          <a:noFill/>
        </p:spPr>
        <p:txBody>
          <a:bodyPr wrap="square">
            <a:spAutoFit/>
          </a:bodyPr>
          <a:lstStyle/>
          <a:p>
            <a:pPr algn="l"/>
            <a:r>
              <a:rPr sz="2400" b="1">
                <a:solidFill>
                  <a:srgbClr val="475569"/>
                </a:solidFill>
                <a:latin typeface="Calibri"/>
              </a:rPr>
              <a:t>People-first strategic change, powered by AI &amp; data.</a:t>
            </a:r>
          </a:p>
        </p:txBody>
      </p:sp>
      <p:sp>
        <p:nvSpPr>
          <p:cNvPr id="18" name="TextBox 17"/>
          <p:cNvSpPr txBox="1"/>
          <p:nvPr/>
        </p:nvSpPr>
        <p:spPr>
          <a:xfrm>
            <a:off x="6675120" y="3017520"/>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Integrated Strategic Frameworks:</a:t>
            </a:r>
            <a:r>
              <a:rPr sz="1300" b="0">
                <a:solidFill>
                  <a:srgbClr val="7091D5"/>
                </a:solidFill>
                <a:latin typeface="Calibri"/>
              </a:rPr>
              <a:t> End-to-end guidance from vision to execution, ensuring alignment and measurable impact.</a:t>
            </a:r>
          </a:p>
        </p:txBody>
      </p:sp>
      <p:sp>
        <p:nvSpPr>
          <p:cNvPr id="19" name="TextBox 18"/>
          <p:cNvSpPr txBox="1"/>
          <p:nvPr/>
        </p:nvSpPr>
        <p:spPr>
          <a:xfrm>
            <a:off x="6675120" y="3456432"/>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People-Centric Transformation:</a:t>
            </a:r>
            <a:r>
              <a:rPr sz="1300" b="0">
                <a:solidFill>
                  <a:srgbClr val="7091D5"/>
                </a:solidFill>
                <a:latin typeface="Calibri"/>
              </a:rPr>
              <a:t> Driving cultural shifts and engagement through empathetic, human-focused methodologies.</a:t>
            </a:r>
          </a:p>
        </p:txBody>
      </p:sp>
      <p:sp>
        <p:nvSpPr>
          <p:cNvPr id="20" name="TextBox 19"/>
          <p:cNvSpPr txBox="1"/>
          <p:nvPr/>
        </p:nvSpPr>
        <p:spPr>
          <a:xfrm>
            <a:off x="6675120" y="3895344"/>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Proprietary Digital Tools:</a:t>
            </a:r>
            <a:r>
              <a:rPr sz="1300" b="0">
                <a:solidFill>
                  <a:srgbClr val="7091D5"/>
                </a:solidFill>
                <a:latin typeface="Calibri"/>
              </a:rPr>
              <a:t> Leveraging AI-powered Psychometric Assessments and a robust LMS for smart talent insights and development.</a:t>
            </a:r>
          </a:p>
        </p:txBody>
      </p:sp>
      <p:sp>
        <p:nvSpPr>
          <p:cNvPr id="21" name="TextBox 20"/>
          <p:cNvSpPr txBox="1"/>
          <p:nvPr/>
        </p:nvSpPr>
        <p:spPr>
          <a:xfrm>
            <a:off x="6675120" y="4334256"/>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Holistic Ecosystem Support:</a:t>
            </a:r>
            <a:r>
              <a:rPr sz="1300" b="0">
                <a:solidFill>
                  <a:srgbClr val="7091D5"/>
                </a:solidFill>
                <a:latin typeface="Calibri"/>
              </a:rPr>
              <a:t> From Growth Acceleration to Market Access, we provide full-spectrum support for sustainable growth.</a:t>
            </a:r>
          </a:p>
        </p:txBody>
      </p:sp>
      <p:sp>
        <p:nvSpPr>
          <p:cNvPr id="22" name="Rectangle 21"/>
          <p:cNvSpPr/>
          <p:nvPr/>
        </p:nvSpPr>
        <p:spPr>
          <a:xfrm>
            <a:off x="6144768" y="2011680"/>
            <a:ext cx="27432" cy="3566160"/>
          </a:xfrm>
          <a:prstGeom prst="rect">
            <a:avLst/>
          </a:prstGeom>
          <a:solidFill>
            <a:srgbClr val="282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PRODUCT</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Our Integrated Product &amp; Service Suite</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Fueling Business Growth with Specialized Expertise &amp; Innovative Solutions</a:t>
            </a:r>
          </a:p>
        </p:txBody>
      </p:sp>
      <p:sp>
        <p:nvSpPr>
          <p:cNvPr id="6" name="Rectangle 5"/>
          <p:cNvSpPr/>
          <p:nvPr/>
        </p:nvSpPr>
        <p:spPr>
          <a:xfrm>
            <a:off x="17524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AI-Powered Psychometric Assessments &amp; Insights</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004BE2"/>
                </a:solidFill>
                <a:latin typeface="Calibri"/>
              </a:rPr>
              <a:t>New Offering</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Smarter Decision-Making:</a:t>
            </a:r>
            <a:r>
              <a:rPr sz="1300" b="0">
                <a:solidFill>
                  <a:srgbClr val="7091D5"/>
                </a:solidFill>
                <a:latin typeface="Calibri"/>
              </a:rPr>
              <a:t> Scientifically designed tools and innovative AI products to deliver deeper insights into talent, leadership, and organizational dynamics, enabling better strategic and hiring decisions.</a:t>
            </a:r>
          </a:p>
        </p:txBody>
      </p:sp>
      <p:sp>
        <p:nvSpPr>
          <p:cNvPr id="11" name="Rectangle 10"/>
          <p:cNvSpPr/>
          <p:nvPr/>
        </p:nvSpPr>
        <p:spPr>
          <a:xfrm>
            <a:off x="47242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Learning Management System (LMS)</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475569"/>
                </a:solidFill>
                <a:latin typeface="Calibri"/>
              </a:rPr>
              <a:t>Key Capability</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Streamlined Talent Development:</a:t>
            </a:r>
            <a:r>
              <a:rPr sz="1300" b="0">
                <a:solidFill>
                  <a:srgbClr val="7091D5"/>
                </a:solidFill>
                <a:latin typeface="Calibri"/>
              </a:rPr>
              <a:t> Centralized content, progress tracking, skills analytics, and personalized learning paths to drive talent growth, upskilling, and reskilling initiatives across the enterprise.</a:t>
            </a:r>
          </a:p>
        </p:txBody>
      </p:sp>
      <p:sp>
        <p:nvSpPr>
          <p:cNvPr id="16" name="Rectangle 15"/>
          <p:cNvSpPr/>
          <p:nvPr/>
        </p:nvSpPr>
        <p:spPr>
          <a:xfrm>
            <a:off x="76960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235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Strategic Change Management Solutions</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2350A5"/>
                </a:solidFill>
                <a:latin typeface="Calibri"/>
              </a:rPr>
              <a:t>Core Service</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End-to-End Transformation:</a:t>
            </a:r>
            <a:r>
              <a:rPr sz="1300" b="0">
                <a:solidFill>
                  <a:srgbClr val="7091D5"/>
                </a:solidFill>
                <a:latin typeface="Calibri"/>
              </a:rPr>
              <a:t> Driving organizational, technological, process, strategic, and cultural change through people-centric initiatives, ensuring resilience and competitive advantage.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BUSINESS MODEL</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Our Diversified Business Model</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Multiple Revenue Streams for Sustainable Growth</a:t>
            </a:r>
          </a:p>
        </p:txBody>
      </p:sp>
      <p:sp>
        <p:nvSpPr>
          <p:cNvPr id="6" name="Rectangle 5"/>
          <p:cNvSpPr/>
          <p:nvPr/>
        </p:nvSpPr>
        <p:spPr>
          <a:xfrm>
            <a:off x="17524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Strategic Advisory &amp; Consulting</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004BE2"/>
                </a:solidFill>
                <a:latin typeface="Calibri"/>
              </a:rPr>
              <a:t>Project-Based &amp; Retainer</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High-Value Engagements:</a:t>
            </a:r>
            <a:r>
              <a:rPr sz="1300" b="0">
                <a:solidFill>
                  <a:srgbClr val="7091D5"/>
                </a:solidFill>
                <a:latin typeface="Calibri"/>
              </a:rPr>
              <a:t> Revenue from Growth Acceleration Partner (GAP), GCC setup, Digital Transformation, Go-To-Market Strategy, Radical Innovation, and Data Analytics consulting projects.</a:t>
            </a:r>
          </a:p>
        </p:txBody>
      </p:sp>
      <p:sp>
        <p:nvSpPr>
          <p:cNvPr id="11" name="Rectangle 10"/>
          <p:cNvSpPr/>
          <p:nvPr/>
        </p:nvSpPr>
        <p:spPr>
          <a:xfrm>
            <a:off x="47242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SaaS Subscriptions</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475569"/>
                </a:solidFill>
                <a:latin typeface="Calibri"/>
              </a:rPr>
              <a:t>Recurring Revenue</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Scalable Platforms:</a:t>
            </a:r>
            <a:r>
              <a:rPr sz="1300" b="0">
                <a:solidFill>
                  <a:srgbClr val="7091D5"/>
                </a:solidFill>
                <a:latin typeface="Calibri"/>
              </a:rPr>
              <a:t> Monthly and annual subscriptions for our Learning Management System (LMS) and AI-powered Psychometric Assessment suite, offering predictable revenue growth.</a:t>
            </a:r>
          </a:p>
        </p:txBody>
      </p:sp>
      <p:sp>
        <p:nvSpPr>
          <p:cNvPr id="16" name="Rectangle 15"/>
          <p:cNvSpPr/>
          <p:nvPr/>
        </p:nvSpPr>
        <p:spPr>
          <a:xfrm>
            <a:off x="76960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235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Strategic Investment &amp; Ecosystem Support</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2350A5"/>
                </a:solidFill>
                <a:latin typeface="Calibri"/>
              </a:rPr>
              <a:t>Performance-Based / Equity</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Aligned Incentives:</a:t>
            </a:r>
            <a:r>
              <a:rPr sz="1300" b="0">
                <a:solidFill>
                  <a:srgbClr val="7091D5"/>
                </a:solidFill>
                <a:latin typeface="Calibri"/>
              </a:rPr>
              <a:t> Engaging with the entrepreneurial ecosystem through strategic investment options, M&amp;A advisory, and funding channels, potentially generating success fees or equity upside.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TRACTION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Proven Traction &amp; Market Leadership</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Demonstrated Scale and Customer Trust</a:t>
            </a:r>
          </a:p>
        </p:txBody>
      </p:sp>
      <p:sp>
        <p:nvSpPr>
          <p:cNvPr id="6" name="Rectangle 5"/>
          <p:cNvSpPr/>
          <p:nvPr/>
        </p:nvSpPr>
        <p:spPr>
          <a:xfrm>
            <a:off x="632307" y="2103120"/>
            <a:ext cx="2560320" cy="2194560"/>
          </a:xfrm>
          <a:prstGeom prst="rect">
            <a:avLst/>
          </a:prstGeom>
          <a:solidFill>
            <a:srgbClr val="120E24"/>
          </a:solidFill>
          <a:ln w="19050">
            <a:solidFill>
              <a:srgbClr val="004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2331720"/>
            <a:ext cx="2286000" cy="914400"/>
          </a:xfrm>
          <a:prstGeom prst="rect">
            <a:avLst/>
          </a:prstGeom>
          <a:noFill/>
        </p:spPr>
        <p:txBody>
          <a:bodyPr wrap="square">
            <a:spAutoFit/>
          </a:bodyPr>
          <a:lstStyle/>
          <a:p>
            <a:pPr algn="ctr"/>
            <a:r>
              <a:rPr sz="3400" b="1">
                <a:solidFill>
                  <a:srgbClr val="F5F3FF"/>
                </a:solidFill>
                <a:latin typeface="Calibri"/>
              </a:rPr>
              <a:t>$80,000,000</a:t>
            </a:r>
          </a:p>
        </p:txBody>
      </p:sp>
      <p:sp>
        <p:nvSpPr>
          <p:cNvPr id="8" name="TextBox 7"/>
          <p:cNvSpPr txBox="1"/>
          <p:nvPr/>
        </p:nvSpPr>
        <p:spPr>
          <a:xfrm>
            <a:off x="769467" y="3246120"/>
            <a:ext cx="2286000" cy="411480"/>
          </a:xfrm>
          <a:prstGeom prst="rect">
            <a:avLst/>
          </a:prstGeom>
          <a:noFill/>
        </p:spPr>
        <p:txBody>
          <a:bodyPr wrap="square">
            <a:spAutoFit/>
          </a:bodyPr>
          <a:lstStyle/>
          <a:p>
            <a:pPr algn="ctr"/>
            <a:r>
              <a:rPr sz="1200" b="0">
                <a:solidFill>
                  <a:srgbClr val="7091D5"/>
                </a:solidFill>
                <a:latin typeface="Calibri"/>
              </a:rPr>
              <a:t>Annual Recurring Revenue (ARR)</a:t>
            </a:r>
          </a:p>
        </p:txBody>
      </p:sp>
      <p:sp>
        <p:nvSpPr>
          <p:cNvPr id="9" name="TextBox 8"/>
          <p:cNvSpPr txBox="1"/>
          <p:nvPr/>
        </p:nvSpPr>
        <p:spPr>
          <a:xfrm>
            <a:off x="723747" y="3657600"/>
            <a:ext cx="2377440" cy="457200"/>
          </a:xfrm>
          <a:prstGeom prst="rect">
            <a:avLst/>
          </a:prstGeom>
          <a:noFill/>
        </p:spPr>
        <p:txBody>
          <a:bodyPr wrap="square">
            <a:spAutoFit/>
          </a:bodyPr>
          <a:lstStyle/>
          <a:p>
            <a:pPr algn="ctr"/>
            <a:r>
              <a:rPr sz="1000" b="0">
                <a:solidFill>
                  <a:srgbClr val="002165"/>
                </a:solidFill>
                <a:latin typeface="Calibri"/>
              </a:rPr>
              <a:t>Robust financial foundation</a:t>
            </a:r>
          </a:p>
        </p:txBody>
      </p:sp>
      <p:sp>
        <p:nvSpPr>
          <p:cNvPr id="10" name="Rectangle 9"/>
          <p:cNvSpPr/>
          <p:nvPr/>
        </p:nvSpPr>
        <p:spPr>
          <a:xfrm>
            <a:off x="3421227" y="2103120"/>
            <a:ext cx="2560320" cy="2194560"/>
          </a:xfrm>
          <a:prstGeom prst="rect">
            <a:avLst/>
          </a:prstGeom>
          <a:solidFill>
            <a:srgbClr val="120E24"/>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$5,000,000</a:t>
            </a:r>
          </a:p>
        </p:txBody>
      </p:sp>
      <p:sp>
        <p:nvSpPr>
          <p:cNvPr id="12" name="TextBox 11"/>
          <p:cNvSpPr txBox="1"/>
          <p:nvPr/>
        </p:nvSpPr>
        <p:spPr>
          <a:xfrm>
            <a:off x="3558387" y="3246120"/>
            <a:ext cx="2286000" cy="411480"/>
          </a:xfrm>
          <a:prstGeom prst="rect">
            <a:avLst/>
          </a:prstGeom>
          <a:noFill/>
        </p:spPr>
        <p:txBody>
          <a:bodyPr wrap="square">
            <a:spAutoFit/>
          </a:bodyPr>
          <a:lstStyle/>
          <a:p>
            <a:pPr algn="ctr"/>
            <a:r>
              <a:rPr sz="1200" b="0">
                <a:solidFill>
                  <a:srgbClr val="7091D5"/>
                </a:solidFill>
                <a:latin typeface="Calibri"/>
              </a:rPr>
              <a:t>Monthly Recurring Revenue (MRR)</a:t>
            </a:r>
          </a:p>
        </p:txBody>
      </p:sp>
      <p:sp>
        <p:nvSpPr>
          <p:cNvPr id="13" name="TextBox 12"/>
          <p:cNvSpPr txBox="1"/>
          <p:nvPr/>
        </p:nvSpPr>
        <p:spPr>
          <a:xfrm>
            <a:off x="3512667" y="3657600"/>
            <a:ext cx="2377440" cy="457200"/>
          </a:xfrm>
          <a:prstGeom prst="rect">
            <a:avLst/>
          </a:prstGeom>
          <a:noFill/>
        </p:spPr>
        <p:txBody>
          <a:bodyPr wrap="square">
            <a:spAutoFit/>
          </a:bodyPr>
          <a:lstStyle/>
          <a:p>
            <a:pPr algn="ctr"/>
            <a:r>
              <a:rPr sz="1000" b="0">
                <a:solidFill>
                  <a:srgbClr val="002165"/>
                </a:solidFill>
                <a:latin typeface="Calibri"/>
              </a:rPr>
              <a:t>Consistent and predictable income</a:t>
            </a:r>
          </a:p>
        </p:txBody>
      </p:sp>
      <p:sp>
        <p:nvSpPr>
          <p:cNvPr id="14" name="Rectangle 13"/>
          <p:cNvSpPr/>
          <p:nvPr/>
        </p:nvSpPr>
        <p:spPr>
          <a:xfrm>
            <a:off x="6210147" y="2103120"/>
            <a:ext cx="2560320" cy="2194560"/>
          </a:xfrm>
          <a:prstGeom prst="rect">
            <a:avLst/>
          </a:prstGeom>
          <a:solidFill>
            <a:srgbClr val="120E24"/>
          </a:solidFill>
          <a:ln w="19050">
            <a:solidFill>
              <a:srgbClr val="2350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80,000</a:t>
            </a:r>
          </a:p>
        </p:txBody>
      </p:sp>
      <p:sp>
        <p:nvSpPr>
          <p:cNvPr id="16" name="TextBox 15"/>
          <p:cNvSpPr txBox="1"/>
          <p:nvPr/>
        </p:nvSpPr>
        <p:spPr>
          <a:xfrm>
            <a:off x="6347307" y="3246120"/>
            <a:ext cx="2286000" cy="411480"/>
          </a:xfrm>
          <a:prstGeom prst="rect">
            <a:avLst/>
          </a:prstGeom>
          <a:noFill/>
        </p:spPr>
        <p:txBody>
          <a:bodyPr wrap="square">
            <a:spAutoFit/>
          </a:bodyPr>
          <a:lstStyle/>
          <a:p>
            <a:pPr algn="ctr"/>
            <a:r>
              <a:rPr sz="1200" b="0">
                <a:solidFill>
                  <a:srgbClr val="7091D5"/>
                </a:solidFill>
                <a:latin typeface="Calibri"/>
              </a:rPr>
              <a:t>Total Customers</a:t>
            </a:r>
          </a:p>
        </p:txBody>
      </p:sp>
      <p:sp>
        <p:nvSpPr>
          <p:cNvPr id="17" name="TextBox 16"/>
          <p:cNvSpPr txBox="1"/>
          <p:nvPr/>
        </p:nvSpPr>
        <p:spPr>
          <a:xfrm>
            <a:off x="6301587" y="3657600"/>
            <a:ext cx="2377440" cy="457200"/>
          </a:xfrm>
          <a:prstGeom prst="rect">
            <a:avLst/>
          </a:prstGeom>
          <a:noFill/>
        </p:spPr>
        <p:txBody>
          <a:bodyPr wrap="square">
            <a:spAutoFit/>
          </a:bodyPr>
          <a:lstStyle/>
          <a:p>
            <a:pPr algn="ctr"/>
            <a:r>
              <a:rPr sz="1000" b="0">
                <a:solidFill>
                  <a:srgbClr val="002165"/>
                </a:solidFill>
                <a:latin typeface="Calibri"/>
              </a:rPr>
              <a:t>Extensive client portfolio</a:t>
            </a:r>
          </a:p>
        </p:txBody>
      </p:sp>
      <p:sp>
        <p:nvSpPr>
          <p:cNvPr id="18" name="Rectangle 17"/>
          <p:cNvSpPr/>
          <p:nvPr/>
        </p:nvSpPr>
        <p:spPr>
          <a:xfrm>
            <a:off x="8999067" y="2103120"/>
            <a:ext cx="2560320" cy="2194560"/>
          </a:xfrm>
          <a:prstGeom prst="rect">
            <a:avLst/>
          </a:prstGeom>
          <a:solidFill>
            <a:srgbClr val="120E24"/>
          </a:solidFill>
          <a:ln w="19050">
            <a:solidFill>
              <a:srgbClr val="3F78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6227" y="2331720"/>
            <a:ext cx="2286000" cy="914400"/>
          </a:xfrm>
          <a:prstGeom prst="rect">
            <a:avLst/>
          </a:prstGeom>
          <a:noFill/>
        </p:spPr>
        <p:txBody>
          <a:bodyPr wrap="square">
            <a:spAutoFit/>
          </a:bodyPr>
          <a:lstStyle/>
          <a:p>
            <a:pPr algn="ctr"/>
            <a:r>
              <a:rPr sz="3400" b="1">
                <a:solidFill>
                  <a:srgbClr val="F5F3FF"/>
                </a:solidFill>
                <a:latin typeface="Calibri"/>
              </a:rPr>
              <a:t>19,998</a:t>
            </a:r>
          </a:p>
        </p:txBody>
      </p:sp>
      <p:sp>
        <p:nvSpPr>
          <p:cNvPr id="20" name="TextBox 19"/>
          <p:cNvSpPr txBox="1"/>
          <p:nvPr/>
        </p:nvSpPr>
        <p:spPr>
          <a:xfrm>
            <a:off x="9136227" y="3246120"/>
            <a:ext cx="2286000" cy="411480"/>
          </a:xfrm>
          <a:prstGeom prst="rect">
            <a:avLst/>
          </a:prstGeom>
          <a:noFill/>
        </p:spPr>
        <p:txBody>
          <a:bodyPr wrap="square">
            <a:spAutoFit/>
          </a:bodyPr>
          <a:lstStyle/>
          <a:p>
            <a:pPr algn="ctr"/>
            <a:r>
              <a:rPr sz="1200" b="0">
                <a:solidFill>
                  <a:srgbClr val="7091D5"/>
                </a:solidFill>
                <a:latin typeface="Calibri"/>
              </a:rPr>
              <a:t>Monthly Active Platform Users</a:t>
            </a:r>
          </a:p>
        </p:txBody>
      </p:sp>
      <p:sp>
        <p:nvSpPr>
          <p:cNvPr id="21" name="TextBox 20"/>
          <p:cNvSpPr txBox="1"/>
          <p:nvPr/>
        </p:nvSpPr>
        <p:spPr>
          <a:xfrm>
            <a:off x="9090507" y="3657600"/>
            <a:ext cx="2377440" cy="457200"/>
          </a:xfrm>
          <a:prstGeom prst="rect">
            <a:avLst/>
          </a:prstGeom>
          <a:noFill/>
        </p:spPr>
        <p:txBody>
          <a:bodyPr wrap="square">
            <a:spAutoFit/>
          </a:bodyPr>
          <a:lstStyle/>
          <a:p>
            <a:pPr algn="ctr"/>
            <a:r>
              <a:rPr sz="1000" b="0">
                <a:solidFill>
                  <a:srgbClr val="002165"/>
                </a:solidFill>
                <a:latin typeface="Calibri"/>
              </a:rPr>
              <a:t>Engaged user base on digital tools</a:t>
            </a:r>
          </a:p>
        </p:txBody>
      </p:sp>
      <p:sp>
        <p:nvSpPr>
          <p:cNvPr id="22" name="TextBox 21"/>
          <p:cNvSpPr txBox="1"/>
          <p:nvPr/>
        </p:nvSpPr>
        <p:spPr>
          <a:xfrm>
            <a:off x="731520" y="4572000"/>
            <a:ext cx="10698480" cy="822960"/>
          </a:xfrm>
          <a:prstGeom prst="rect">
            <a:avLst/>
          </a:prstGeom>
          <a:noFill/>
        </p:spPr>
        <p:txBody>
          <a:bodyPr wrap="square">
            <a:spAutoFit/>
          </a:bodyPr>
          <a:lstStyle/>
          <a:p>
            <a:pPr algn="l"/>
            <a:r>
              <a:rPr sz="1400" b="0">
                <a:solidFill>
                  <a:srgbClr val="7091D5"/>
                </a:solidFill>
                <a:latin typeface="Calibri"/>
              </a:rPr>
              <a:t>Infopace has established itself as a market leader, evidenced by significant revenue generation, a robust customer base, and highly engaged users on our digital platforms.</a:t>
            </a:r>
          </a:p>
        </p:txBody>
      </p:sp>
      <p:sp>
        <p:nvSpPr>
          <p:cNvPr id="23" name="TextBox 22"/>
          <p:cNvSpPr txBox="1"/>
          <p:nvPr/>
        </p:nvSpPr>
        <p:spPr>
          <a:xfrm>
            <a:off x="914400" y="539496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Consistent Performance:</a:t>
            </a:r>
            <a:r>
              <a:rPr sz="1300" b="0">
                <a:solidFill>
                  <a:srgbClr val="7091D5"/>
                </a:solidFill>
                <a:latin typeface="Calibri"/>
              </a:rPr>
              <a:t> $5M Monthly Recurring Revenue demonstrating strong operational efficiency.</a:t>
            </a:r>
          </a:p>
        </p:txBody>
      </p:sp>
      <p:sp>
        <p:nvSpPr>
          <p:cNvPr id="24" name="TextBox 23"/>
          <p:cNvSpPr txBox="1"/>
          <p:nvPr/>
        </p:nvSpPr>
        <p:spPr>
          <a:xfrm>
            <a:off x="914400" y="580644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Deep Expertise:</a:t>
            </a:r>
            <a:r>
              <a:rPr sz="1300" b="0">
                <a:solidFill>
                  <a:srgbClr val="7091D5"/>
                </a:solidFill>
                <a:latin typeface="Calibri"/>
              </a:rPr>
              <a:t> Average of 7 years of specialist experience across our team, driving high client satisfaction.</a:t>
            </a:r>
          </a:p>
        </p:txBody>
      </p:sp>
      <p:sp>
        <p:nvSpPr>
          <p:cNvPr id="25" name="TextBox 24"/>
          <p:cNvSpPr txBox="1"/>
          <p:nvPr/>
        </p:nvSpPr>
        <p:spPr>
          <a:xfrm>
            <a:off x="914400" y="621792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Award-Winning:</a:t>
            </a:r>
            <a:r>
              <a:rPr sz="1300" b="0">
                <a:solidFill>
                  <a:srgbClr val="7091D5"/>
                </a:solidFill>
                <a:latin typeface="Calibri"/>
              </a:rPr>
              <a:t> Recognized for excellence in innovation, leadership, and culture, building strong brand credibility.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COMPETITIVE LANDSCAPE</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Competitive Landscape</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Differentiated in a Crowded Market</a:t>
            </a:r>
          </a:p>
        </p:txBody>
      </p:sp>
      <p:sp>
        <p:nvSpPr>
          <p:cNvPr id="6" name="Rectangle 5"/>
          <p:cNvSpPr/>
          <p:nvPr/>
        </p:nvSpPr>
        <p:spPr>
          <a:xfrm>
            <a:off x="17524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Accenture India</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004BE2"/>
                </a:solidFill>
                <a:latin typeface="Calibri"/>
              </a:rPr>
              <a:t>Global Leader</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Weakness:</a:t>
            </a:r>
            <a:r>
              <a:rPr sz="1300" b="0">
                <a:solidFill>
                  <a:srgbClr val="7091D5"/>
                </a:solidFill>
                <a:latin typeface="Calibri"/>
              </a:rPr>
              <a:t> Often perceived as less agile for mid-market clients, with a higher cost structure and potentially less specialized in 'people-first' change culture beyond large-scale implementations.</a:t>
            </a:r>
          </a:p>
        </p:txBody>
      </p:sp>
      <p:sp>
        <p:nvSpPr>
          <p:cNvPr id="11" name="Rectangle 10"/>
          <p:cNvSpPr/>
          <p:nvPr/>
        </p:nvSpPr>
        <p:spPr>
          <a:xfrm>
            <a:off x="47242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Deloitte Consulting India</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475569"/>
                </a:solidFill>
                <a:latin typeface="Calibri"/>
              </a:rPr>
              <a:t>Big Four Consultant</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Weakness:</a:t>
            </a:r>
            <a:r>
              <a:rPr sz="1300" b="0">
                <a:solidFill>
                  <a:srgbClr val="7091D5"/>
                </a:solidFill>
                <a:latin typeface="Calibri"/>
              </a:rPr>
              <a:t> Broad generalist focus can dilute niche expertise. Its vast global structure may lead to slower adaptation to specific local market nuances and integrated tech/consulting models like Infopace's.</a:t>
            </a:r>
          </a:p>
        </p:txBody>
      </p:sp>
      <p:sp>
        <p:nvSpPr>
          <p:cNvPr id="16" name="Rectangle 15"/>
          <p:cNvSpPr/>
          <p:nvPr/>
        </p:nvSpPr>
        <p:spPr>
          <a:xfrm>
            <a:off x="76960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235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PwC India</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2350A5"/>
                </a:solidFill>
                <a:latin typeface="Calibri"/>
              </a:rPr>
              <a:t>Advisory Powerhouse</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Weakness:</a:t>
            </a:r>
            <a:r>
              <a:rPr sz="1300" b="0">
                <a:solidFill>
                  <a:srgbClr val="7091D5"/>
                </a:solidFill>
                <a:latin typeface="Calibri"/>
              </a:rPr>
              <a:t> Traditionally stronger in audit and tax, its consulting arm, while significant, sometimes lags in dedicated investment in proprietary digital product ecosystems like Infopace's AI assessments and LMS.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TEAM</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Our Exceptional Leadership Team</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Experienced Specialists Driving Innovation &amp; Growth</a:t>
            </a:r>
          </a:p>
        </p:txBody>
      </p:sp>
      <p:sp>
        <p:nvSpPr>
          <p:cNvPr id="6" name="Rectangle 5"/>
          <p:cNvSpPr/>
          <p:nvPr/>
        </p:nvSpPr>
        <p:spPr>
          <a:xfrm>
            <a:off x="17524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J.R. Bangera</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004BE2"/>
                </a:solidFill>
                <a:latin typeface="Calibri"/>
              </a:rPr>
              <a:t>Strategic Visionary</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'A Man who knows his Next Move':</a:t>
            </a:r>
            <a:r>
              <a:rPr sz="1300" b="0">
                <a:solidFill>
                  <a:srgbClr val="7091D5"/>
                </a:solidFill>
                <a:latin typeface="Calibri"/>
              </a:rPr>
              <a:t> A key strategic leader with extensive experience in shaping businesses, driving transformation, and identifying future opportunities.</a:t>
            </a:r>
          </a:p>
        </p:txBody>
      </p:sp>
      <p:sp>
        <p:nvSpPr>
          <p:cNvPr id="11" name="Rectangle 10"/>
          <p:cNvSpPr/>
          <p:nvPr/>
        </p:nvSpPr>
        <p:spPr>
          <a:xfrm>
            <a:off x="47242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Dr. G.P. Sudhakar</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475569"/>
                </a:solidFill>
                <a:latin typeface="Calibri"/>
              </a:rPr>
              <a:t>Ph.D., Marketing &amp; Retail Expert</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Academic &amp; Industry Leader:</a:t>
            </a:r>
            <a:r>
              <a:rPr sz="1300" b="0">
                <a:solidFill>
                  <a:srgbClr val="7091D5"/>
                </a:solidFill>
                <a:latin typeface="Calibri"/>
              </a:rPr>
              <a:t> Holds a Ph.D. in Retail Store Positioning, MBA (Marketing), B.Com (Hons.). Brings deep academic insight and practical experience in market strategy and positioning.</a:t>
            </a:r>
          </a:p>
        </p:txBody>
      </p:sp>
      <p:sp>
        <p:nvSpPr>
          <p:cNvPr id="16" name="Rectangle 15"/>
          <p:cNvSpPr/>
          <p:nvPr/>
        </p:nvSpPr>
        <p:spPr>
          <a:xfrm>
            <a:off x="76960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235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Prof. Naliniprava Tripathy</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2350A5"/>
                </a:solidFill>
                <a:latin typeface="Calibri"/>
              </a:rPr>
              <a:t>Professor &amp; Business Intelligence Expert</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Data &amp; Research Prowess:</a:t>
            </a:r>
            <a:r>
              <a:rPr sz="1300" b="0">
                <a:solidFill>
                  <a:srgbClr val="7091D5"/>
                </a:solidFill>
                <a:latin typeface="Calibri"/>
              </a:rPr>
              <a:t> Expertise in Business Intelligence and Research, serving as a Professor. Focuses on leveraging data for strategic decision-making and market analysis.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FINANCIALS</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Market Sizing &amp; Financials</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Leveraging a Multi-Billion Dollar Opportunity</a:t>
            </a:r>
          </a:p>
        </p:txBody>
      </p:sp>
      <p:sp>
        <p:nvSpPr>
          <p:cNvPr id="6" name="Rectangle 5"/>
          <p:cNvSpPr/>
          <p:nvPr/>
        </p:nvSpPr>
        <p:spPr>
          <a:xfrm>
            <a:off x="632307" y="2103120"/>
            <a:ext cx="2560320" cy="2194560"/>
          </a:xfrm>
          <a:prstGeom prst="rect">
            <a:avLst/>
          </a:prstGeom>
          <a:solidFill>
            <a:srgbClr val="120E24"/>
          </a:solidFill>
          <a:ln w="19050">
            <a:solidFill>
              <a:srgbClr val="004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2331720"/>
            <a:ext cx="2286000" cy="914400"/>
          </a:xfrm>
          <a:prstGeom prst="rect">
            <a:avLst/>
          </a:prstGeom>
          <a:noFill/>
        </p:spPr>
        <p:txBody>
          <a:bodyPr wrap="square">
            <a:spAutoFit/>
          </a:bodyPr>
          <a:lstStyle/>
          <a:p>
            <a:pPr algn="ctr"/>
            <a:r>
              <a:rPr sz="3400" b="1">
                <a:solidFill>
                  <a:srgbClr val="F5F3FF"/>
                </a:solidFill>
                <a:latin typeface="Calibri"/>
              </a:rPr>
              <a:t>$350B</a:t>
            </a:r>
          </a:p>
        </p:txBody>
      </p:sp>
      <p:sp>
        <p:nvSpPr>
          <p:cNvPr id="8" name="TextBox 7"/>
          <p:cNvSpPr txBox="1"/>
          <p:nvPr/>
        </p:nvSpPr>
        <p:spPr>
          <a:xfrm>
            <a:off x="769467" y="3246120"/>
            <a:ext cx="2286000" cy="411480"/>
          </a:xfrm>
          <a:prstGeom prst="rect">
            <a:avLst/>
          </a:prstGeom>
          <a:noFill/>
        </p:spPr>
        <p:txBody>
          <a:bodyPr wrap="square">
            <a:spAutoFit/>
          </a:bodyPr>
          <a:lstStyle/>
          <a:p>
            <a:pPr algn="ctr"/>
            <a:r>
              <a:rPr sz="1200" b="0">
                <a:solidFill>
                  <a:srgbClr val="7091D5"/>
                </a:solidFill>
                <a:latin typeface="Calibri"/>
              </a:rPr>
              <a:t>Total Addressable Market (TAM)</a:t>
            </a:r>
          </a:p>
        </p:txBody>
      </p:sp>
      <p:sp>
        <p:nvSpPr>
          <p:cNvPr id="9" name="TextBox 8"/>
          <p:cNvSpPr txBox="1"/>
          <p:nvPr/>
        </p:nvSpPr>
        <p:spPr>
          <a:xfrm>
            <a:off x="723747" y="3657600"/>
            <a:ext cx="2377440" cy="457200"/>
          </a:xfrm>
          <a:prstGeom prst="rect">
            <a:avLst/>
          </a:prstGeom>
          <a:noFill/>
        </p:spPr>
        <p:txBody>
          <a:bodyPr wrap="square">
            <a:spAutoFit/>
          </a:bodyPr>
          <a:lstStyle/>
          <a:p>
            <a:pPr algn="ctr"/>
            <a:r>
              <a:rPr sz="1000" b="0">
                <a:solidFill>
                  <a:srgbClr val="002165"/>
                </a:solidFill>
                <a:latin typeface="Calibri"/>
              </a:rPr>
              <a:t>Global Digital Transformation &amp; Management Consulting, 2024</a:t>
            </a:r>
          </a:p>
        </p:txBody>
      </p:sp>
      <p:sp>
        <p:nvSpPr>
          <p:cNvPr id="10" name="Rectangle 9"/>
          <p:cNvSpPr/>
          <p:nvPr/>
        </p:nvSpPr>
        <p:spPr>
          <a:xfrm>
            <a:off x="3421227" y="2103120"/>
            <a:ext cx="2560320" cy="2194560"/>
          </a:xfrm>
          <a:prstGeom prst="rect">
            <a:avLst/>
          </a:prstGeom>
          <a:solidFill>
            <a:srgbClr val="120E24"/>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$45B</a:t>
            </a:r>
          </a:p>
        </p:txBody>
      </p:sp>
      <p:sp>
        <p:nvSpPr>
          <p:cNvPr id="12" name="TextBox 11"/>
          <p:cNvSpPr txBox="1"/>
          <p:nvPr/>
        </p:nvSpPr>
        <p:spPr>
          <a:xfrm>
            <a:off x="3558387" y="3246120"/>
            <a:ext cx="2286000" cy="411480"/>
          </a:xfrm>
          <a:prstGeom prst="rect">
            <a:avLst/>
          </a:prstGeom>
          <a:noFill/>
        </p:spPr>
        <p:txBody>
          <a:bodyPr wrap="square">
            <a:spAutoFit/>
          </a:bodyPr>
          <a:lstStyle/>
          <a:p>
            <a:pPr algn="ctr"/>
            <a:r>
              <a:rPr sz="1200" b="0">
                <a:solidFill>
                  <a:srgbClr val="7091D5"/>
                </a:solidFill>
                <a:latin typeface="Calibri"/>
              </a:rPr>
              <a:t>Serviceable Addressable Market (SAM)</a:t>
            </a:r>
          </a:p>
        </p:txBody>
      </p:sp>
      <p:sp>
        <p:nvSpPr>
          <p:cNvPr id="13" name="TextBox 12"/>
          <p:cNvSpPr txBox="1"/>
          <p:nvPr/>
        </p:nvSpPr>
        <p:spPr>
          <a:xfrm>
            <a:off x="3512667" y="3657600"/>
            <a:ext cx="2377440" cy="457200"/>
          </a:xfrm>
          <a:prstGeom prst="rect">
            <a:avLst/>
          </a:prstGeom>
          <a:noFill/>
        </p:spPr>
        <p:txBody>
          <a:bodyPr wrap="square">
            <a:spAutoFit/>
          </a:bodyPr>
          <a:lstStyle/>
          <a:p>
            <a:pPr algn="ctr"/>
            <a:r>
              <a:rPr sz="1000" b="0">
                <a:solidFill>
                  <a:srgbClr val="002165"/>
                </a:solidFill>
                <a:latin typeface="Calibri"/>
              </a:rPr>
              <a:t>India Digital Transformation &amp; Management Consulting Segment</a:t>
            </a:r>
          </a:p>
        </p:txBody>
      </p:sp>
      <p:sp>
        <p:nvSpPr>
          <p:cNvPr id="14" name="Rectangle 13"/>
          <p:cNvSpPr/>
          <p:nvPr/>
        </p:nvSpPr>
        <p:spPr>
          <a:xfrm>
            <a:off x="6210147" y="2103120"/>
            <a:ext cx="2560320" cy="2194560"/>
          </a:xfrm>
          <a:prstGeom prst="rect">
            <a:avLst/>
          </a:prstGeom>
          <a:solidFill>
            <a:srgbClr val="120E24"/>
          </a:solidFill>
          <a:ln w="19050">
            <a:solidFill>
              <a:srgbClr val="2350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$1.2B</a:t>
            </a:r>
          </a:p>
        </p:txBody>
      </p:sp>
      <p:sp>
        <p:nvSpPr>
          <p:cNvPr id="16" name="TextBox 15"/>
          <p:cNvSpPr txBox="1"/>
          <p:nvPr/>
        </p:nvSpPr>
        <p:spPr>
          <a:xfrm>
            <a:off x="6347307" y="3246120"/>
            <a:ext cx="2286000" cy="411480"/>
          </a:xfrm>
          <a:prstGeom prst="rect">
            <a:avLst/>
          </a:prstGeom>
          <a:noFill/>
        </p:spPr>
        <p:txBody>
          <a:bodyPr wrap="square">
            <a:spAutoFit/>
          </a:bodyPr>
          <a:lstStyle/>
          <a:p>
            <a:pPr algn="ctr"/>
            <a:r>
              <a:rPr sz="1200" b="0">
                <a:solidFill>
                  <a:srgbClr val="7091D5"/>
                </a:solidFill>
                <a:latin typeface="Calibri"/>
              </a:rPr>
              <a:t>Serviceable Obtainable Market (SOM)</a:t>
            </a:r>
          </a:p>
        </p:txBody>
      </p:sp>
      <p:sp>
        <p:nvSpPr>
          <p:cNvPr id="17" name="TextBox 16"/>
          <p:cNvSpPr txBox="1"/>
          <p:nvPr/>
        </p:nvSpPr>
        <p:spPr>
          <a:xfrm>
            <a:off x="6301587" y="3657600"/>
            <a:ext cx="2377440" cy="457200"/>
          </a:xfrm>
          <a:prstGeom prst="rect">
            <a:avLst/>
          </a:prstGeom>
          <a:noFill/>
        </p:spPr>
        <p:txBody>
          <a:bodyPr wrap="square">
            <a:spAutoFit/>
          </a:bodyPr>
          <a:lstStyle/>
          <a:p>
            <a:pPr algn="ctr"/>
            <a:r>
              <a:rPr sz="1000" b="0">
                <a:solidFill>
                  <a:srgbClr val="002165"/>
                </a:solidFill>
                <a:latin typeface="Calibri"/>
              </a:rPr>
              <a:t>~2.7% SAM capture by 2027</a:t>
            </a:r>
          </a:p>
        </p:txBody>
      </p:sp>
      <p:sp>
        <p:nvSpPr>
          <p:cNvPr id="18" name="Rectangle 17"/>
          <p:cNvSpPr/>
          <p:nvPr/>
        </p:nvSpPr>
        <p:spPr>
          <a:xfrm>
            <a:off x="8999067" y="2103120"/>
            <a:ext cx="2560320" cy="2194560"/>
          </a:xfrm>
          <a:prstGeom prst="rect">
            <a:avLst/>
          </a:prstGeom>
          <a:solidFill>
            <a:srgbClr val="120E24"/>
          </a:solidFill>
          <a:ln w="19050">
            <a:solidFill>
              <a:srgbClr val="3F78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6227" y="2331720"/>
            <a:ext cx="2286000" cy="914400"/>
          </a:xfrm>
          <a:prstGeom prst="rect">
            <a:avLst/>
          </a:prstGeom>
          <a:noFill/>
        </p:spPr>
        <p:txBody>
          <a:bodyPr wrap="square">
            <a:spAutoFit/>
          </a:bodyPr>
          <a:lstStyle/>
          <a:p>
            <a:pPr algn="ctr"/>
            <a:r>
              <a:rPr sz="3400" b="1">
                <a:solidFill>
                  <a:srgbClr val="F5F3FF"/>
                </a:solidFill>
                <a:latin typeface="Calibri"/>
              </a:rPr>
              <a:t>18%</a:t>
            </a:r>
          </a:p>
        </p:txBody>
      </p:sp>
      <p:sp>
        <p:nvSpPr>
          <p:cNvPr id="20" name="TextBox 19"/>
          <p:cNvSpPr txBox="1"/>
          <p:nvPr/>
        </p:nvSpPr>
        <p:spPr>
          <a:xfrm>
            <a:off x="9136227" y="3246120"/>
            <a:ext cx="2286000" cy="411480"/>
          </a:xfrm>
          <a:prstGeom prst="rect">
            <a:avLst/>
          </a:prstGeom>
          <a:noFill/>
        </p:spPr>
        <p:txBody>
          <a:bodyPr wrap="square">
            <a:spAutoFit/>
          </a:bodyPr>
          <a:lstStyle/>
          <a:p>
            <a:pPr algn="ctr"/>
            <a:r>
              <a:rPr sz="1200" b="0">
                <a:solidFill>
                  <a:srgbClr val="7091D5"/>
                </a:solidFill>
                <a:latin typeface="Calibri"/>
              </a:rPr>
              <a:t>Market CAGR</a:t>
            </a:r>
          </a:p>
        </p:txBody>
      </p:sp>
      <p:sp>
        <p:nvSpPr>
          <p:cNvPr id="21" name="TextBox 20"/>
          <p:cNvSpPr txBox="1"/>
          <p:nvPr/>
        </p:nvSpPr>
        <p:spPr>
          <a:xfrm>
            <a:off x="9090507" y="3657600"/>
            <a:ext cx="2377440" cy="457200"/>
          </a:xfrm>
          <a:prstGeom prst="rect">
            <a:avLst/>
          </a:prstGeom>
          <a:noFill/>
        </p:spPr>
        <p:txBody>
          <a:bodyPr wrap="square">
            <a:spAutoFit/>
          </a:bodyPr>
          <a:lstStyle/>
          <a:p>
            <a:pPr algn="ctr"/>
            <a:r>
              <a:rPr sz="1000" b="0">
                <a:solidFill>
                  <a:srgbClr val="002165"/>
                </a:solidFill>
                <a:latin typeface="Calibri"/>
              </a:rPr>
              <a:t>2024–2028 (Source: Grand View Research, MarketsandMarkets)</a:t>
            </a:r>
          </a:p>
        </p:txBody>
      </p:sp>
      <p:sp>
        <p:nvSpPr>
          <p:cNvPr id="22" name="TextBox 21"/>
          <p:cNvSpPr txBox="1"/>
          <p:nvPr/>
        </p:nvSpPr>
        <p:spPr>
          <a:xfrm>
            <a:off x="731520" y="4572000"/>
            <a:ext cx="10698480" cy="822960"/>
          </a:xfrm>
          <a:prstGeom prst="rect">
            <a:avLst/>
          </a:prstGeom>
          <a:noFill/>
        </p:spPr>
        <p:txBody>
          <a:bodyPr wrap="square">
            <a:spAutoFit/>
          </a:bodyPr>
          <a:lstStyle/>
          <a:p>
            <a:pPr algn="l"/>
            <a:r>
              <a:rPr sz="1400" b="0">
                <a:solidFill>
                  <a:srgbClr val="7091D5"/>
                </a:solidFill>
                <a:latin typeface="Calibri"/>
              </a:rPr>
              <a:t>Infopace is strategically positioned to capture a significant share of the rapidly expanding digital transformation and management consulting market, building upon its strong current revenue base.</a:t>
            </a:r>
          </a:p>
        </p:txBody>
      </p:sp>
      <p:sp>
        <p:nvSpPr>
          <p:cNvPr id="23" name="TextBox 22"/>
          <p:cNvSpPr txBox="1"/>
          <p:nvPr/>
        </p:nvSpPr>
        <p:spPr>
          <a:xfrm>
            <a:off x="914400" y="539496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Growth Trajectory:</a:t>
            </a:r>
            <a:r>
              <a:rPr sz="1300" b="0">
                <a:solidFill>
                  <a:srgbClr val="7091D5"/>
                </a:solidFill>
                <a:latin typeface="Calibri"/>
              </a:rPr>
              <a:t> Projecting to reach $1.2B SOM by 2027 by expanding service lines and geographic reach.</a:t>
            </a:r>
          </a:p>
        </p:txBody>
      </p:sp>
      <p:sp>
        <p:nvSpPr>
          <p:cNvPr id="24" name="TextBox 23"/>
          <p:cNvSpPr txBox="1"/>
          <p:nvPr/>
        </p:nvSpPr>
        <p:spPr>
          <a:xfrm>
            <a:off x="914400" y="580644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Optimized Unit Economics:</a:t>
            </a:r>
            <a:r>
              <a:rPr sz="1300" b="0">
                <a:solidFill>
                  <a:srgbClr val="7091D5"/>
                </a:solidFill>
                <a:latin typeface="Calibri"/>
              </a:rPr>
              <a:t> High-margin consulting services combined with scalable SaaS revenue ensure strong profitability.</a:t>
            </a:r>
          </a:p>
        </p:txBody>
      </p:sp>
      <p:sp>
        <p:nvSpPr>
          <p:cNvPr id="25" name="TextBox 24"/>
          <p:cNvSpPr txBox="1"/>
          <p:nvPr/>
        </p:nvSpPr>
        <p:spPr>
          <a:xfrm>
            <a:off x="914400" y="621792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Strategic Upselling:</a:t>
            </a:r>
            <a:r>
              <a:rPr sz="1300" b="0">
                <a:solidFill>
                  <a:srgbClr val="7091D5"/>
                </a:solidFill>
                <a:latin typeface="Calibri"/>
              </a:rPr>
              <a:t> Opportunity to cross-sell proprietary digital tools to existing consulting clients, enhancing recurring revenue.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THE ASK</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Ask: $600,000 Series B</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Fueling Product Innovation &amp; Strategic Expansion</a:t>
            </a:r>
          </a:p>
        </p:txBody>
      </p:sp>
      <p:sp>
        <p:nvSpPr>
          <p:cNvPr id="6" name="Rectangle 5"/>
          <p:cNvSpPr/>
          <p:nvPr/>
        </p:nvSpPr>
        <p:spPr>
          <a:xfrm>
            <a:off x="17524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Product Development (40%)</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004BE2"/>
                </a:solidFill>
                <a:latin typeface="Calibri"/>
              </a:rPr>
              <a:t>$240,000</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Enhance AI &amp; SaaS:</a:t>
            </a:r>
            <a:r>
              <a:rPr sz="1300" b="0">
                <a:solidFill>
                  <a:srgbClr val="7091D5"/>
                </a:solidFill>
                <a:latin typeface="Calibri"/>
              </a:rPr>
              <a:t> Invest in R&amp;D for next-gen AI insights, advanced psychometric models, and new features for our Learning Management System to maintain market leadership.</a:t>
            </a:r>
          </a:p>
        </p:txBody>
      </p:sp>
      <p:sp>
        <p:nvSpPr>
          <p:cNvPr id="11" name="Rectangle 10"/>
          <p:cNvSpPr/>
          <p:nvPr/>
        </p:nvSpPr>
        <p:spPr>
          <a:xfrm>
            <a:off x="47242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Market Expansion (40%)</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475569"/>
                </a:solidFill>
                <a:latin typeface="Calibri"/>
              </a:rPr>
              <a:t>$240,000</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Geographic &amp; Sales Growth:</a:t>
            </a:r>
            <a:r>
              <a:rPr sz="1300" b="0">
                <a:solidFill>
                  <a:srgbClr val="7091D5"/>
                </a:solidFill>
                <a:latin typeface="Calibri"/>
              </a:rPr>
              <a:t> Expand into new strategic Indian cities and targeted international markets, scaling our sales and marketing teams to acquire new enterprise clients.</a:t>
            </a:r>
          </a:p>
        </p:txBody>
      </p:sp>
      <p:sp>
        <p:nvSpPr>
          <p:cNvPr id="16" name="Rectangle 15"/>
          <p:cNvSpPr/>
          <p:nvPr/>
        </p:nvSpPr>
        <p:spPr>
          <a:xfrm>
            <a:off x="76960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235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Talent Acquisition (20%)</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2350A5"/>
                </a:solidFill>
                <a:latin typeface="Calibri"/>
              </a:rPr>
              <a:t>$120,000</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Strengthen Expertise:</a:t>
            </a:r>
            <a:r>
              <a:rPr sz="1300" b="0">
                <a:solidFill>
                  <a:srgbClr val="7091D5"/>
                </a:solidFill>
                <a:latin typeface="Calibri"/>
              </a:rPr>
              <a:t> Recruit senior consultants, AI/ML engineers, and product managers to support accelerated growth and enhance our delivery capabilities.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F5F3FF"/>
                </a:solidFill>
                <a:latin typeface="Calibri"/>
              </a:rPr>
              <a:t>infopace: Architecting Tomorrow's Resilient Enterprises.</a:t>
            </a:r>
          </a:p>
        </p:txBody>
      </p:sp>
      <p:sp>
        <p:nvSpPr>
          <p:cNvPr id="5" name="TextBox 4"/>
          <p:cNvSpPr txBox="1"/>
          <p:nvPr/>
        </p:nvSpPr>
        <p:spPr>
          <a:xfrm>
            <a:off x="1371600" y="3200400"/>
            <a:ext cx="9418320" cy="731520"/>
          </a:xfrm>
          <a:prstGeom prst="rect">
            <a:avLst/>
          </a:prstGeom>
          <a:noFill/>
        </p:spPr>
        <p:txBody>
          <a:bodyPr wrap="square">
            <a:spAutoFit/>
          </a:bodyPr>
          <a:lstStyle/>
          <a:p>
            <a:pPr algn="ctr"/>
            <a:r>
              <a:rPr sz="2200" b="0">
                <a:solidFill>
                  <a:srgbClr val="7091D5"/>
                </a:solidFill>
                <a:latin typeface="Calibri"/>
              </a:rPr>
              <a:t>Join us in empowering businesses to thrive through strategic change, digital innovation, and people-first solutions.</a:t>
            </a:r>
          </a:p>
        </p:txBody>
      </p:sp>
      <p:sp>
        <p:nvSpPr>
          <p:cNvPr id="6" name="TextBox 5"/>
          <p:cNvSpPr txBox="1"/>
          <p:nvPr/>
        </p:nvSpPr>
        <p:spPr>
          <a:xfrm>
            <a:off x="3200400" y="6309360"/>
            <a:ext cx="5760720" cy="365760"/>
          </a:xfrm>
          <a:prstGeom prst="rect">
            <a:avLst/>
          </a:prstGeom>
          <a:noFill/>
        </p:spPr>
        <p:txBody>
          <a:bodyPr wrap="square">
            <a:spAutoFit/>
          </a:bodyPr>
          <a:lstStyle/>
          <a:p>
            <a:pPr algn="ctr"/>
            <a:r>
              <a:rPr sz="1000" b="0">
                <a:solidFill>
                  <a:srgbClr val="002165"/>
                </a:solidFill>
                <a:latin typeface="Calibri"/>
              </a:rPr>
              <a:t>Investor Presentation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