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6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4B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4755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103327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>
                <a:solidFill>
                  <a:srgbClr val="F5F3FF"/>
                </a:solidFill>
                <a:latin typeface="Calibri"/>
              </a:rPr>
              <a:t>Infopace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3200400"/>
            <a:ext cx="9418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7091D5"/>
                </a:solidFill>
                <a:latin typeface="Calibri"/>
              </a:rPr>
              <a:t>India's First Strategic Change Management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4023360"/>
            <a:ext cx="8503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002165"/>
                </a:solidFill>
                <a:latin typeface="Calibri"/>
              </a:rPr>
              <a:t>Empowering Enterprises for a Transformed Future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0" y="6309360"/>
            <a:ext cx="5760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002165"/>
                </a:solidFill>
                <a:latin typeface="Calibri"/>
              </a:rPr>
              <a:t>Investor Presentation  •  Confidential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6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004B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64592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002165"/>
                </a:solidFill>
                <a:latin typeface="Calibri"/>
              </a:rPr>
              <a:t>EXECUTIVE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02920"/>
            <a:ext cx="106984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5F3FF"/>
                </a:solidFill>
                <a:latin typeface="Calibri"/>
              </a:rPr>
              <a:t>Executive 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7091D5"/>
                </a:solidFill>
                <a:latin typeface="Calibri"/>
              </a:rPr>
              <a:t>Driving $14M ARR through Holistic Transformation &amp; AI-Powered Insights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57200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7091D5"/>
                </a:solidFill>
                <a:latin typeface="Calibri"/>
              </a:rPr>
              <a:t>Infopace is pioneering strategic business transformation and HR tech solutions, uniquely combining deep consulting expertise with proprietary AI-driven psychometric assessments. We enable enterprises to navigate digital shifts, optimize growth, and cultivate future-ready talent, addressing a critical market need for integrated, people-centric change.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39496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7091D5"/>
                </a:solidFill>
                <a:latin typeface="Calibri"/>
              </a:rPr>
              <a:t>›  </a:t>
            </a:r>
            <a:r>
              <a:rPr sz="1300" b="1">
                <a:solidFill>
                  <a:srgbClr val="7091D5"/>
                </a:solidFill>
                <a:latin typeface="Calibri"/>
              </a:rPr>
              <a:t>The Vision:</a:t>
            </a:r>
            <a:r>
              <a:rPr sz="1300" b="0">
                <a:solidFill>
                  <a:srgbClr val="7091D5"/>
                </a:solidFill>
                <a:latin typeface="Calibri"/>
              </a:rPr>
              <a:t> To be the global leader in strategic business transformation, empowering organizations with the tools and expertise for sustainable growth and innovation.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580644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7091D5"/>
                </a:solidFill>
                <a:latin typeface="Calibri"/>
              </a:rPr>
              <a:t>›  </a:t>
            </a:r>
            <a:r>
              <a:rPr sz="1300" b="1">
                <a:solidFill>
                  <a:srgbClr val="7091D5"/>
                </a:solidFill>
                <a:latin typeface="Calibri"/>
              </a:rPr>
              <a:t>Our Edge:</a:t>
            </a:r>
            <a:r>
              <a:rPr sz="1300" b="0">
                <a:solidFill>
                  <a:srgbClr val="7091D5"/>
                </a:solidFill>
                <a:latin typeface="Calibri"/>
              </a:rPr>
              <a:t> Proprietary AI-powered psychometric assessments integrated with comprehensive strategic consulting.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621792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7091D5"/>
                </a:solidFill>
                <a:latin typeface="Calibri"/>
              </a:rPr>
              <a:t>›  </a:t>
            </a:r>
            <a:r>
              <a:rPr sz="1300" b="1">
                <a:solidFill>
                  <a:srgbClr val="7091D5"/>
                </a:solidFill>
                <a:latin typeface="Calibri"/>
              </a:rPr>
              <a:t>Market Opportunity:</a:t>
            </a:r>
            <a:r>
              <a:rPr sz="1300" b="0">
                <a:solidFill>
                  <a:srgbClr val="7091D5"/>
                </a:solidFill>
                <a:latin typeface="Calibri"/>
              </a:rPr>
              <a:t> Tapping into an $800B global market for strategic and digital transformation, with an India-specific SAM of $40B.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6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004B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64592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002165"/>
                </a:solidFill>
                <a:latin typeface="Calibri"/>
              </a:rPr>
              <a:t>MARKET OPPORTUNITY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02920"/>
            <a:ext cx="106984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5F3FF"/>
                </a:solidFill>
                <a:latin typeface="Calibri"/>
              </a:rPr>
              <a:t>The $800B Transformation Imperative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7091D5"/>
                </a:solidFill>
                <a:latin typeface="Calibri"/>
              </a:rPr>
              <a:t>Global Strategic Business &amp; Digital Transformation Market</a:t>
            </a:r>
          </a:p>
        </p:txBody>
      </p:sp>
      <p:sp>
        <p:nvSpPr>
          <p:cNvPr id="6" name="Rectangle 5"/>
          <p:cNvSpPr/>
          <p:nvPr/>
        </p:nvSpPr>
        <p:spPr>
          <a:xfrm>
            <a:off x="632307" y="2103120"/>
            <a:ext cx="2560320" cy="2194560"/>
          </a:xfrm>
          <a:prstGeom prst="rect">
            <a:avLst/>
          </a:prstGeom>
          <a:solidFill>
            <a:srgbClr val="120E24"/>
          </a:solidFill>
          <a:ln w="19050">
            <a:solidFill>
              <a:srgbClr val="004B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9467" y="2331720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>
                <a:solidFill>
                  <a:srgbClr val="F5F3FF"/>
                </a:solidFill>
                <a:latin typeface="Calibri"/>
              </a:rPr>
              <a:t>$800B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9467" y="324612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7091D5"/>
                </a:solidFill>
                <a:latin typeface="Calibri"/>
              </a:rPr>
              <a:t>Global Market Size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3747" y="365760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002165"/>
                </a:solidFill>
                <a:latin typeface="Calibri"/>
              </a:rPr>
              <a:t>Strategic Business &amp; Digital Transformation Consulting, 2024 (Source: MarketsandMarkets, Grand View Research)</a:t>
            </a:r>
          </a:p>
        </p:txBody>
      </p:sp>
      <p:sp>
        <p:nvSpPr>
          <p:cNvPr id="10" name="Rectangle 9"/>
          <p:cNvSpPr/>
          <p:nvPr/>
        </p:nvSpPr>
        <p:spPr>
          <a:xfrm>
            <a:off x="3421227" y="2103120"/>
            <a:ext cx="2560320" cy="2194560"/>
          </a:xfrm>
          <a:prstGeom prst="rect">
            <a:avLst/>
          </a:prstGeom>
          <a:solidFill>
            <a:srgbClr val="120E24"/>
          </a:solidFill>
          <a:ln w="1905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58387" y="2331720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>
                <a:solidFill>
                  <a:srgbClr val="F5F3FF"/>
                </a:solidFill>
                <a:latin typeface="Calibri"/>
              </a:rPr>
              <a:t>$40B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58387" y="324612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7091D5"/>
                </a:solidFill>
                <a:latin typeface="Calibri"/>
              </a:rPr>
              <a:t>India Market Size (SAM)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12667" y="365760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002165"/>
                </a:solidFill>
                <a:latin typeface="Calibri"/>
              </a:rPr>
              <a:t>India Digital Transformation &amp; Strategic Consulting, 2024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10147" y="2103120"/>
            <a:ext cx="2560320" cy="2194560"/>
          </a:xfrm>
          <a:prstGeom prst="rect">
            <a:avLst/>
          </a:prstGeom>
          <a:solidFill>
            <a:srgbClr val="120E24"/>
          </a:solidFill>
          <a:ln w="19050">
            <a:solidFill>
              <a:srgbClr val="2350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47307" y="2331720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>
                <a:solidFill>
                  <a:srgbClr val="F5F3FF"/>
                </a:solidFill>
                <a:latin typeface="Calibri"/>
              </a:rPr>
              <a:t>20% CAGR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47307" y="324612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7091D5"/>
                </a:solidFill>
                <a:latin typeface="Calibri"/>
              </a:rPr>
              <a:t>Market Growth Rate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01587" y="365760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002165"/>
                </a:solidFill>
                <a:latin typeface="Calibri"/>
              </a:rPr>
              <a:t>2024-2030 (Source: MarketsandMarkets)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999067" y="2103120"/>
            <a:ext cx="2560320" cy="2194560"/>
          </a:xfrm>
          <a:prstGeom prst="rect">
            <a:avLst/>
          </a:prstGeom>
          <a:solidFill>
            <a:srgbClr val="120E24"/>
          </a:solidFill>
          <a:ln w="19050">
            <a:solidFill>
              <a:srgbClr val="3F78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36227" y="2331720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>
                <a:solidFill>
                  <a:srgbClr val="F5F3FF"/>
                </a:solidFill>
                <a:latin typeface="Calibri"/>
              </a:rPr>
              <a:t>$52.87B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36227" y="324612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7091D5"/>
                </a:solidFill>
                <a:latin typeface="Calibri"/>
              </a:rPr>
              <a:t>HR Tech Market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90507" y="365760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002165"/>
                </a:solidFill>
                <a:latin typeface="Calibri"/>
              </a:rPr>
              <a:t>Global HR Technology Market by 2030 (Source: Grand View Research)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475488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7091D5"/>
                </a:solidFill>
                <a:latin typeface="Calibri"/>
              </a:rPr>
              <a:t>›  </a:t>
            </a:r>
            <a:r>
              <a:rPr sz="1300" b="1">
                <a:solidFill>
                  <a:srgbClr val="7091D5"/>
                </a:solidFill>
                <a:latin typeface="Calibri"/>
              </a:rPr>
              <a:t>Digitalization Imperative:</a:t>
            </a:r>
            <a:r>
              <a:rPr sz="1300" b="0">
                <a:solidFill>
                  <a:srgbClr val="7091D5"/>
                </a:solidFill>
                <a:latin typeface="Calibri"/>
              </a:rPr>
              <a:t> Businesses globally face immense pressure to digitalize operations and embrace new technologies to remain competitive.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516636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7091D5"/>
                </a:solidFill>
                <a:latin typeface="Calibri"/>
              </a:rPr>
              <a:t>›  </a:t>
            </a:r>
            <a:r>
              <a:rPr sz="1300" b="1">
                <a:solidFill>
                  <a:srgbClr val="7091D5"/>
                </a:solidFill>
                <a:latin typeface="Calibri"/>
              </a:rPr>
              <a:t>Workforce Transformation:</a:t>
            </a:r>
            <a:r>
              <a:rPr sz="1300" b="0">
                <a:solidFill>
                  <a:srgbClr val="7091D5"/>
                </a:solidFill>
                <a:latin typeface="Calibri"/>
              </a:rPr>
              <a:t> A critical need for upskilling, reskilling, and cultural change to adapt to automation and AI, driving demand for HR tech and talent solutions.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557784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7091D5"/>
                </a:solidFill>
                <a:latin typeface="Calibri"/>
              </a:rPr>
              <a:t>›  </a:t>
            </a:r>
            <a:r>
              <a:rPr sz="1300" b="1">
                <a:solidFill>
                  <a:srgbClr val="7091D5"/>
                </a:solidFill>
                <a:latin typeface="Calibri"/>
              </a:rPr>
              <a:t>Strategic Growth &amp; Market Access:</a:t>
            </a:r>
            <a:r>
              <a:rPr sz="1300" b="0">
                <a:solidFill>
                  <a:srgbClr val="7091D5"/>
                </a:solidFill>
                <a:latin typeface="Calibri"/>
              </a:rPr>
              <a:t> Companies seek expert guidance for new market entry, M&amp;A, and sustained growth in complex global landscapes.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6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004B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64592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002165"/>
                </a:solidFill>
                <a:latin typeface="Calibri"/>
              </a:rPr>
              <a:t>PROBLEM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02920"/>
            <a:ext cx="106984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5F3FF"/>
                </a:solidFill>
                <a:latin typeface="Calibri"/>
              </a:rPr>
              <a:t>The Transformation Gap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737360"/>
            <a:ext cx="5303520" cy="4114800"/>
          </a:xfrm>
          <a:prstGeom prst="rect">
            <a:avLst/>
          </a:prstGeom>
          <a:solidFill>
            <a:srgbClr val="120E24"/>
          </a:solidFill>
          <a:ln w="19050">
            <a:solidFill>
              <a:srgbClr val="004B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737360"/>
            <a:ext cx="5303520" cy="64008"/>
          </a:xfrm>
          <a:prstGeom prst="rect">
            <a:avLst/>
          </a:prstGeom>
          <a:solidFill>
            <a:srgbClr val="004B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920240"/>
            <a:ext cx="4937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5F3FF"/>
                </a:solidFill>
                <a:latin typeface="Calibri"/>
              </a:rPr>
              <a:t>The Problem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468880"/>
            <a:ext cx="4937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004BE2"/>
                </a:solidFill>
                <a:latin typeface="Calibri"/>
              </a:rPr>
              <a:t/>
            </a:r>
            <a:r>
              <a:rPr sz="2400" b="1">
                <a:solidFill>
                  <a:srgbClr val="004BE2"/>
                </a:solidFill>
                <a:latin typeface="Calibri"/>
              </a:rPr>
              <a:t>85% of Digital Transformations Fail to Meet Objectives</a:t>
            </a:r>
            <a:r>
              <a:rPr sz="2400" b="1">
                <a:solidFill>
                  <a:srgbClr val="004BE2"/>
                </a:solidFill>
                <a:latin typeface="Calibri"/>
              </a:rPr>
              <a:t> (Source: McKinsey, Gartner)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017520"/>
            <a:ext cx="48463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7091D5"/>
                </a:solidFill>
                <a:latin typeface="Calibri"/>
              </a:rPr>
              <a:t>•  </a:t>
            </a:r>
            <a:r>
              <a:rPr sz="1300" b="1">
                <a:solidFill>
                  <a:srgbClr val="7091D5"/>
                </a:solidFill>
                <a:latin typeface="Calibri"/>
              </a:rPr>
              <a:t>Disjointed Efforts:</a:t>
            </a:r>
            <a:r>
              <a:rPr sz="1300" b="0">
                <a:solidFill>
                  <a:srgbClr val="7091D5"/>
                </a:solidFill>
                <a:latin typeface="Calibri"/>
              </a:rPr>
              <a:t> Businesses struggle with fragmented initiatives, lacking a cohesive strategy to connect technology, people, and processes.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456432"/>
            <a:ext cx="48463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7091D5"/>
                </a:solidFill>
                <a:latin typeface="Calibri"/>
              </a:rPr>
              <a:t>•  </a:t>
            </a:r>
            <a:r>
              <a:rPr sz="1300" b="1">
                <a:solidFill>
                  <a:srgbClr val="7091D5"/>
                </a:solidFill>
                <a:latin typeface="Calibri"/>
              </a:rPr>
              <a:t>Talent Mismatch:</a:t>
            </a:r>
            <a:r>
              <a:rPr sz="1300" b="0">
                <a:solidFill>
                  <a:srgbClr val="7091D5"/>
                </a:solidFill>
                <a:latin typeface="Calibri"/>
              </a:rPr>
              <a:t> Organizations face a critical skills crisis, unable to effectively assess, develop, and retain talent for future-ready roles.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895344"/>
            <a:ext cx="48463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7091D5"/>
                </a:solidFill>
                <a:latin typeface="Calibri"/>
              </a:rPr>
              <a:t>•  </a:t>
            </a:r>
            <a:r>
              <a:rPr sz="1300" b="1">
                <a:solidFill>
                  <a:srgbClr val="7091D5"/>
                </a:solidFill>
                <a:latin typeface="Calibri"/>
              </a:rPr>
              <a:t>Execution Paralysis:</a:t>
            </a:r>
            <a:r>
              <a:rPr sz="1300" b="0">
                <a:solidFill>
                  <a:srgbClr val="7091D5"/>
                </a:solidFill>
                <a:latin typeface="Calibri"/>
              </a:rPr>
              <a:t> Brilliant strategies often falter due to poor change management, internal resistance, and lack of clear execution frameworks.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334256"/>
            <a:ext cx="48463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7091D5"/>
                </a:solidFill>
                <a:latin typeface="Calibri"/>
              </a:rPr>
              <a:t>•  </a:t>
            </a:r>
            <a:r>
              <a:rPr sz="1300" b="1">
                <a:solidFill>
                  <a:srgbClr val="7091D5"/>
                </a:solidFill>
                <a:latin typeface="Calibri"/>
              </a:rPr>
              <a:t>ROI Uncertainty:</a:t>
            </a:r>
            <a:r>
              <a:rPr sz="1300" b="0">
                <a:solidFill>
                  <a:srgbClr val="7091D5"/>
                </a:solidFill>
                <a:latin typeface="Calibri"/>
              </a:rPr>
              <a:t> Difficulty in quantifying the impact and proving ROI for complex transformation projects, leading to investor skepticism.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0" y="1737360"/>
            <a:ext cx="5303520" cy="4114800"/>
          </a:xfrm>
          <a:prstGeom prst="rect">
            <a:avLst/>
          </a:prstGeom>
          <a:solidFill>
            <a:srgbClr val="120E24"/>
          </a:solidFill>
          <a:ln w="1905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400800" y="1737360"/>
            <a:ext cx="5303520" cy="64008"/>
          </a:xfrm>
          <a:prstGeom prst="rect">
            <a:avLst/>
          </a:prstGeom>
          <a:solidFill>
            <a:srgbClr val="4755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83680" y="1920240"/>
            <a:ext cx="4937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5F3FF"/>
                </a:solidFill>
                <a:latin typeface="Calibri"/>
              </a:rPr>
              <a:t>Our Solution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0" y="2468880"/>
            <a:ext cx="4937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475569"/>
                </a:solidFill>
                <a:latin typeface="Calibri"/>
              </a:rPr>
              <a:t/>
            </a:r>
            <a:r>
              <a:rPr sz="2400" b="1">
                <a:solidFill>
                  <a:srgbClr val="475569"/>
                </a:solidFill>
                <a:latin typeface="Calibri"/>
              </a:rPr>
              <a:t>Holistic, People-First Transformation powered by AI</a:t>
            </a:r>
            <a:r>
              <a:rPr sz="2400" b="1">
                <a:solidFill>
                  <a:srgbClr val="475569"/>
                </a:solidFill>
                <a:latin typeface="Calibri"/>
              </a:rPr>
              <a:t/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75120" y="3017520"/>
            <a:ext cx="48463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7091D5"/>
                </a:solidFill>
                <a:latin typeface="Calibri"/>
              </a:rPr>
              <a:t>•  </a:t>
            </a:r>
            <a:r>
              <a:rPr sz="1300" b="1">
                <a:solidFill>
                  <a:srgbClr val="7091D5"/>
                </a:solidFill>
                <a:latin typeface="Calibri"/>
              </a:rPr>
              <a:t>Integrated Strategy &amp; Execution:</a:t>
            </a:r>
            <a:r>
              <a:rPr sz="1300" b="0">
                <a:solidFill>
                  <a:srgbClr val="7091D5"/>
                </a:solidFill>
                <a:latin typeface="Calibri"/>
              </a:rPr>
              <a:t> We provide end-to-end strategic change management, bridging the gap from vision to successful implementation.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75120" y="3456432"/>
            <a:ext cx="48463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7091D5"/>
                </a:solidFill>
                <a:latin typeface="Calibri"/>
              </a:rPr>
              <a:t>•  </a:t>
            </a:r>
            <a:r>
              <a:rPr sz="1300" b="1">
                <a:solidFill>
                  <a:srgbClr val="7091D5"/>
                </a:solidFill>
                <a:latin typeface="Calibri"/>
              </a:rPr>
              <a:t>AI-Powered Talent Development:</a:t>
            </a:r>
            <a:r>
              <a:rPr sz="1300" b="0">
                <a:solidFill>
                  <a:srgbClr val="7091D5"/>
                </a:solidFill>
                <a:latin typeface="Calibri"/>
              </a:rPr>
              <a:t> Leveraging proprietary Psychometric Assessments &amp; AI Insights for smarter talent acquisition, upskilling, and retention.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75120" y="3895344"/>
            <a:ext cx="48463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7091D5"/>
                </a:solidFill>
                <a:latin typeface="Calibri"/>
              </a:rPr>
              <a:t>•  </a:t>
            </a:r>
            <a:r>
              <a:rPr sz="1300" b="1">
                <a:solidFill>
                  <a:srgbClr val="7091D5"/>
                </a:solidFill>
                <a:latin typeface="Calibri"/>
              </a:rPr>
              <a:t>Growth Acceleration Partner:</a:t>
            </a:r>
            <a:r>
              <a:rPr sz="1300" b="0">
                <a:solidFill>
                  <a:srgbClr val="7091D5"/>
                </a:solidFill>
                <a:latin typeface="Calibri"/>
              </a:rPr>
              <a:t> Tailored solutions for market entry, operational excellence, cost optimization, and strategic funding to ensure sustained growth.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75120" y="4334256"/>
            <a:ext cx="48463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7091D5"/>
                </a:solidFill>
                <a:latin typeface="Calibri"/>
              </a:rPr>
              <a:t>•  </a:t>
            </a:r>
            <a:r>
              <a:rPr sz="1300" b="1">
                <a:solidFill>
                  <a:srgbClr val="7091D5"/>
                </a:solidFill>
                <a:latin typeface="Calibri"/>
              </a:rPr>
              <a:t>Data-Driven Decisions:</a:t>
            </a:r>
            <a:r>
              <a:rPr sz="1300" b="0">
                <a:solidFill>
                  <a:srgbClr val="7091D5"/>
                </a:solidFill>
                <a:latin typeface="Calibri"/>
              </a:rPr>
              <a:t> Our Data Analytics Solutions inform strategic choices, optimize performance, and ensure measurable business outcomes.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144768" y="2011680"/>
            <a:ext cx="27432" cy="3566160"/>
          </a:xfrm>
          <a:prstGeom prst="rect">
            <a:avLst/>
          </a:prstGeom>
          <a:solidFill>
            <a:srgbClr val="2820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6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004B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64592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002165"/>
                </a:solidFill>
                <a:latin typeface="Calibri"/>
              </a:rPr>
              <a:t>PRODUCT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02920"/>
            <a:ext cx="106984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5F3FF"/>
                </a:solidFill>
                <a:latin typeface="Calibri"/>
              </a:rPr>
              <a:t>Our Integrated Solutions Platform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7091D5"/>
                </a:solidFill>
                <a:latin typeface="Calibri"/>
              </a:rPr>
              <a:t>Combining Expertise with Proprietary Technology</a:t>
            </a:r>
          </a:p>
        </p:txBody>
      </p:sp>
      <p:sp>
        <p:nvSpPr>
          <p:cNvPr id="6" name="Rectangle 5"/>
          <p:cNvSpPr/>
          <p:nvPr/>
        </p:nvSpPr>
        <p:spPr>
          <a:xfrm>
            <a:off x="1752447" y="1920240"/>
            <a:ext cx="2743200" cy="3291840"/>
          </a:xfrm>
          <a:prstGeom prst="rect">
            <a:avLst/>
          </a:prstGeom>
          <a:solidFill>
            <a:srgbClr val="120E24"/>
          </a:solidFill>
          <a:ln w="12700">
            <a:solidFill>
              <a:srgbClr val="2820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752447" y="1920240"/>
            <a:ext cx="2743200" cy="54864"/>
          </a:xfrm>
          <a:prstGeom prst="rect">
            <a:avLst/>
          </a:prstGeom>
          <a:solidFill>
            <a:srgbClr val="004B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935327" y="210312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5F3FF"/>
                </a:solidFill>
                <a:latin typeface="Calibri"/>
              </a:rPr>
              <a:t/>
            </a:r>
            <a:r>
              <a:rPr sz="1600" b="1">
                <a:solidFill>
                  <a:srgbClr val="F5F3FF"/>
                </a:solidFill>
                <a:latin typeface="Calibri"/>
              </a:rPr>
              <a:t>Strategic Change Management &amp; Growth Consulting</a:t>
            </a:r>
            <a:r>
              <a:rPr sz="1600" b="1">
                <a:solidFill>
                  <a:srgbClr val="F5F3FF"/>
                </a:solidFill>
                <a:latin typeface="Calibri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35327" y="2697480"/>
            <a:ext cx="2377440" cy="2331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7091D5"/>
                </a:solidFill>
                <a:latin typeface="Calibri"/>
              </a:rPr>
              <a:t>End-to-end advisory services covering digital transformation, GTM strategy, market access, and strategic investment.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724247" y="1920240"/>
            <a:ext cx="2743200" cy="3291840"/>
          </a:xfrm>
          <a:prstGeom prst="rect">
            <a:avLst/>
          </a:prstGeom>
          <a:solidFill>
            <a:srgbClr val="120E24"/>
          </a:solidFill>
          <a:ln w="12700">
            <a:solidFill>
              <a:srgbClr val="2820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724247" y="1920240"/>
            <a:ext cx="2743200" cy="54864"/>
          </a:xfrm>
          <a:prstGeom prst="rect">
            <a:avLst/>
          </a:prstGeom>
          <a:solidFill>
            <a:srgbClr val="4755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907127" y="210312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5F3FF"/>
                </a:solidFill>
                <a:latin typeface="Calibri"/>
              </a:rPr>
              <a:t/>
            </a:r>
            <a:r>
              <a:rPr sz="1600" b="1">
                <a:solidFill>
                  <a:srgbClr val="F5F3FF"/>
                </a:solidFill>
                <a:latin typeface="Calibri"/>
              </a:rPr>
              <a:t>AI-Powered Psychometric Assessments</a:t>
            </a:r>
            <a:r>
              <a:rPr sz="1600" b="1">
                <a:solidFill>
                  <a:srgbClr val="F5F3FF"/>
                </a:solidFill>
                <a:latin typeface="Calibri"/>
              </a:rPr>
              <a:t/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907127" y="2697480"/>
            <a:ext cx="2377440" cy="2331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7091D5"/>
                </a:solidFill>
                <a:latin typeface="Calibri"/>
              </a:rPr>
              <a:t>Scientifically designed tools and innovative AI products delivering smarter insights for better decision-making.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696047" y="1920240"/>
            <a:ext cx="2743200" cy="3291840"/>
          </a:xfrm>
          <a:prstGeom prst="rect">
            <a:avLst/>
          </a:prstGeom>
          <a:solidFill>
            <a:srgbClr val="120E24"/>
          </a:solidFill>
          <a:ln w="12700">
            <a:solidFill>
              <a:srgbClr val="2820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696047" y="1920240"/>
            <a:ext cx="2743200" cy="54864"/>
          </a:xfrm>
          <a:prstGeom prst="rect">
            <a:avLst/>
          </a:prstGeom>
          <a:solidFill>
            <a:srgbClr val="2350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878927" y="210312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5F3FF"/>
                </a:solidFill>
                <a:latin typeface="Calibri"/>
              </a:rPr>
              <a:t/>
            </a:r>
            <a:r>
              <a:rPr sz="1600" b="1">
                <a:solidFill>
                  <a:srgbClr val="F5F3FF"/>
                </a:solidFill>
                <a:latin typeface="Calibri"/>
              </a:rPr>
              <a:t>Learning Management System (LMS)</a:t>
            </a:r>
            <a:r>
              <a:rPr sz="1600" b="1">
                <a:solidFill>
                  <a:srgbClr val="F5F3FF"/>
                </a:solidFill>
                <a:latin typeface="Calibri"/>
              </a:rPr>
              <a:t/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78927" y="2697480"/>
            <a:ext cx="2377440" cy="2331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7091D5"/>
                </a:solidFill>
                <a:latin typeface="Calibri"/>
              </a:rPr>
              <a:t>Streamlining training delivery with centralized content, progress tracking, and personalized development paths.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6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004B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64592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002165"/>
                </a:solidFill>
                <a:latin typeface="Calibri"/>
              </a:rPr>
              <a:t>BUSINESS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02920"/>
            <a:ext cx="106984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5F3FF"/>
                </a:solidFill>
                <a:latin typeface="Calibri"/>
              </a:rPr>
              <a:t>Diverse Revenue Streams, Scalable Growth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7091D5"/>
                </a:solidFill>
                <a:latin typeface="Calibri"/>
              </a:rPr>
              <a:t>A Hybrid Approach to Value Creation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1752447" y="1920240"/>
            <a:ext cx="2743200" cy="3291840"/>
          </a:xfrm>
          <a:prstGeom prst="rect">
            <a:avLst/>
          </a:prstGeom>
          <a:solidFill>
            <a:srgbClr val="120E24"/>
          </a:solidFill>
          <a:ln w="12700">
            <a:solidFill>
              <a:srgbClr val="2820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752447" y="1920240"/>
            <a:ext cx="2743200" cy="54864"/>
          </a:xfrm>
          <a:prstGeom prst="rect">
            <a:avLst/>
          </a:prstGeom>
          <a:solidFill>
            <a:srgbClr val="004B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935327" y="210312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5F3FF"/>
                </a:solidFill>
                <a:latin typeface="Calibri"/>
              </a:rPr>
              <a:t/>
            </a:r>
            <a:r>
              <a:rPr sz="1600" b="1">
                <a:solidFill>
                  <a:srgbClr val="F5F3FF"/>
                </a:solidFill>
                <a:latin typeface="Calibri"/>
              </a:rPr>
              <a:t>Consulting Services</a:t>
            </a:r>
            <a:r>
              <a:rPr sz="1600" b="1">
                <a:solidFill>
                  <a:srgbClr val="F5F3FF"/>
                </a:solidFill>
                <a:latin typeface="Calibri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35327" y="2697480"/>
            <a:ext cx="2377440" cy="2331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7091D5"/>
                </a:solidFill>
                <a:latin typeface="Calibri"/>
              </a:rPr>
              <a:t>Project-based fees for strategic consulting, digital transformation, market access, and investment advisory.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724247" y="1920240"/>
            <a:ext cx="2743200" cy="3291840"/>
          </a:xfrm>
          <a:prstGeom prst="rect">
            <a:avLst/>
          </a:prstGeom>
          <a:solidFill>
            <a:srgbClr val="120E24"/>
          </a:solidFill>
          <a:ln w="12700">
            <a:solidFill>
              <a:srgbClr val="2820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724247" y="1920240"/>
            <a:ext cx="2743200" cy="54864"/>
          </a:xfrm>
          <a:prstGeom prst="rect">
            <a:avLst/>
          </a:prstGeom>
          <a:solidFill>
            <a:srgbClr val="4755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907127" y="210312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5F3FF"/>
                </a:solidFill>
                <a:latin typeface="Calibri"/>
              </a:rPr>
              <a:t/>
            </a:r>
            <a:r>
              <a:rPr sz="1600" b="1">
                <a:solidFill>
                  <a:srgbClr val="F5F3FF"/>
                </a:solidFill>
                <a:latin typeface="Calibri"/>
              </a:rPr>
              <a:t>Subscription-Based SaaS (HR Tech)</a:t>
            </a:r>
            <a:r>
              <a:rPr sz="1600" b="1">
                <a:solidFill>
                  <a:srgbClr val="F5F3FF"/>
                </a:solidFill>
                <a:latin typeface="Calibri"/>
              </a:rPr>
              <a:t/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907127" y="2697480"/>
            <a:ext cx="2377440" cy="2331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7091D5"/>
                </a:solidFill>
                <a:latin typeface="Calibri"/>
              </a:rPr>
              <a:t>Recurring revenue from access to our AI-powered Psychometric Assessments and Learning Management System.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696047" y="1920240"/>
            <a:ext cx="2743200" cy="3291840"/>
          </a:xfrm>
          <a:prstGeom prst="rect">
            <a:avLst/>
          </a:prstGeom>
          <a:solidFill>
            <a:srgbClr val="120E24"/>
          </a:solidFill>
          <a:ln w="12700">
            <a:solidFill>
              <a:srgbClr val="2820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696047" y="1920240"/>
            <a:ext cx="2743200" cy="54864"/>
          </a:xfrm>
          <a:prstGeom prst="rect">
            <a:avLst/>
          </a:prstGeom>
          <a:solidFill>
            <a:srgbClr val="2350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878927" y="210312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5F3FF"/>
                </a:solidFill>
                <a:latin typeface="Calibri"/>
              </a:rPr>
              <a:t/>
            </a:r>
            <a:r>
              <a:rPr sz="1600" b="1">
                <a:solidFill>
                  <a:srgbClr val="F5F3FF"/>
                </a:solidFill>
                <a:latin typeface="Calibri"/>
              </a:rPr>
              <a:t>Ecosystem Enablement</a:t>
            </a:r>
            <a:r>
              <a:rPr sz="1600" b="1">
                <a:solidFill>
                  <a:srgbClr val="F5F3FF"/>
                </a:solidFill>
                <a:latin typeface="Calibri"/>
              </a:rPr>
              <a:t/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78927" y="2697480"/>
            <a:ext cx="2377440" cy="2331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7091D5"/>
                </a:solidFill>
                <a:latin typeface="Calibri"/>
              </a:rPr>
              <a:t>Revenue opportunities from connecting entrepreneurs to funding channels, innovation networks, and expert mentorship.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6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004B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64592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002165"/>
                </a:solidFill>
                <a:latin typeface="Calibri"/>
              </a:rPr>
              <a:t>TRACTION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02920"/>
            <a:ext cx="106984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5F3FF"/>
                </a:solidFill>
                <a:latin typeface="Calibri"/>
              </a:rPr>
              <a:t>Proven Impact &amp; Rapid Scale</a:t>
            </a:r>
          </a:p>
        </p:txBody>
      </p:sp>
      <p:sp>
        <p:nvSpPr>
          <p:cNvPr id="5" name="Rectangle 4"/>
          <p:cNvSpPr/>
          <p:nvPr/>
        </p:nvSpPr>
        <p:spPr>
          <a:xfrm>
            <a:off x="632307" y="2103120"/>
            <a:ext cx="2560320" cy="2194560"/>
          </a:xfrm>
          <a:prstGeom prst="rect">
            <a:avLst/>
          </a:prstGeom>
          <a:solidFill>
            <a:srgbClr val="120E24"/>
          </a:solidFill>
          <a:ln w="19050">
            <a:solidFill>
              <a:srgbClr val="004B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9467" y="2331720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>
                <a:solidFill>
                  <a:srgbClr val="F5F3FF"/>
                </a:solidFill>
                <a:latin typeface="Calibri"/>
              </a:rPr>
              <a:t>$14.01M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9467" y="324612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7091D5"/>
                </a:solidFill>
                <a:latin typeface="Calibri"/>
              </a:rPr>
              <a:t>Annual Recurring Revenue (ARR)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23747" y="365760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002165"/>
                </a:solidFill>
                <a:latin typeface="Calibri"/>
              </a:rPr>
              <a:t>Strong growth in core consulting and SaaS subscriptions</a:t>
            </a:r>
          </a:p>
        </p:txBody>
      </p:sp>
      <p:sp>
        <p:nvSpPr>
          <p:cNvPr id="9" name="Rectangle 8"/>
          <p:cNvSpPr/>
          <p:nvPr/>
        </p:nvSpPr>
        <p:spPr>
          <a:xfrm>
            <a:off x="3421227" y="2103120"/>
            <a:ext cx="2560320" cy="2194560"/>
          </a:xfrm>
          <a:prstGeom prst="rect">
            <a:avLst/>
          </a:prstGeom>
          <a:solidFill>
            <a:srgbClr val="120E24"/>
          </a:solidFill>
          <a:ln w="1905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58387" y="2331720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>
                <a:solidFill>
                  <a:srgbClr val="F5F3FF"/>
                </a:solidFill>
                <a:latin typeface="Calibri"/>
              </a:rPr>
              <a:t>$12.3M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58387" y="324612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7091D5"/>
                </a:solidFill>
                <a:latin typeface="Calibri"/>
              </a:rPr>
              <a:t>Monthly Recurring Revenue (MRR)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12667" y="365760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002165"/>
                </a:solidFill>
                <a:latin typeface="Calibri"/>
              </a:rPr>
              <a:t>Consistent month-over-month revenue generation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10147" y="2103120"/>
            <a:ext cx="2560320" cy="2194560"/>
          </a:xfrm>
          <a:prstGeom prst="rect">
            <a:avLst/>
          </a:prstGeom>
          <a:solidFill>
            <a:srgbClr val="120E24"/>
          </a:solidFill>
          <a:ln w="19050">
            <a:solidFill>
              <a:srgbClr val="2350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47307" y="2331720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>
                <a:solidFill>
                  <a:srgbClr val="F5F3FF"/>
                </a:solidFill>
                <a:latin typeface="Calibri"/>
              </a:rPr>
              <a:t>500,000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47307" y="324612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7091D5"/>
                </a:solidFill>
                <a:latin typeface="Calibri"/>
              </a:rPr>
              <a:t>Total Customers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01587" y="365760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002165"/>
                </a:solidFill>
                <a:latin typeface="Calibri"/>
              </a:rPr>
              <a:t>Extensive reach across enterprises and individual users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999067" y="2103120"/>
            <a:ext cx="2560320" cy="2194560"/>
          </a:xfrm>
          <a:prstGeom prst="rect">
            <a:avLst/>
          </a:prstGeom>
          <a:solidFill>
            <a:srgbClr val="120E24"/>
          </a:solidFill>
          <a:ln w="19050">
            <a:solidFill>
              <a:srgbClr val="3F78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36227" y="2331720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>
                <a:solidFill>
                  <a:srgbClr val="F5F3FF"/>
                </a:solidFill>
                <a:latin typeface="Calibri"/>
              </a:rPr>
              <a:t>50,000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36227" y="324612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7091D5"/>
                </a:solidFill>
                <a:latin typeface="Calibri"/>
              </a:rPr>
              <a:t>Monthly Active Users (MAU)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90507" y="365760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002165"/>
                </a:solidFill>
                <a:latin typeface="Calibri"/>
              </a:rPr>
              <a:t>High engagement with our digital assessment and learning platforms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475488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7091D5"/>
                </a:solidFill>
                <a:latin typeface="Calibri"/>
              </a:rPr>
              <a:t>›  </a:t>
            </a:r>
            <a:r>
              <a:rPr sz="1300" b="1">
                <a:solidFill>
                  <a:srgbClr val="7091D5"/>
                </a:solidFill>
                <a:latin typeface="Calibri"/>
              </a:rPr>
              <a:t>Deep Experience:</a:t>
            </a:r>
            <a:r>
              <a:rPr sz="1300" b="0">
                <a:solidFill>
                  <a:srgbClr val="7091D5"/>
                </a:solidFill>
                <a:latin typeface="Calibri"/>
              </a:rPr>
              <a:t> Shaping businesses for over a decade with an average of 7 years expertise per specialist.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516636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7091D5"/>
                </a:solidFill>
                <a:latin typeface="Calibri"/>
              </a:rPr>
              <a:t>›  </a:t>
            </a:r>
            <a:r>
              <a:rPr sz="1300" b="1">
                <a:solidFill>
                  <a:srgbClr val="7091D5"/>
                </a:solidFill>
                <a:latin typeface="Calibri"/>
              </a:rPr>
              <a:t>Client Partnerships:</a:t>
            </a:r>
            <a:r>
              <a:rPr sz="1300" b="0">
                <a:solidFill>
                  <a:srgbClr val="7091D5"/>
                </a:solidFill>
                <a:latin typeface="Calibri"/>
              </a:rPr>
              <a:t> Long-lasting relationships with delighted clients, evidenced by repeat engagements and referrals.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557784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7091D5"/>
                </a:solidFill>
                <a:latin typeface="Calibri"/>
              </a:rPr>
              <a:t>›  </a:t>
            </a:r>
            <a:r>
              <a:rPr sz="1300" b="1">
                <a:solidFill>
                  <a:srgbClr val="7091D5"/>
                </a:solidFill>
                <a:latin typeface="Calibri"/>
              </a:rPr>
              <a:t>Award Recognition:</a:t>
            </a:r>
            <a:r>
              <a:rPr sz="1300" b="0">
                <a:solidFill>
                  <a:srgbClr val="7091D5"/>
                </a:solidFill>
                <a:latin typeface="Calibri"/>
              </a:rPr>
              <a:t> Multiple awards of excellence for innovation, leadership, and culture.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6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004B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64592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002165"/>
                </a:solidFill>
                <a:latin typeface="Calibri"/>
              </a:rPr>
              <a:t>COMPETITIVE LANDSCAPE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02920"/>
            <a:ext cx="106984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5F3FF"/>
                </a:solidFill>
                <a:latin typeface="Calibri"/>
              </a:rPr>
              <a:t>Outperforming the Field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7091D5"/>
                </a:solidFill>
                <a:latin typeface="Calibri"/>
              </a:rPr>
              <a:t>Our Differentiated Approach to Transformation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1752447" y="1920240"/>
            <a:ext cx="2743200" cy="3291840"/>
          </a:xfrm>
          <a:prstGeom prst="rect">
            <a:avLst/>
          </a:prstGeom>
          <a:solidFill>
            <a:srgbClr val="120E24"/>
          </a:solidFill>
          <a:ln w="12700">
            <a:solidFill>
              <a:srgbClr val="2820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752447" y="1920240"/>
            <a:ext cx="2743200" cy="54864"/>
          </a:xfrm>
          <a:prstGeom prst="rect">
            <a:avLst/>
          </a:prstGeom>
          <a:solidFill>
            <a:srgbClr val="004B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935327" y="210312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5F3FF"/>
                </a:solidFill>
                <a:latin typeface="Calibri"/>
              </a:rPr>
              <a:t/>
            </a:r>
            <a:r>
              <a:rPr sz="1600" b="1">
                <a:solidFill>
                  <a:srgbClr val="F5F3FF"/>
                </a:solidFill>
                <a:latin typeface="Calibri"/>
              </a:rPr>
              <a:t>Accenture</a:t>
            </a:r>
            <a:r>
              <a:rPr sz="1600" b="1">
                <a:solidFill>
                  <a:srgbClr val="F5F3FF"/>
                </a:solidFill>
                <a:latin typeface="Calibri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35327" y="2697480"/>
            <a:ext cx="2377440" cy="2331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7091D5"/>
                </a:solidFill>
                <a:latin typeface="Calibri"/>
              </a:rPr>
              <a:t>Global consulting giant, broad services, large scale.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724247" y="1920240"/>
            <a:ext cx="2743200" cy="3291840"/>
          </a:xfrm>
          <a:prstGeom prst="rect">
            <a:avLst/>
          </a:prstGeom>
          <a:solidFill>
            <a:srgbClr val="120E24"/>
          </a:solidFill>
          <a:ln w="12700">
            <a:solidFill>
              <a:srgbClr val="2820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724247" y="1920240"/>
            <a:ext cx="2743200" cy="54864"/>
          </a:xfrm>
          <a:prstGeom prst="rect">
            <a:avLst/>
          </a:prstGeom>
          <a:solidFill>
            <a:srgbClr val="4755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907127" y="210312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5F3FF"/>
                </a:solidFill>
                <a:latin typeface="Calibri"/>
              </a:rPr>
              <a:t/>
            </a:r>
            <a:r>
              <a:rPr sz="1600" b="1">
                <a:solidFill>
                  <a:srgbClr val="F5F3FF"/>
                </a:solidFill>
                <a:latin typeface="Calibri"/>
              </a:rPr>
              <a:t>Fractal Analytics</a:t>
            </a:r>
            <a:r>
              <a:rPr sz="1600" b="1">
                <a:solidFill>
                  <a:srgbClr val="F5F3FF"/>
                </a:solidFill>
                <a:latin typeface="Calibri"/>
              </a:rPr>
              <a:t/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907127" y="2697480"/>
            <a:ext cx="2377440" cy="2331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7091D5"/>
                </a:solidFill>
                <a:latin typeface="Calibri"/>
              </a:rPr>
              <a:t>Leading AI &amp; data analytics solutions, strong tech focus.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696047" y="1920240"/>
            <a:ext cx="2743200" cy="3291840"/>
          </a:xfrm>
          <a:prstGeom prst="rect">
            <a:avLst/>
          </a:prstGeom>
          <a:solidFill>
            <a:srgbClr val="120E24"/>
          </a:solidFill>
          <a:ln w="12700">
            <a:solidFill>
              <a:srgbClr val="2820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696047" y="1920240"/>
            <a:ext cx="2743200" cy="54864"/>
          </a:xfrm>
          <a:prstGeom prst="rect">
            <a:avLst/>
          </a:prstGeom>
          <a:solidFill>
            <a:srgbClr val="2350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878927" y="210312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5F3FF"/>
                </a:solidFill>
                <a:latin typeface="Calibri"/>
              </a:rPr>
              <a:t/>
            </a:r>
            <a:r>
              <a:rPr sz="1600" b="1">
                <a:solidFill>
                  <a:srgbClr val="F5F3FF"/>
                </a:solidFill>
                <a:latin typeface="Calibri"/>
              </a:rPr>
              <a:t>Mercer</a:t>
            </a:r>
            <a:r>
              <a:rPr sz="1600" b="1">
                <a:solidFill>
                  <a:srgbClr val="F5F3FF"/>
                </a:solidFill>
                <a:latin typeface="Calibri"/>
              </a:rPr>
              <a:t/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78927" y="2697480"/>
            <a:ext cx="2377440" cy="2331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7091D5"/>
                </a:solidFill>
                <a:latin typeface="Calibri"/>
              </a:rPr>
              <a:t>Global leader in HR consulting, talent, health, wealth.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6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004B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64592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002165"/>
                </a:solidFill>
                <a:latin typeface="Calibri"/>
              </a:rPr>
              <a:t>TEAM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02920"/>
            <a:ext cx="106984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5F3FF"/>
                </a:solidFill>
                <a:latin typeface="Calibri"/>
              </a:rPr>
              <a:t>Visionary Leadership &amp; Deep Expertise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7091D5"/>
                </a:solidFill>
                <a:latin typeface="Calibri"/>
              </a:rPr>
              <a:t>Building the Future of Transformation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1752447" y="1920240"/>
            <a:ext cx="2743200" cy="3291840"/>
          </a:xfrm>
          <a:prstGeom prst="rect">
            <a:avLst/>
          </a:prstGeom>
          <a:solidFill>
            <a:srgbClr val="120E24"/>
          </a:solidFill>
          <a:ln w="12700">
            <a:solidFill>
              <a:srgbClr val="2820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752447" y="1920240"/>
            <a:ext cx="2743200" cy="54864"/>
          </a:xfrm>
          <a:prstGeom prst="rect">
            <a:avLst/>
          </a:prstGeom>
          <a:solidFill>
            <a:srgbClr val="004B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935327" y="210312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5F3FF"/>
                </a:solidFill>
                <a:latin typeface="Calibri"/>
              </a:rPr>
              <a:t/>
            </a:r>
            <a:r>
              <a:rPr sz="1600" b="1">
                <a:solidFill>
                  <a:srgbClr val="F5F3FF"/>
                </a:solidFill>
                <a:latin typeface="Calibri"/>
              </a:rPr>
              <a:t>J.R. Bangera — Founder &amp; CEO</a:t>
            </a:r>
            <a:r>
              <a:rPr sz="1600" b="1">
                <a:solidFill>
                  <a:srgbClr val="F5F3FF"/>
                </a:solidFill>
                <a:latin typeface="Calibri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35327" y="2697480"/>
            <a:ext cx="2377440" cy="2331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7091D5"/>
                </a:solidFill>
                <a:latin typeface="Calibri"/>
              </a:rPr>
              <a:t>A visionary leader recognized as 'A Man who knows his Next Move.' Drives Infopace's strategic direction and growth initiatives.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724247" y="1920240"/>
            <a:ext cx="2743200" cy="3291840"/>
          </a:xfrm>
          <a:prstGeom prst="rect">
            <a:avLst/>
          </a:prstGeom>
          <a:solidFill>
            <a:srgbClr val="120E24"/>
          </a:solidFill>
          <a:ln w="12700">
            <a:solidFill>
              <a:srgbClr val="2820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724247" y="1920240"/>
            <a:ext cx="2743200" cy="54864"/>
          </a:xfrm>
          <a:prstGeom prst="rect">
            <a:avLst/>
          </a:prstGeom>
          <a:solidFill>
            <a:srgbClr val="4755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907127" y="210312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5F3FF"/>
                </a:solidFill>
                <a:latin typeface="Calibri"/>
              </a:rPr>
              <a:t/>
            </a:r>
            <a:r>
              <a:rPr sz="1600" b="1">
                <a:solidFill>
                  <a:srgbClr val="F5F3FF"/>
                </a:solidFill>
                <a:latin typeface="Calibri"/>
              </a:rPr>
              <a:t>Dr. G.P. Sudhakar — Professor &amp; Marketing Expert</a:t>
            </a:r>
            <a:r>
              <a:rPr sz="1600" b="1">
                <a:solidFill>
                  <a:srgbClr val="F5F3FF"/>
                </a:solidFill>
                <a:latin typeface="Calibri"/>
              </a:rPr>
              <a:t/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907127" y="2697480"/>
            <a:ext cx="2377440" cy="2331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7091D5"/>
                </a:solidFill>
                <a:latin typeface="Calibri"/>
              </a:rPr>
              <a:t>Renowned academic and marketing strategist, bringing deep market insights and strategic positioning expertise.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696047" y="1920240"/>
            <a:ext cx="2743200" cy="3291840"/>
          </a:xfrm>
          <a:prstGeom prst="rect">
            <a:avLst/>
          </a:prstGeom>
          <a:solidFill>
            <a:srgbClr val="120E24"/>
          </a:solidFill>
          <a:ln w="12700">
            <a:solidFill>
              <a:srgbClr val="2820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696047" y="1920240"/>
            <a:ext cx="2743200" cy="54864"/>
          </a:xfrm>
          <a:prstGeom prst="rect">
            <a:avLst/>
          </a:prstGeom>
          <a:solidFill>
            <a:srgbClr val="2350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878927" y="210312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5F3FF"/>
                </a:solidFill>
                <a:latin typeface="Calibri"/>
              </a:rPr>
              <a:t/>
            </a:r>
            <a:r>
              <a:rPr sz="1600" b="1">
                <a:solidFill>
                  <a:srgbClr val="F5F3FF"/>
                </a:solidFill>
                <a:latin typeface="Calibri"/>
              </a:rPr>
              <a:t>Prof. Naliniprava Tripathy — Business Intelligence &amp; Research</a:t>
            </a:r>
            <a:r>
              <a:rPr sz="1600" b="1">
                <a:solidFill>
                  <a:srgbClr val="F5F3FF"/>
                </a:solidFill>
                <a:latin typeface="Calibri"/>
              </a:rPr>
              <a:t/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78927" y="2697480"/>
            <a:ext cx="2377440" cy="2331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7091D5"/>
                </a:solidFill>
                <a:latin typeface="Calibri"/>
              </a:rPr>
              <a:t>Expert in data analytics and business intelligence, ensuring data-driven decisions underpin all solutions.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6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004B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64592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002165"/>
                </a:solidFill>
                <a:latin typeface="Calibri"/>
              </a:rPr>
              <a:t>FINANCIALS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02920"/>
            <a:ext cx="106984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5F3FF"/>
                </a:solidFill>
                <a:latin typeface="Calibri"/>
              </a:rPr>
              <a:t>Market Sizing &amp; Growth Potential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7091D5"/>
                </a:solidFill>
                <a:latin typeface="Calibri"/>
              </a:rPr>
              <a:t>Capturing a Significant Share of a Booming Market</a:t>
            </a:r>
          </a:p>
        </p:txBody>
      </p:sp>
      <p:sp>
        <p:nvSpPr>
          <p:cNvPr id="6" name="Rectangle 5"/>
          <p:cNvSpPr/>
          <p:nvPr/>
        </p:nvSpPr>
        <p:spPr>
          <a:xfrm>
            <a:off x="632307" y="2103120"/>
            <a:ext cx="2560320" cy="2194560"/>
          </a:xfrm>
          <a:prstGeom prst="rect">
            <a:avLst/>
          </a:prstGeom>
          <a:solidFill>
            <a:srgbClr val="120E24"/>
          </a:solidFill>
          <a:ln w="19050">
            <a:solidFill>
              <a:srgbClr val="004B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9467" y="2331720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>
                <a:solidFill>
                  <a:srgbClr val="F5F3FF"/>
                </a:solidFill>
                <a:latin typeface="Calibri"/>
              </a:rPr>
              <a:t>$800B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9467" y="324612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7091D5"/>
                </a:solidFill>
                <a:latin typeface="Calibri"/>
              </a:rPr>
              <a:t>Total Addressable Market (TAM)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3747" y="365760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002165"/>
                </a:solidFill>
                <a:latin typeface="Calibri"/>
              </a:rPr>
              <a:t>Global Strategic Business &amp; Digital Transformation, 2024</a:t>
            </a:r>
          </a:p>
        </p:txBody>
      </p:sp>
      <p:sp>
        <p:nvSpPr>
          <p:cNvPr id="10" name="Rectangle 9"/>
          <p:cNvSpPr/>
          <p:nvPr/>
        </p:nvSpPr>
        <p:spPr>
          <a:xfrm>
            <a:off x="3421227" y="2103120"/>
            <a:ext cx="2560320" cy="2194560"/>
          </a:xfrm>
          <a:prstGeom prst="rect">
            <a:avLst/>
          </a:prstGeom>
          <a:solidFill>
            <a:srgbClr val="120E24"/>
          </a:solidFill>
          <a:ln w="1905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58387" y="2331720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>
                <a:solidFill>
                  <a:srgbClr val="F5F3FF"/>
                </a:solidFill>
                <a:latin typeface="Calibri"/>
              </a:rPr>
              <a:t>$40B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58387" y="324612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7091D5"/>
                </a:solidFill>
                <a:latin typeface="Calibri"/>
              </a:rPr>
              <a:t>Serviceable Addressable Market (SAM)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12667" y="365760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002165"/>
                </a:solidFill>
                <a:latin typeface="Calibri"/>
              </a:rPr>
              <a:t>India Digital Transformation &amp; Strategic Consulting Segment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10147" y="2103120"/>
            <a:ext cx="2560320" cy="2194560"/>
          </a:xfrm>
          <a:prstGeom prst="rect">
            <a:avLst/>
          </a:prstGeom>
          <a:solidFill>
            <a:srgbClr val="120E24"/>
          </a:solidFill>
          <a:ln w="19050">
            <a:solidFill>
              <a:srgbClr val="2350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47307" y="2331720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>
                <a:solidFill>
                  <a:srgbClr val="F5F3FF"/>
                </a:solidFill>
                <a:latin typeface="Calibri"/>
              </a:rPr>
              <a:t>$1.2B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47307" y="324612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7091D5"/>
                </a:solidFill>
                <a:latin typeface="Calibri"/>
              </a:rPr>
              <a:t>Serviceable Obtainable Market (SOM)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01587" y="365760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002165"/>
                </a:solidFill>
                <a:latin typeface="Calibri"/>
              </a:rPr>
              <a:t>~3% SAM capture by 2028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999067" y="2103120"/>
            <a:ext cx="2560320" cy="2194560"/>
          </a:xfrm>
          <a:prstGeom prst="rect">
            <a:avLst/>
          </a:prstGeom>
          <a:solidFill>
            <a:srgbClr val="120E24"/>
          </a:solidFill>
          <a:ln w="19050">
            <a:solidFill>
              <a:srgbClr val="3F78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36227" y="2331720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>
                <a:solidFill>
                  <a:srgbClr val="F5F3FF"/>
                </a:solidFill>
                <a:latin typeface="Calibri"/>
              </a:rPr>
              <a:t>20%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36227" y="324612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7091D5"/>
                </a:solidFill>
                <a:latin typeface="Calibri"/>
              </a:rPr>
              <a:t>Market CAGR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90507" y="365760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002165"/>
                </a:solidFill>
                <a:latin typeface="Calibri"/>
              </a:rPr>
              <a:t>2024–2030 (Source: MarketsandMarkets)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475488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7091D5"/>
                </a:solidFill>
                <a:latin typeface="Calibri"/>
              </a:rPr>
              <a:t>›  </a:t>
            </a:r>
            <a:r>
              <a:rPr sz="1300" b="1">
                <a:solidFill>
                  <a:srgbClr val="7091D5"/>
                </a:solidFill>
                <a:latin typeface="Calibri"/>
              </a:rPr>
              <a:t>Revenue Trajectory:</a:t>
            </a:r>
            <a:r>
              <a:rPr sz="1300" b="0">
                <a:solidFill>
                  <a:srgbClr val="7091D5"/>
                </a:solidFill>
                <a:latin typeface="Calibri"/>
              </a:rPr>
              <a:t> Projecting significant ARR growth year-over-year, driven by expanded service offerings and AI platform scaling.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516636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7091D5"/>
                </a:solidFill>
                <a:latin typeface="Calibri"/>
              </a:rPr>
              <a:t>›  </a:t>
            </a:r>
            <a:r>
              <a:rPr sz="1300" b="1">
                <a:solidFill>
                  <a:srgbClr val="7091D5"/>
                </a:solidFill>
                <a:latin typeface="Calibri"/>
              </a:rPr>
              <a:t>Profitability:</a:t>
            </a:r>
            <a:r>
              <a:rPr sz="1300" b="0">
                <a:solidFill>
                  <a:srgbClr val="7091D5"/>
                </a:solidFill>
                <a:latin typeface="Calibri"/>
              </a:rPr>
              <a:t> Maintaining healthy gross margins of 60%+ through optimized service delivery and SaaS leverage.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557784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7091D5"/>
                </a:solidFill>
                <a:latin typeface="Calibri"/>
              </a:rPr>
              <a:t>›  </a:t>
            </a:r>
            <a:r>
              <a:rPr sz="1300" b="1">
                <a:solidFill>
                  <a:srgbClr val="7091D5"/>
                </a:solidFill>
                <a:latin typeface="Calibri"/>
              </a:rPr>
              <a:t>Strategic Expansion:</a:t>
            </a:r>
            <a:r>
              <a:rPr sz="1300" b="0">
                <a:solidFill>
                  <a:srgbClr val="7091D5"/>
                </a:solidFill>
                <a:latin typeface="Calibri"/>
              </a:rPr>
              <a:t> Targeting key growth markets in APAC and MENA regions for accelerated SAM capture.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6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004B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64592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002165"/>
                </a:solidFill>
                <a:latin typeface="Calibri"/>
              </a:rPr>
              <a:t>THE ASK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02920"/>
            <a:ext cx="106984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5F3FF"/>
                </a:solidFill>
                <a:latin typeface="Calibri"/>
              </a:rPr>
              <a:t>Investment Opportunity: Series B Round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7091D5"/>
                </a:solidFill>
                <a:latin typeface="Calibri"/>
              </a:rPr>
              <a:t>Fueling the Next Phase of Growth</a:t>
            </a:r>
          </a:p>
        </p:txBody>
      </p:sp>
      <p:sp>
        <p:nvSpPr>
          <p:cNvPr id="6" name="Rectangle 5"/>
          <p:cNvSpPr/>
          <p:nvPr/>
        </p:nvSpPr>
        <p:spPr>
          <a:xfrm>
            <a:off x="1752447" y="1920240"/>
            <a:ext cx="2743200" cy="3291840"/>
          </a:xfrm>
          <a:prstGeom prst="rect">
            <a:avLst/>
          </a:prstGeom>
          <a:solidFill>
            <a:srgbClr val="120E24"/>
          </a:solidFill>
          <a:ln w="12700">
            <a:solidFill>
              <a:srgbClr val="2820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752447" y="1920240"/>
            <a:ext cx="2743200" cy="54864"/>
          </a:xfrm>
          <a:prstGeom prst="rect">
            <a:avLst/>
          </a:prstGeom>
          <a:solidFill>
            <a:srgbClr val="004B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935327" y="210312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5F3FF"/>
                </a:solidFill>
                <a:latin typeface="Calibri"/>
              </a:rPr>
              <a:t/>
            </a:r>
            <a:r>
              <a:rPr sz="1600" b="1">
                <a:solidFill>
                  <a:srgbClr val="F5F3FF"/>
                </a:solidFill>
                <a:latin typeface="Calibri"/>
              </a:rPr>
              <a:t>Amount Raising</a:t>
            </a:r>
            <a:r>
              <a:rPr sz="1600" b="1">
                <a:solidFill>
                  <a:srgbClr val="F5F3FF"/>
                </a:solidFill>
                <a:latin typeface="Calibri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35327" y="2697480"/>
            <a:ext cx="2377440" cy="2331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7091D5"/>
                </a:solidFill>
                <a:latin typeface="Calibri"/>
              </a:rPr>
              <a:t>Securing capital to accelerate product development, market expansion, and operational scaling.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724247" y="1920240"/>
            <a:ext cx="2743200" cy="3291840"/>
          </a:xfrm>
          <a:prstGeom prst="rect">
            <a:avLst/>
          </a:prstGeom>
          <a:solidFill>
            <a:srgbClr val="120E24"/>
          </a:solidFill>
          <a:ln w="12700">
            <a:solidFill>
              <a:srgbClr val="2820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724247" y="1920240"/>
            <a:ext cx="2743200" cy="54864"/>
          </a:xfrm>
          <a:prstGeom prst="rect">
            <a:avLst/>
          </a:prstGeom>
          <a:solidFill>
            <a:srgbClr val="4755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907127" y="210312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5F3FF"/>
                </a:solidFill>
                <a:latin typeface="Calibri"/>
              </a:rPr>
              <a:t/>
            </a:r>
            <a:r>
              <a:rPr sz="1600" b="1">
                <a:solidFill>
                  <a:srgbClr val="F5F3FF"/>
                </a:solidFill>
                <a:latin typeface="Calibri"/>
              </a:rPr>
              <a:t>Use of Funds</a:t>
            </a:r>
            <a:r>
              <a:rPr sz="1600" b="1">
                <a:solidFill>
                  <a:srgbClr val="F5F3FF"/>
                </a:solidFill>
                <a:latin typeface="Calibri"/>
              </a:rPr>
              <a:t/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907127" y="2697480"/>
            <a:ext cx="2377440" cy="2331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7091D5"/>
                </a:solidFill>
                <a:latin typeface="Calibri"/>
              </a:rPr>
              <a:t>Strategic allocation across key growth pillars.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696047" y="1920240"/>
            <a:ext cx="2743200" cy="3291840"/>
          </a:xfrm>
          <a:prstGeom prst="rect">
            <a:avLst/>
          </a:prstGeom>
          <a:solidFill>
            <a:srgbClr val="120E24"/>
          </a:solidFill>
          <a:ln w="12700">
            <a:solidFill>
              <a:srgbClr val="2820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696047" y="1920240"/>
            <a:ext cx="2743200" cy="54864"/>
          </a:xfrm>
          <a:prstGeom prst="rect">
            <a:avLst/>
          </a:prstGeom>
          <a:solidFill>
            <a:srgbClr val="2350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878927" y="210312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5F3FF"/>
                </a:solidFill>
                <a:latin typeface="Calibri"/>
              </a:rPr>
              <a:t/>
            </a:r>
            <a:r>
              <a:rPr sz="1600" b="1">
                <a:solidFill>
                  <a:srgbClr val="F5F3FF"/>
                </a:solidFill>
                <a:latin typeface="Calibri"/>
              </a:rPr>
              <a:t>Why Invest in Infopace?</a:t>
            </a:r>
            <a:r>
              <a:rPr sz="1600" b="1">
                <a:solidFill>
                  <a:srgbClr val="F5F3FF"/>
                </a:solidFill>
                <a:latin typeface="Calibri"/>
              </a:rPr>
              <a:t/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78927" y="2697480"/>
            <a:ext cx="2377440" cy="2331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7091D5"/>
                </a:solidFill>
                <a:latin typeface="Calibri"/>
              </a:rPr>
              <a:t>Join us in transforming global enterprises with a proven model and visionary leadership.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6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4B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4755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103327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>
                <a:solidFill>
                  <a:srgbClr val="F5F3FF"/>
                </a:solidFill>
                <a:latin typeface="Calibri"/>
              </a:rPr>
              <a:t>Infopace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3200400"/>
            <a:ext cx="9418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7091D5"/>
                </a:solidFill>
                <a:latin typeface="Calibri"/>
              </a:rPr>
              <a:t>Shaping Tomorrow's Enterprises, Today.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4023360"/>
            <a:ext cx="8503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002165"/>
                </a:solidFill>
                <a:latin typeface="Calibri"/>
              </a:rPr>
              <a:t>We are Infopace. We don't just advise; we transform. We don't just build products; we build futures. Join us in empowering businesses to thrive in an era of constant change, driven by intelligence, innovation, and a profound understanding of people.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0" y="6309360"/>
            <a:ext cx="5760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002165"/>
                </a:solidFill>
                <a:latin typeface="Calibri"/>
              </a:rPr>
              <a:t>Investor Presentation  •  Confidential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