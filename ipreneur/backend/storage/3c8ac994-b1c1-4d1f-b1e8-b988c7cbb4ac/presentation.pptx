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0F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zepto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471E2"/>
                </a:solidFill>
                <a:latin typeface="Calibri"/>
              </a:rPr>
              <a:t>Revolutionizing Quick Commerce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40072"/>
                </a:solidFill>
                <a:latin typeface="Calibri"/>
              </a:rPr>
              <a:t>Delivering unparalleled convenience at lightning speed.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471E2"/>
                </a:solidFill>
                <a:latin typeface="Calibri"/>
              </a:rPr>
              <a:t>Leading India's Quick Commerce Revolution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750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71E2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Strong financial 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E0F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8M+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71E2"/>
                </a:solidFill>
                <a:latin typeface="Calibri"/>
              </a:rPr>
              <a:t>Total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Massive user 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AA8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71E2"/>
                </a:solidFill>
                <a:latin typeface="Calibri"/>
              </a:rPr>
              <a:t>Average Delivery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Unmatched speed and efficiency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471E2"/>
                </a:solidFill>
                <a:latin typeface="Calibri"/>
              </a:rPr>
              <a:t>Zepto is the fastest-growing quick commerce platform, disrupting traditional grocery retail with an average 10-minute delivery time. We serve millions of customers, driving significant revenue through our efficient dark-store network and customer-first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Immense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471E2"/>
                </a:solidFill>
                <a:latin typeface="Calibri"/>
              </a:rPr>
              <a:t>The Untapped Potential of Quick 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750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71E2"/>
                </a:solidFill>
                <a:latin typeface="Calibri"/>
              </a:rPr>
              <a:t>Market Size by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Indian Quick Commerce Market (Source: RedSeer)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E0F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71E2"/>
                </a:solidFill>
                <a:latin typeface="Calibri"/>
              </a:rPr>
              <a:t>Projected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2022-2027 (Source: Statista &amp; RedSeer estimates)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AA8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71E2"/>
                </a:solidFill>
                <a:latin typeface="Calibri"/>
              </a:rPr>
              <a:t>Targetable Consumers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Urban consumers demanding instant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471E2"/>
                </a:solidFill>
                <a:latin typeface="Calibri"/>
              </a:rPr>
              <a:t>The Indian quick commerce market is experiencing explosive growth, driven by urbanization, increasing disposable incomes, and a demand for instant gratification. Zepto is perfectly positioned to capture a dominant share of this rapidly expanding sector.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>›  </a:t>
            </a:r>
            <a:r>
              <a:rPr sz="1300" b="1">
                <a:solidFill>
                  <a:srgbClr val="A471E2"/>
                </a:solidFill>
                <a:latin typeface="Calibri"/>
              </a:rPr>
              <a:t>Urbanization:</a:t>
            </a:r>
            <a:r>
              <a:rPr sz="1300" b="0">
                <a:solidFill>
                  <a:srgbClr val="A471E2"/>
                </a:solidFill>
                <a:latin typeface="Calibri"/>
              </a:rPr>
              <a:t> India's rapidly expanding urban population fuels demand for convenient, time-saving services.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>›  </a:t>
            </a:r>
            <a:r>
              <a:rPr sz="1300" b="1">
                <a:solidFill>
                  <a:srgbClr val="A471E2"/>
                </a:solidFill>
                <a:latin typeface="Calibri"/>
              </a:rPr>
              <a:t>Digital Adoption:</a:t>
            </a:r>
            <a:r>
              <a:rPr sz="1300" b="0">
                <a:solidFill>
                  <a:srgbClr val="A471E2"/>
                </a:solidFill>
                <a:latin typeface="Calibri"/>
              </a:rPr>
              <a:t> Soaring smartphone penetration and digital payment acceptance facilitate seamless online transactions.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>›  </a:t>
            </a:r>
            <a:r>
              <a:rPr sz="1300" b="1">
                <a:solidFill>
                  <a:srgbClr val="A471E2"/>
                </a:solidFill>
                <a:latin typeface="Calibri"/>
              </a:rPr>
              <a:t>Changing Lifestyles:</a:t>
            </a:r>
            <a:r>
              <a:rPr sz="1300" b="0">
                <a:solidFill>
                  <a:srgbClr val="A471E2"/>
                </a:solidFill>
                <a:latin typeface="Calibri"/>
              </a:rPr>
              <a:t> Busy professionals and modern households prioritize instant solutions for daily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471E2"/>
                </a:solidFill>
                <a:latin typeface="Calibri"/>
              </a:rPr>
              <a:t>Delivering on the Promise of Instant Convenience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20E28"/>
          </a:solidFill>
          <a:ln w="19050">
            <a:solidFill>
              <a:srgbClr val="750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7502FF"/>
                </a:solidFill>
                <a:latin typeface="Calibri"/>
              </a:rPr>
              <a:t>45+ Minute Waits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>•  </a:t>
            </a:r>
            <a:r>
              <a:rPr sz="1300" b="1">
                <a:solidFill>
                  <a:srgbClr val="A471E2"/>
                </a:solidFill>
                <a:latin typeface="Calibri"/>
              </a:rPr>
              <a:t>Slow Delivery:</a:t>
            </a:r>
            <a:r>
              <a:rPr sz="1300" b="0">
                <a:solidFill>
                  <a:srgbClr val="A471E2"/>
                </a:solidFill>
                <a:latin typeface="Calibri"/>
              </a:rPr>
              <a:t> Traditional grocery delivery often takes 45-60 minutes, failing to meet urgent, impulse, or daily needs.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>•  </a:t>
            </a:r>
            <a:r>
              <a:rPr sz="1300" b="1">
                <a:solidFill>
                  <a:srgbClr val="A471E2"/>
                </a:solidFill>
                <a:latin typeface="Calibri"/>
              </a:rPr>
              <a:t>Limited Selection:</a:t>
            </a:r>
            <a:r>
              <a:rPr sz="1300" b="0">
                <a:solidFill>
                  <a:srgbClr val="A471E2"/>
                </a:solidFill>
                <a:latin typeface="Calibri"/>
              </a:rPr>
              <a:t> Many platforms offer restricted product catalogs, forcing customers to compromise or order from multiple sources.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>•  </a:t>
            </a:r>
            <a:r>
              <a:rPr sz="1300" b="1">
                <a:solidFill>
                  <a:srgbClr val="A471E2"/>
                </a:solidFill>
                <a:latin typeface="Calibri"/>
              </a:rPr>
              <a:t>Inconsistent Quality:</a:t>
            </a:r>
            <a:r>
              <a:rPr sz="1300" b="0">
                <a:solidFill>
                  <a:srgbClr val="A471E2"/>
                </a:solidFill>
                <a:latin typeface="Calibri"/>
              </a:rPr>
              <a:t> Freshness of produce and reliability of stock can be a concern, eroding customer trust over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20E28"/>
          </a:solidFill>
          <a:ln w="19050">
            <a:solidFill>
              <a:srgbClr val="E0F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E0F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0FF51"/>
                </a:solidFill>
                <a:latin typeface="Calibri"/>
              </a:rPr>
              <a:t>10-Minute Guarantee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>•  </a:t>
            </a:r>
            <a:r>
              <a:rPr sz="1300" b="1">
                <a:solidFill>
                  <a:srgbClr val="A471E2"/>
                </a:solidFill>
                <a:latin typeface="Calibri"/>
              </a:rPr>
              <a:t>Hyper-local Dark Stores:</a:t>
            </a:r>
            <a:r>
              <a:rPr sz="1300" b="0">
                <a:solidFill>
                  <a:srgbClr val="A471E2"/>
                </a:solidFill>
                <a:latin typeface="Calibri"/>
              </a:rPr>
              <a:t> Strategically located micro-warehouses ensure proximity to customers and rapid fulfillment capabilities.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>•  </a:t>
            </a:r>
            <a:r>
              <a:rPr sz="1300" b="1">
                <a:solidFill>
                  <a:srgbClr val="A471E2"/>
                </a:solidFill>
                <a:latin typeface="Calibri"/>
              </a:rPr>
              <a:t>Vast Curated Selection:</a:t>
            </a:r>
            <a:r>
              <a:rPr sz="1300" b="0">
                <a:solidFill>
                  <a:srgbClr val="A471E2"/>
                </a:solidFill>
                <a:latin typeface="Calibri"/>
              </a:rPr>
              <a:t> A wide range of 3,000+ SKUs covering fresh produce, staples, and household essentials, always in stock.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>•  </a:t>
            </a:r>
            <a:r>
              <a:rPr sz="1300" b="1">
                <a:solidFill>
                  <a:srgbClr val="A471E2"/>
                </a:solidFill>
                <a:latin typeface="Calibri"/>
              </a:rPr>
              <a:t>Seamless Experience:</a:t>
            </a:r>
            <a:r>
              <a:rPr sz="1300" b="0">
                <a:solidFill>
                  <a:srgbClr val="A471E2"/>
                </a:solidFill>
                <a:latin typeface="Calibri"/>
              </a:rPr>
              <a:t> Intuitive app design, real-time order tracking, and highly trained delivery agents ensure a reliable, delightful user journey.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82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Product: Seamless Speed &amp;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471E2"/>
                </a:solidFill>
                <a:latin typeface="Calibri"/>
              </a:rPr>
              <a:t>The Zepto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Lightning-Fast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502FF"/>
                </a:solidFill>
                <a:latin typeface="Calibri"/>
              </a:rPr>
              <a:t>10-Min Average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Optimized Logistics:</a:t>
            </a:r>
            <a:r>
              <a:rPr sz="1300" b="0">
                <a:solidFill>
                  <a:srgbClr val="A471E2"/>
                </a:solidFill>
                <a:latin typeface="Calibri"/>
              </a:rPr>
              <a:t> Cutting-edge algorithms and strategically placed dark stores ensure rapid order processing and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E0F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Extensive Product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0FF51"/>
                </a:solidFill>
                <a:latin typeface="Calibri"/>
              </a:rPr>
              <a:t>3,000+ SKUs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Daily Essentials &amp; More:</a:t>
            </a:r>
            <a:r>
              <a:rPr sz="1300" b="0">
                <a:solidFill>
                  <a:srgbClr val="A471E2"/>
                </a:solidFill>
                <a:latin typeface="Calibri"/>
              </a:rPr>
              <a:t> A curated inventory spanning fresh produce, dairy, snacks, personal care, and gourmet items.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AA8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Intuitive User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A80A8"/>
                </a:solidFill>
                <a:latin typeface="Calibri"/>
              </a:rPr>
              <a:t>5-Star App 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Effortless Shopping:</a:t>
            </a:r>
            <a:r>
              <a:rPr sz="1300" b="0">
                <a:solidFill>
                  <a:srgbClr val="A471E2"/>
                </a:solidFill>
                <a:latin typeface="Calibri"/>
              </a:rPr>
              <a:t> A user-friendly mobile app designed for quick browsing, easy ordering, and real-time tracking.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974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Uncompromised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741FF"/>
                </a:solidFill>
                <a:latin typeface="Calibri"/>
              </a:rPr>
              <a:t>99.5% Freshness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Rigorous Standards:</a:t>
            </a:r>
            <a:r>
              <a:rPr sz="1300" b="0">
                <a:solidFill>
                  <a:srgbClr val="A471E2"/>
                </a:solidFill>
                <a:latin typeface="Calibri"/>
              </a:rPr>
              <a:t> Strict quality checks and efficient cold chain management for fresh produce and perishables.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Sustainable Growth &amp;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471E2"/>
                </a:solidFill>
                <a:latin typeface="Calibri"/>
              </a:rPr>
              <a:t>How Zepto Drives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 Markup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502FF"/>
                </a:solidFill>
                <a:latin typeface="Calibri"/>
              </a:rPr>
              <a:t>Healthy Margins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Competitive Pricing:</a:t>
            </a:r>
            <a:r>
              <a:rPr sz="1300" b="0">
                <a:solidFill>
                  <a:srgbClr val="A471E2"/>
                </a:solidFill>
                <a:latin typeface="Calibri"/>
              </a:rPr>
              <a:t> Strategically priced products with competitive margins, leveraging efficient procurement and supply chain.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E0F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Delivery Fees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0FF51"/>
                </a:solidFill>
                <a:latin typeface="Calibri"/>
              </a:rPr>
              <a:t>Transparent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Operational Contribution:</a:t>
            </a:r>
            <a:r>
              <a:rPr sz="1300" b="0">
                <a:solidFill>
                  <a:srgbClr val="A471E2"/>
                </a:solidFill>
                <a:latin typeface="Calibri"/>
              </a:rPr>
              <a:t> Small, transparent delivery fees per order that contribute directly to last-mile logistics costs.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AA8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Brand Partnerships &amp; 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A80A8"/>
                </a:solidFill>
                <a:latin typeface="Calibri"/>
              </a:rPr>
              <a:t>New Revenue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Strategic Collaborations:</a:t>
            </a:r>
            <a:r>
              <a:rPr sz="1300" b="0">
                <a:solidFill>
                  <a:srgbClr val="A471E2"/>
                </a:solidFill>
                <a:latin typeface="Calibri"/>
              </a:rPr>
              <a:t> In-app advertising and promotional partnerships with leading CPG brands for enhanced visibility.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974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Data-Driven 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741FF"/>
                </a:solidFill>
                <a:latin typeface="Calibri"/>
              </a:rPr>
              <a:t>Optimized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Smart Logistics:</a:t>
            </a:r>
            <a:r>
              <a:rPr sz="1300" b="0">
                <a:solidFill>
                  <a:srgbClr val="A471E2"/>
                </a:solidFill>
                <a:latin typeface="Calibri"/>
              </a:rPr>
              <a:t> Leveraging AI/ML for demand forecasting, inventory management, and route optimization to maximize profitability.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Proven Growth &amp; User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471E2"/>
                </a:solidFill>
                <a:latin typeface="Calibri"/>
              </a:rPr>
              <a:t>Our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750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$15,000,000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71E2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Demonstrating exponential revenue 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E0F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71E2"/>
                </a:solidFill>
                <a:latin typeface="Calibri"/>
              </a:rPr>
              <a:t>Monthly Recurring Revenue (MRR)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Consistent month-over-month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AA8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8,000,000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71E2"/>
                </a:solidFill>
                <a:latin typeface="Calibri"/>
              </a:rPr>
              <a:t>Total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Rapid expansion of customer 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28"/>
          </a:solidFill>
          <a:ln w="19050">
            <a:solidFill>
              <a:srgbClr val="974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471E2"/>
                </a:solidFill>
                <a:latin typeface="Calibri"/>
              </a:rPr>
              <a:t>Monthly Active Users (MAU)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High engagement and retention rates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471E2"/>
                </a:solidFill>
                <a:latin typeface="Calibri"/>
              </a:rPr>
              <a:t>Zepto has demonstrated exceptional growth and strong customer loyalty since inception, validating our business model and market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Dominating the Quick Commerce Arena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471E2"/>
                </a:solidFill>
                <a:latin typeface="Calibri"/>
              </a:rPr>
              <a:t>Our Differentiated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Blinkit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502FF"/>
                </a:solidFill>
                <a:latin typeface="Calibri"/>
              </a:rPr>
              <a:t>$150M+ Annual Revenue (Est.)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Integration Challenges:</a:t>
            </a:r>
            <a:r>
              <a:rPr sz="1300" b="0">
                <a:solidFill>
                  <a:srgbClr val="A471E2"/>
                </a:solidFill>
                <a:latin typeface="Calibri"/>
              </a:rPr>
              <a:t> Recent acquisition by Zomato creates potential for operational shifts, focus dilution, and integration complexities.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E0F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Swiggy Instamart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0FF51"/>
                </a:solidFill>
                <a:latin typeface="Calibri"/>
              </a:rPr>
              <a:t>$250M+ Annual Revenue (Est.)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Secondary Focus:</a:t>
            </a:r>
            <a:r>
              <a:rPr sz="1300" b="0">
                <a:solidFill>
                  <a:srgbClr val="A471E2"/>
                </a:solidFill>
                <a:latin typeface="Calibri"/>
              </a:rPr>
              <a:t> Quick commerce is one of many verticals within a larger food delivery ecosystem, potentially leading to less dedicated investment and agility.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AA8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Dunzo Daily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A80A8"/>
                </a:solidFill>
                <a:latin typeface="Calibri"/>
              </a:rPr>
              <a:t>$50M+ Annual Revenue (Est.)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Broader Service Scope:</a:t>
            </a:r>
            <a:r>
              <a:rPr sz="1300" b="0">
                <a:solidFill>
                  <a:srgbClr val="A471E2"/>
                </a:solidFill>
                <a:latin typeface="Calibri"/>
              </a:rPr>
              <a:t> Offers diverse delivery services (laundry, medicines, etc.), which can dilute focus and efficiency specifically for grocery quick commerce.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Visionary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471E2"/>
                </a:solidFill>
                <a:latin typeface="Calibri"/>
              </a:rPr>
              <a:t>Driving Innovation and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502FF"/>
                </a:solidFill>
                <a:latin typeface="Calibri"/>
              </a:rPr>
              <a:t>Proven Founders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>Profiles available upon request. Comprising seasoned entrepreneurs and technology leaders with extensive experience in scaling consumer-facing platforms and logistics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471E2"/>
                </a:solidFill>
                <a:latin typeface="Calibri"/>
              </a:rPr>
              <a:t>Untapped Potential for Exponential Growth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7502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E0FF51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AA80A8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40072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741FF"/>
                </a:solidFill>
                <a:latin typeface="Calibri"/>
              </a:rPr>
              <a:t>35%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502FF"/>
                </a:solidFill>
                <a:latin typeface="Calibri"/>
              </a:rPr>
              <a:t>$15B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471E2"/>
                </a:solidFill>
                <a:latin typeface="Calibri"/>
              </a:rPr>
              <a:t>Total Quick Commerce market in India by 2025 (Source: RedSeer)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E0F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0FF51"/>
                </a:solidFill>
                <a:latin typeface="Calibri"/>
              </a:rPr>
              <a:t>$5B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471E2"/>
                </a:solidFill>
                <a:latin typeface="Calibri"/>
              </a:rPr>
              <a:t>Tier 1 &amp; 2 cities currently accessible by dark store 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AA8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80A8"/>
                </a:solidFill>
                <a:latin typeface="Calibri"/>
              </a:rPr>
              <a:t>$1.5B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471E2"/>
                </a:solidFill>
                <a:latin typeface="Calibri"/>
              </a:rPr>
              <a:t>Zepto's projected achievable market share within SAM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471E2"/>
                </a:solidFill>
                <a:latin typeface="Calibri"/>
              </a:rPr>
              <a:t/>
            </a:r>
            <a:r>
              <a:rPr sz="1200" b="1">
                <a:solidFill>
                  <a:srgbClr val="A471E2"/>
                </a:solidFill>
                <a:latin typeface="Calibri"/>
              </a:rPr>
              <a:t>Strategic Expansion:</a:t>
            </a:r>
            <a:r>
              <a:rPr sz="1200" b="0">
                <a:solidFill>
                  <a:srgbClr val="A471E2"/>
                </a:solidFill>
                <a:latin typeface="Calibri"/>
              </a:rPr>
              <a:t> Focused penetration into high-density urban areas and Tier 2 cities to capture SAM.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471E2"/>
                </a:solidFill>
                <a:latin typeface="Calibri"/>
              </a:rPr>
              <a:t/>
            </a:r>
            <a:r>
              <a:rPr sz="1200" b="1">
                <a:solidFill>
                  <a:srgbClr val="A471E2"/>
                </a:solidFill>
                <a:latin typeface="Calibri"/>
              </a:rPr>
              <a:t>Operational Efficiency:</a:t>
            </a:r>
            <a:r>
              <a:rPr sz="1200" b="0">
                <a:solidFill>
                  <a:srgbClr val="A471E2"/>
                </a:solidFill>
                <a:latin typeface="Calibri"/>
              </a:rPr>
              <a:t> Continuous improvements in supply chain and logistics to maximize SOM capture.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471E2"/>
                </a:solidFill>
                <a:latin typeface="Calibri"/>
              </a:rPr>
              <a:t/>
            </a:r>
            <a:r>
              <a:rPr sz="1200" b="1">
                <a:solidFill>
                  <a:srgbClr val="A471E2"/>
                </a:solidFill>
                <a:latin typeface="Calibri"/>
              </a:rPr>
              <a:t>Category Expansion:</a:t>
            </a:r>
            <a:r>
              <a:rPr sz="1200" b="0">
                <a:solidFill>
                  <a:srgbClr val="A471E2"/>
                </a:solidFill>
                <a:latin typeface="Calibri"/>
              </a:rPr>
              <a:t> Introducing new product categories to increase average order value and customer lifetime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0072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Investment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471E2"/>
                </a:solidFill>
                <a:latin typeface="Calibri"/>
              </a:rPr>
              <a:t>Fueling the Next Phase of Hyper-Growth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Raising $8,000,000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502FF"/>
                </a:solidFill>
                <a:latin typeface="Calibri"/>
              </a:rPr>
              <a:t>Series B 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Strategic Capital:</a:t>
            </a:r>
            <a:r>
              <a:rPr sz="1300" b="0">
                <a:solidFill>
                  <a:srgbClr val="A471E2"/>
                </a:solidFill>
                <a:latin typeface="Calibri"/>
              </a:rPr>
              <a:t> Secure funding to aggressively pursue market expansion and product innovation.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E0F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Expand Dark Store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0FF51"/>
                </a:solidFill>
                <a:latin typeface="Calibri"/>
              </a:rPr>
              <a:t>30%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Geographic Penetration:</a:t>
            </a:r>
            <a:r>
              <a:rPr sz="1300" b="0">
                <a:solidFill>
                  <a:srgbClr val="A471E2"/>
                </a:solidFill>
                <a:latin typeface="Calibri"/>
              </a:rPr>
              <a:t> Grow our footprint in existing high-demand cities and launch in new strategic markets.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AA8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Enhance Technology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A80A8"/>
                </a:solidFill>
                <a:latin typeface="Calibri"/>
              </a:rPr>
              <a:t>40%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AI &amp; Automation:</a:t>
            </a:r>
            <a:r>
              <a:rPr sz="1300" b="0">
                <a:solidFill>
                  <a:srgbClr val="A471E2"/>
                </a:solidFill>
                <a:latin typeface="Calibri"/>
              </a:rPr>
              <a:t> Invest in advanced AI/ML for demand forecasting, route optimization, and personalized customer experiences.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28"/>
          </a:solidFill>
          <a:ln w="12700">
            <a:solidFill>
              <a:srgbClr val="282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974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Talent Acquisition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741FF"/>
                </a:solidFill>
                <a:latin typeface="Calibri"/>
              </a:rPr>
              <a:t>30% Allocation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71E2"/>
                </a:solidFill>
                <a:latin typeface="Calibri"/>
              </a:rPr>
              <a:t/>
            </a:r>
            <a:r>
              <a:rPr sz="1300" b="1">
                <a:solidFill>
                  <a:srgbClr val="A471E2"/>
                </a:solidFill>
                <a:latin typeface="Calibri"/>
              </a:rPr>
              <a:t>World-Class Team:</a:t>
            </a:r>
            <a:r>
              <a:rPr sz="1300" b="0">
                <a:solidFill>
                  <a:srgbClr val="A471E2"/>
                </a:solidFill>
                <a:latin typeface="Calibri"/>
              </a:rPr>
              <a:t> Attract and retain top-tier talent across engineering, operations, and marketing to drive innovation and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50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0F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zepto: The Future of Quick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471E2"/>
                </a:solidFill>
                <a:latin typeface="Calibri"/>
              </a:rPr>
              <a:t>Delivering What's Next,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40072"/>
                </a:solidFill>
                <a:latin typeface="Calibri"/>
              </a:rPr>
              <a:t>Join Zepto in building the future of urban convenience. We are poised to capture significant market share with our unparalleled speed, operational efficiency, and customer-centric approach. Invest in a company that is not just growing, but defining an industry.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40072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