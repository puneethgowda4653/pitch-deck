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Notion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B8EC4"/>
                </a:solidFill>
                <a:latin typeface="Calibri"/>
              </a:rPr>
              <a:t>The AI Workspace That Works For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Unifying teams, automating workflows, and amplifying productivity for the world's leading enterprises.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AI-Powered Workspace: Unlocking Peak Productivity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Notion is revolutionizing productivity and workspace management with its integrated AI platform, driving efficiency and consolidation across enterprises.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$380B+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Market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Global Productivity &amp; Workspace TAM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98%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Enterprise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Forbes Cloud 100 Trust Notion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3x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Efficiency Gain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Streamlined Workflows &amp; Reduced Timelines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$XXM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Funding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To Accelerate AI Innovation &amp; Market Expansion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Our unique blend of AI agents and a unified workspace addresses the critical demands of modern businesses, positioning Notion as a leader in a rapidly evolving market.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Hidden Costs of Fragmented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Growing businesses and enterprises face escalating costs and inefficiencies from tool sprawl, manual processes, and siloed knowledge.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Tool Sprawl &amp; Redundancy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Teams juggle </a:t>
            </a:r>
            <a:r>
              <a:rPr sz="1300" b="1">
                <a:solidFill>
                  <a:srgbClr val="9B8EC4"/>
                </a:solidFill>
                <a:latin typeface="Calibri"/>
              </a:rPr>
              <a:t>15+ disparate tools</a:t>
            </a:r>
            <a:r>
              <a:rPr sz="1300" b="0">
                <a:solidFill>
                  <a:srgbClr val="9B8EC4"/>
                </a:solidFill>
                <a:latin typeface="Calibri"/>
              </a:rPr>
              <a:t> for basic operations, leading to fractured data, constant context-switching, and unnecessary subscription costs averaging </a:t>
            </a:r>
            <a:r>
              <a:rPr sz="1300" b="1">
                <a:solidFill>
                  <a:srgbClr val="9B8EC4"/>
                </a:solidFill>
                <a:latin typeface="Calibri"/>
              </a:rPr>
              <a:t>$25k-$500k+/year</a:t>
            </a:r>
            <a:r>
              <a:rPr sz="1300" b="0">
                <a:solidFill>
                  <a:srgbClr val="9B8EC4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Manual Inefficiency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12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Routine tasks like Q&amp;A, task routing, and reporting consume </a:t>
            </a:r>
            <a:r>
              <a:rPr sz="1300" b="1">
                <a:solidFill>
                  <a:srgbClr val="9B8EC4"/>
                </a:solidFill>
                <a:latin typeface="Calibri"/>
              </a:rPr>
              <a:t>hours of employee time weekly</a:t>
            </a:r>
            <a:r>
              <a:rPr sz="1300" b="0">
                <a:solidFill>
                  <a:srgbClr val="9B8EC4"/>
                </a:solidFill>
                <a:latin typeface="Calibri"/>
              </a:rPr>
              <a:t>, resulting in slow decision-making and an estimated </a:t>
            </a:r>
            <a:r>
              <a:rPr sz="1300" b="1">
                <a:solidFill>
                  <a:srgbClr val="9B8EC4"/>
                </a:solidFill>
                <a:latin typeface="Calibri"/>
              </a:rPr>
              <a:t>30% waste</a:t>
            </a:r>
            <a:r>
              <a:rPr sz="1300" b="0">
                <a:solidFill>
                  <a:srgbClr val="9B8EC4"/>
                </a:solidFill>
                <a:latin typeface="Calibri"/>
              </a:rPr>
              <a:t> in operational capacity.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Lack of Unified 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30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Siloed data and fragmented workflows prevent real-time insights, causing critical information to be </a:t>
            </a:r>
            <a:r>
              <a:rPr sz="1300" b="1">
                <a:solidFill>
                  <a:srgbClr val="9B8EC4"/>
                </a:solidFill>
                <a:latin typeface="Calibri"/>
              </a:rPr>
              <a:t>missed or duplicated</a:t>
            </a:r>
            <a:r>
              <a:rPr sz="1300" b="0">
                <a:solidFill>
                  <a:srgbClr val="9B8EC4"/>
                </a:solidFill>
                <a:latin typeface="Calibri"/>
              </a:rPr>
              <a:t>, hindering strategic alignment and innovation.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High Cost of Legacy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48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Existing solutions are </a:t>
            </a:r>
            <a:r>
              <a:rPr sz="1300" b="1">
                <a:solidFill>
                  <a:srgbClr val="9B8EC4"/>
                </a:solidFill>
                <a:latin typeface="Calibri"/>
              </a:rPr>
              <a:t>slow, expensive, and rigid</a:t>
            </a:r>
            <a:r>
              <a:rPr sz="1300" b="0">
                <a:solidFill>
                  <a:srgbClr val="9B8EC4"/>
                </a:solidFill>
                <a:latin typeface="Calibri"/>
              </a:rPr>
              <a:t>, failing to adapt to modern work demands or leverage the power of AI to automate core business functions.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Notion: The Integrated AI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We're building the future of work by consolidating tools, automating workflows, and empowering teams with intelligent AI agents.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Consolidate &amp; Simplify:</a:t>
            </a:r>
            <a:r>
              <a:rPr sz="1400" b="0">
                <a:solidFill>
                  <a:srgbClr val="9B8EC4"/>
                </a:solidFill>
                <a:latin typeface="Calibri"/>
              </a:rPr>
              <a:t> Notion brings all your tools and teams under one roof, eliminating tool sprawl and centralizing knowledge into a single, intuitive platform.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Automate with AI Agents:</a:t>
            </a:r>
            <a:r>
              <a:rPr sz="1400" b="0">
                <a:solidFill>
                  <a:srgbClr val="9B8EC4"/>
                </a:solidFill>
                <a:latin typeface="Calibri"/>
              </a:rPr>
              <a:t> Our AI-powered agents handle routine tasks like Q&amp;A, task routing, and reporting automatically, freeing up human potential and reducing operational costs.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82112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054096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Real-time Insights:</a:t>
            </a:r>
            <a:r>
              <a:rPr sz="1400" b="0">
                <a:solidFill>
                  <a:srgbClr val="9B8EC4"/>
                </a:solidFill>
                <a:latin typeface="Calibri"/>
              </a:rPr>
              <a:t> With all data unified, Notion provides instant access to information and generates actionable insights, enabling faster, more informed decision-making.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Customizable for Any Workflow:</a:t>
            </a:r>
            <a:r>
              <a:rPr sz="1400" b="0">
                <a:solidFill>
                  <a:srgbClr val="9B8EC4"/>
                </a:solidFill>
                <a:latin typeface="Calibri"/>
              </a:rPr>
              <a:t> Create custom AI agents tailored to your unique business needs, automating any repetitive work and providing unparalleled flexibility.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Modern Architecture:</a:t>
            </a:r>
            <a:r>
              <a:rPr sz="1400" b="0">
                <a:solidFill>
                  <a:srgbClr val="9B8EC4"/>
                </a:solidFill>
                <a:latin typeface="Calibri"/>
              </a:rPr>
              <a:t> Built from the ground up for speed, scalability, and security, Notion offers faster time-to-value compared to legacy systems, ensuring a seamless user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Intelligent Agents &amp; Unified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Notion's platform is powered by a suite of AI agents and core productivity tools designed to enhance every aspect of your team's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Q&amp;A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Instant Answers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Get instant answers to any question using your existing company knowledge, eliminating search time and ensuring consistent information access.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Task Routing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Automated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Automatically assign, prioritize, and route tasks based on custom rules, ensuring workflows are always efficient and nothing falls through the cracks.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Custom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Infinite Possibilities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Build bespoke AI agents for any repeating work, from triaging product feedback to automating weekly reporting, tailored precisely to your unique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A $380B+ Market Ripe for AI-Driven Consolidation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The global market for SaaS productivity and workspace management is undergoing rapid digital transformation, driven by a surge in AI and automation adoption.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$380B+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Total Addressable Market (TAM)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Global Productivity &amp; Collaboration Software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$150B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Serviceable Available Market (SAM)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Mid-Market to Enterprise Workspace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$30B+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Serviceable Obtainable Market (SOM)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Notion's Target Share in 5 Years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18% CAGR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Market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Driven by AI &amp; Digital Transformation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Notion is strategically positioned to capitalize on this immense and growing market, offering a unique integrated platform that addresses critical customer pain points and drives value through 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Scalable SaaS Subscription with Value-Driven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Notion operates on a high-margin SaaS subscription model, designed for sustained growth through enterprise adoption and feature expansion.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SaaS 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Recurring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Core business model focused on recurring revenue from tiered plans, offering essential workspace features for teams of all sizes.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AI Agent Packages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Value-Add Monetization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Modular pricing for advanced AI agents (Q&amp;A, Task Routing, Reporting, Custom Agents) allows enterprises to scale AI adoption based on specific needs.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Enterprise Tiering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High ACV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Tailored plans for larger organizations, offering advanced security, compliance, and dedicated support, driving higher ACVs and retention.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Land &amp; Expand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A5E9"/>
                </a:solidFill>
                <a:latin typeface="Calibri"/>
              </a:rPr>
              <a:t>Organic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Initial adoption within teams or departments naturally expands across the organization as value is proven and AI capabilities automate more workflows.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Proven Enterprise Traction &amp; Accelerating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Notion has established strong market leadership, validated by widespread enterprise adoption and significant revenue growth.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98%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Enterprise Adoption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of Forbes Cloud 100 Companies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$250M+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Current ARR (Est.)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as of Q2 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20M+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Customer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Global Users (Estimated)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3x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Feature Adoption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Increased AI Agent Utilization (Last 12 Months)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Our product-market fit is evidenced by our prestigious client base and our consistent ability to drive efficiency and consolidation for large organizations.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GO TO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Multi-Channel GTM: From Product-Led to Enterprise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Our strategy combines viral product-led growth with targeted enterprise sales to maximize reach and drive high-value adoption.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Product-Led Growth (PLG):</a:t>
            </a:r>
            <a:r>
              <a:rPr sz="1400" b="0">
                <a:solidFill>
                  <a:srgbClr val="9B8EC4"/>
                </a:solidFill>
                <a:latin typeface="Calibri"/>
              </a:rPr>
              <a:t> Drive user acquisition through freemium tiers and viral sharing, fostering bottom-up adoption within teams and departments.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Enterprise Sales:</a:t>
            </a:r>
            <a:r>
              <a:rPr sz="1400" b="0">
                <a:solidFill>
                  <a:srgbClr val="9B8EC4"/>
                </a:solidFill>
                <a:latin typeface="Calibri"/>
              </a:rPr>
              <a:t> Dedicated sales teams target mid-market and Fortune 500 companies, articulating Notion's AI-driven consolidation and cost-saving value proposition.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Content Marketing &amp; SEO:</a:t>
            </a:r>
            <a:r>
              <a:rPr sz="1400" b="0">
                <a:solidFill>
                  <a:srgbClr val="9B8EC4"/>
                </a:solidFill>
                <a:latin typeface="Calibri"/>
              </a:rPr>
              <a:t> Establish thought leadership around AI, productivity, and the future of work to attract organic traffic, build community, and strengthen brand equity.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Land-and-Expand:</a:t>
            </a:r>
            <a:r>
              <a:rPr sz="1400" b="0">
                <a:solidFill>
                  <a:srgbClr val="9B8EC4"/>
                </a:solidFill>
                <a:latin typeface="Calibri"/>
              </a:rPr>
              <a:t> Initiate adoption with specific team use cases (e.g., project management, wiki) and strategically expand across departments and new AI functionalities within an organization.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Notion: The Integrated AI Workspace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Unlike fragmented legacy solutions or niche point tools, Notion provides a unified, AI-powered platform with unparalleled flexibility and automation.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Notion: AI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AI workspace that works for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Integrated AI Agents:</a:t>
            </a:r>
            <a:r>
              <a:rPr sz="1300" b="0">
                <a:solidFill>
                  <a:srgbClr val="9B8EC4"/>
                </a:solidFill>
                <a:latin typeface="Calibri"/>
              </a:rPr>
              <a:t> Q&amp;A, Task Routing, Reporting, Custom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Unified Platform:</a:t>
            </a:r>
            <a:r>
              <a:rPr sz="1300" b="0">
                <a:solidFill>
                  <a:srgbClr val="9B8EC4"/>
                </a:solidFill>
                <a:latin typeface="Calibri"/>
              </a:rPr>
              <a:t> All work, knowledge, and tools in one 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Highly Customizable:</a:t>
            </a:r>
            <a:r>
              <a:rPr sz="1300" b="0">
                <a:solidFill>
                  <a:srgbClr val="9B8EC4"/>
                </a:solidFill>
                <a:latin typeface="Calibri"/>
              </a:rPr>
              <a:t> Adaptable to any workflow or department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Modern Architecture:</a:t>
            </a:r>
            <a:r>
              <a:rPr sz="1300" b="0">
                <a:solidFill>
                  <a:srgbClr val="9B8EC4"/>
                </a:solidFill>
                <a:latin typeface="Calibri"/>
              </a:rPr>
              <a:t> Fast, intuitive, scalable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7316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Strong Moat:</a:t>
            </a:r>
            <a:r>
              <a:rPr sz="1300" b="0">
                <a:solidFill>
                  <a:srgbClr val="9B8EC4"/>
                </a:solidFill>
                <a:latin typeface="Calibri"/>
              </a:rPr>
              <a:t> High switching costs, brand trust (98% Forbes Cloud 100)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Legacy Suites &amp; Point Solutions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Calibri"/>
              </a:rPr>
              <a:t>Expensive, slow, and fragmented.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Siloed Functionality:</a:t>
            </a:r>
            <a:r>
              <a:rPr sz="1300" b="0">
                <a:solidFill>
                  <a:srgbClr val="9B8EC4"/>
                </a:solidFill>
                <a:latin typeface="Calibri"/>
              </a:rPr>
              <a:t> Disparate tools requiring manual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Limited AI:</a:t>
            </a:r>
            <a:r>
              <a:rPr sz="1300" b="0">
                <a:solidFill>
                  <a:srgbClr val="9B8EC4"/>
                </a:solidFill>
                <a:latin typeface="Calibri"/>
              </a:rPr>
              <a:t> Basic or fragmented AI features (if any)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Rigid Workflows:</a:t>
            </a:r>
            <a:r>
              <a:rPr sz="1300" b="0">
                <a:solidFill>
                  <a:srgbClr val="9B8EC4"/>
                </a:solidFill>
                <a:latin typeface="Calibri"/>
              </a:rPr>
              <a:t> Difficult to customize, slow to adapt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Dated UX:</a:t>
            </a:r>
            <a:r>
              <a:rPr sz="1300" b="0">
                <a:solidFill>
                  <a:srgbClr val="9B8EC4"/>
                </a:solidFill>
                <a:latin typeface="Calibri"/>
              </a:rPr>
              <a:t> Often complex, expensive, and slow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77316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Vendor Lock-in:</a:t>
            </a:r>
            <a:r>
              <a:rPr sz="1300" b="0">
                <a:solidFill>
                  <a:srgbClr val="9B8EC4"/>
                </a:solidFill>
                <a:latin typeface="Calibri"/>
              </a:rPr>
              <a:t> Expensive to switch individual tools, but no unified moat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2A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Visionary Leadership Driving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Our experienced leadership team brings deep expertise in SaaS, AI, and enterprise product development, poised to execute on our ambitious vision.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Ivan Zhao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Product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Founder &amp; CEO. Visionary leader behind Notion's iconic product philosophy and design. Experience in scaling productivity platforms.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Akshay Kothari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Operational Excellence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COO. Proven operator with extensive experience in scaling high-growth SaaS companies and driving global market expansion.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Rahul Vohra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AI &amp; UX Leadership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Head of Product. Expert in AI-driven product strategy and user experience, with a track record of building beloved software.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Maria Sanchez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A5E9"/>
                </a:solidFill>
                <a:latin typeface="Calibri"/>
              </a:rPr>
              <a:t>Enterprise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VP, Enterprise Sales. Two decades of experience building and leading high-performing sales organizations for B2B SaaS giants.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Aggressive Growth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Our financial forecasts demonstrate robust, accelerated growth, driven by continued enterprise penetration and strong adoption of AI agents.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$350M-$450M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Conservative Y1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Modest AI uptake, stable churn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$500M-$700M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Base Y2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Strong AI adoption, land-and-expand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$800M-$1.2B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Optimistic Y3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Aggressive market penetration &amp; global expansion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85%+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Gross Margins (Est.)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Consistent with SaaS Industry Leaders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These projections are underpinned by our proven market traction, scalable business model, and strategic expansion into new verticals and geographies.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Ask: Fueling the Future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We are seeking $XX Million in Series X funding to accelerate product development, expand our global footprint, and solidify our market leadership.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 &amp; AI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Next-Gen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40% allocated to R&amp;D, focusing on advanced AI agents, multi-agent orchestration, and deeper integration capabilities.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Global Go-to-Market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Market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30% for expanding our enterprise sales teams, strengthening content marketing, and entering key international markets.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Talent Acquisition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Top Talent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20% to attract top-tier engineering, AI research, and sales talent to sustain our innovation pipeline and growth trajectory.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Strategic Reserves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A5E9"/>
                </a:solidFill>
                <a:latin typeface="Calibri"/>
              </a:rPr>
              <a:t>Operational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10% for operational efficiency, infrastructure scaling, and potential opportunistic acquisitions.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Notion: Build the Future of Work.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B8EC4"/>
                </a:solidFill>
                <a:latin typeface="Calibri"/>
              </a:rPr>
              <a:t>The AI workspace that works for you.™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Join us in empowering every team to achieve unparalleled productivity and creativity.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