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31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Stripe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B8EC4"/>
                </a:solidFill>
                <a:latin typeface="Calibri"/>
              </a:rPr>
              <a:t>Financial infrastructure to grow your revenue.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C4E7A"/>
                </a:solidFill>
                <a:latin typeface="Calibri"/>
              </a:rPr>
              <a:t>Stripe provides financial infrastructure to help businesses of all types accept payments, build flexible billing models, and manage money movement, from their first transaction to their billionth.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31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31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Massive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FinTech 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Total Market Opportunity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31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Double-Digit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Market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Strong CAGR in FinTech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31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1.65% GDP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Global Reach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Global Economy Powered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31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Series A Round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Investment Stage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Accelerating Global Growth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31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031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Fragmented Tooling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31323"/>
                </a:solidFill>
                <a:latin typeface="Calibri"/>
              </a:rPr>
              <a:t>High Costs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Businesses struggle with fragmented payment solutions and legacy financial infrastructure, leading to high operational costs and vendor sprawl.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Slow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Calibri"/>
              </a:rPr>
              <a:t>Reduced Productivity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Time-consuming manual processes and complex integrations reduce productivity, diverting critical resources from innovation and growth initiatives.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Stalled Growth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Delayed Expansion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Lack of real-time financial data and complex integrations hinder global expansion and the adoption of new, flexible revenue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31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Stripe Solution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048256"/>
            <a:ext cx="109728" cy="109728"/>
          </a:xfrm>
          <a:prstGeom prst="ellipse">
            <a:avLst/>
          </a:prstGeom>
          <a:solidFill>
            <a:srgbClr val="031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Unified Infrastructure:</a:t>
            </a:r>
            <a:r>
              <a:rPr sz="1400" b="0">
                <a:solidFill>
                  <a:srgbClr val="9B8EC4"/>
                </a:solidFill>
                <a:latin typeface="Calibri"/>
              </a:rPr>
              <a:t> Consolidate all financial operations onto a single, API-first platform, eliminating vendor fragmentation and reducing overhead.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615184"/>
            <a:ext cx="109728" cy="109728"/>
          </a:xfrm>
          <a:prstGeom prst="ellipse">
            <a:avLst/>
          </a:prstGeom>
          <a:solidFill>
            <a:srgbClr val="031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Automated Processes:</a:t>
            </a:r>
            <a:r>
              <a:rPr sz="1400" b="0">
                <a:solidFill>
                  <a:srgbClr val="9B8EC4"/>
                </a:solidFill>
                <a:latin typeface="Calibri"/>
              </a:rPr>
              <a:t> Streamline payments, billing, and money movement with advanced automation, freeing up teams to focus on strategic growth.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182112"/>
            <a:ext cx="109728" cy="109728"/>
          </a:xfrm>
          <a:prstGeom prst="ellipse">
            <a:avLst/>
          </a:prstGeom>
          <a:solidFill>
            <a:srgbClr val="031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3054096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Real-time Insights:</a:t>
            </a:r>
            <a:r>
              <a:rPr sz="1400" b="0">
                <a:solidFill>
                  <a:srgbClr val="9B8EC4"/>
                </a:solidFill>
                <a:latin typeface="Calibri"/>
              </a:rPr>
              <a:t> Access comprehensive, real-time financial data to enable agile decision-making and rapid response to market changes.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0" y="2048256"/>
            <a:ext cx="109728" cy="109728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Global Scalability:</a:t>
            </a:r>
            <a:r>
              <a:rPr sz="1400" b="0">
                <a:solidFill>
                  <a:srgbClr val="9B8EC4"/>
                </a:solidFill>
                <a:latin typeface="Calibri"/>
              </a:rPr>
              <a:t> Effortlessly expand into new markets and support diverse payment methods, including stablecoins and crypto, with borderless money movement.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2615184"/>
            <a:ext cx="109728" cy="109728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Flexible Revenue Models:</a:t>
            </a:r>
            <a:r>
              <a:rPr sz="1400" b="0">
                <a:solidFill>
                  <a:srgbClr val="9B8EC4"/>
                </a:solidFill>
                <a:latin typeface="Calibri"/>
              </a:rPr>
              <a:t> Build and monetize any billing model, from subscriptions to agentic commerce, with developer-friendly tools.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31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031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Global Payments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31323"/>
                </a:solidFill>
                <a:latin typeface="Calibri"/>
              </a:rPr>
              <a:t>1.65% GDP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Accept and optimize payments worldwide, online and in person, reducing friction for customers and expanding market reach.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Flexible Billing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Calibri"/>
              </a:rPr>
              <a:t>Any Billing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Enable any billing model, from subscriptions to custom plans, empowering businesses to innovate on new revenue streams and monetize agentic commerce.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Embedded Finance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API-First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Create card issuing programs and embed payments directly into platforms, extending financial services and building new monetization channels with a modern cloud stack.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31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31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Massive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Total Addressable Market (TAM)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Global FinTech Infrastructure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31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Significant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Serviceable Available Market (SAM)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Digital Commerce &amp; Financial Services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31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Achievable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Serviceable Obtainable Market (SOM)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3-Year Capture Target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31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Double-Digit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Market Growth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Strong CAGR in FinTech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31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BUSINESS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031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Usage-Based Payments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31323"/>
                </a:solidFill>
                <a:latin typeface="Calibri"/>
              </a:rPr>
              <a:t>Per Transaction Fee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Primary revenue driven by transaction volume and value processed across all payment methods, scaling directly with customer growth.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Subscription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Calibri"/>
              </a:rPr>
              <a:t>Monthly / Annual Fees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Recurring revenue from advanced features like billing, fraud prevention, and specific financial tools, offering predictable growth.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Platform Expansion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$Thousands - $Millions / Year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Monetization through value-added services such as card issuing, stablecoin access, and agentic commerce, capturing additional financial flows.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31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TRACTION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02676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31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39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1.65% GDP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39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Global Commerce Powered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182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Indicating significant market penetration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81568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31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5284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3+ Brands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284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Enterprise Adoption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712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Including Hertz, URBN, Instacart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0460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31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17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3 Testimonials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17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Customer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0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Strong qualitative feedback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Stripe demonstrates significant global momentum, powering critical commerce for leading enterprises and showing strong market demand for its unified financial infrastructure.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31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Go-to-Market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Unifying global commerce through a multi-pronged approach that scales from startups to enterprises.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48256"/>
            <a:ext cx="109728" cy="109728"/>
          </a:xfrm>
          <a:prstGeom prst="ellipse">
            <a:avLst/>
          </a:prstGeom>
          <a:solidFill>
            <a:srgbClr val="031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Product-Led Growth (PLG):</a:t>
            </a:r>
            <a:r>
              <a:rPr sz="1400" b="0">
                <a:solidFill>
                  <a:srgbClr val="9B8EC4"/>
                </a:solidFill>
                <a:latin typeface="Calibri"/>
              </a:rPr>
              <a:t> Drive organic adoption among SMBs and startups with developer-friendly APIs and self-serve onboarding.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15184"/>
            <a:ext cx="109728" cy="109728"/>
          </a:xfrm>
          <a:prstGeom prst="ellipse">
            <a:avLst/>
          </a:prstGeom>
          <a:solidFill>
            <a:srgbClr val="031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Strategic Enterprise Sales:</a:t>
            </a:r>
            <a:r>
              <a:rPr sz="1400" b="0">
                <a:solidFill>
                  <a:srgbClr val="9B8EC4"/>
                </a:solidFill>
                <a:latin typeface="Calibri"/>
              </a:rPr>
              <a:t> Target global enterprises with dedicated direct sales teams, offering tailored solutions for digital transformation and consolidation.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2048256"/>
            <a:ext cx="109728" cy="109728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Ecosystem Partnerships:</a:t>
            </a:r>
            <a:r>
              <a:rPr sz="1400" b="0">
                <a:solidFill>
                  <a:srgbClr val="9B8EC4"/>
                </a:solidFill>
                <a:latin typeface="Calibri"/>
              </a:rPr>
              <a:t> Embed Stripe as the financial infrastructure backbone within leading SaaS platforms, marketplaces, and developer tools.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2615184"/>
            <a:ext cx="109728" cy="109728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Land-and-Expand Model:</a:t>
            </a:r>
            <a:r>
              <a:rPr sz="1400" b="0">
                <a:solidFill>
                  <a:srgbClr val="9B8EC4"/>
                </a:solidFill>
                <a:latin typeface="Calibri"/>
              </a:rPr>
              <a:t> Initiate with core payment processing, then cross-sell advanced financial services like billing, issuing, and AI-powered tools as customer needs evolve.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31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5303520" cy="4114800"/>
          </a:xfrm>
          <a:prstGeom prst="rect">
            <a:avLst/>
          </a:prstGeom>
          <a:solidFill>
            <a:srgbClr val="1A1130"/>
          </a:solidFill>
          <a:ln w="19050">
            <a:solidFill>
              <a:srgbClr val="031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303520" cy="64008"/>
          </a:xfrm>
          <a:prstGeom prst="rect">
            <a:avLst/>
          </a:prstGeom>
          <a:solidFill>
            <a:srgbClr val="031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Stripe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31323"/>
                </a:solidFill>
                <a:latin typeface="Calibri"/>
              </a:rPr>
              <a:t>Comprehensive &amp; Integrated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</a:t>
            </a:r>
            <a:r>
              <a:rPr sz="1300" b="1">
                <a:solidFill>
                  <a:srgbClr val="9B8EC4"/>
                </a:solidFill>
                <a:latin typeface="Calibri"/>
              </a:rPr>
              <a:t>API-First Design:</a:t>
            </a:r>
            <a:r>
              <a:rPr sz="1300" b="0">
                <a:solidFill>
                  <a:srgbClr val="9B8EC4"/>
                </a:solidFill>
                <a:latin typeface="Calibri"/>
              </a:rPr>
              <a:t> Modern, developer-friendly architecture for deep integration and custom solutions.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</a:t>
            </a:r>
            <a:r>
              <a:rPr sz="1300" b="1">
                <a:solidFill>
                  <a:srgbClr val="9B8EC4"/>
                </a:solidFill>
                <a:latin typeface="Calibri"/>
              </a:rPr>
              <a:t>Unified Platform:</a:t>
            </a:r>
            <a:r>
              <a:rPr sz="1300" b="0">
                <a:solidFill>
                  <a:srgbClr val="9B8EC4"/>
                </a:solidFill>
                <a:latin typeface="Calibri"/>
              </a:rPr>
              <a:t> Consolidates payments, billing, issuing, and crypto onto a single infrastructure.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</a:t>
            </a:r>
            <a:r>
              <a:rPr sz="1300" b="1">
                <a:solidFill>
                  <a:srgbClr val="9B8EC4"/>
                </a:solidFill>
                <a:latin typeface="Calibri"/>
              </a:rPr>
              <a:t>Global Scalability:</a:t>
            </a:r>
            <a:r>
              <a:rPr sz="1300" b="0">
                <a:solidFill>
                  <a:srgbClr val="9B8EC4"/>
                </a:solidFill>
                <a:latin typeface="Calibri"/>
              </a:rPr>
              <a:t> Built for borderless money movement, supporting businesses from SMBs to enterprises.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342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</a:t>
            </a:r>
            <a:r>
              <a:rPr sz="1300" b="1">
                <a:solidFill>
                  <a:srgbClr val="9B8EC4"/>
                </a:solidFill>
                <a:latin typeface="Calibri"/>
              </a:rPr>
              <a:t>Strong Moat:</a:t>
            </a:r>
            <a:r>
              <a:rPr sz="1300" b="0">
                <a:solidFill>
                  <a:srgbClr val="9B8EC4"/>
                </a:solidFill>
                <a:latin typeface="Calibri"/>
              </a:rPr>
              <a:t> High switching costs and network effects due to deep operational embedding.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737360"/>
            <a:ext cx="5303520" cy="4114800"/>
          </a:xfrm>
          <a:prstGeom prst="rect">
            <a:avLst/>
          </a:prstGeom>
          <a:solidFill>
            <a:srgbClr val="1A113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737360"/>
            <a:ext cx="5303520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Legacy &amp; Generic Competitors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Calibri"/>
              </a:rPr>
              <a:t>Fragmented &amp; Inflexible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</a:t>
            </a:r>
            <a:r>
              <a:rPr sz="1300" b="1">
                <a:solidFill>
                  <a:srgbClr val="9B8EC4"/>
                </a:solidFill>
                <a:latin typeface="Calibri"/>
              </a:rPr>
              <a:t>Slow &amp; Expensive:</a:t>
            </a:r>
            <a:r>
              <a:rPr sz="1300" b="0">
                <a:solidFill>
                  <a:srgbClr val="9B8EC4"/>
                </a:solidFill>
                <a:latin typeface="Calibri"/>
              </a:rPr>
              <a:t> Legacy systems characterized by manual processes and high operational costs.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</a:t>
            </a:r>
            <a:r>
              <a:rPr sz="1300" b="1">
                <a:solidFill>
                  <a:srgbClr val="9B8EC4"/>
                </a:solidFill>
                <a:latin typeface="Calibri"/>
              </a:rPr>
              <a:t>Point Solutions:</a:t>
            </a:r>
            <a:r>
              <a:rPr sz="1300" b="0">
                <a:solidFill>
                  <a:srgbClr val="9B8EC4"/>
                </a:solidFill>
                <a:latin typeface="Calibri"/>
              </a:rPr>
              <a:t> Fragmented tools requiring complex integrations and multiple vendors.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</a:t>
            </a:r>
            <a:r>
              <a:rPr sz="1300" b="1">
                <a:solidFill>
                  <a:srgbClr val="9B8EC4"/>
                </a:solidFill>
                <a:latin typeface="Calibri"/>
              </a:rPr>
              <a:t>Not Purpose-Built:</a:t>
            </a:r>
            <a:r>
              <a:rPr sz="1300" b="0">
                <a:solidFill>
                  <a:srgbClr val="9B8EC4"/>
                </a:solidFill>
                <a:latin typeface="Calibri"/>
              </a:rPr>
              <a:t> Generic platforms adapted, lacking specialized FinTech capabilities.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3342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</a:t>
            </a:r>
            <a:r>
              <a:rPr sz="1300" b="1">
                <a:solidFill>
                  <a:srgbClr val="9B8EC4"/>
                </a:solidFill>
                <a:latin typeface="Calibri"/>
              </a:rPr>
              <a:t>Limited Innovation:</a:t>
            </a:r>
            <a:r>
              <a:rPr sz="1300" b="0">
                <a:solidFill>
                  <a:srgbClr val="9B8EC4"/>
                </a:solidFill>
                <a:latin typeface="Calibri"/>
              </a:rPr>
              <a:t> Slower to adopt new payment methods (e.g., crypto) and advanced financial services.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2011680"/>
            <a:ext cx="27432" cy="3566160"/>
          </a:xfrm>
          <a:prstGeom prst="rect">
            <a:avLst/>
          </a:prstGeom>
          <a:solidFill>
            <a:srgbClr val="2A1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31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031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Experienced Leadership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31323"/>
                </a:solidFill>
                <a:latin typeface="Calibri"/>
              </a:rPr>
              <a:t>Details on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A seasoned executive team with deep expertise in financial technology, global commerce, and scalable infrastructure.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Engineering Excellence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Calibri"/>
              </a:rPr>
              <a:t>Proven innovation track record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World-class developers and architects focused on building robust, API-first, and highly secure financial infrastructure.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Market Visionaries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Industry-recognized experts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Founders and strategists recognized for shaping the future of digital payments and embedded finance globally.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31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FINANCIALS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31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$15M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Projected Y1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Initial adoption by fast-growing SMBs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31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$75M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Projected Y2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Strong product-led growth and enterprise traction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31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$150M+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Projected Y3 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Significant enterprise wins &amp; cross-sell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31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Usage-Based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Key Assumption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Revenue scales directly with transaction volume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Our highly scalable usage-based model ensures strong unit economics and a clear path to profitability as we capture increasing transaction volumes across diverse customer segments.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31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Seeking $50M to Accelerate Global FinTech Infrastructure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031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Accelerate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31323"/>
                </a:solidFill>
                <a:latin typeface="Calibri"/>
              </a:rPr>
              <a:t>40% of Raise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Invest in next-generation financial services, AI-driven automation, and new global payment methods to expand our platform's capabilities.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Scale Go-to-Market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Calibri"/>
              </a:rPr>
              <a:t>35% of Raise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Expand enterprise sales teams, deepen ecosystem partnerships, and amplify product-led growth initiatives globally.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Strategic Talent &amp; 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25% of Raise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Recruit top engineering and sales talent, and strengthen operational infrastructure to support rapid global expansion and regulatory compliance.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31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Powering the Future of Global Commerce.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B8EC4"/>
                </a:solidFill>
                <a:latin typeface="Calibri"/>
              </a:rPr>
              <a:t>Backed by the right partners, Stripe will become the universal standard for digital finance.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C4E7A"/>
                </a:solidFill>
                <a:latin typeface="Calibri"/>
              </a:rPr>
              <a:t>Learn more at stripe.com or contact us for a detailed discussion.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