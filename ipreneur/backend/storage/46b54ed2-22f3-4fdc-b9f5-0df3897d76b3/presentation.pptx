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0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MuscleBlaze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D27081"/>
                </a:solidFill>
                <a:latin typeface="Calibri"/>
              </a:rPr>
              <a:t>Fueling India's Fitness Revolution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20011"/>
                </a:solidFill>
                <a:latin typeface="Calibri"/>
              </a:rPr>
              <a:t>India's #1 Sports Nutrition &amp; Bodybuilding Supplements Brand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20011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DA0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0011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27081"/>
                </a:solidFill>
                <a:latin typeface="Calibri"/>
              </a:rPr>
              <a:t>Leading India's Sports Nutrition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E0E1E"/>
          </a:solidFill>
          <a:ln w="19050">
            <a:solidFill>
              <a:srgbClr val="DA0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50,000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27081"/>
                </a:solidFill>
                <a:latin typeface="Calibri"/>
              </a:rPr>
              <a:t>Total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20011"/>
                </a:solidFill>
                <a:latin typeface="Calibri"/>
              </a:rPr>
              <a:t>Active customer 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E0E1E"/>
          </a:solidFill>
          <a:ln w="1905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40,000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27081"/>
                </a:solidFill>
                <a:latin typeface="Calibri"/>
              </a:rPr>
              <a:t>Monthly Active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20011"/>
                </a:solidFill>
                <a:latin typeface="Calibri"/>
              </a:rPr>
              <a:t>Engaged users on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27081"/>
                </a:solidFill>
                <a:latin typeface="Calibri"/>
              </a:rPr>
              <a:t>MuscleBlaze has cemented its position as India's trusted leader in sports nutrition, driven by innovation and a deep understanding of consumer needs. Our pioneering approach to product development, including tech-enabled authentication and Biozyme Whey, addresses critical market gaps and delivers unmatched results.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7081"/>
                </a:solidFill>
                <a:latin typeface="Calibri"/>
              </a:rPr>
              <a:t>›  </a:t>
            </a:r>
            <a:r>
              <a:rPr sz="1300" b="1">
                <a:solidFill>
                  <a:srgbClr val="D27081"/>
                </a:solidFill>
                <a:latin typeface="Calibri"/>
              </a:rPr>
              <a:t>Market Leadership:</a:t>
            </a:r>
            <a:r>
              <a:rPr sz="1300" b="0">
                <a:solidFill>
                  <a:srgbClr val="D27081"/>
                </a:solidFill>
                <a:latin typeface="Calibri"/>
              </a:rPr>
              <a:t> Dominant player in India's rapidly growing sports nutrition market.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7081"/>
                </a:solidFill>
                <a:latin typeface="Calibri"/>
              </a:rPr>
              <a:t>›  </a:t>
            </a:r>
            <a:r>
              <a:rPr sz="1300" b="1">
                <a:solidFill>
                  <a:srgbClr val="D27081"/>
                </a:solidFill>
                <a:latin typeface="Calibri"/>
              </a:rPr>
              <a:t>Innovative Products:</a:t>
            </a:r>
            <a:r>
              <a:rPr sz="1300" b="0">
                <a:solidFill>
                  <a:srgbClr val="D27081"/>
                </a:solidFill>
                <a:latin typeface="Calibri"/>
              </a:rPr>
              <a:t> First-to-market with Biozyme Whey, clinically proven for 50% higher protein absorption in Indian bodies.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7081"/>
                </a:solidFill>
                <a:latin typeface="Calibri"/>
              </a:rPr>
              <a:t>›  </a:t>
            </a:r>
            <a:r>
              <a:rPr sz="1300" b="1">
                <a:solidFill>
                  <a:srgbClr val="D27081"/>
                </a:solidFill>
                <a:latin typeface="Calibri"/>
              </a:rPr>
              <a:t>Authenticity Focus:</a:t>
            </a:r>
            <a:r>
              <a:rPr sz="1300" b="0">
                <a:solidFill>
                  <a:srgbClr val="D27081"/>
                </a:solidFill>
                <a:latin typeface="Calibri"/>
              </a:rPr>
              <a:t> Pioneered tech-enabled authentication and protein test certificates to combat rampant counterfeiting.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DA0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0011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Massive 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27081"/>
                </a:solidFill>
                <a:latin typeface="Calibri"/>
              </a:rPr>
              <a:t>India's Sports Nutrition Market on a Growth Trajectory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E0E1E"/>
          </a:solidFill>
          <a:ln w="19050">
            <a:solidFill>
              <a:srgbClr val="DA0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$1.91B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27081"/>
                </a:solidFill>
                <a:latin typeface="Calibri"/>
              </a:rPr>
              <a:t>TAM (2025)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20011"/>
                </a:solidFill>
                <a:latin typeface="Calibri"/>
              </a:rPr>
              <a:t>India Sports Nutrition Market Size · Source: IMARC Group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E0E1E"/>
          </a:solidFill>
          <a:ln w="1905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6.45%-13%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27081"/>
                </a:solidFill>
                <a:latin typeface="Calibri"/>
              </a:rPr>
              <a:t>CAGR (2025-2030)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20011"/>
                </a:solidFill>
                <a:latin typeface="Calibri"/>
              </a:rPr>
              <a:t>Projected Growth Rate · Source: IMARC Group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27081"/>
                </a:solidFill>
                <a:latin typeface="Calibri"/>
              </a:rPr>
              <a:t>The Indian sports nutrition market is experiencing explosive growth, fueled by increasing health consciousness, rising disposable incomes, and the burgeoning fitness culture. MuscleBlaze is ideally positioned to capture a significant share of this expanding market with its tailored product offerings and strong brand presence.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7081"/>
                </a:solidFill>
                <a:latin typeface="Calibri"/>
              </a:rPr>
              <a:t>›  </a:t>
            </a:r>
            <a:r>
              <a:rPr sz="1300" b="1">
                <a:solidFill>
                  <a:srgbClr val="D27081"/>
                </a:solidFill>
                <a:latin typeface="Calibri"/>
              </a:rPr>
              <a:t>Rapid Urbanization &amp; Fitness:</a:t>
            </a:r>
            <a:r>
              <a:rPr sz="1300" b="0">
                <a:solidFill>
                  <a:srgbClr val="D27081"/>
                </a:solidFill>
                <a:latin typeface="Calibri"/>
              </a:rPr>
              <a:t> Growing awareness of health and fitness drives demand for performance supplements.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7081"/>
                </a:solidFill>
                <a:latin typeface="Calibri"/>
              </a:rPr>
              <a:t>›  </a:t>
            </a:r>
            <a:r>
              <a:rPr sz="1300" b="1">
                <a:solidFill>
                  <a:srgbClr val="D27081"/>
                </a:solidFill>
                <a:latin typeface="Calibri"/>
              </a:rPr>
              <a:t>Rising Disposable Income:</a:t>
            </a:r>
            <a:r>
              <a:rPr sz="1300" b="0">
                <a:solidFill>
                  <a:srgbClr val="D27081"/>
                </a:solidFill>
                <a:latin typeface="Calibri"/>
              </a:rPr>
              <a:t> Consumers are increasingly willing to invest in premium nutrition products.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7081"/>
                </a:solidFill>
                <a:latin typeface="Calibri"/>
              </a:rPr>
              <a:t>›  </a:t>
            </a:r>
            <a:r>
              <a:rPr sz="1300" b="1">
                <a:solidFill>
                  <a:srgbClr val="D27081"/>
                </a:solidFill>
                <a:latin typeface="Calibri"/>
              </a:rPr>
              <a:t>E-commerce Penetration:</a:t>
            </a:r>
            <a:r>
              <a:rPr sz="1300" b="0">
                <a:solidFill>
                  <a:srgbClr val="D27081"/>
                </a:solidFill>
                <a:latin typeface="Calibri"/>
              </a:rPr>
              <a:t> Digital channels provide unprecedented reach to a wider audience across India.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DA0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0011"/>
                </a:solidFill>
                <a:latin typeface="Calibri"/>
              </a:rPr>
              <a:t>PROBLEM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Problem &amp;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27081"/>
                </a:solidFill>
                <a:latin typeface="Calibri"/>
              </a:rPr>
              <a:t>Addressing Key Challenges in Indian Sports Nutrition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1E0E1E"/>
          </a:solidFill>
          <a:ln w="19050">
            <a:solidFill>
              <a:srgbClr val="DA0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03520" cy="64008"/>
          </a:xfrm>
          <a:prstGeom prst="rect">
            <a:avLst/>
          </a:prstGeom>
          <a:solidFill>
            <a:srgbClr val="DA0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A0027"/>
                </a:solidFill>
                <a:latin typeface="Calibri"/>
              </a:rPr>
              <a:t>Inauthentic products &amp; poor absorption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7081"/>
                </a:solidFill>
                <a:latin typeface="Calibri"/>
              </a:rPr>
              <a:t>•  </a:t>
            </a:r>
            <a:r>
              <a:rPr sz="1300" b="1">
                <a:solidFill>
                  <a:srgbClr val="D27081"/>
                </a:solidFill>
                <a:latin typeface="Calibri"/>
              </a:rPr>
              <a:t>Widespread Counterfeiting:</a:t>
            </a:r>
            <a:r>
              <a:rPr sz="1300" b="0">
                <a:solidFill>
                  <a:srgbClr val="D27081"/>
                </a:solidFill>
                <a:latin typeface="Calibri"/>
              </a:rPr>
              <a:t> Up to 30-40% of supplements in India are fake, risking consumer health and trust.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7081"/>
                </a:solidFill>
                <a:latin typeface="Calibri"/>
              </a:rPr>
              <a:t>•  </a:t>
            </a:r>
            <a:r>
              <a:rPr sz="1300" b="1">
                <a:solidFill>
                  <a:srgbClr val="D27081"/>
                </a:solidFill>
                <a:latin typeface="Calibri"/>
              </a:rPr>
              <a:t>Suboptimal Absorption:</a:t>
            </a:r>
            <a:r>
              <a:rPr sz="1300" b="0">
                <a:solidFill>
                  <a:srgbClr val="D27081"/>
                </a:solidFill>
                <a:latin typeface="Calibri"/>
              </a:rPr>
              <a:t> Generic protein formulas often don't account for Indian dietary habits and digestive systems, leading to poor results.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7081"/>
                </a:solidFill>
                <a:latin typeface="Calibri"/>
              </a:rPr>
              <a:t>•  </a:t>
            </a:r>
            <a:r>
              <a:rPr sz="1300" b="1">
                <a:solidFill>
                  <a:srgbClr val="D27081"/>
                </a:solidFill>
                <a:latin typeface="Calibri"/>
              </a:rPr>
              <a:t>Lack of Transparency:</a:t>
            </a:r>
            <a:r>
              <a:rPr sz="1300" b="0">
                <a:solidFill>
                  <a:srgbClr val="D27081"/>
                </a:solidFill>
                <a:latin typeface="Calibri"/>
              </a:rPr>
              <a:t> Consumers struggle to verify product authenticity and protein quality, leading to skepticism.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7081"/>
                </a:solidFill>
                <a:latin typeface="Calibri"/>
              </a:rPr>
              <a:t>•  </a:t>
            </a:r>
            <a:r>
              <a:rPr sz="1300" b="1">
                <a:solidFill>
                  <a:srgbClr val="D27081"/>
                </a:solidFill>
                <a:latin typeface="Calibri"/>
              </a:rPr>
              <a:t>Inconsistent Quality:</a:t>
            </a:r>
            <a:r>
              <a:rPr sz="1300" b="0">
                <a:solidFill>
                  <a:srgbClr val="D27081"/>
                </a:solidFill>
                <a:latin typeface="Calibri"/>
              </a:rPr>
              <a:t> Many brands lack rigorous testing and quality control, leading to variable product efficacy.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solidFill>
            <a:srgbClr val="1E0E1E"/>
          </a:solidFill>
          <a:ln w="1905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737360"/>
            <a:ext cx="5303520" cy="64008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Our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64646"/>
                </a:solidFill>
                <a:latin typeface="Calibri"/>
              </a:rPr>
              <a:t>Clinically proven absorption &amp; guaranteed authenticity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7081"/>
                </a:solidFill>
                <a:latin typeface="Calibri"/>
              </a:rPr>
              <a:t>•  </a:t>
            </a:r>
            <a:r>
              <a:rPr sz="1300" b="1">
                <a:solidFill>
                  <a:srgbClr val="D27081"/>
                </a:solidFill>
                <a:latin typeface="Calibri"/>
              </a:rPr>
              <a:t>Biozyme Whey Technology:</a:t>
            </a:r>
            <a:r>
              <a:rPr sz="1300" b="0">
                <a:solidFill>
                  <a:srgbClr val="D27081"/>
                </a:solidFill>
                <a:latin typeface="Calibri"/>
              </a:rPr>
              <a:t> Clinically tested for Indian bodies, providing 50% higher protein absorption and 60% better BCAA absorption.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7081"/>
                </a:solidFill>
                <a:latin typeface="Calibri"/>
              </a:rPr>
              <a:t>•  </a:t>
            </a:r>
            <a:r>
              <a:rPr sz="1300" b="1">
                <a:solidFill>
                  <a:srgbClr val="D27081"/>
                </a:solidFill>
                <a:latin typeface="Calibri"/>
              </a:rPr>
              <a:t>Tech-Enabled Authentication:</a:t>
            </a:r>
            <a:r>
              <a:rPr sz="1300" b="0">
                <a:solidFill>
                  <a:srgbClr val="D27081"/>
                </a:solidFill>
                <a:latin typeface="Calibri"/>
              </a:rPr>
              <a:t> QR codes and scratch-off verification ensure 100% genuine products, building unparalleled trust.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7081"/>
                </a:solidFill>
                <a:latin typeface="Calibri"/>
              </a:rPr>
              <a:t>•  </a:t>
            </a:r>
            <a:r>
              <a:rPr sz="1300" b="1">
                <a:solidFill>
                  <a:srgbClr val="D27081"/>
                </a:solidFill>
                <a:latin typeface="Calibri"/>
              </a:rPr>
              <a:t>Protein Test Certificates:</a:t>
            </a:r>
            <a:r>
              <a:rPr sz="1300" b="0">
                <a:solidFill>
                  <a:srgbClr val="D27081"/>
                </a:solidFill>
                <a:latin typeface="Calibri"/>
              </a:rPr>
              <a:t> Publicly available lab reports for every batch, guaranteeing declared protein content.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7081"/>
                </a:solidFill>
                <a:latin typeface="Calibri"/>
              </a:rPr>
              <a:t>•  </a:t>
            </a:r>
            <a:r>
              <a:rPr sz="1300" b="1">
                <a:solidFill>
                  <a:srgbClr val="D27081"/>
                </a:solidFill>
                <a:latin typeface="Calibri"/>
              </a:rPr>
              <a:t>Consumer-Centric Innovation:</a:t>
            </a:r>
            <a:r>
              <a:rPr sz="1300" b="0">
                <a:solidFill>
                  <a:srgbClr val="D27081"/>
                </a:solidFill>
                <a:latin typeface="Calibri"/>
              </a:rPr>
              <a:t> Continuous R&amp;D focused on Indian physiological needs, taste preferences, and ingredient sourcing.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011680"/>
            <a:ext cx="27432" cy="3566160"/>
          </a:xfrm>
          <a:prstGeom prst="rect">
            <a:avLst/>
          </a:prstGeom>
          <a:solidFill>
            <a:srgbClr val="45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DA0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0011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Our Differentiated Product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27081"/>
                </a:solidFill>
                <a:latin typeface="Calibri"/>
              </a:rPr>
              <a:t>Innovation at the Core of MuscleBlaze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E0E1E"/>
          </a:solidFill>
          <a:ln w="12700">
            <a:solidFill>
              <a:srgbClr val="45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DA0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Biozyme Performance Whey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A0027"/>
                </a:solidFill>
                <a:latin typeface="Calibri"/>
              </a:rPr>
              <a:t>50% Higher Absorption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7081"/>
                </a:solidFill>
                <a:latin typeface="Calibri"/>
              </a:rPr>
              <a:t>Clinically tested for Indian bodies, ensuring superior protein and BCAA uptake. Patented Biozyme technology for enhanced digestion.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E0E1E"/>
          </a:solidFill>
          <a:ln w="12700">
            <a:solidFill>
              <a:srgbClr val="45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CreAMP Creatine Monohydrate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64646"/>
                </a:solidFill>
                <a:latin typeface="Calibri"/>
              </a:rPr>
              <a:t>Enhanced Strength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7081"/>
                </a:solidFill>
                <a:latin typeface="Calibri"/>
              </a:rPr>
              <a:t>Highly potent and pure creatine formulation for increased strength, power, and muscle endurance during workouts.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E0E1E"/>
          </a:solidFill>
          <a:ln w="12700">
            <a:solidFill>
              <a:srgbClr val="45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90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Authenticity &amp; 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02336"/>
                </a:solidFill>
                <a:latin typeface="Calibri"/>
              </a:rPr>
              <a:t>100% Genuine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7081"/>
                </a:solidFill>
                <a:latin typeface="Calibri"/>
              </a:rPr>
              <a:t>Pioneering tech-enabled authentication, protein test certificates, and scoop-on-top packaging for guaranteed quality.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E0E1E"/>
          </a:solidFill>
          <a:ln w="12700">
            <a:solidFill>
              <a:srgbClr val="45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E33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Diverse Range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33F5D"/>
                </a:solidFill>
                <a:latin typeface="Calibri"/>
              </a:rPr>
              <a:t>All Fitness Goals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7081"/>
                </a:solidFill>
                <a:latin typeface="Calibri"/>
              </a:rPr>
              <a:t>From pre-workouts and gainers to vitamins and fat loss supplements, catering to lean muscle, bulking, and overall wellness.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DA0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0011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Scalable 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27081"/>
                </a:solidFill>
                <a:latin typeface="Calibri"/>
              </a:rPr>
              <a:t>Multi-Channel Approach to Market Domination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E0E1E"/>
          </a:solidFill>
          <a:ln w="12700">
            <a:solidFill>
              <a:srgbClr val="45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DA0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Direct-to-Consumer (DTC)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A0027"/>
                </a:solidFill>
                <a:latin typeface="Calibri"/>
              </a:rPr>
              <a:t>High Margins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7081"/>
                </a:solidFill>
                <a:latin typeface="Calibri"/>
              </a:rPr>
              <a:t>Primary sales channel via muscleblaze.com, ensuring direct customer engagement and control over brand experience.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E0E1E"/>
          </a:solidFill>
          <a:ln w="12700">
            <a:solidFill>
              <a:srgbClr val="45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E-commerce Marketplaces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64646"/>
                </a:solidFill>
                <a:latin typeface="Calibri"/>
              </a:rPr>
              <a:t>Wider Reach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7081"/>
                </a:solidFill>
                <a:latin typeface="Calibri"/>
              </a:rPr>
              <a:t>Presence on major Indian e-commerce platforms to tap into diverse consumer segments and expand geographical reach.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E0E1E"/>
          </a:solidFill>
          <a:ln w="12700">
            <a:solidFill>
              <a:srgbClr val="45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90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Retail 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02336"/>
                </a:solidFill>
                <a:latin typeface="Calibri"/>
              </a:rPr>
              <a:t>Offline Presence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7081"/>
                </a:solidFill>
                <a:latin typeface="Calibri"/>
              </a:rPr>
              <a:t>Strategic partnerships with retail chains and local supplement stores for physical accessibility and brand visibility.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E0E1E"/>
          </a:solidFill>
          <a:ln w="12700">
            <a:solidFill>
              <a:srgbClr val="45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E33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Subscription &amp; Loyalty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33F5D"/>
                </a:solidFill>
                <a:latin typeface="Calibri"/>
              </a:rPr>
              <a:t>Customer Retention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7081"/>
                </a:solidFill>
                <a:latin typeface="Calibri"/>
              </a:rPr>
              <a:t>Developing loyalty programs and subscription models to encourage repeat purchases and build long-term customer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DA0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0011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Proven Traction &amp;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27081"/>
                </a:solidFill>
                <a:latin typeface="Calibri"/>
              </a:rPr>
              <a:t>Consistent Performance and Market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E0E1E"/>
          </a:solidFill>
          <a:ln w="19050">
            <a:solidFill>
              <a:srgbClr val="DA0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$150,000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27081"/>
                </a:solidFill>
                <a:latin typeface="Calibri"/>
              </a:rPr>
              <a:t>Annual Recurring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20011"/>
                </a:solidFill>
                <a:latin typeface="Calibri"/>
              </a:rPr>
              <a:t>As of Q1 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E0E1E"/>
          </a:solidFill>
          <a:ln w="1905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$50,000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27081"/>
                </a:solidFill>
                <a:latin typeface="Calibri"/>
              </a:rPr>
              <a:t>Monthly Recurring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20011"/>
                </a:solidFill>
                <a:latin typeface="Calibri"/>
              </a:rPr>
              <a:t>As of Q1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27081"/>
                </a:solidFill>
                <a:latin typeface="Calibri"/>
              </a:rPr>
              <a:t>MuscleBlaze has demonstrated significant and consistent growth, validating our product-market fit and effective go-to-market strategy. Our financials reflect strong customer acquisition and retention in a competitive landscape.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7081"/>
                </a:solidFill>
                <a:latin typeface="Calibri"/>
              </a:rPr>
              <a:t>›  </a:t>
            </a:r>
            <a:r>
              <a:rPr sz="1300" b="1">
                <a:solidFill>
                  <a:srgbClr val="D27081"/>
                </a:solidFill>
                <a:latin typeface="Calibri"/>
              </a:rPr>
              <a:t>Robust ARR:</a:t>
            </a:r>
            <a:r>
              <a:rPr sz="1300" b="0">
                <a:solidFill>
                  <a:srgbClr val="D27081"/>
                </a:solidFill>
                <a:latin typeface="Calibri"/>
              </a:rPr>
              <a:t> Annual Recurring Revenue of $150,000, showcasing strong recurring demand for our products.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7081"/>
                </a:solidFill>
                <a:latin typeface="Calibri"/>
              </a:rPr>
              <a:t>›  </a:t>
            </a:r>
            <a:r>
              <a:rPr sz="1300" b="1">
                <a:solidFill>
                  <a:srgbClr val="D27081"/>
                </a:solidFill>
                <a:latin typeface="Calibri"/>
              </a:rPr>
              <a:t>Healthy MRR:</a:t>
            </a:r>
            <a:r>
              <a:rPr sz="1300" b="0">
                <a:solidFill>
                  <a:srgbClr val="D27081"/>
                </a:solidFill>
                <a:latin typeface="Calibri"/>
              </a:rPr>
              <a:t> Monthly Recurring Revenue of $50,000, indicating consistent month-over-month sales.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7081"/>
                </a:solidFill>
                <a:latin typeface="Calibri"/>
              </a:rPr>
              <a:t>›  </a:t>
            </a:r>
            <a:r>
              <a:rPr sz="1300" b="1">
                <a:solidFill>
                  <a:srgbClr val="D27081"/>
                </a:solidFill>
                <a:latin typeface="Calibri"/>
              </a:rPr>
              <a:t>Large Customer Base:</a:t>
            </a:r>
            <a:r>
              <a:rPr sz="1300" b="0">
                <a:solidFill>
                  <a:srgbClr val="D27081"/>
                </a:solidFill>
                <a:latin typeface="Calibri"/>
              </a:rPr>
              <a:t> Over 50,000 total customers, highlighting broad market acceptance and trust.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DA0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0011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27081"/>
                </a:solidFill>
                <a:latin typeface="Calibri"/>
              </a:rPr>
              <a:t>Differentiating in a Crowded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E0E1E"/>
          </a:solidFill>
          <a:ln w="12700">
            <a:solidFill>
              <a:srgbClr val="45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DA0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Optimum Nutrition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A0027"/>
                </a:solidFill>
                <a:latin typeface="Calibri"/>
              </a:rPr>
              <a:t>Global Brand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7081"/>
                </a:solidFill>
                <a:latin typeface="Calibri"/>
              </a:rPr>
              <a:t/>
            </a:r>
            <a:r>
              <a:rPr sz="1300" b="1">
                <a:solidFill>
                  <a:srgbClr val="D27081"/>
                </a:solidFill>
                <a:latin typeface="Calibri"/>
              </a:rPr>
              <a:t>Weakness:</a:t>
            </a:r>
            <a:r>
              <a:rPr sz="1300" b="0">
                <a:solidFill>
                  <a:srgbClr val="D27081"/>
                </a:solidFill>
                <a:latin typeface="Calibri"/>
              </a:rPr>
              <a:t> Higher price per serving compared to MuscleBlaze, making it less accessible for the mass Indian market.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E0E1E"/>
          </a:solidFill>
          <a:ln w="12700">
            <a:solidFill>
              <a:srgbClr val="45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Myprotein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64646"/>
                </a:solidFill>
                <a:latin typeface="Calibri"/>
              </a:rPr>
              <a:t>E-commerce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7081"/>
                </a:solidFill>
                <a:latin typeface="Calibri"/>
              </a:rPr>
              <a:t/>
            </a:r>
            <a:r>
              <a:rPr sz="1300" b="1">
                <a:solidFill>
                  <a:srgbClr val="D27081"/>
                </a:solidFill>
                <a:latin typeface="Calibri"/>
              </a:rPr>
              <a:t>Weakness:</a:t>
            </a:r>
            <a:r>
              <a:rPr sz="1300" b="0">
                <a:solidFill>
                  <a:srgbClr val="D27081"/>
                </a:solidFill>
                <a:latin typeface="Calibri"/>
              </a:rPr>
              <a:t> Taste can be inconsistent for some products, leading to mixed consumer reviews and preferences.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E0E1E"/>
          </a:solidFill>
          <a:ln w="12700">
            <a:solidFill>
              <a:srgbClr val="45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90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Nutrabay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02336"/>
                </a:solidFill>
                <a:latin typeface="Calibri"/>
              </a:rPr>
              <a:t>Distributor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7081"/>
                </a:solidFill>
                <a:latin typeface="Calibri"/>
              </a:rPr>
              <a:t/>
            </a:r>
            <a:r>
              <a:rPr sz="1300" b="1">
                <a:solidFill>
                  <a:srgbClr val="D27081"/>
                </a:solidFill>
                <a:latin typeface="Calibri"/>
              </a:rPr>
              <a:t>Weakness:</a:t>
            </a:r>
            <a:r>
              <a:rPr sz="1300" b="0">
                <a:solidFill>
                  <a:srgbClr val="D27081"/>
                </a:solidFill>
                <a:latin typeface="Calibri"/>
              </a:rPr>
              <a:t> Primarily a distributor of multiple brands, lacking a proprietary brand focus and the direct innovation of MuscleBlaze.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E0E1E"/>
          </a:solidFill>
          <a:ln w="12700">
            <a:solidFill>
              <a:srgbClr val="45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E33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MuscleBlaze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33F5D"/>
                </a:solidFill>
                <a:latin typeface="Calibri"/>
              </a:rPr>
              <a:t>Indian Pioneer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7081"/>
                </a:solidFill>
                <a:latin typeface="Calibri"/>
              </a:rPr>
              <a:t/>
            </a:r>
            <a:r>
              <a:rPr sz="1300" b="1">
                <a:solidFill>
                  <a:srgbClr val="D27081"/>
                </a:solidFill>
                <a:latin typeface="Calibri"/>
              </a:rPr>
              <a:t>Strength:</a:t>
            </a:r>
            <a:r>
              <a:rPr sz="1300" b="0">
                <a:solidFill>
                  <a:srgbClr val="D27081"/>
                </a:solidFill>
                <a:latin typeface="Calibri"/>
              </a:rPr>
              <a:t> Biozyme technology for superior absorption, tech-enabled authenticity, and products tailored for Indian consumers.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DA0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0011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Visionary Leadership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27081"/>
                </a:solidFill>
                <a:latin typeface="Calibri"/>
              </a:rPr>
              <a:t>Experienced Founders Driving Innovation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535527" y="1828800"/>
            <a:ext cx="5120640" cy="3474720"/>
          </a:xfrm>
          <a:prstGeom prst="rect">
            <a:avLst/>
          </a:prstGeom>
          <a:solidFill>
            <a:srgbClr val="1E0E1E"/>
          </a:solidFill>
          <a:ln w="12700">
            <a:solidFill>
              <a:srgbClr val="45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35527" y="1828800"/>
            <a:ext cx="5120640" cy="54864"/>
          </a:xfrm>
          <a:prstGeom prst="rect">
            <a:avLst/>
          </a:prstGeom>
          <a:solidFill>
            <a:srgbClr val="DA0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8407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Sameer Maheshwari — Founder &amp; 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8407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A0027"/>
                </a:solidFill>
                <a:latin typeface="Calibri"/>
              </a:rPr>
              <a:t>Serial Entrepreneur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8407" y="30632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7081"/>
                </a:solidFill>
                <a:latin typeface="Calibri"/>
              </a:rPr>
              <a:t>Education: IIT Delhi, Harvard Business School (MBA). Prior: Consulting and tech roles in India and the U.S., Investment Banking in the U.S. Credential: Founder of HealthKart, Olime, Bright LifeCare and FitSlam, Angel investor in 3 startups, serves on the boards of 2 companies.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DA0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0011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Sizing &amp; 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27081"/>
                </a:solidFill>
                <a:latin typeface="Calibri"/>
              </a:rPr>
              <a:t>Massive Indian Sports Nutrition Opportunity · MuscleBlaze Trajectory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554480"/>
            <a:ext cx="3840480" cy="3840480"/>
          </a:xfrm>
          <a:prstGeom prst="ellipse">
            <a:avLst/>
          </a:prstGeom>
          <a:solidFill>
            <a:srgbClr val="DA0027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920240"/>
            <a:ext cx="3108960" cy="3108960"/>
          </a:xfrm>
          <a:prstGeom prst="ellipse">
            <a:avLst/>
          </a:prstGeom>
          <a:solidFill>
            <a:srgbClr val="4646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25880" y="2331720"/>
            <a:ext cx="2240280" cy="2240280"/>
          </a:xfrm>
          <a:prstGeom prst="ellipse">
            <a:avLst/>
          </a:prstGeom>
          <a:solidFill>
            <a:srgbClr val="902336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8346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20011"/>
                </a:solidFill>
                <a:latin typeface="Calibri"/>
              </a:rPr>
              <a:t>CAGR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1546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33F5D"/>
                </a:solidFill>
                <a:latin typeface="Calibri"/>
              </a:rPr>
              <a:t>6.45%-13%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737360"/>
            <a:ext cx="6675120" cy="914400"/>
          </a:xfrm>
          <a:prstGeom prst="rect">
            <a:avLst/>
          </a:prstGeom>
          <a:solidFill>
            <a:srgbClr val="1E0E1E"/>
          </a:solidFill>
          <a:ln w="12700">
            <a:solidFill>
              <a:srgbClr val="45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46320" y="1737360"/>
            <a:ext cx="64008" cy="914400"/>
          </a:xfrm>
          <a:prstGeom prst="rect">
            <a:avLst/>
          </a:prstGeom>
          <a:solidFill>
            <a:srgbClr val="DA0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828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0011"/>
                </a:solidFill>
                <a:latin typeface="Calibri"/>
              </a:rPr>
              <a:t>TAM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105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A0027"/>
                </a:solidFill>
                <a:latin typeface="Calibri"/>
              </a:rPr>
              <a:t>$1.91B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24028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27081"/>
                </a:solidFill>
                <a:latin typeface="Calibri"/>
              </a:rPr>
              <a:t>India Sports Nutrition Market Size (2025) · Source: IMARC Group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788920"/>
            <a:ext cx="6675120" cy="914400"/>
          </a:xfrm>
          <a:prstGeom prst="rect">
            <a:avLst/>
          </a:prstGeom>
          <a:solidFill>
            <a:srgbClr val="1E0E1E"/>
          </a:solidFill>
          <a:ln w="12700">
            <a:solidFill>
              <a:srgbClr val="45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2788920"/>
            <a:ext cx="64008" cy="9144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880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0011"/>
                </a:solidFill>
                <a:latin typeface="Calibri"/>
              </a:rPr>
              <a:t>SAM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8620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64646"/>
                </a:solidFill>
                <a:latin typeface="Calibri"/>
              </a:rPr>
              <a:t>$1.91B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291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27081"/>
                </a:solidFill>
                <a:latin typeface="Calibri"/>
              </a:rPr>
              <a:t>Entire Indian Sports Nutrition Market (2025)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3840480"/>
            <a:ext cx="6675120" cy="914400"/>
          </a:xfrm>
          <a:prstGeom prst="rect">
            <a:avLst/>
          </a:prstGeom>
          <a:solidFill>
            <a:srgbClr val="1E0E1E"/>
          </a:solidFill>
          <a:ln w="12700">
            <a:solidFill>
              <a:srgbClr val="45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46320" y="3840480"/>
            <a:ext cx="64008" cy="914400"/>
          </a:xfrm>
          <a:prstGeom prst="rect">
            <a:avLst/>
          </a:prstGeom>
          <a:solidFill>
            <a:srgbClr val="90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3931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0011"/>
                </a:solidFill>
                <a:latin typeface="Calibri"/>
              </a:rPr>
              <a:t>SOM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913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902336"/>
                </a:solidFill>
                <a:latin typeface="Calibri"/>
              </a:rPr>
              <a:t>$335M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343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27081"/>
                </a:solidFill>
                <a:latin typeface="Calibri"/>
              </a:rPr>
              <a:t>~17.5% TAM capture · Target by 2027-2029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60720"/>
            <a:ext cx="3657600" cy="685800"/>
          </a:xfrm>
          <a:prstGeom prst="rect">
            <a:avLst/>
          </a:prstGeom>
          <a:solidFill>
            <a:srgbClr val="1E0E1E"/>
          </a:solidFill>
          <a:ln w="12700">
            <a:solidFill>
              <a:srgbClr val="45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27081"/>
                </a:solidFill>
                <a:latin typeface="Calibri"/>
              </a:rPr>
              <a:t/>
            </a:r>
            <a:r>
              <a:rPr sz="1200" b="1">
                <a:solidFill>
                  <a:srgbClr val="D27081"/>
                </a:solidFill>
                <a:latin typeface="Calibri"/>
              </a:rPr>
              <a:t>FY2026:</a:t>
            </a:r>
            <a:r>
              <a:rPr sz="1200" b="0">
                <a:solidFill>
                  <a:srgbClr val="D27081"/>
                </a:solidFill>
                <a:latin typeface="Calibri"/>
              </a:rPr>
              <a:t> $0.7M ARR · 150,000 customers · Expand product lines &amp; strengthen distribution.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5760720"/>
            <a:ext cx="3657600" cy="685800"/>
          </a:xfrm>
          <a:prstGeom prst="rect">
            <a:avLst/>
          </a:prstGeom>
          <a:solidFill>
            <a:srgbClr val="1E0E1E"/>
          </a:solidFill>
          <a:ln w="12700">
            <a:solidFill>
              <a:srgbClr val="45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27081"/>
                </a:solidFill>
                <a:latin typeface="Calibri"/>
              </a:rPr>
              <a:t/>
            </a:r>
            <a:r>
              <a:rPr sz="1200" b="1">
                <a:solidFill>
                  <a:srgbClr val="D27081"/>
                </a:solidFill>
                <a:latin typeface="Calibri"/>
              </a:rPr>
              <a:t>FY2027:</a:t>
            </a:r>
            <a:r>
              <a:rPr sz="1200" b="0">
                <a:solidFill>
                  <a:srgbClr val="D27081"/>
                </a:solidFill>
                <a:latin typeface="Calibri"/>
              </a:rPr>
              <a:t> $2.5M ARR · 500,000 customers · Capture 10% of SOM, Series B raise.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5760720"/>
            <a:ext cx="3657600" cy="685800"/>
          </a:xfrm>
          <a:prstGeom prst="rect">
            <a:avLst/>
          </a:prstGeom>
          <a:solidFill>
            <a:srgbClr val="1E0E1E"/>
          </a:solidFill>
          <a:ln w="12700">
            <a:solidFill>
              <a:srgbClr val="45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27081"/>
                </a:solidFill>
                <a:latin typeface="Calibri"/>
              </a:rPr>
              <a:t/>
            </a:r>
            <a:r>
              <a:rPr sz="1200" b="1">
                <a:solidFill>
                  <a:srgbClr val="D27081"/>
                </a:solidFill>
                <a:latin typeface="Calibri"/>
              </a:rPr>
              <a:t>FY2028:</a:t>
            </a:r>
            <a:r>
              <a:rPr sz="1200" b="0">
                <a:solidFill>
                  <a:srgbClr val="D27081"/>
                </a:solidFill>
                <a:latin typeface="Calibri"/>
              </a:rPr>
              <a:t> $7.5M ARR · 1.5M customers · Achieve significant market share, explore international expansion.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DA0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0011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27081"/>
                </a:solidFill>
                <a:latin typeface="Calibri"/>
              </a:rPr>
              <a:t>Raising $150,000 to Accelerate 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E0E1E"/>
          </a:solidFill>
          <a:ln w="12700">
            <a:solidFill>
              <a:srgbClr val="45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DA0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Product Innovation &amp; R&amp;D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A0027"/>
                </a:solidFill>
                <a:latin typeface="Calibri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7081"/>
                </a:solidFill>
                <a:latin typeface="Calibri"/>
              </a:rPr>
              <a:t>Invest in developing new, clinically-backed products and enhancing existing Biozyme technology.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E0E1E"/>
          </a:solidFill>
          <a:ln w="12700">
            <a:solidFill>
              <a:srgbClr val="45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Marketing &amp; Brand Building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64646"/>
                </a:solidFill>
                <a:latin typeface="Calibri"/>
              </a:rPr>
              <a:t>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7081"/>
                </a:solidFill>
                <a:latin typeface="Calibri"/>
              </a:rPr>
              <a:t>Expand digital marketing campaigns, influencer partnerships, and offline brand activations to reach more consumers.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E0E1E"/>
          </a:solidFill>
          <a:ln w="12700">
            <a:solidFill>
              <a:srgbClr val="45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90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Operations &amp; Supply Chain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02336"/>
                </a:solidFill>
                <a:latin typeface="Calibri"/>
              </a:rP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7081"/>
                </a:solidFill>
                <a:latin typeface="Calibri"/>
              </a:rPr>
              <a:t>Optimize logistics, warehousing, and inventory management to support scaling operations and ensure timely delivery.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E0E1E"/>
          </a:solidFill>
          <a:ln w="12700">
            <a:solidFill>
              <a:srgbClr val="45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E33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Team Expansion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33F5D"/>
                </a:solidFill>
                <a:latin typeface="Calibri"/>
              </a:rPr>
              <a:t>10%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7081"/>
                </a:solidFill>
                <a:latin typeface="Calibri"/>
              </a:rPr>
              <a:t>Hire key talent in R&amp;D, sales, marketing, and operations to support rapid growth and innovation.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0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Join MuscleBlaze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D27081"/>
                </a:solidFill>
                <a:latin typeface="Calibri"/>
              </a:rPr>
              <a:t>Empowering India's Fitness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20011"/>
                </a:solidFill>
                <a:latin typeface="Calibri"/>
              </a:rPr>
              <a:t>Be a part of India's leading sports nutrition revolution. Invest in MuscleBlaze and let's build a healthier, stronger India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20011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