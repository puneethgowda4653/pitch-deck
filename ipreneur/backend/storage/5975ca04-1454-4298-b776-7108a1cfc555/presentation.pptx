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274320"/>
            <a:ext cx="182880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2801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AF0FF"/>
                </a:solidFill>
                <a:latin typeface="Calibri"/>
              </a:rPr>
              <a:t>taxshe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DB0D6"/>
                </a:solidFill>
                <a:latin typeface="Calibri"/>
              </a:rPr>
              <a:t>Safe Mobility for Women and Children, Driven by Women.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27396"/>
                </a:solidFill>
                <a:latin typeface="Calibri"/>
              </a:rPr>
              <a:t>Empowering women, ensuring safety, and transforming transportation in India.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Driving Safety, Empowerment, and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200+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Total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Current active users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62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1,500+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Women 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By 2023, creating economic independence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B0D6"/>
                </a:solidFill>
                <a:latin typeface="Calibri"/>
              </a:rPr>
              <a:t>Taxshe is a multi-award-winning social enterprise addressing critical safety gaps in transportation for women and children in India, while simultaneously creating economic opportunities for women. Our unique model combines comprehensive driver training with a focus on trust and care, positioning us for significant impact and market leadership.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Proven Model:</a:t>
            </a:r>
            <a:r>
              <a:rPr sz="1300" b="0">
                <a:solidFill>
                  <a:srgbClr val="9DB0D6"/>
                </a:solidFill>
                <a:latin typeface="Calibri"/>
              </a:rPr>
              <a:t> Pioneering women-driven safe mobility services since 2015.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Significant Impact:</a:t>
            </a:r>
            <a:r>
              <a:rPr sz="1300" b="0">
                <a:solidFill>
                  <a:srgbClr val="9DB0D6"/>
                </a:solidFill>
                <a:latin typeface="Calibri"/>
              </a:rPr>
              <a:t> Combating child sexual abuse and violence against women during travel.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Empowering Women:</a:t>
            </a:r>
            <a:r>
              <a:rPr sz="1300" b="0">
                <a:solidFill>
                  <a:srgbClr val="9DB0D6"/>
                </a:solidFill>
                <a:latin typeface="Calibri"/>
              </a:rPr>
              <a:t> Transforming lives through extensive training and dignified employment for 'Roos' (women drivers).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Addressing a Critical Need in a Growing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$1.5B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Indian Ride-Hailing 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2023 valuation, projected to grow significantly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62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Demand for Safe 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Driven by safety concerns for women and children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B0D6"/>
                </a:solidFill>
                <a:latin typeface="Calibri"/>
              </a:rPr>
              <a:t>The demand for safe and reliable transportation, particularly for women and children, is rapidly expanding in India's urban centers. With increasing awareness of safety concerns and a cultural shift towards women's empowerment, Taxshe is perfectly positioned to capture a significant share of this underserved market.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Urbanization &amp; Mobility:</a:t>
            </a:r>
            <a:r>
              <a:rPr sz="1300" b="0">
                <a:solidFill>
                  <a:srgbClr val="9DB0D6"/>
                </a:solidFill>
                <a:latin typeface="Calibri"/>
              </a:rPr>
              <a:t> Rapid growth in urban populations drives demand for diverse transport solutions.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Safety Imperative:</a:t>
            </a:r>
            <a:r>
              <a:rPr sz="1300" b="0">
                <a:solidFill>
                  <a:srgbClr val="9DB0D6"/>
                </a:solidFill>
                <a:latin typeface="Calibri"/>
              </a:rPr>
              <a:t> Escalating concerns over women's and children's safety in public and private transport.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Economic Empowerment:</a:t>
            </a:r>
            <a:r>
              <a:rPr sz="1300" b="0">
                <a:solidFill>
                  <a:srgbClr val="9DB0D6"/>
                </a:solidFill>
                <a:latin typeface="Calibri"/>
              </a:rPr>
              <a:t> Growing focus on creating sustainable livelihoods for women, aligning with our 'Roo' model.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Problem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Bridging the Gap in Safe and Empowering Mobility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02350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F0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B8DEF"/>
                </a:solidFill>
                <a:latin typeface="Calibri"/>
              </a:rPr>
              <a:t>Safety Concerns &amp; Lack of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Child Sexual Abuse:</a:t>
            </a:r>
            <a:r>
              <a:rPr sz="1300" b="0">
                <a:solidFill>
                  <a:srgbClr val="9DB0D6"/>
                </a:solidFill>
                <a:latin typeface="Calibri"/>
              </a:rPr>
              <a:t> A significant societal challenge, with children vulnerable during travel.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Violence Against Women:</a:t>
            </a:r>
            <a:r>
              <a:rPr sz="1300" b="0">
                <a:solidFill>
                  <a:srgbClr val="9DB0D6"/>
                </a:solidFill>
                <a:latin typeface="Calibri"/>
              </a:rPr>
              <a:t> Women face persistent safety risks and harassment in traditional transport.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Limited Economic Opportunity:</a:t>
            </a:r>
            <a:r>
              <a:rPr sz="1300" b="0">
                <a:solidFill>
                  <a:srgbClr val="9DB0D6"/>
                </a:solidFill>
                <a:latin typeface="Calibri"/>
              </a:rPr>
              <a:t> Many women in India lack access to dignified, skilled employment.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Fragmented Market:</a:t>
            </a:r>
            <a:r>
              <a:rPr sz="1300" b="0">
                <a:solidFill>
                  <a:srgbClr val="9DB0D6"/>
                </a:solidFill>
                <a:latin typeface="Calibri"/>
              </a:rPr>
              <a:t> Lack of a trusted, specialized, and women-centric transportation service.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02350"/>
          </a:solidFill>
          <a:ln w="19050">
            <a:solidFill>
              <a:srgbClr val="62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F0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D6C4"/>
                </a:solidFill>
                <a:latin typeface="Calibri"/>
              </a:rPr>
              <a:t>Women Driving Women &amp; Children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'Roos' - Trained Women Drivers:</a:t>
            </a:r>
            <a:r>
              <a:rPr sz="1300" b="0">
                <a:solidFill>
                  <a:srgbClr val="9DB0D6"/>
                </a:solidFill>
                <a:latin typeface="Calibri"/>
              </a:rPr>
              <a:t> Comprehensive 6-8 month program for professional, caring drivers.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Enhanced Safety Protocols:</a:t>
            </a:r>
            <a:r>
              <a:rPr sz="1300" b="0">
                <a:solidFill>
                  <a:srgbClr val="9DB0D6"/>
                </a:solidFill>
                <a:latin typeface="Calibri"/>
              </a:rPr>
              <a:t> Police-verified, background-checked 'Roos' who are 'alternate moms'.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Economic Empowerment:</a:t>
            </a:r>
            <a:r>
              <a:rPr sz="1300" b="0">
                <a:solidFill>
                  <a:srgbClr val="9DB0D6"/>
                </a:solidFill>
                <a:latin typeface="Calibri"/>
              </a:rPr>
              <a:t> Transforming lives by providing financial security and dignity to women.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Trusted &amp; Reliable Service:</a:t>
            </a:r>
            <a:r>
              <a:rPr sz="1300" b="0">
                <a:solidFill>
                  <a:srgbClr val="9DB0D6"/>
                </a:solidFill>
                <a:latin typeface="Calibri"/>
              </a:rPr>
              <a:t> Exclusively for women and children, fostering a sense of security and trust.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3B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Our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Beyond Just Cabs: A Holistic Safe Mobility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Women-Driven Cab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24/7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Safe Transportation:</a:t>
            </a:r>
            <a:r>
              <a:rPr sz="1300" b="0">
                <a:solidFill>
                  <a:srgbClr val="9DB0D6"/>
                </a:solidFill>
                <a:latin typeface="Calibri"/>
              </a:rPr>
              <a:t> Exclusive services for women and children to schools, offices, and airports. </a:t>
            </a:r>
            <a:r>
              <a:rPr sz="1300" b="1">
                <a:solidFill>
                  <a:srgbClr val="9DB0D6"/>
                </a:solidFill>
                <a:latin typeface="Calibri"/>
              </a:rPr>
              <a:t>'Alternate Moms':</a:t>
            </a:r>
            <a:r>
              <a:rPr sz="1300" b="0">
                <a:solidFill>
                  <a:srgbClr val="9DB0D6"/>
                </a:solidFill>
                <a:latin typeface="Calibri"/>
              </a:rPr>
              <a:t> Our 'Roos' provide a caring and secure travel experience.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Women Self-Drive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6-8 Month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Skill Development:</a:t>
            </a:r>
            <a:r>
              <a:rPr sz="1300" b="0">
                <a:solidFill>
                  <a:srgbClr val="9DB0D6"/>
                </a:solidFill>
                <a:latin typeface="Calibri"/>
              </a:rPr>
              <a:t> Comprehensive training equipping women with driving and life skills. </a:t>
            </a:r>
            <a:r>
              <a:rPr sz="1300" b="1">
                <a:solidFill>
                  <a:srgbClr val="9DB0D6"/>
                </a:solidFill>
                <a:latin typeface="Calibri"/>
              </a:rPr>
              <a:t>Empowerment:</a:t>
            </a:r>
            <a:r>
              <a:rPr sz="1300" b="0">
                <a:solidFill>
                  <a:srgbClr val="9DB0D6"/>
                </a:solidFill>
                <a:latin typeface="Calibri"/>
              </a:rPr>
              <a:t> Fostering self-assurance, competence, and financial independence.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Franchise Partnerships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13 Partners by 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Scalable Model:</a:t>
            </a:r>
            <a:r>
              <a:rPr sz="1300" b="0">
                <a:solidFill>
                  <a:srgbClr val="9DB0D6"/>
                </a:solidFill>
                <a:latin typeface="Calibri"/>
              </a:rPr>
              <a:t> Expanding our reach and impact through a robust franchise network. </a:t>
            </a:r>
            <a:r>
              <a:rPr sz="1300" b="1">
                <a:solidFill>
                  <a:srgbClr val="9DB0D6"/>
                </a:solidFill>
                <a:latin typeface="Calibri"/>
              </a:rPr>
              <a:t>Community Growth:</a:t>
            </a:r>
            <a:r>
              <a:rPr sz="1300" b="0">
                <a:solidFill>
                  <a:srgbClr val="9DB0D6"/>
                </a:solidFill>
                <a:latin typeface="Calibri"/>
              </a:rPr>
              <a:t> Enabling other entrepreneurs to replicate our successful model.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EA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Corporate &amp; School Tie-ups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EA5F3"/>
                </a:solidFill>
                <a:latin typeface="Calibri"/>
              </a:rPr>
              <a:t>Custom Solutions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Institutional Safety:</a:t>
            </a:r>
            <a:r>
              <a:rPr sz="1300" b="0">
                <a:solidFill>
                  <a:srgbClr val="9DB0D6"/>
                </a:solidFill>
                <a:latin typeface="Calibri"/>
              </a:rPr>
              <a:t> Providing secure commuting solutions for corporate employees and schoolchildren. </a:t>
            </a:r>
            <a:r>
              <a:rPr sz="1300" b="1">
                <a:solidFill>
                  <a:srgbClr val="9DB0D6"/>
                </a:solidFill>
                <a:latin typeface="Calibri"/>
              </a:rPr>
              <a:t>Reliability:</a:t>
            </a:r>
            <a:r>
              <a:rPr sz="1300" b="0">
                <a:solidFill>
                  <a:srgbClr val="9DB0D6"/>
                </a:solidFill>
                <a:latin typeface="Calibri"/>
              </a:rPr>
              <a:t> Dedicated services ensuring punctuality and peace of mind.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Sustainable Revenue Streams with Social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Direct Service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Per-Ride / Subscription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Cab Services:</a:t>
            </a:r>
            <a:r>
              <a:rPr sz="1300" b="0">
                <a:solidFill>
                  <a:srgbClr val="9DB0D6"/>
                </a:solidFill>
                <a:latin typeface="Calibri"/>
              </a:rPr>
              <a:t> Revenue from individual rides for women and children. </a:t>
            </a:r>
            <a:r>
              <a:rPr sz="1300" b="1">
                <a:solidFill>
                  <a:srgbClr val="9DB0D6"/>
                </a:solidFill>
                <a:latin typeface="Calibri"/>
              </a:rPr>
              <a:t>Corporate &amp; School Contracts:</a:t>
            </a:r>
            <a:r>
              <a:rPr sz="1300" b="0">
                <a:solidFill>
                  <a:srgbClr val="9DB0D6"/>
                </a:solidFill>
                <a:latin typeface="Calibri"/>
              </a:rPr>
              <a:t> Fixed-term contracts for dedicated transportation.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Training &amp; Certification Fees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Program Enrollment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'Roo' Training:</a:t>
            </a:r>
            <a:r>
              <a:rPr sz="1300" b="0">
                <a:solidFill>
                  <a:srgbClr val="9DB0D6"/>
                </a:solidFill>
                <a:latin typeface="Calibri"/>
              </a:rPr>
              <a:t> Fees from women enrolling in our comprehensive driver and life skills training programs.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Franchise Fees &amp; Royalties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Scalable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Expansion Model:</a:t>
            </a:r>
            <a:r>
              <a:rPr sz="1300" b="0">
                <a:solidFill>
                  <a:srgbClr val="9DB0D6"/>
                </a:solidFill>
                <a:latin typeface="Calibri"/>
              </a:rPr>
              <a:t> Upfront franchise fees and ongoing royalties from our network of partners across India.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EA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Value-Added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EA5F3"/>
                </a:solidFill>
                <a:latin typeface="Calibri"/>
              </a:rPr>
              <a:t>Future Opportunities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Ancillary Offerings:</a:t>
            </a:r>
            <a:r>
              <a:rPr sz="1300" b="0">
                <a:solidFill>
                  <a:srgbClr val="9DB0D6"/>
                </a:solidFill>
                <a:latin typeface="Calibri"/>
              </a:rPr>
              <a:t> Potential for partnerships, advertising, and other services leveraging our trusted network.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Traction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Proven Growth and Recognition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$12,000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Annual Recurring Revenue (ARR)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Current financial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62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Active users of Taxshe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B0D6"/>
                </a:solidFill>
                <a:latin typeface="Calibri"/>
              </a:rPr>
              <a:t>Since our inception in 2015, Taxshe has achieved significant milestones in both operational growth and social impact, demonstrating a strong market fit and execution capability.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Founded 2015:</a:t>
            </a:r>
            <a:r>
              <a:rPr sz="1300" b="0">
                <a:solidFill>
                  <a:srgbClr val="9DB0D6"/>
                </a:solidFill>
                <a:latin typeface="Calibri"/>
              </a:rPr>
              <a:t> Started operations in Bengaluru and Delhi, focusing on safe transport for schoolchildren and women.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Global Recognition 2019:</a:t>
            </a:r>
            <a:r>
              <a:rPr sz="1300" b="0">
                <a:solidFill>
                  <a:srgbClr val="9DB0D6"/>
                </a:solidFill>
                <a:latin typeface="Calibri"/>
              </a:rPr>
              <a:t> Won the World Bank 'Sustainable Development Goals and Her' award, co-sponsored by UN Women and Wharton Schools.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Nationwide Presence:</a:t>
            </a:r>
            <a:r>
              <a:rPr sz="1300" b="0">
                <a:solidFill>
                  <a:srgbClr val="9DB0D6"/>
                </a:solidFill>
                <a:latin typeface="Calibri"/>
              </a:rPr>
              <a:t> Expanded operations to Bengaluru, Mumbai, Thane, Gurugram, and Delhi/NCR.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Differentiated by Safety, Empowerment,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Sakha Cabs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Undisclosed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Weakness:</a:t>
            </a:r>
            <a:r>
              <a:rPr sz="1300" b="0">
                <a:solidFill>
                  <a:srgbClr val="9DB0D6"/>
                </a:solidFill>
                <a:latin typeface="Calibri"/>
              </a:rPr>
              <a:t> More expensive than ride-hailing services, fewer vehicles, can be difficult to book, operates on pre-booked charter basis, not on-demand.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Traditional Ride-Hailing (Uber/Ola)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Multi-Billion Dollar Valuations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Weakness:</a:t>
            </a:r>
            <a:r>
              <a:rPr sz="1300" b="0">
                <a:solidFill>
                  <a:srgbClr val="9DB0D6"/>
                </a:solidFill>
                <a:latin typeface="Calibri"/>
              </a:rPr>
              <a:t> Lacks specific women-driven safety focus, inconsistent driver vetting, general public service, not tailored for women/children's specific needs.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Local Taxi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Fragmented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Weakness:</a:t>
            </a:r>
            <a:r>
              <a:rPr sz="1300" b="0">
                <a:solidFill>
                  <a:srgbClr val="9DB0D6"/>
                </a:solidFill>
                <a:latin typeface="Calibri"/>
              </a:rPr>
              <a:t> Unregulated, inconsistent safety standards, lack of professional training for drivers, no specific focus on women's empowerment or child safety.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EA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Private Car Rentals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EA5F3"/>
                </a:solidFill>
                <a:latin typeface="Calibri"/>
              </a:rPr>
              <a:t>Variable Pricing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Weakness:</a:t>
            </a:r>
            <a:r>
              <a:rPr sz="1300" b="0">
                <a:solidFill>
                  <a:srgbClr val="9DB0D6"/>
                </a:solidFill>
                <a:latin typeface="Calibri"/>
              </a:rPr>
              <a:t> Higher cost for consistent use, no 'alternate mom' ethos, drivers not specifically trained for child safety or women's needs, less flexible for daily commutes.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Our Visionary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Experienced Leaders Driving Social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Vandana Suri — 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World Bank Awardee | TEDx Speaker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Education:</a:t>
            </a:r>
            <a:r>
              <a:rPr sz="1300" b="0">
                <a:solidFill>
                  <a:srgbClr val="9DB0D6"/>
                </a:solidFill>
                <a:latin typeface="Calibri"/>
              </a:rPr>
              <a:t> Ex-investment banker. </a:t>
            </a:r>
            <a:r>
              <a:rPr sz="1300" b="1">
                <a:solidFill>
                  <a:srgbClr val="9DB0D6"/>
                </a:solidFill>
                <a:latin typeface="Calibri"/>
              </a:rPr>
              <a:t>Prior:</a:t>
            </a:r>
            <a:r>
              <a:rPr sz="1300" b="0">
                <a:solidFill>
                  <a:srgbClr val="9DB0D6"/>
                </a:solidFill>
                <a:latin typeface="Calibri"/>
              </a:rPr>
              <a:t> 25+ years in investment banking. A woman of steel, pioneering Taxshe and other 'change' organizations like ChopChopBoys and SingleSisterz.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Sushil Shroff — Co-founder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30+ Years Entrepreneurial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/>
            </a:r>
            <a:r>
              <a:rPr sz="1300" b="1">
                <a:solidFill>
                  <a:srgbClr val="9DB0D6"/>
                </a:solidFill>
                <a:latin typeface="Calibri"/>
              </a:rPr>
              <a:t>Prior:</a:t>
            </a:r>
            <a:r>
              <a:rPr sz="1300" b="0">
                <a:solidFill>
                  <a:srgbClr val="9DB0D6"/>
                </a:solidFill>
                <a:latin typeface="Calibri"/>
              </a:rPr>
              <a:t> Serial entrepreneur with rich experience in garment industry, machinery tools, and labor relations. Manages backend operations, strategy, and new verticals.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Thanukonda Hemalatha — Founder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Driving the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A key founding member contributing to the core mission and operational framework of Taxshe.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Significant Opportunity · Strong Growth Trajectory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5B8DE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62D6C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5EB1D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27396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EA5F3"/>
                </a:solidFill>
                <a:latin typeface="Calibri"/>
              </a:rPr>
              <a:t>20%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8DEF"/>
                </a:solidFill>
                <a:latin typeface="Calibri"/>
              </a:rPr>
              <a:t>$1.5B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B0D6"/>
                </a:solidFill>
                <a:latin typeface="Calibri"/>
              </a:rPr>
              <a:t>Indian Ride-Hailing Market 2023 · Source: Industry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2D6C4"/>
                </a:solidFill>
                <a:latin typeface="Calibri"/>
              </a:rPr>
              <a:t>$300M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B0D6"/>
                </a:solidFill>
                <a:latin typeface="Calibri"/>
              </a:rPr>
              <a:t>India Safe Mobility (Women &amp; Children) Segment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EB1D9"/>
                </a:solidFill>
                <a:latin typeface="Calibri"/>
              </a:rPr>
              <a:t>$30M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B0D6"/>
                </a:solidFill>
                <a:latin typeface="Calibri"/>
              </a:rPr>
              <a:t>~10% SAM capture · Target by 2028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DB0D6"/>
                </a:solidFill>
                <a:latin typeface="Calibri"/>
              </a:rPr>
              <a:t/>
            </a:r>
            <a:r>
              <a:rPr sz="1200" b="1">
                <a:solidFill>
                  <a:srgbClr val="9DB0D6"/>
                </a:solidFill>
                <a:latin typeface="Calibri"/>
              </a:rPr>
              <a:t>FY2026:</a:t>
            </a:r>
            <a:r>
              <a:rPr sz="1200" b="0">
                <a:solidFill>
                  <a:srgbClr val="9DB0D6"/>
                </a:solidFill>
                <a:latin typeface="Calibri"/>
              </a:rPr>
              <a:t> $1,440 ARR · 300 customers · Expand to 2 new cities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DB0D6"/>
                </a:solidFill>
                <a:latin typeface="Calibri"/>
              </a:rPr>
              <a:t/>
            </a:r>
            <a:r>
              <a:rPr sz="1200" b="1">
                <a:solidFill>
                  <a:srgbClr val="9DB0D6"/>
                </a:solidFill>
                <a:latin typeface="Calibri"/>
              </a:rPr>
              <a:t>FY2027:</a:t>
            </a:r>
            <a:r>
              <a:rPr sz="1200" b="0">
                <a:solidFill>
                  <a:srgbClr val="9DB0D6"/>
                </a:solidFill>
                <a:latin typeface="Calibri"/>
              </a:rPr>
              <a:t> $17,280 ARR · 500 customers · Initiate Series A discussions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DB0D6"/>
                </a:solidFill>
                <a:latin typeface="Calibri"/>
              </a:rPr>
              <a:t/>
            </a:r>
            <a:r>
              <a:rPr sz="1200" b="1">
                <a:solidFill>
                  <a:srgbClr val="9DB0D6"/>
                </a:solidFill>
                <a:latin typeface="Calibri"/>
              </a:rPr>
              <a:t>FY2028:</a:t>
            </a:r>
            <a:r>
              <a:rPr sz="1200" b="0">
                <a:solidFill>
                  <a:srgbClr val="9DB0D6"/>
                </a:solidFill>
                <a:latin typeface="Calibri"/>
              </a:rPr>
              <a:t> $207,360 ARR · 1,000 customers · Explore international franchise pilots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Fueling Expansion and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Investment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$15,000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Seed funding to scale operations and impact.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Strategic 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30%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Allocated for expanding into new cities and strengthening existing operations.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Technology &amp;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Investment in enhancing our booking platform, driver management, and safety features.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EA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Driver Training &amp; Welfare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EA5F3"/>
                </a:solidFill>
                <a:latin typeface="Calibri"/>
              </a:rPr>
              <a:t>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Dedicated funds for recruiting, training, and supporting more 'Roos'.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AF0FF"/>
                </a:solidFill>
                <a:latin typeface="Calibri"/>
              </a:rPr>
              <a:t>Join Us in Driving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DB0D6"/>
                </a:solidFill>
                <a:latin typeface="Calibri"/>
              </a:rPr>
              <a:t>Invest in Safety, Empowerment, and a Brighter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27396"/>
                </a:solidFill>
                <a:latin typeface="Calibri"/>
              </a:rPr>
              <a:t>Taxshe is more than a business; it's a movement for a safer, more equitable society. By investing in Taxshe, you're not just backing a company, but becoming a partner in transforming lives and communities.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Investor Presentation  •  Confidential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91440"/>
            <a:ext cx="100584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