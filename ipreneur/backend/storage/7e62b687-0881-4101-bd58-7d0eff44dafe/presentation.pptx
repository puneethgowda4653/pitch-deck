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5181447" y="274320"/>
            <a:ext cx="1828800" cy="731520"/>
          </a:xfrm>
          <a:prstGeom prst="rect">
            <a:avLst/>
          </a:prstGeom>
        </p:spPr>
      </p:pic>
      <p:sp>
        <p:nvSpPr>
          <p:cNvPr id="5" name="TextBox 4"/>
          <p:cNvSpPr txBox="1"/>
          <p:nvPr/>
        </p:nvSpPr>
        <p:spPr>
          <a:xfrm>
            <a:off x="914400" y="1280160"/>
            <a:ext cx="10332720" cy="1463040"/>
          </a:xfrm>
          <a:prstGeom prst="rect">
            <a:avLst/>
          </a:prstGeom>
          <a:noFill/>
        </p:spPr>
        <p:txBody>
          <a:bodyPr wrap="square">
            <a:spAutoFit/>
          </a:bodyPr>
          <a:lstStyle/>
          <a:p>
            <a:pPr algn="ctr"/>
            <a:r>
              <a:rPr sz="4800" b="1">
                <a:solidFill>
                  <a:srgbClr val="EAF0FF"/>
                </a:solidFill>
                <a:latin typeface="Calibri"/>
              </a:rPr>
              <a:t>Samsung</a:t>
            </a:r>
          </a:p>
        </p:txBody>
      </p:sp>
      <p:sp>
        <p:nvSpPr>
          <p:cNvPr id="6" name="TextBox 5"/>
          <p:cNvSpPr txBox="1"/>
          <p:nvPr/>
        </p:nvSpPr>
        <p:spPr>
          <a:xfrm>
            <a:off x="1371600" y="2834640"/>
            <a:ext cx="9418320" cy="731520"/>
          </a:xfrm>
          <a:prstGeom prst="rect">
            <a:avLst/>
          </a:prstGeom>
          <a:noFill/>
        </p:spPr>
        <p:txBody>
          <a:bodyPr wrap="square">
            <a:spAutoFit/>
          </a:bodyPr>
          <a:lstStyle/>
          <a:p>
            <a:pPr algn="ctr"/>
            <a:r>
              <a:rPr sz="2200" b="0">
                <a:solidFill>
                  <a:srgbClr val="9DB0D6"/>
                </a:solidFill>
                <a:latin typeface="Calibri"/>
              </a:rPr>
              <a:t>Defying barriers to make a better world for all.</a:t>
            </a:r>
          </a:p>
        </p:txBody>
      </p:sp>
      <p:sp>
        <p:nvSpPr>
          <p:cNvPr id="7" name="TextBox 6"/>
          <p:cNvSpPr txBox="1"/>
          <p:nvPr/>
        </p:nvSpPr>
        <p:spPr>
          <a:xfrm>
            <a:off x="1828800" y="3657600"/>
            <a:ext cx="8503920" cy="731520"/>
          </a:xfrm>
          <a:prstGeom prst="rect">
            <a:avLst/>
          </a:prstGeom>
          <a:noFill/>
        </p:spPr>
        <p:txBody>
          <a:bodyPr wrap="square">
            <a:spAutoFit/>
          </a:bodyPr>
          <a:lstStyle/>
          <a:p>
            <a:pPr algn="ctr"/>
            <a:r>
              <a:rPr sz="1500" b="0">
                <a:solidFill>
                  <a:srgbClr val="627396"/>
                </a:solidFill>
                <a:latin typeface="Calibri"/>
              </a:rPr>
              <a:t>Leading the future through ceaseless innovation and intelligence across consumer electronics, mobile communications, and device solutions.</a:t>
            </a:r>
          </a:p>
        </p:txBody>
      </p:sp>
      <p:sp>
        <p:nvSpPr>
          <p:cNvPr id="8" name="TextBox 7"/>
          <p:cNvSpPr txBox="1"/>
          <p:nvPr/>
        </p:nvSpPr>
        <p:spPr>
          <a:xfrm>
            <a:off x="3200400" y="6309360"/>
            <a:ext cx="5760720" cy="365760"/>
          </a:xfrm>
          <a:prstGeom prst="rect">
            <a:avLst/>
          </a:prstGeom>
          <a:noFill/>
        </p:spPr>
        <p:txBody>
          <a:bodyPr wrap="square">
            <a:spAutoFit/>
          </a:bodyPr>
          <a:lstStyle/>
          <a:p>
            <a:pPr algn="ctr"/>
            <a:r>
              <a:rPr sz="1000" b="0">
                <a:solidFill>
                  <a:srgbClr val="627396"/>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A relentless pioneer shaping the future of technology.</a:t>
            </a:r>
          </a:p>
        </p:txBody>
      </p:sp>
      <p:sp>
        <p:nvSpPr>
          <p:cNvPr id="6" name="Rectangle 5"/>
          <p:cNvSpPr/>
          <p:nvPr/>
        </p:nvSpPr>
        <p:spPr>
          <a:xfrm>
            <a:off x="4815687" y="2103120"/>
            <a:ext cx="2560320" cy="2194560"/>
          </a:xfrm>
          <a:prstGeom prst="rect">
            <a:avLst/>
          </a:prstGeom>
          <a:solidFill>
            <a:srgbClr val="102350"/>
          </a:solidFill>
          <a:ln w="19050">
            <a:solidFill>
              <a:srgbClr val="5B8D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847" y="2331720"/>
            <a:ext cx="2286000" cy="914400"/>
          </a:xfrm>
          <a:prstGeom prst="rect">
            <a:avLst/>
          </a:prstGeom>
          <a:noFill/>
        </p:spPr>
        <p:txBody>
          <a:bodyPr wrap="square">
            <a:spAutoFit/>
          </a:bodyPr>
          <a:lstStyle/>
          <a:p>
            <a:pPr algn="ctr"/>
            <a:r>
              <a:rPr sz="3400" b="1">
                <a:solidFill>
                  <a:srgbClr val="EAF0FF"/>
                </a:solidFill>
                <a:latin typeface="Calibri"/>
              </a:rPr>
              <a:t>$235B+</a:t>
            </a:r>
          </a:p>
        </p:txBody>
      </p:sp>
      <p:sp>
        <p:nvSpPr>
          <p:cNvPr id="8" name="TextBox 7"/>
          <p:cNvSpPr txBox="1"/>
          <p:nvPr/>
        </p:nvSpPr>
        <p:spPr>
          <a:xfrm>
            <a:off x="4952847" y="3246120"/>
            <a:ext cx="2286000" cy="411480"/>
          </a:xfrm>
          <a:prstGeom prst="rect">
            <a:avLst/>
          </a:prstGeom>
          <a:noFill/>
        </p:spPr>
        <p:txBody>
          <a:bodyPr wrap="square">
            <a:spAutoFit/>
          </a:bodyPr>
          <a:lstStyle/>
          <a:p>
            <a:pPr algn="ctr"/>
            <a:r>
              <a:rPr sz="1200" b="0">
                <a:solidFill>
                  <a:srgbClr val="9DB0D6"/>
                </a:solidFill>
                <a:latin typeface="Calibri"/>
              </a:rPr>
              <a:t>Annual Revenue (Est.)</a:t>
            </a:r>
          </a:p>
        </p:txBody>
      </p:sp>
      <p:sp>
        <p:nvSpPr>
          <p:cNvPr id="9" name="TextBox 8"/>
          <p:cNvSpPr txBox="1"/>
          <p:nvPr/>
        </p:nvSpPr>
        <p:spPr>
          <a:xfrm>
            <a:off x="4907127" y="3657600"/>
            <a:ext cx="2377440" cy="457200"/>
          </a:xfrm>
          <a:prstGeom prst="rect">
            <a:avLst/>
          </a:prstGeom>
          <a:noFill/>
        </p:spPr>
        <p:txBody>
          <a:bodyPr wrap="square">
            <a:spAutoFit/>
          </a:bodyPr>
          <a:lstStyle/>
          <a:p>
            <a:pPr algn="ctr"/>
            <a:r>
              <a:rPr sz="1000" b="0">
                <a:solidFill>
                  <a:srgbClr val="627396"/>
                </a:solidFill>
                <a:latin typeface="Calibri"/>
              </a:rPr>
              <a:t>Global 2023 · Source: Public reports</a:t>
            </a:r>
          </a:p>
        </p:txBody>
      </p:sp>
      <p:sp>
        <p:nvSpPr>
          <p:cNvPr id="10" name="TextBox 9"/>
          <p:cNvSpPr txBox="1"/>
          <p:nvPr/>
        </p:nvSpPr>
        <p:spPr>
          <a:xfrm>
            <a:off x="731520" y="4572000"/>
            <a:ext cx="10698480" cy="822960"/>
          </a:xfrm>
          <a:prstGeom prst="rect">
            <a:avLst/>
          </a:prstGeom>
          <a:noFill/>
        </p:spPr>
        <p:txBody>
          <a:bodyPr wrap="square">
            <a:spAutoFit/>
          </a:bodyPr>
          <a:lstStyle/>
          <a:p>
            <a:pPr algn="l"/>
            <a:r>
              <a:rPr sz="1400" b="0">
                <a:solidFill>
                  <a:srgbClr val="9DB0D6"/>
                </a:solidFill>
                <a:latin typeface="Calibri"/>
              </a:rPr>
              <a:t>Samsung is a world-renowned technology innovator with a rich heritage of pushing boundaries. Our diversified business areas, including Consumer Electronics, IT &amp; Mobile Communications, and Device Solutions, position us uniquely to capture significant market share and drive continuous growth. We are committed to human-driven innovation that enhances lives globally.</a:t>
            </a:r>
          </a:p>
        </p:txBody>
      </p:sp>
      <p:sp>
        <p:nvSpPr>
          <p:cNvPr id="11" name="TextBox 10"/>
          <p:cNvSpPr txBox="1"/>
          <p:nvPr/>
        </p:nvSpPr>
        <p:spPr>
          <a:xfrm>
            <a:off x="914400" y="539496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Global Leader:</a:t>
            </a:r>
            <a:r>
              <a:rPr sz="1300" b="0">
                <a:solidFill>
                  <a:srgbClr val="9DB0D6"/>
                </a:solidFill>
                <a:latin typeface="Calibri"/>
              </a:rPr>
              <a:t> Dominant market positions across multiple technology segments.</a:t>
            </a:r>
          </a:p>
        </p:txBody>
      </p:sp>
      <p:sp>
        <p:nvSpPr>
          <p:cNvPr id="12" name="TextBox 11"/>
          <p:cNvSpPr txBox="1"/>
          <p:nvPr/>
        </p:nvSpPr>
        <p:spPr>
          <a:xfrm>
            <a:off x="914400" y="580644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Diversified Portfolio:</a:t>
            </a:r>
            <a:r>
              <a:rPr sz="1300" b="0">
                <a:solidFill>
                  <a:srgbClr val="9DB0D6"/>
                </a:solidFill>
                <a:latin typeface="Calibri"/>
              </a:rPr>
              <a:t> Strong presence in consumer electronics, mobile, and critical component manufacturing.</a:t>
            </a:r>
          </a:p>
        </p:txBody>
      </p:sp>
      <p:sp>
        <p:nvSpPr>
          <p:cNvPr id="13" name="TextBox 12"/>
          <p:cNvSpPr txBox="1"/>
          <p:nvPr/>
        </p:nvSpPr>
        <p:spPr>
          <a:xfrm>
            <a:off x="914400" y="621792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Innovation Engine:</a:t>
            </a:r>
            <a:r>
              <a:rPr sz="1300" b="0">
                <a:solidFill>
                  <a:srgbClr val="9DB0D6"/>
                </a:solidFill>
                <a:latin typeface="Calibri"/>
              </a:rPr>
              <a:t> Billions invested annually in R&amp;D, driving next-generation products and solutions.</a:t>
            </a:r>
          </a:p>
        </p:txBody>
      </p:sp>
      <p:pic>
        <p:nvPicPr>
          <p:cNvPr id="14" name="Picture 13"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Tapping into multi-trillion dollar global technology markets.</a:t>
            </a:r>
          </a:p>
        </p:txBody>
      </p:sp>
      <p:sp>
        <p:nvSpPr>
          <p:cNvPr id="6" name="Rectangle 5"/>
          <p:cNvSpPr/>
          <p:nvPr/>
        </p:nvSpPr>
        <p:spPr>
          <a:xfrm>
            <a:off x="3421227" y="2103120"/>
            <a:ext cx="2560320" cy="2194560"/>
          </a:xfrm>
          <a:prstGeom prst="rect">
            <a:avLst/>
          </a:prstGeom>
          <a:solidFill>
            <a:srgbClr val="102350"/>
          </a:solidFill>
          <a:ln w="19050">
            <a:solidFill>
              <a:srgbClr val="5B8D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EAF0FF"/>
                </a:solidFill>
                <a:latin typeface="Calibri"/>
              </a:rPr>
              <a:t>$5.3T</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9DB0D6"/>
                </a:solidFill>
                <a:latin typeface="Calibri"/>
              </a:rPr>
              <a:t>Global Tech Market (Est.)</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627396"/>
                </a:solidFill>
                <a:latin typeface="Calibri"/>
              </a:rPr>
              <a:t>2024 · Source: Statista</a:t>
            </a:r>
          </a:p>
        </p:txBody>
      </p:sp>
      <p:sp>
        <p:nvSpPr>
          <p:cNvPr id="10" name="Rectangle 9"/>
          <p:cNvSpPr/>
          <p:nvPr/>
        </p:nvSpPr>
        <p:spPr>
          <a:xfrm>
            <a:off x="6210147" y="2103120"/>
            <a:ext cx="2560320" cy="2194560"/>
          </a:xfrm>
          <a:prstGeom prst="rect">
            <a:avLst/>
          </a:prstGeom>
          <a:solidFill>
            <a:srgbClr val="102350"/>
          </a:solidFill>
          <a:ln w="19050">
            <a:solidFill>
              <a:srgbClr val="62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EAF0FF"/>
                </a:solidFill>
                <a:latin typeface="Calibri"/>
              </a:rPr>
              <a:t>8.5%</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9DB0D6"/>
                </a:solidFill>
                <a:latin typeface="Calibri"/>
              </a:rPr>
              <a:t>Annual Growth Rate (CAGR)</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627396"/>
                </a:solidFill>
                <a:latin typeface="Calibri"/>
              </a:rPr>
              <a:t>2024-2028 · Source: Gartner</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9DB0D6"/>
                </a:solidFill>
                <a:latin typeface="Calibri"/>
              </a:rPr>
              <a:t>The global technology market continues its exponential growth, fueled by increasing digital adoption, smart device proliferation, and advancements in AI, IoT, and 5G. Samsung is strategically positioned at the intersection of these trends, offering integrated ecosystems and pioneering solutions that meet evolving consumer and enterprise demands.</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Digital Transformation:</a:t>
            </a:r>
            <a:r>
              <a:rPr sz="1300" b="0">
                <a:solidFill>
                  <a:srgbClr val="9DB0D6"/>
                </a:solidFill>
                <a:latin typeface="Calibri"/>
              </a:rPr>
              <a:t> Accelerating adoption of smart devices and digital services globally.</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AI &amp; IoT Integration:</a:t>
            </a:r>
            <a:r>
              <a:rPr sz="1300" b="0">
                <a:solidFill>
                  <a:srgbClr val="9DB0D6"/>
                </a:solidFill>
                <a:latin typeface="Calibri"/>
              </a:rPr>
              <a:t> Growing demand for intelligent, connected experiences across homes and businesses.</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5G &amp; Next-Gen Connectivity:</a:t>
            </a:r>
            <a:r>
              <a:rPr sz="1300" b="0">
                <a:solidFill>
                  <a:srgbClr val="9DB0D6"/>
                </a:solidFill>
                <a:latin typeface="Calibri"/>
              </a:rPr>
              <a:t> Unlocking new possibilities for mobile and enterprise solutions.</a:t>
            </a:r>
          </a:p>
        </p:txBody>
      </p:sp>
      <p:pic>
        <p:nvPicPr>
          <p:cNvPr id="18" name="Picture 17"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PROBLEM 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Problem &amp;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Addressing fragmented experiences with seamless innovation.</a:t>
            </a:r>
          </a:p>
        </p:txBody>
      </p:sp>
      <p:sp>
        <p:nvSpPr>
          <p:cNvPr id="6" name="Rectangle 5"/>
          <p:cNvSpPr/>
          <p:nvPr/>
        </p:nvSpPr>
        <p:spPr>
          <a:xfrm>
            <a:off x="640080" y="1737360"/>
            <a:ext cx="5303520" cy="4114800"/>
          </a:xfrm>
          <a:prstGeom prst="rect">
            <a:avLst/>
          </a:prstGeom>
          <a:solidFill>
            <a:srgbClr val="102350"/>
          </a:solidFill>
          <a:ln w="19050">
            <a:solidFill>
              <a:srgbClr val="5B8D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EAF0FF"/>
                </a:solidFill>
                <a:latin typeface="Calibri"/>
              </a:rPr>
              <a:t>The Problem</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5B8DEF"/>
                </a:solidFill>
                <a:latin typeface="Calibri"/>
              </a:rPr>
              <a:t>Disconnected Ecosystems</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Complexity:</a:t>
            </a:r>
            <a:r>
              <a:rPr sz="1300" b="0">
                <a:solidFill>
                  <a:srgbClr val="9DB0D6"/>
                </a:solidFill>
                <a:latin typeface="Calibri"/>
              </a:rPr>
              <a:t> Consumers struggle with integrating multiple devices from different brands, leading to disjointed experiences.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Incompatibility:</a:t>
            </a:r>
            <a:r>
              <a:rPr sz="1300" b="0">
                <a:solidFill>
                  <a:srgbClr val="9DB0D6"/>
                </a:solidFill>
                <a:latin typeface="Calibri"/>
              </a:rPr>
              <a:t> Lack of universal standards often results in devices that don't communicate effectively with each other.</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Limited Innovation:</a:t>
            </a:r>
            <a:r>
              <a:rPr sz="1300" b="0">
                <a:solidFill>
                  <a:srgbClr val="9DB0D6"/>
                </a:solidFill>
                <a:latin typeface="Calibri"/>
              </a:rPr>
              <a:t> Many brands offer incremental updates rather than truly transformative, human-centric advancements.</a:t>
            </a:r>
          </a:p>
        </p:txBody>
      </p:sp>
      <p:sp>
        <p:nvSpPr>
          <p:cNvPr id="13" name="TextBox 12"/>
          <p:cNvSpPr txBox="1"/>
          <p:nvPr/>
        </p:nvSpPr>
        <p:spPr>
          <a:xfrm>
            <a:off x="914400" y="4334256"/>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Sustainability Concerns:</a:t>
            </a:r>
            <a:r>
              <a:rPr sz="1300" b="0">
                <a:solidFill>
                  <a:srgbClr val="9DB0D6"/>
                </a:solidFill>
                <a:latin typeface="Calibri"/>
              </a:rPr>
              <a:t> Growing consumer demand for environmentally responsible and long-lasting products.</a:t>
            </a:r>
          </a:p>
        </p:txBody>
      </p:sp>
      <p:sp>
        <p:nvSpPr>
          <p:cNvPr id="14" name="Rectangle 13"/>
          <p:cNvSpPr/>
          <p:nvPr/>
        </p:nvSpPr>
        <p:spPr>
          <a:xfrm>
            <a:off x="6400800" y="1737360"/>
            <a:ext cx="5303520" cy="4114800"/>
          </a:xfrm>
          <a:prstGeom prst="rect">
            <a:avLst/>
          </a:prstGeom>
          <a:solidFill>
            <a:srgbClr val="102350"/>
          </a:solidFill>
          <a:ln w="19050">
            <a:solidFill>
              <a:srgbClr val="62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303520" cy="64008"/>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502920"/>
          </a:xfrm>
          <a:prstGeom prst="rect">
            <a:avLst/>
          </a:prstGeom>
          <a:noFill/>
        </p:spPr>
        <p:txBody>
          <a:bodyPr wrap="square">
            <a:spAutoFit/>
          </a:bodyPr>
          <a:lstStyle/>
          <a:p>
            <a:pPr algn="l"/>
            <a:r>
              <a:rPr sz="1800" b="1">
                <a:solidFill>
                  <a:srgbClr val="EAF0FF"/>
                </a:solidFill>
                <a:latin typeface="Calibri"/>
              </a:rPr>
              <a:t>Our Solution</a:t>
            </a:r>
          </a:p>
        </p:txBody>
      </p:sp>
      <p:sp>
        <p:nvSpPr>
          <p:cNvPr id="17" name="TextBox 16"/>
          <p:cNvSpPr txBox="1"/>
          <p:nvPr/>
        </p:nvSpPr>
        <p:spPr>
          <a:xfrm>
            <a:off x="6583680" y="2468880"/>
            <a:ext cx="4937760" cy="502920"/>
          </a:xfrm>
          <a:prstGeom prst="rect">
            <a:avLst/>
          </a:prstGeom>
          <a:noFill/>
        </p:spPr>
        <p:txBody>
          <a:bodyPr wrap="square">
            <a:spAutoFit/>
          </a:bodyPr>
          <a:lstStyle/>
          <a:p>
            <a:pPr algn="l"/>
            <a:r>
              <a:rPr sz="2400" b="1">
                <a:solidFill>
                  <a:srgbClr val="62D6C4"/>
                </a:solidFill>
                <a:latin typeface="Calibri"/>
              </a:rPr>
              <a:t>Human-Driven Innovation</a:t>
            </a:r>
          </a:p>
        </p:txBody>
      </p:sp>
      <p:sp>
        <p:nvSpPr>
          <p:cNvPr id="18" name="TextBox 17"/>
          <p:cNvSpPr txBox="1"/>
          <p:nvPr/>
        </p:nvSpPr>
        <p:spPr>
          <a:xfrm>
            <a:off x="6675120" y="3017520"/>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Seamless Connectivity:</a:t>
            </a:r>
            <a:r>
              <a:rPr sz="1300" b="0">
                <a:solidFill>
                  <a:srgbClr val="9DB0D6"/>
                </a:solidFill>
                <a:latin typeface="Calibri"/>
              </a:rPr>
              <a:t> Samsung's SmartThings platform and extensive product line ensure effortless device integration and control.</a:t>
            </a:r>
          </a:p>
        </p:txBody>
      </p:sp>
      <p:sp>
        <p:nvSpPr>
          <p:cNvPr id="19" name="TextBox 18"/>
          <p:cNvSpPr txBox="1"/>
          <p:nvPr/>
        </p:nvSpPr>
        <p:spPr>
          <a:xfrm>
            <a:off x="6675120" y="3456432"/>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Pioneering Technology:</a:t>
            </a:r>
            <a:r>
              <a:rPr sz="1300" b="0">
                <a:solidFill>
                  <a:srgbClr val="9DB0D6"/>
                </a:solidFill>
                <a:latin typeface="Calibri"/>
              </a:rPr>
              <a:t> We invest heavily in R&amp;D to deliver groundbreaking features in AI, display, and mobile computing.</a:t>
            </a:r>
          </a:p>
        </p:txBody>
      </p:sp>
      <p:sp>
        <p:nvSpPr>
          <p:cNvPr id="20" name="TextBox 19"/>
          <p:cNvSpPr txBox="1"/>
          <p:nvPr/>
        </p:nvSpPr>
        <p:spPr>
          <a:xfrm>
            <a:off x="6675120" y="3895344"/>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Holistic Ecosystem:</a:t>
            </a:r>
            <a:r>
              <a:rPr sz="1300" b="0">
                <a:solidFill>
                  <a:srgbClr val="9DB0D6"/>
                </a:solidFill>
                <a:latin typeface="Calibri"/>
              </a:rPr>
              <a:t> Offering a complete suite of devices, from smartphones to home appliances, that work together intuitively.</a:t>
            </a:r>
          </a:p>
        </p:txBody>
      </p:sp>
      <p:sp>
        <p:nvSpPr>
          <p:cNvPr id="21" name="TextBox 20"/>
          <p:cNvSpPr txBox="1"/>
          <p:nvPr/>
        </p:nvSpPr>
        <p:spPr>
          <a:xfrm>
            <a:off x="6675120" y="4334256"/>
            <a:ext cx="4846320" cy="438912"/>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Sustainable Practices:</a:t>
            </a:r>
            <a:r>
              <a:rPr sz="1300" b="0">
                <a:solidFill>
                  <a:srgbClr val="9DB0D6"/>
                </a:solidFill>
                <a:latin typeface="Calibri"/>
              </a:rPr>
              <a:t> Commitment to eco-conscious design, recycled materials, and energy-efficient operations.</a:t>
            </a:r>
          </a:p>
        </p:txBody>
      </p:sp>
      <p:sp>
        <p:nvSpPr>
          <p:cNvPr id="22" name="Rectangle 21"/>
          <p:cNvSpPr/>
          <p:nvPr/>
        </p:nvSpPr>
        <p:spPr>
          <a:xfrm>
            <a:off x="6144768" y="2011680"/>
            <a:ext cx="27432" cy="3566160"/>
          </a:xfrm>
          <a:prstGeom prst="rect">
            <a:avLst/>
          </a:prstGeom>
          <a:solidFill>
            <a:srgbClr val="3B4C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Our Product Portfolio</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Brilliant innovation across every aspect of life.</a:t>
            </a:r>
          </a:p>
        </p:txBody>
      </p:sp>
      <p:sp>
        <p:nvSpPr>
          <p:cNvPr id="6" name="Rectangle 5"/>
          <p:cNvSpPr/>
          <p:nvPr/>
        </p:nvSpPr>
        <p:spPr>
          <a:xfrm>
            <a:off x="17524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EAF0FF"/>
                </a:solidFill>
                <a:latin typeface="Calibri"/>
              </a:rPr>
              <a:t>Mobile Devices</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5B8DEF"/>
                </a:solidFill>
                <a:latin typeface="Calibri"/>
              </a:rPr>
              <a:t>Galaxy Series</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Smartphones, Tablets, Wearables:</a:t>
            </a:r>
            <a:r>
              <a:rPr sz="1300" b="0">
                <a:solidFill>
                  <a:srgbClr val="9DB0D6"/>
                </a:solidFill>
                <a:latin typeface="Calibri"/>
              </a:rPr>
              <a:t> Leading the market with innovative features, advanced cameras, and powerful performance for communication and productivity.</a:t>
            </a:r>
          </a:p>
        </p:txBody>
      </p:sp>
      <p:sp>
        <p:nvSpPr>
          <p:cNvPr id="11" name="Rectangle 10"/>
          <p:cNvSpPr/>
          <p:nvPr/>
        </p:nvSpPr>
        <p:spPr>
          <a:xfrm>
            <a:off x="47242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EAF0FF"/>
                </a:solidFill>
                <a:latin typeface="Calibri"/>
              </a:rPr>
              <a:t>Consumer Electronics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62D6C4"/>
                </a:solidFill>
                <a:latin typeface="Calibri"/>
              </a:rPr>
              <a:t>QLED, Bespoke</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TVs, Home Appliances, Digital Signage:</a:t>
            </a:r>
            <a:r>
              <a:rPr sz="1300" b="0">
                <a:solidFill>
                  <a:srgbClr val="9DB0D6"/>
                </a:solidFill>
                <a:latin typeface="Calibri"/>
              </a:rPr>
              <a:t> Redefining home entertainment and living with stunning displays, smart features, and personalized designs.</a:t>
            </a:r>
          </a:p>
        </p:txBody>
      </p:sp>
      <p:sp>
        <p:nvSpPr>
          <p:cNvPr id="16" name="Rectangle 15"/>
          <p:cNvSpPr/>
          <p:nvPr/>
        </p:nvSpPr>
        <p:spPr>
          <a:xfrm>
            <a:off x="76960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EB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EAF0FF"/>
                </a:solidFill>
                <a:latin typeface="Calibri"/>
              </a:rPr>
              <a:t>Device Solutions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EB1D9"/>
                </a:solidFill>
                <a:latin typeface="Calibri"/>
              </a:rPr>
              <a:t>Memory, Foundry</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Semiconductors, Displays, Batteries:</a:t>
            </a:r>
            <a:r>
              <a:rPr sz="1300" b="0">
                <a:solidFill>
                  <a:srgbClr val="9DB0D6"/>
                </a:solidFill>
                <a:latin typeface="Calibri"/>
              </a:rPr>
              <a:t> Powering the future of technology with high-performance components for internal products and global partners.</a:t>
            </a:r>
          </a:p>
        </p:txBody>
      </p:sp>
      <p:pic>
        <p:nvPicPr>
          <p:cNvPr id="21" name="Picture 20"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Diversified revenue streams driving sustained profitability.</a:t>
            </a:r>
          </a:p>
        </p:txBody>
      </p:sp>
      <p:sp>
        <p:nvSpPr>
          <p:cNvPr id="6" name="Rectangle 5"/>
          <p:cNvSpPr/>
          <p:nvPr/>
        </p:nvSpPr>
        <p:spPr>
          <a:xfrm>
            <a:off x="17524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EAF0FF"/>
                </a:solidFill>
                <a:latin typeface="Calibri"/>
              </a:rPr>
              <a:t>Product Sales (B2C &amp; B2B)</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5B8DEF"/>
                </a:solidFill>
                <a:latin typeface="Calibri"/>
              </a:rPr>
              <a:t>Hardware Revenue</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Global Sales:</a:t>
            </a:r>
            <a:r>
              <a:rPr sz="1300" b="0">
                <a:solidFill>
                  <a:srgbClr val="9DB0D6"/>
                </a:solidFill>
                <a:latin typeface="Calibri"/>
              </a:rPr>
              <a:t> Generating significant revenue through direct and channel sales of smartphones, TVs, home appliances, and IT products to consumers and businesses.</a:t>
            </a:r>
          </a:p>
        </p:txBody>
      </p:sp>
      <p:sp>
        <p:nvSpPr>
          <p:cNvPr id="11" name="Rectangle 10"/>
          <p:cNvSpPr/>
          <p:nvPr/>
        </p:nvSpPr>
        <p:spPr>
          <a:xfrm>
            <a:off x="47242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EAF0FF"/>
                </a:solidFill>
                <a:latin typeface="Calibri"/>
              </a:rPr>
              <a:t>Component Supply</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62D6C4"/>
                </a:solidFill>
                <a:latin typeface="Calibri"/>
              </a:rPr>
              <a:t>Semiconductor &amp; Display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Global Leadership:</a:t>
            </a:r>
            <a:r>
              <a:rPr sz="1300" b="0">
                <a:solidFill>
                  <a:srgbClr val="9DB0D6"/>
                </a:solidFill>
                <a:latin typeface="Calibri"/>
              </a:rPr>
              <a:t> Supplying critical memory, logic, and display components to other tech giants, establishing a foundational and highly profitable revenue stream.</a:t>
            </a:r>
          </a:p>
        </p:txBody>
      </p:sp>
      <p:sp>
        <p:nvSpPr>
          <p:cNvPr id="16" name="Rectangle 15"/>
          <p:cNvSpPr/>
          <p:nvPr/>
        </p:nvSpPr>
        <p:spPr>
          <a:xfrm>
            <a:off x="76960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EB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EAF0FF"/>
                </a:solidFill>
                <a:latin typeface="Calibri"/>
              </a:rPr>
              <a:t>Services &amp; Software</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EB1D9"/>
                </a:solidFill>
                <a:latin typeface="Calibri"/>
              </a:rPr>
              <a:t>Ecosystem Growth</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Recurring Revenue:</a:t>
            </a:r>
            <a:r>
              <a:rPr sz="1300" b="0">
                <a:solidFill>
                  <a:srgbClr val="9DB0D6"/>
                </a:solidFill>
                <a:latin typeface="Calibri"/>
              </a:rPr>
              <a:t> Expanding through platforms like SmartThings, Samsung Pay, Galaxy Store, and various cloud-based services, fostering user engagement and loyalty.</a:t>
            </a:r>
          </a:p>
        </p:txBody>
      </p:sp>
      <p:pic>
        <p:nvPicPr>
          <p:cNvPr id="21" name="Picture 20"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Global Traction &amp; Leadership</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Proven market dominance and continuous growth.</a:t>
            </a:r>
          </a:p>
        </p:txBody>
      </p:sp>
      <p:sp>
        <p:nvSpPr>
          <p:cNvPr id="6" name="Rectangle 5"/>
          <p:cNvSpPr/>
          <p:nvPr/>
        </p:nvSpPr>
        <p:spPr>
          <a:xfrm>
            <a:off x="3421227" y="2103120"/>
            <a:ext cx="2560320" cy="2194560"/>
          </a:xfrm>
          <a:prstGeom prst="rect">
            <a:avLst/>
          </a:prstGeom>
          <a:solidFill>
            <a:srgbClr val="102350"/>
          </a:solidFill>
          <a:ln w="19050">
            <a:solidFill>
              <a:srgbClr val="5B8D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EAF0FF"/>
                </a:solidFill>
                <a:latin typeface="Calibri"/>
              </a:rPr>
              <a:t>$235B</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9DB0D6"/>
                </a:solidFill>
                <a:latin typeface="Calibri"/>
              </a:rPr>
              <a:t>Annual Revenue (2023)</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627396"/>
                </a:solidFill>
                <a:latin typeface="Calibri"/>
              </a:rPr>
              <a:t>Source: Samsung Annual Report</a:t>
            </a:r>
          </a:p>
        </p:txBody>
      </p:sp>
      <p:sp>
        <p:nvSpPr>
          <p:cNvPr id="10" name="Rectangle 9"/>
          <p:cNvSpPr/>
          <p:nvPr/>
        </p:nvSpPr>
        <p:spPr>
          <a:xfrm>
            <a:off x="6210147" y="2103120"/>
            <a:ext cx="2560320" cy="2194560"/>
          </a:xfrm>
          <a:prstGeom prst="rect">
            <a:avLst/>
          </a:prstGeom>
          <a:solidFill>
            <a:srgbClr val="102350"/>
          </a:solidFill>
          <a:ln w="19050">
            <a:solidFill>
              <a:srgbClr val="62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EAF0FF"/>
                </a:solidFill>
                <a:latin typeface="Calibri"/>
              </a:rPr>
              <a:t>$20B+</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9DB0D6"/>
                </a:solidFill>
                <a:latin typeface="Calibri"/>
              </a:rPr>
              <a:t>R&amp;D Investment (2023)</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627396"/>
                </a:solidFill>
                <a:latin typeface="Calibri"/>
              </a:rPr>
              <a:t>Source: Samsung Annual Report</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9DB0D6"/>
                </a:solidFill>
                <a:latin typeface="Calibri"/>
              </a:rPr>
              <a:t>Samsung consistently holds leading positions across multiple competitive global markets, demonstrating strong brand loyalty, significant sales volumes, and sustained financial performance. Our strategic investments in R&amp;D and global distribution networks ensure we maintain this momentum.</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#1 Global Smartphone Vendor:</a:t>
            </a:r>
            <a:r>
              <a:rPr sz="1300" b="0">
                <a:solidFill>
                  <a:srgbClr val="9DB0D6"/>
                </a:solidFill>
                <a:latin typeface="Calibri"/>
              </a:rPr>
              <a:t> Consistently shipping the most units worldwide.</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#1 Global TV Manufacturer:</a:t>
            </a:r>
            <a:r>
              <a:rPr sz="1300" b="0">
                <a:solidFill>
                  <a:srgbClr val="9DB0D6"/>
                </a:solidFill>
                <a:latin typeface="Calibri"/>
              </a:rPr>
              <a:t> Holding the top spot for 18 consecutive years.</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9DB0D6"/>
                </a:solidFill>
                <a:latin typeface="Calibri"/>
              </a:rPr>
              <a:t>›  </a:t>
            </a:r>
            <a:r>
              <a:rPr sz="1300" b="1">
                <a:solidFill>
                  <a:srgbClr val="9DB0D6"/>
                </a:solidFill>
                <a:latin typeface="Calibri"/>
              </a:rPr>
              <a:t>Leading Memory Chip Producer:</a:t>
            </a:r>
            <a:r>
              <a:rPr sz="1300" b="0">
                <a:solidFill>
                  <a:srgbClr val="9DB0D6"/>
                </a:solidFill>
                <a:latin typeface="Calibri"/>
              </a:rPr>
              <a:t> Dominant in DRAM and NAND flash markets.</a:t>
            </a:r>
          </a:p>
        </p:txBody>
      </p:sp>
      <p:pic>
        <p:nvPicPr>
          <p:cNvPr id="18" name="Picture 17"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Leading through innovation in a dynamic global market.</a:t>
            </a:r>
          </a:p>
        </p:txBody>
      </p:sp>
      <p:sp>
        <p:nvSpPr>
          <p:cNvPr id="6" name="Rectangle 5"/>
          <p:cNvSpPr/>
          <p:nvPr/>
        </p:nvSpPr>
        <p:spPr>
          <a:xfrm>
            <a:off x="17524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EAF0FF"/>
                </a:solidFill>
                <a:latin typeface="Calibri"/>
              </a:rPr>
              <a:t>Apple</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5B8DEF"/>
                </a:solidFill>
                <a:latin typeface="Calibri"/>
              </a:rPr>
              <a:t>$3.1T Valuation</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DB0D6"/>
                </a:solidFill>
                <a:latin typeface="Calibri"/>
              </a:rPr>
              <a:t>Strong ecosystem lock-in but often at a premium price point and less open platform for integration with non-Apple devices.</a:t>
            </a:r>
          </a:p>
        </p:txBody>
      </p:sp>
      <p:sp>
        <p:nvSpPr>
          <p:cNvPr id="11" name="Rectangle 10"/>
          <p:cNvSpPr/>
          <p:nvPr/>
        </p:nvSpPr>
        <p:spPr>
          <a:xfrm>
            <a:off x="47242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EAF0FF"/>
                </a:solidFill>
                <a:latin typeface="Calibri"/>
              </a:rPr>
              <a:t>Xiaomi</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62D6C4"/>
                </a:solidFill>
                <a:latin typeface="Calibri"/>
              </a:rPr>
              <a:t>$40B Valuation</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DB0D6"/>
                </a:solidFill>
                <a:latin typeface="Calibri"/>
              </a:rPr>
              <a:t>Aggressive pricing in emerging markets, but often lags in premium features, brand perception, and global service infrastructure.</a:t>
            </a:r>
          </a:p>
        </p:txBody>
      </p:sp>
      <p:sp>
        <p:nvSpPr>
          <p:cNvPr id="16" name="Rectangle 15"/>
          <p:cNvSpPr/>
          <p:nvPr/>
        </p:nvSpPr>
        <p:spPr>
          <a:xfrm>
            <a:off x="76960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EB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EAF0FF"/>
                </a:solidFill>
                <a:latin typeface="Calibri"/>
              </a:rPr>
              <a:t>LG Electronics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EB1D9"/>
                </a:solidFill>
                <a:latin typeface="Calibri"/>
              </a:rPr>
              <a:t>$10B Valuation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DB0D6"/>
                </a:solidFill>
                <a:latin typeface="Calibri"/>
              </a:rPr>
              <a:t>Strong in home appliances and displays, but lacks the comprehensive mobile and semiconductor divisions of Samsung.</a:t>
            </a:r>
          </a:p>
        </p:txBody>
      </p:sp>
      <p:pic>
        <p:nvPicPr>
          <p:cNvPr id="21" name="Picture 20"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Leadership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Visionary leadership driving global technological advancement.</a:t>
            </a:r>
          </a:p>
        </p:txBody>
      </p:sp>
      <p:sp>
        <p:nvSpPr>
          <p:cNvPr id="6" name="Rectangle 5"/>
          <p:cNvSpPr/>
          <p:nvPr/>
        </p:nvSpPr>
        <p:spPr>
          <a:xfrm>
            <a:off x="3535527" y="1828800"/>
            <a:ext cx="5120640" cy="347472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35527" y="1828800"/>
            <a:ext cx="5120640" cy="54864"/>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18407" y="2011680"/>
            <a:ext cx="4754880" cy="548640"/>
          </a:xfrm>
          <a:prstGeom prst="rect">
            <a:avLst/>
          </a:prstGeom>
          <a:noFill/>
        </p:spPr>
        <p:txBody>
          <a:bodyPr wrap="square">
            <a:spAutoFit/>
          </a:bodyPr>
          <a:lstStyle/>
          <a:p>
            <a:pPr algn="l"/>
            <a:r>
              <a:rPr sz="1600" b="1">
                <a:solidFill>
                  <a:srgbClr val="EAF0FF"/>
                </a:solidFill>
                <a:latin typeface="Calibri"/>
              </a:rPr>
              <a:t>Leadership</a:t>
            </a:r>
          </a:p>
        </p:txBody>
      </p:sp>
      <p:sp>
        <p:nvSpPr>
          <p:cNvPr id="9" name="TextBox 8"/>
          <p:cNvSpPr txBox="1"/>
          <p:nvPr/>
        </p:nvSpPr>
        <p:spPr>
          <a:xfrm>
            <a:off x="3718407" y="2560320"/>
            <a:ext cx="4754880" cy="502920"/>
          </a:xfrm>
          <a:prstGeom prst="rect">
            <a:avLst/>
          </a:prstGeom>
          <a:noFill/>
        </p:spPr>
        <p:txBody>
          <a:bodyPr wrap="square">
            <a:spAutoFit/>
          </a:bodyPr>
          <a:lstStyle/>
          <a:p>
            <a:pPr algn="l"/>
            <a:r>
              <a:rPr sz="2200" b="1">
                <a:solidFill>
                  <a:srgbClr val="5B8DEF"/>
                </a:solidFill>
                <a:latin typeface="Calibri"/>
              </a:rPr>
              <a:t>Global Vision</a:t>
            </a:r>
          </a:p>
        </p:txBody>
      </p:sp>
      <p:sp>
        <p:nvSpPr>
          <p:cNvPr id="10" name="TextBox 9"/>
          <p:cNvSpPr txBox="1"/>
          <p:nvPr/>
        </p:nvSpPr>
        <p:spPr>
          <a:xfrm>
            <a:off x="3718407" y="3063240"/>
            <a:ext cx="4754880" cy="2057400"/>
          </a:xfrm>
          <a:prstGeom prst="rect">
            <a:avLst/>
          </a:prstGeom>
          <a:noFill/>
        </p:spPr>
        <p:txBody>
          <a:bodyPr wrap="square">
            <a:spAutoFit/>
          </a:bodyPr>
          <a:lstStyle/>
          <a:p>
            <a:pPr algn="l"/>
            <a:r>
              <a:rPr sz="1300" b="0">
                <a:solidFill>
                  <a:srgbClr val="9DB0D6"/>
                </a:solidFill>
                <a:latin typeface="Calibri"/>
              </a:rPr>
              <a:t>Team details available on request</a:t>
            </a:r>
          </a:p>
        </p:txBody>
      </p:sp>
      <p:pic>
        <p:nvPicPr>
          <p:cNvPr id="11" name="Picture 10"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Market Sizing &amp; 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Immense opportunity within core markets, robust growth expected.</a:t>
            </a:r>
          </a:p>
        </p:txBody>
      </p:sp>
      <p:sp>
        <p:nvSpPr>
          <p:cNvPr id="6" name="Oval 5"/>
          <p:cNvSpPr/>
          <p:nvPr/>
        </p:nvSpPr>
        <p:spPr>
          <a:xfrm>
            <a:off x="548640" y="1554480"/>
            <a:ext cx="3840480" cy="3840480"/>
          </a:xfrm>
          <a:prstGeom prst="ellipse">
            <a:avLst/>
          </a:prstGeom>
          <a:solidFill>
            <a:srgbClr val="5B8DE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920240"/>
            <a:ext cx="3108960" cy="3108960"/>
          </a:xfrm>
          <a:prstGeom prst="ellipse">
            <a:avLst/>
          </a:prstGeom>
          <a:solidFill>
            <a:srgbClr val="62D6C4">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25880" y="2331720"/>
            <a:ext cx="2240280" cy="2240280"/>
          </a:xfrm>
          <a:prstGeom prst="ellipse">
            <a:avLst/>
          </a:prstGeom>
          <a:solidFill>
            <a:srgbClr val="5EB1D9">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2834640"/>
            <a:ext cx="2057400" cy="320040"/>
          </a:xfrm>
          <a:prstGeom prst="rect">
            <a:avLst/>
          </a:prstGeom>
          <a:noFill/>
        </p:spPr>
        <p:txBody>
          <a:bodyPr wrap="square">
            <a:spAutoFit/>
          </a:bodyPr>
          <a:lstStyle/>
          <a:p>
            <a:pPr algn="ctr"/>
            <a:r>
              <a:rPr sz="900" b="1">
                <a:solidFill>
                  <a:srgbClr val="627396"/>
                </a:solidFill>
                <a:latin typeface="Calibri"/>
              </a:rPr>
              <a:t>CAGR</a:t>
            </a:r>
          </a:p>
        </p:txBody>
      </p:sp>
      <p:sp>
        <p:nvSpPr>
          <p:cNvPr id="10" name="TextBox 9"/>
          <p:cNvSpPr txBox="1"/>
          <p:nvPr/>
        </p:nvSpPr>
        <p:spPr>
          <a:xfrm>
            <a:off x="1417320" y="3154680"/>
            <a:ext cx="2057400" cy="548640"/>
          </a:xfrm>
          <a:prstGeom prst="rect">
            <a:avLst/>
          </a:prstGeom>
          <a:noFill/>
        </p:spPr>
        <p:txBody>
          <a:bodyPr wrap="square">
            <a:spAutoFit/>
          </a:bodyPr>
          <a:lstStyle/>
          <a:p>
            <a:pPr algn="ctr"/>
            <a:r>
              <a:rPr sz="2200" b="1">
                <a:solidFill>
                  <a:srgbClr val="7EA5F3"/>
                </a:solidFill>
                <a:latin typeface="Calibri"/>
              </a:rPr>
              <a:t>8.5%</a:t>
            </a:r>
          </a:p>
        </p:txBody>
      </p:sp>
      <p:sp>
        <p:nvSpPr>
          <p:cNvPr id="11" name="Rectangle 10"/>
          <p:cNvSpPr/>
          <p:nvPr/>
        </p:nvSpPr>
        <p:spPr>
          <a:xfrm>
            <a:off x="4846320" y="1737360"/>
            <a:ext cx="6675120" cy="91440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46320" y="1737360"/>
            <a:ext cx="64008" cy="9144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1828800"/>
            <a:ext cx="914400" cy="320040"/>
          </a:xfrm>
          <a:prstGeom prst="rect">
            <a:avLst/>
          </a:prstGeom>
          <a:noFill/>
        </p:spPr>
        <p:txBody>
          <a:bodyPr wrap="square">
            <a:spAutoFit/>
          </a:bodyPr>
          <a:lstStyle/>
          <a:p>
            <a:pPr algn="l"/>
            <a:r>
              <a:rPr sz="900" b="1">
                <a:solidFill>
                  <a:srgbClr val="627396"/>
                </a:solidFill>
                <a:latin typeface="Calibri"/>
              </a:rPr>
              <a:t>TAM</a:t>
            </a:r>
          </a:p>
        </p:txBody>
      </p:sp>
      <p:sp>
        <p:nvSpPr>
          <p:cNvPr id="14" name="TextBox 13"/>
          <p:cNvSpPr txBox="1"/>
          <p:nvPr/>
        </p:nvSpPr>
        <p:spPr>
          <a:xfrm>
            <a:off x="6035040" y="1810512"/>
            <a:ext cx="2286000" cy="411480"/>
          </a:xfrm>
          <a:prstGeom prst="rect">
            <a:avLst/>
          </a:prstGeom>
          <a:noFill/>
        </p:spPr>
        <p:txBody>
          <a:bodyPr wrap="square">
            <a:spAutoFit/>
          </a:bodyPr>
          <a:lstStyle/>
          <a:p>
            <a:pPr algn="l"/>
            <a:r>
              <a:rPr sz="2800" b="1">
                <a:solidFill>
                  <a:srgbClr val="5B8DEF"/>
                </a:solidFill>
                <a:latin typeface="Calibri"/>
              </a:rPr>
              <a:t>$5.3T</a:t>
            </a:r>
          </a:p>
        </p:txBody>
      </p:sp>
      <p:sp>
        <p:nvSpPr>
          <p:cNvPr id="15" name="TextBox 14"/>
          <p:cNvSpPr txBox="1"/>
          <p:nvPr/>
        </p:nvSpPr>
        <p:spPr>
          <a:xfrm>
            <a:off x="5029200" y="2240280"/>
            <a:ext cx="6400800" cy="347472"/>
          </a:xfrm>
          <a:prstGeom prst="rect">
            <a:avLst/>
          </a:prstGeom>
          <a:noFill/>
        </p:spPr>
        <p:txBody>
          <a:bodyPr wrap="square">
            <a:spAutoFit/>
          </a:bodyPr>
          <a:lstStyle/>
          <a:p>
            <a:pPr algn="l"/>
            <a:r>
              <a:rPr sz="1100" b="0">
                <a:solidFill>
                  <a:srgbClr val="9DB0D6"/>
                </a:solidFill>
                <a:latin typeface="Calibri"/>
              </a:rPr>
              <a:t>Global Tech Market 2024 · Source: Statista</a:t>
            </a:r>
          </a:p>
        </p:txBody>
      </p:sp>
      <p:sp>
        <p:nvSpPr>
          <p:cNvPr id="16" name="Rectangle 15"/>
          <p:cNvSpPr/>
          <p:nvPr/>
        </p:nvSpPr>
        <p:spPr>
          <a:xfrm>
            <a:off x="4846320" y="2788920"/>
            <a:ext cx="6675120" cy="91440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788920"/>
            <a:ext cx="64008" cy="914400"/>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880360"/>
            <a:ext cx="914400" cy="320040"/>
          </a:xfrm>
          <a:prstGeom prst="rect">
            <a:avLst/>
          </a:prstGeom>
          <a:noFill/>
        </p:spPr>
        <p:txBody>
          <a:bodyPr wrap="square">
            <a:spAutoFit/>
          </a:bodyPr>
          <a:lstStyle/>
          <a:p>
            <a:pPr algn="l"/>
            <a:r>
              <a:rPr sz="900" b="1">
                <a:solidFill>
                  <a:srgbClr val="627396"/>
                </a:solidFill>
                <a:latin typeface="Calibri"/>
              </a:rPr>
              <a:t>SAM</a:t>
            </a:r>
          </a:p>
        </p:txBody>
      </p:sp>
      <p:sp>
        <p:nvSpPr>
          <p:cNvPr id="19" name="TextBox 18"/>
          <p:cNvSpPr txBox="1"/>
          <p:nvPr/>
        </p:nvSpPr>
        <p:spPr>
          <a:xfrm>
            <a:off x="6035040" y="2862072"/>
            <a:ext cx="2286000" cy="411480"/>
          </a:xfrm>
          <a:prstGeom prst="rect">
            <a:avLst/>
          </a:prstGeom>
          <a:noFill/>
        </p:spPr>
        <p:txBody>
          <a:bodyPr wrap="square">
            <a:spAutoFit/>
          </a:bodyPr>
          <a:lstStyle/>
          <a:p>
            <a:pPr algn="l"/>
            <a:r>
              <a:rPr sz="2800" b="1">
                <a:solidFill>
                  <a:srgbClr val="62D6C4"/>
                </a:solidFill>
                <a:latin typeface="Calibri"/>
              </a:rPr>
              <a:t>$1.5T</a:t>
            </a:r>
          </a:p>
        </p:txBody>
      </p:sp>
      <p:sp>
        <p:nvSpPr>
          <p:cNvPr id="20" name="TextBox 19"/>
          <p:cNvSpPr txBox="1"/>
          <p:nvPr/>
        </p:nvSpPr>
        <p:spPr>
          <a:xfrm>
            <a:off x="5029200" y="3291840"/>
            <a:ext cx="6400800" cy="347472"/>
          </a:xfrm>
          <a:prstGeom prst="rect">
            <a:avLst/>
          </a:prstGeom>
          <a:noFill/>
        </p:spPr>
        <p:txBody>
          <a:bodyPr wrap="square">
            <a:spAutoFit/>
          </a:bodyPr>
          <a:lstStyle/>
          <a:p>
            <a:pPr algn="l"/>
            <a:r>
              <a:rPr sz="1100" b="0">
                <a:solidFill>
                  <a:srgbClr val="9DB0D6"/>
                </a:solidFill>
                <a:latin typeface="Calibri"/>
              </a:rPr>
              <a:t>Consumer Electronics &amp; Mobile Communications</a:t>
            </a:r>
          </a:p>
        </p:txBody>
      </p:sp>
      <p:sp>
        <p:nvSpPr>
          <p:cNvPr id="21" name="Rectangle 20"/>
          <p:cNvSpPr/>
          <p:nvPr/>
        </p:nvSpPr>
        <p:spPr>
          <a:xfrm>
            <a:off x="4846320" y="3840480"/>
            <a:ext cx="6675120" cy="91440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840480"/>
            <a:ext cx="64008" cy="914400"/>
          </a:xfrm>
          <a:prstGeom prst="rect">
            <a:avLst/>
          </a:prstGeom>
          <a:solidFill>
            <a:srgbClr val="5EB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931920"/>
            <a:ext cx="914400" cy="320040"/>
          </a:xfrm>
          <a:prstGeom prst="rect">
            <a:avLst/>
          </a:prstGeom>
          <a:noFill/>
        </p:spPr>
        <p:txBody>
          <a:bodyPr wrap="square">
            <a:spAutoFit/>
          </a:bodyPr>
          <a:lstStyle/>
          <a:p>
            <a:pPr algn="l"/>
            <a:r>
              <a:rPr sz="900" b="1">
                <a:solidFill>
                  <a:srgbClr val="627396"/>
                </a:solidFill>
                <a:latin typeface="Calibri"/>
              </a:rPr>
              <a:t>SOM</a:t>
            </a:r>
          </a:p>
        </p:txBody>
      </p:sp>
      <p:sp>
        <p:nvSpPr>
          <p:cNvPr id="24" name="TextBox 23"/>
          <p:cNvSpPr txBox="1"/>
          <p:nvPr/>
        </p:nvSpPr>
        <p:spPr>
          <a:xfrm>
            <a:off x="6035040" y="3913632"/>
            <a:ext cx="2286000" cy="411480"/>
          </a:xfrm>
          <a:prstGeom prst="rect">
            <a:avLst/>
          </a:prstGeom>
          <a:noFill/>
        </p:spPr>
        <p:txBody>
          <a:bodyPr wrap="square">
            <a:spAutoFit/>
          </a:bodyPr>
          <a:lstStyle/>
          <a:p>
            <a:pPr algn="l"/>
            <a:r>
              <a:rPr sz="2800" b="1">
                <a:solidFill>
                  <a:srgbClr val="5EB1D9"/>
                </a:solidFill>
                <a:latin typeface="Calibri"/>
              </a:rPr>
              <a:t>$500B</a:t>
            </a:r>
          </a:p>
        </p:txBody>
      </p:sp>
      <p:sp>
        <p:nvSpPr>
          <p:cNvPr id="25" name="TextBox 24"/>
          <p:cNvSpPr txBox="1"/>
          <p:nvPr/>
        </p:nvSpPr>
        <p:spPr>
          <a:xfrm>
            <a:off x="5029200" y="4343400"/>
            <a:ext cx="6400800" cy="347472"/>
          </a:xfrm>
          <a:prstGeom prst="rect">
            <a:avLst/>
          </a:prstGeom>
          <a:noFill/>
        </p:spPr>
        <p:txBody>
          <a:bodyPr wrap="square">
            <a:spAutoFit/>
          </a:bodyPr>
          <a:lstStyle/>
          <a:p>
            <a:pPr algn="l"/>
            <a:r>
              <a:rPr sz="1100" b="0">
                <a:solidFill>
                  <a:srgbClr val="9DB0D6"/>
                </a:solidFill>
                <a:latin typeface="Calibri"/>
              </a:rPr>
              <a:t>Targeted share by 2028 · ~33% SAM capture</a:t>
            </a:r>
          </a:p>
        </p:txBody>
      </p:sp>
      <p:sp>
        <p:nvSpPr>
          <p:cNvPr id="26" name="Rectangle 25"/>
          <p:cNvSpPr/>
          <p:nvPr/>
        </p:nvSpPr>
        <p:spPr>
          <a:xfrm>
            <a:off x="457200" y="5760720"/>
            <a:ext cx="3657600" cy="68580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852160"/>
            <a:ext cx="3383280" cy="502920"/>
          </a:xfrm>
          <a:prstGeom prst="rect">
            <a:avLst/>
          </a:prstGeom>
          <a:noFill/>
        </p:spPr>
        <p:txBody>
          <a:bodyPr wrap="square">
            <a:spAutoFit/>
          </a:bodyPr>
          <a:lstStyle/>
          <a:p>
            <a:pPr algn="l"/>
            <a:r>
              <a:rPr sz="1200" b="0">
                <a:solidFill>
                  <a:srgbClr val="9DB0D6"/>
                </a:solidFill>
                <a:latin typeface="Calibri"/>
              </a:rPr>
              <a:t/>
            </a:r>
            <a:r>
              <a:rPr sz="1200" b="1">
                <a:solidFill>
                  <a:srgbClr val="9DB0D6"/>
                </a:solidFill>
                <a:latin typeface="Calibri"/>
              </a:rPr>
              <a:t>FY2026:</a:t>
            </a:r>
            <a:r>
              <a:rPr sz="1200" b="0">
                <a:solidFill>
                  <a:srgbClr val="9DB0D6"/>
                </a:solidFill>
                <a:latin typeface="Calibri"/>
              </a:rPr>
              <a:t> Target $270B+ Revenue · Continued market share growth in key segments.</a:t>
            </a:r>
          </a:p>
        </p:txBody>
      </p:sp>
      <p:sp>
        <p:nvSpPr>
          <p:cNvPr id="28" name="Rectangle 27"/>
          <p:cNvSpPr/>
          <p:nvPr/>
        </p:nvSpPr>
        <p:spPr>
          <a:xfrm>
            <a:off x="4343400" y="5760720"/>
            <a:ext cx="3657600" cy="68580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5852160"/>
            <a:ext cx="3383280" cy="502920"/>
          </a:xfrm>
          <a:prstGeom prst="rect">
            <a:avLst/>
          </a:prstGeom>
          <a:noFill/>
        </p:spPr>
        <p:txBody>
          <a:bodyPr wrap="square">
            <a:spAutoFit/>
          </a:bodyPr>
          <a:lstStyle/>
          <a:p>
            <a:pPr algn="l"/>
            <a:r>
              <a:rPr sz="1200" b="0">
                <a:solidFill>
                  <a:srgbClr val="9DB0D6"/>
                </a:solidFill>
                <a:latin typeface="Calibri"/>
              </a:rPr>
              <a:t/>
            </a:r>
            <a:r>
              <a:rPr sz="1200" b="1">
                <a:solidFill>
                  <a:srgbClr val="9DB0D6"/>
                </a:solidFill>
                <a:latin typeface="Calibri"/>
              </a:rPr>
              <a:t>FY2027:</a:t>
            </a:r>
            <a:r>
              <a:rPr sz="1200" b="0">
                <a:solidFill>
                  <a:srgbClr val="9DB0D6"/>
                </a:solidFill>
                <a:latin typeface="Calibri"/>
              </a:rPr>
              <a:t> Target $300B+ Revenue · Significant expansion in AI and connected device ecosystems.</a:t>
            </a:r>
          </a:p>
        </p:txBody>
      </p:sp>
      <p:sp>
        <p:nvSpPr>
          <p:cNvPr id="30" name="Rectangle 29"/>
          <p:cNvSpPr/>
          <p:nvPr/>
        </p:nvSpPr>
        <p:spPr>
          <a:xfrm>
            <a:off x="8229600" y="5760720"/>
            <a:ext cx="3657600" cy="68580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5852160"/>
            <a:ext cx="3383280" cy="502920"/>
          </a:xfrm>
          <a:prstGeom prst="rect">
            <a:avLst/>
          </a:prstGeom>
          <a:noFill/>
        </p:spPr>
        <p:txBody>
          <a:bodyPr wrap="square">
            <a:spAutoFit/>
          </a:bodyPr>
          <a:lstStyle/>
          <a:p>
            <a:pPr algn="l"/>
            <a:r>
              <a:rPr sz="1200" b="0">
                <a:solidFill>
                  <a:srgbClr val="9DB0D6"/>
                </a:solidFill>
                <a:latin typeface="Calibri"/>
              </a:rPr>
              <a:t/>
            </a:r>
            <a:r>
              <a:rPr sz="1200" b="1">
                <a:solidFill>
                  <a:srgbClr val="9DB0D6"/>
                </a:solidFill>
                <a:latin typeface="Calibri"/>
              </a:rPr>
              <a:t>FY2028:</a:t>
            </a:r>
            <a:r>
              <a:rPr sz="1200" b="0">
                <a:solidFill>
                  <a:srgbClr val="9DB0D6"/>
                </a:solidFill>
                <a:latin typeface="Calibri"/>
              </a:rPr>
              <a:t> Target $330B+ Revenue · Solidify leadership in next-generation technologies like XR and advanced semiconductors.</a:t>
            </a:r>
          </a:p>
        </p:txBody>
      </p:sp>
      <p:pic>
        <p:nvPicPr>
          <p:cNvPr id="32" name="Picture 31"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627396"/>
                </a:solidFill>
                <a:latin typeface="Calibri"/>
              </a:rPr>
              <a:t>THE 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EAF0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DB0D6"/>
                </a:solidFill>
                <a:latin typeface="Calibri"/>
              </a:rPr>
              <a:t>Investing in the future of human-driven innovation.</a:t>
            </a:r>
          </a:p>
        </p:txBody>
      </p:sp>
      <p:sp>
        <p:nvSpPr>
          <p:cNvPr id="6" name="Rectangle 5"/>
          <p:cNvSpPr/>
          <p:nvPr/>
        </p:nvSpPr>
        <p:spPr>
          <a:xfrm>
            <a:off x="17524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EAF0FF"/>
                </a:solidFill>
                <a:latin typeface="Calibri"/>
              </a:rPr>
              <a:t>Strategic Investment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5B8DEF"/>
                </a:solidFill>
                <a:latin typeface="Calibri"/>
              </a:rPr>
              <a:t>R&amp;D Focus</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Continuous Innovation:</a:t>
            </a:r>
            <a:r>
              <a:rPr sz="1300" b="0">
                <a:solidFill>
                  <a:srgbClr val="9DB0D6"/>
                </a:solidFill>
                <a:latin typeface="Calibri"/>
              </a:rPr>
              <a:t> Funding cutting-edge research in AI, semiconductors, displays, and future technologies to maintain market leadership.</a:t>
            </a:r>
          </a:p>
        </p:txBody>
      </p:sp>
      <p:sp>
        <p:nvSpPr>
          <p:cNvPr id="11" name="Rectangle 10"/>
          <p:cNvSpPr/>
          <p:nvPr/>
        </p:nvSpPr>
        <p:spPr>
          <a:xfrm>
            <a:off x="47242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EAF0FF"/>
                </a:solidFill>
                <a:latin typeface="Calibri"/>
              </a:rPr>
              <a:t>Market Expansion</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62D6C4"/>
                </a:solidFill>
                <a:latin typeface="Calibri"/>
              </a:rPr>
              <a:t>Global Reach</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New Growth Areas:</a:t>
            </a:r>
            <a:r>
              <a:rPr sz="1300" b="0">
                <a:solidFill>
                  <a:srgbClr val="9DB0D6"/>
                </a:solidFill>
                <a:latin typeface="Calibri"/>
              </a:rPr>
              <a:t> Investing in emerging markets and developing new product categories to capture untapped opportunities.</a:t>
            </a:r>
          </a:p>
        </p:txBody>
      </p:sp>
      <p:sp>
        <p:nvSpPr>
          <p:cNvPr id="16" name="Rectangle 15"/>
          <p:cNvSpPr/>
          <p:nvPr/>
        </p:nvSpPr>
        <p:spPr>
          <a:xfrm>
            <a:off x="7696047" y="1920240"/>
            <a:ext cx="2743200" cy="3291840"/>
          </a:xfrm>
          <a:prstGeom prst="rect">
            <a:avLst/>
          </a:prstGeom>
          <a:solidFill>
            <a:srgbClr val="102350"/>
          </a:solidFill>
          <a:ln w="12700">
            <a:solidFill>
              <a:srgbClr val="3B4C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EB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EAF0FF"/>
                </a:solidFill>
                <a:latin typeface="Calibri"/>
              </a:rPr>
              <a:t>Sustainability Initiatives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EB1D9"/>
                </a:solidFill>
                <a:latin typeface="Calibri"/>
              </a:rPr>
              <a:t>ESG Leadership</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DB0D6"/>
                </a:solidFill>
                <a:latin typeface="Calibri"/>
              </a:rPr>
              <a:t/>
            </a:r>
            <a:r>
              <a:rPr sz="1300" b="1">
                <a:solidFill>
                  <a:srgbClr val="9DB0D6"/>
                </a:solidFill>
                <a:latin typeface="Calibri"/>
              </a:rPr>
              <a:t>Responsible Growth:</a:t>
            </a:r>
            <a:r>
              <a:rPr sz="1300" b="0">
                <a:solidFill>
                  <a:srgbClr val="9DB0D6"/>
                </a:solidFill>
                <a:latin typeface="Calibri"/>
              </a:rPr>
              <a:t> Allocating resources to eco-conscious manufacturing, circular economy practices, and corporate social responsibility.</a:t>
            </a:r>
          </a:p>
        </p:txBody>
      </p:sp>
      <p:pic>
        <p:nvPicPr>
          <p:cNvPr id="21" name="Picture 20"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83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5B8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62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EAF0FF"/>
                </a:solidFill>
                <a:latin typeface="Calibri"/>
              </a:rPr>
              <a:t>Do What You Can't</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DB0D6"/>
                </a:solidFill>
                <a:latin typeface="Calibri"/>
              </a:rPr>
              <a:t>Join us in creating human-driven innovations for a better world.</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627396"/>
                </a:solidFill>
                <a:latin typeface="Calibri"/>
              </a:rPr>
              <a:t>Samsung's journey is one of relentless pioneering and a commitment to defying barriers. We invite you to be a part of our future as we continue to shape the next era of technology, creating experiences that empower and inspire millions worldwide.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627396"/>
                </a:solidFill>
                <a:latin typeface="Calibri"/>
              </a:rPr>
              <a:t>Investor Presentation  •  Confidential</a:t>
            </a:r>
          </a:p>
        </p:txBody>
      </p:sp>
      <p:pic>
        <p:nvPicPr>
          <p:cNvPr id="8" name="Picture 7" descr="image.jp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