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Infopace</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7091D5"/>
                </a:solidFill>
                <a:latin typeface="Calibri"/>
              </a:rPr>
              <a:t>Driving Strategic Change &amp; Digital Transformation with AI-Powered Insights</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002165"/>
                </a:solidFill>
                <a:latin typeface="Calibri"/>
              </a:rPr>
              <a:t>Empowering enterprises to navigate complex change, accelerate growth, and build resilient, future-ready organizations through people-first solutions.</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002165"/>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EXECUTIVE SUMMARY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Executive Summary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Unlocking human potential for enterprise transformation.</a:t>
            </a:r>
          </a:p>
        </p:txBody>
      </p:sp>
      <p:sp>
        <p:nvSpPr>
          <p:cNvPr id="6" name="Rectangle 5"/>
          <p:cNvSpPr/>
          <p:nvPr/>
        </p:nvSpPr>
        <p:spPr>
          <a:xfrm>
            <a:off x="3421227" y="2103120"/>
            <a:ext cx="2560320" cy="219456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$1.2M</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7091D5"/>
                </a:solidFill>
                <a:latin typeface="Calibri"/>
              </a:rPr>
              <a:t>Current ARR</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002165"/>
                </a:solidFill>
                <a:latin typeface="Calibri"/>
              </a:rPr>
              <a:t>Strong annual recurring revenue</a:t>
            </a:r>
          </a:p>
        </p:txBody>
      </p:sp>
      <p:sp>
        <p:nvSpPr>
          <p:cNvPr id="10" name="Rectangle 9"/>
          <p:cNvSpPr/>
          <p:nvPr/>
        </p:nvSpPr>
        <p:spPr>
          <a:xfrm>
            <a:off x="6210147" y="2103120"/>
            <a:ext cx="2560320" cy="219456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50,000+</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7091D5"/>
                </a:solidFill>
                <a:latin typeface="Calibri"/>
              </a:rPr>
              <a:t>Total Customers</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002165"/>
                </a:solidFill>
                <a:latin typeface="Calibri"/>
              </a:rPr>
              <a:t>Broad client adoption</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7091D5"/>
                </a:solidFill>
                <a:latin typeface="Calibri"/>
              </a:rPr>
              <a:t>Infopace is India's first strategic change management firm, specializing in guiding 'giants' through digital transformation, innovation, and leadership development. We combine deep consulting expertise with proprietary AI-powered psychometric assessments to deliver measurable, people-centric outcomes.</a:t>
            </a:r>
          </a:p>
        </p:txBody>
      </p:sp>
      <p:sp>
        <p:nvSpPr>
          <p:cNvPr id="15" name="TextBox 14"/>
          <p:cNvSpPr txBox="1"/>
          <p:nvPr/>
        </p:nvSpPr>
        <p:spPr>
          <a:xfrm>
            <a:off x="914400" y="539496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Proven Expertise:</a:t>
            </a:r>
            <a:r>
              <a:rPr sz="1300" b="0">
                <a:solidFill>
                  <a:srgbClr val="7091D5"/>
                </a:solidFill>
                <a:latin typeface="Calibri"/>
              </a:rPr>
              <a:t> Shaping businesses with extensive experience in strategic change, digital transformation, and growth acceleration.</a:t>
            </a:r>
          </a:p>
        </p:txBody>
      </p:sp>
      <p:sp>
        <p:nvSpPr>
          <p:cNvPr id="16" name="TextBox 15"/>
          <p:cNvSpPr txBox="1"/>
          <p:nvPr/>
        </p:nvSpPr>
        <p:spPr>
          <a:xfrm>
            <a:off x="914400" y="580644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Innovative Solutions:</a:t>
            </a:r>
            <a:r>
              <a:rPr sz="1300" b="0">
                <a:solidFill>
                  <a:srgbClr val="7091D5"/>
                </a:solidFill>
                <a:latin typeface="Calibri"/>
              </a:rPr>
              <a:t> Leveraging new Psychometric Assessments &amp; AI Insights for smarter decision-making and organizational agility.</a:t>
            </a:r>
          </a:p>
        </p:txBody>
      </p:sp>
      <p:sp>
        <p:nvSpPr>
          <p:cNvPr id="17" name="TextBox 16"/>
          <p:cNvSpPr txBox="1"/>
          <p:nvPr/>
        </p:nvSpPr>
        <p:spPr>
          <a:xfrm>
            <a:off x="914400" y="621792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Strong Traction:</a:t>
            </a:r>
            <a:r>
              <a:rPr sz="1300" b="0">
                <a:solidFill>
                  <a:srgbClr val="7091D5"/>
                </a:solidFill>
                <a:latin typeface="Calibri"/>
              </a:rPr>
              <a:t> Trusted by leading enterprises, demonstrating significant ARR growth and a robust customer 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The surging demand for strategic change management.</a:t>
            </a:r>
          </a:p>
        </p:txBody>
      </p:sp>
      <p:sp>
        <p:nvSpPr>
          <p:cNvPr id="6" name="Rectangle 5"/>
          <p:cNvSpPr/>
          <p:nvPr/>
        </p:nvSpPr>
        <p:spPr>
          <a:xfrm>
            <a:off x="3421227" y="2103120"/>
            <a:ext cx="2560320" cy="219456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$13.5B</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7091D5"/>
                </a:solidFill>
                <a:latin typeface="Calibri"/>
              </a:rPr>
              <a:t>Global Strategic Change Management Market</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002165"/>
                </a:solidFill>
                <a:latin typeface="Calibri"/>
              </a:rPr>
              <a:t>Estimated value 2023 · Source: Grand View Research</a:t>
            </a:r>
          </a:p>
        </p:txBody>
      </p:sp>
      <p:sp>
        <p:nvSpPr>
          <p:cNvPr id="10" name="Rectangle 9"/>
          <p:cNvSpPr/>
          <p:nvPr/>
        </p:nvSpPr>
        <p:spPr>
          <a:xfrm>
            <a:off x="6210147" y="2103120"/>
            <a:ext cx="2560320" cy="219456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11.2%</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7091D5"/>
                </a:solidFill>
                <a:latin typeface="Calibri"/>
              </a:rPr>
              <a:t>Projected CAGR</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002165"/>
                </a:solidFill>
                <a:latin typeface="Calibri"/>
              </a:rPr>
              <a:t>2024-2030 · Source: Grand View Research</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7091D5"/>
                </a:solidFill>
                <a:latin typeface="Calibri"/>
              </a:rPr>
              <a:t>The global strategic change management market is experiencing exponential growth, fueled by the imperative for organizations to adapt, innovate, and thrive amidst digital disruption and evolving talent landscapes.</a:t>
            </a:r>
          </a:p>
        </p:txBody>
      </p:sp>
      <p:sp>
        <p:nvSpPr>
          <p:cNvPr id="15" name="TextBox 14"/>
          <p:cNvSpPr txBox="1"/>
          <p:nvPr/>
        </p:nvSpPr>
        <p:spPr>
          <a:xfrm>
            <a:off x="914400" y="539496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Digital Transformation Imperative:</a:t>
            </a:r>
            <a:r>
              <a:rPr sz="1300" b="0">
                <a:solidFill>
                  <a:srgbClr val="7091D5"/>
                </a:solidFill>
                <a:latin typeface="Calibri"/>
              </a:rPr>
              <a:t> Companies are investing heavily in digital initiatives, requiring robust change management to ensure successful adoption and ROI.</a:t>
            </a:r>
          </a:p>
        </p:txBody>
      </p:sp>
      <p:sp>
        <p:nvSpPr>
          <p:cNvPr id="16" name="TextBox 15"/>
          <p:cNvSpPr txBox="1"/>
          <p:nvPr/>
        </p:nvSpPr>
        <p:spPr>
          <a:xfrm>
            <a:off x="914400" y="580644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Organizational Agility &amp; Resilience:</a:t>
            </a:r>
            <a:r>
              <a:rPr sz="1300" b="0">
                <a:solidFill>
                  <a:srgbClr val="7091D5"/>
                </a:solidFill>
                <a:latin typeface="Calibri"/>
              </a:rPr>
              <a:t> The need for businesses to quickly pivot and adapt to market shifts drives demand for expert guidance in strategic planning and execution.</a:t>
            </a:r>
          </a:p>
        </p:txBody>
      </p:sp>
      <p:sp>
        <p:nvSpPr>
          <p:cNvPr id="17" name="TextBox 16"/>
          <p:cNvSpPr txBox="1"/>
          <p:nvPr/>
        </p:nvSpPr>
        <p:spPr>
          <a:xfrm>
            <a:off x="914400" y="621792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Talent Development &amp; Reskilling:</a:t>
            </a:r>
            <a:r>
              <a:rPr sz="1300" b="0">
                <a:solidFill>
                  <a:srgbClr val="7091D5"/>
                </a:solidFill>
                <a:latin typeface="Calibri"/>
              </a:rPr>
              <a:t> Organizations recognize that people are at the heart of change, necessitating solutions for upskilling, reskilling, and fostering a culture of continuous learning.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PROBLEM 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Problem &amp; Solution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Bridging the gap between strategy and execution.</a:t>
            </a:r>
          </a:p>
        </p:txBody>
      </p:sp>
      <p:sp>
        <p:nvSpPr>
          <p:cNvPr id="6" name="Rectangle 5"/>
          <p:cNvSpPr/>
          <p:nvPr/>
        </p:nvSpPr>
        <p:spPr>
          <a:xfrm>
            <a:off x="640080" y="1737360"/>
            <a:ext cx="5303520" cy="411480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37360"/>
            <a:ext cx="5303520" cy="64008"/>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37760" cy="502920"/>
          </a:xfrm>
          <a:prstGeom prst="rect">
            <a:avLst/>
          </a:prstGeom>
          <a:noFill/>
        </p:spPr>
        <p:txBody>
          <a:bodyPr wrap="square">
            <a:spAutoFit/>
          </a:bodyPr>
          <a:lstStyle/>
          <a:p>
            <a:pPr algn="l"/>
            <a:r>
              <a:rPr sz="1800" b="1">
                <a:solidFill>
                  <a:srgbClr val="F5F3FF"/>
                </a:solidFill>
                <a:latin typeface="Calibri"/>
              </a:rPr>
              <a:t>The Problem</a:t>
            </a:r>
          </a:p>
        </p:txBody>
      </p:sp>
      <p:sp>
        <p:nvSpPr>
          <p:cNvPr id="9" name="TextBox 8"/>
          <p:cNvSpPr txBox="1"/>
          <p:nvPr/>
        </p:nvSpPr>
        <p:spPr>
          <a:xfrm>
            <a:off x="822960" y="2468880"/>
            <a:ext cx="4937760" cy="502920"/>
          </a:xfrm>
          <a:prstGeom prst="rect">
            <a:avLst/>
          </a:prstGeom>
          <a:noFill/>
        </p:spPr>
        <p:txBody>
          <a:bodyPr wrap="square">
            <a:spAutoFit/>
          </a:bodyPr>
          <a:lstStyle/>
          <a:p>
            <a:pPr algn="l"/>
            <a:r>
              <a:rPr sz="2400" b="1">
                <a:solidFill>
                  <a:srgbClr val="004BE2"/>
                </a:solidFill>
                <a:latin typeface="Calibri"/>
              </a:rPr>
              <a:t>90% of strategies fail due to poor execution.</a:t>
            </a:r>
          </a:p>
        </p:txBody>
      </p:sp>
      <p:sp>
        <p:nvSpPr>
          <p:cNvPr id="10" name="TextBox 9"/>
          <p:cNvSpPr txBox="1"/>
          <p:nvPr/>
        </p:nvSpPr>
        <p:spPr>
          <a:xfrm>
            <a:off x="914400" y="3017520"/>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Misaligned Teams:</a:t>
            </a:r>
            <a:r>
              <a:rPr sz="1300" b="0">
                <a:solidFill>
                  <a:srgbClr val="7091D5"/>
                </a:solidFill>
                <a:latin typeface="Calibri"/>
              </a:rPr>
              <a:t> Employee resistance and lack of buy-in derail transformation initiatives, costing companies millions annually.</a:t>
            </a:r>
          </a:p>
        </p:txBody>
      </p:sp>
      <p:sp>
        <p:nvSpPr>
          <p:cNvPr id="11" name="TextBox 10"/>
          <p:cNvSpPr txBox="1"/>
          <p:nvPr/>
        </p:nvSpPr>
        <p:spPr>
          <a:xfrm>
            <a:off x="914400" y="3456432"/>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Lack of Data:</a:t>
            </a:r>
            <a:r>
              <a:rPr sz="1300" b="0">
                <a:solidFill>
                  <a:srgbClr val="7091D5"/>
                </a:solidFill>
                <a:latin typeface="Calibri"/>
              </a:rPr>
              <a:t> Decisions are often based on intuition, not objective insights into organizational readiness or individual potential.</a:t>
            </a:r>
          </a:p>
        </p:txBody>
      </p:sp>
      <p:sp>
        <p:nvSpPr>
          <p:cNvPr id="12" name="TextBox 11"/>
          <p:cNvSpPr txBox="1"/>
          <p:nvPr/>
        </p:nvSpPr>
        <p:spPr>
          <a:xfrm>
            <a:off x="914400" y="3895344"/>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Ineffective Leadership:</a:t>
            </a:r>
            <a:r>
              <a:rPr sz="1300" b="0">
                <a:solidFill>
                  <a:srgbClr val="7091D5"/>
                </a:solidFill>
                <a:latin typeface="Calibri"/>
              </a:rPr>
              <a:t> Leaders struggle to inspire and guide their teams through change, leading to disengagement and high turnover.</a:t>
            </a:r>
          </a:p>
        </p:txBody>
      </p:sp>
      <p:sp>
        <p:nvSpPr>
          <p:cNvPr id="13" name="TextBox 12"/>
          <p:cNvSpPr txBox="1"/>
          <p:nvPr/>
        </p:nvSpPr>
        <p:spPr>
          <a:xfrm>
            <a:off x="914400" y="4334256"/>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Fragmented Approaches:</a:t>
            </a:r>
            <a:r>
              <a:rPr sz="1300" b="0">
                <a:solidFill>
                  <a:srgbClr val="7091D5"/>
                </a:solidFill>
                <a:latin typeface="Calibri"/>
              </a:rPr>
              <a:t> Enterprises often use disparate tools and consultants, leading to inconsistent strategies and wasted resources.</a:t>
            </a:r>
          </a:p>
        </p:txBody>
      </p:sp>
      <p:sp>
        <p:nvSpPr>
          <p:cNvPr id="14" name="Rectangle 13"/>
          <p:cNvSpPr/>
          <p:nvPr/>
        </p:nvSpPr>
        <p:spPr>
          <a:xfrm>
            <a:off x="6400800" y="1737360"/>
            <a:ext cx="5303520" cy="411480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737360"/>
            <a:ext cx="5303520" cy="6400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920240"/>
            <a:ext cx="4937760" cy="502920"/>
          </a:xfrm>
          <a:prstGeom prst="rect">
            <a:avLst/>
          </a:prstGeom>
          <a:noFill/>
        </p:spPr>
        <p:txBody>
          <a:bodyPr wrap="square">
            <a:spAutoFit/>
          </a:bodyPr>
          <a:lstStyle/>
          <a:p>
            <a:pPr algn="l"/>
            <a:r>
              <a:rPr sz="1800" b="1">
                <a:solidFill>
                  <a:srgbClr val="F5F3FF"/>
                </a:solidFill>
                <a:latin typeface="Calibri"/>
              </a:rPr>
              <a:t>Our Solution</a:t>
            </a:r>
          </a:p>
        </p:txBody>
      </p:sp>
      <p:sp>
        <p:nvSpPr>
          <p:cNvPr id="17" name="TextBox 16"/>
          <p:cNvSpPr txBox="1"/>
          <p:nvPr/>
        </p:nvSpPr>
        <p:spPr>
          <a:xfrm>
            <a:off x="6583680" y="2468880"/>
            <a:ext cx="4937760" cy="502920"/>
          </a:xfrm>
          <a:prstGeom prst="rect">
            <a:avLst/>
          </a:prstGeom>
          <a:noFill/>
        </p:spPr>
        <p:txBody>
          <a:bodyPr wrap="square">
            <a:spAutoFit/>
          </a:bodyPr>
          <a:lstStyle/>
          <a:p>
            <a:pPr algn="l"/>
            <a:r>
              <a:rPr sz="2400" b="1">
                <a:solidFill>
                  <a:srgbClr val="475569"/>
                </a:solidFill>
                <a:latin typeface="Calibri"/>
              </a:rPr>
              <a:t>People-first, AI-driven strategic change.</a:t>
            </a:r>
          </a:p>
        </p:txBody>
      </p:sp>
      <p:sp>
        <p:nvSpPr>
          <p:cNvPr id="18" name="TextBox 17"/>
          <p:cNvSpPr txBox="1"/>
          <p:nvPr/>
        </p:nvSpPr>
        <p:spPr>
          <a:xfrm>
            <a:off x="6675120" y="3017520"/>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AI-Powered Insights:</a:t>
            </a:r>
            <a:r>
              <a:rPr sz="1300" b="0">
                <a:solidFill>
                  <a:srgbClr val="7091D5"/>
                </a:solidFill>
                <a:latin typeface="Calibri"/>
              </a:rPr>
              <a:t> Proprietary Psychometric Assessments &amp; AI tools deliver deep, actionable insights into talent, culture, and readiness for change.</a:t>
            </a:r>
          </a:p>
        </p:txBody>
      </p:sp>
      <p:sp>
        <p:nvSpPr>
          <p:cNvPr id="19" name="TextBox 18"/>
          <p:cNvSpPr txBox="1"/>
          <p:nvPr/>
        </p:nvSpPr>
        <p:spPr>
          <a:xfrm>
            <a:off x="6675120" y="3456432"/>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Holistic Change Management:</a:t>
            </a:r>
            <a:r>
              <a:rPr sz="1300" b="0">
                <a:solidFill>
                  <a:srgbClr val="7091D5"/>
                </a:solidFill>
                <a:latin typeface="Calibri"/>
              </a:rPr>
              <a:t> Integrated services covering organizational, technological, process, and cultural transformation, ensuring seamless execution.</a:t>
            </a:r>
          </a:p>
        </p:txBody>
      </p:sp>
      <p:sp>
        <p:nvSpPr>
          <p:cNvPr id="20" name="TextBox 19"/>
          <p:cNvSpPr txBox="1"/>
          <p:nvPr/>
        </p:nvSpPr>
        <p:spPr>
          <a:xfrm>
            <a:off x="6675120" y="3895344"/>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Leadership Empowerment:</a:t>
            </a:r>
            <a:r>
              <a:rPr sz="1300" b="0">
                <a:solidFill>
                  <a:srgbClr val="7091D5"/>
                </a:solidFill>
                <a:latin typeface="Calibri"/>
              </a:rPr>
              <a:t> Developing leaders with the skills and tools to effectively champion change and foster a resilient workforce.</a:t>
            </a:r>
          </a:p>
        </p:txBody>
      </p:sp>
      <p:sp>
        <p:nvSpPr>
          <p:cNvPr id="21" name="TextBox 20"/>
          <p:cNvSpPr txBox="1"/>
          <p:nvPr/>
        </p:nvSpPr>
        <p:spPr>
          <a:xfrm>
            <a:off x="6675120" y="4334256"/>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Strategic Growth Partner:</a:t>
            </a:r>
            <a:r>
              <a:rPr sz="1300" b="0">
                <a:solidFill>
                  <a:srgbClr val="7091D5"/>
                </a:solidFill>
                <a:latin typeface="Calibri"/>
              </a:rPr>
              <a:t> Tailored strategies, operational excellence, and innovation hubs to accelerate market entry and sustainable growth.</a:t>
            </a:r>
          </a:p>
        </p:txBody>
      </p:sp>
      <p:sp>
        <p:nvSpPr>
          <p:cNvPr id="22" name="Rectangle 21"/>
          <p:cNvSpPr/>
          <p:nvPr/>
        </p:nvSpPr>
        <p:spPr>
          <a:xfrm>
            <a:off x="6144768" y="2011680"/>
            <a:ext cx="27432" cy="3566160"/>
          </a:xfrm>
          <a:prstGeom prst="rect">
            <a:avLst/>
          </a:prstGeom>
          <a:solidFill>
            <a:srgbClr val="282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PRODUCT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Our Product &amp; Services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Integrated solutions for holistic enterprise transformation.</a:t>
            </a:r>
          </a:p>
        </p:txBody>
      </p:sp>
      <p:sp>
        <p:nvSpPr>
          <p:cNvPr id="6" name="Rectangle 5"/>
          <p:cNvSpPr/>
          <p:nvPr/>
        </p:nvSpPr>
        <p:spPr>
          <a:xfrm>
            <a:off x="2665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5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27" y="2103120"/>
            <a:ext cx="2377440" cy="548640"/>
          </a:xfrm>
          <a:prstGeom prst="rect">
            <a:avLst/>
          </a:prstGeom>
          <a:noFill/>
        </p:spPr>
        <p:txBody>
          <a:bodyPr wrap="square">
            <a:spAutoFit/>
          </a:bodyPr>
          <a:lstStyle/>
          <a:p>
            <a:pPr algn="l"/>
            <a:r>
              <a:rPr sz="1600" b="1">
                <a:solidFill>
                  <a:srgbClr val="F5F3FF"/>
                </a:solidFill>
                <a:latin typeface="Calibri"/>
              </a:rPr>
              <a:t>Psychometric Assessments &amp; AI Insights</a:t>
            </a:r>
          </a:p>
        </p:txBody>
      </p:sp>
      <p:sp>
        <p:nvSpPr>
          <p:cNvPr id="9" name="TextBox 8"/>
          <p:cNvSpPr txBox="1"/>
          <p:nvPr/>
        </p:nvSpPr>
        <p:spPr>
          <a:xfrm>
            <a:off x="449427" y="2651760"/>
            <a:ext cx="2377440" cy="502920"/>
          </a:xfrm>
          <a:prstGeom prst="rect">
            <a:avLst/>
          </a:prstGeom>
          <a:noFill/>
        </p:spPr>
        <p:txBody>
          <a:bodyPr wrap="square">
            <a:spAutoFit/>
          </a:bodyPr>
          <a:lstStyle/>
          <a:p>
            <a:pPr algn="l"/>
            <a:r>
              <a:rPr sz="2200" b="1">
                <a:solidFill>
                  <a:srgbClr val="004BE2"/>
                </a:solidFill>
                <a:latin typeface="Calibri"/>
              </a:rPr>
              <a:t>Proprietary Tech</a:t>
            </a:r>
          </a:p>
        </p:txBody>
      </p:sp>
      <p:sp>
        <p:nvSpPr>
          <p:cNvPr id="10" name="TextBox 9"/>
          <p:cNvSpPr txBox="1"/>
          <p:nvPr/>
        </p:nvSpPr>
        <p:spPr>
          <a:xfrm>
            <a:off x="4494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Smarter Decisions:</a:t>
            </a:r>
            <a:r>
              <a:rPr sz="1300" b="0">
                <a:solidFill>
                  <a:srgbClr val="7091D5"/>
                </a:solidFill>
                <a:latin typeface="Calibri"/>
              </a:rPr>
              <a:t> Scientifically designed tools and AI products delivering actionable insights for talent development, team dynamics, and organizational readiness.</a:t>
            </a:r>
          </a:p>
        </p:txBody>
      </p:sp>
      <p:sp>
        <p:nvSpPr>
          <p:cNvPr id="11" name="Rectangle 10"/>
          <p:cNvSpPr/>
          <p:nvPr/>
        </p:nvSpPr>
        <p:spPr>
          <a:xfrm>
            <a:off x="32383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83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1227" y="2103120"/>
            <a:ext cx="2377440" cy="548640"/>
          </a:xfrm>
          <a:prstGeom prst="rect">
            <a:avLst/>
          </a:prstGeom>
          <a:noFill/>
        </p:spPr>
        <p:txBody>
          <a:bodyPr wrap="square">
            <a:spAutoFit/>
          </a:bodyPr>
          <a:lstStyle/>
          <a:p>
            <a:pPr algn="l"/>
            <a:r>
              <a:rPr sz="1600" b="1">
                <a:solidFill>
                  <a:srgbClr val="F5F3FF"/>
                </a:solidFill>
                <a:latin typeface="Calibri"/>
              </a:rPr>
              <a:t>Strategic Change Management Solutions</a:t>
            </a:r>
          </a:p>
        </p:txBody>
      </p:sp>
      <p:sp>
        <p:nvSpPr>
          <p:cNvPr id="14" name="TextBox 13"/>
          <p:cNvSpPr txBox="1"/>
          <p:nvPr/>
        </p:nvSpPr>
        <p:spPr>
          <a:xfrm>
            <a:off x="3421227" y="2651760"/>
            <a:ext cx="2377440" cy="502920"/>
          </a:xfrm>
          <a:prstGeom prst="rect">
            <a:avLst/>
          </a:prstGeom>
          <a:noFill/>
        </p:spPr>
        <p:txBody>
          <a:bodyPr wrap="square">
            <a:spAutoFit/>
          </a:bodyPr>
          <a:lstStyle/>
          <a:p>
            <a:pPr algn="l"/>
            <a:r>
              <a:rPr sz="2200" b="1">
                <a:solidFill>
                  <a:srgbClr val="475569"/>
                </a:solidFill>
                <a:latin typeface="Calibri"/>
              </a:rPr>
              <a:t>People-Centric</a:t>
            </a:r>
          </a:p>
        </p:txBody>
      </p:sp>
      <p:sp>
        <p:nvSpPr>
          <p:cNvPr id="15" name="TextBox 14"/>
          <p:cNvSpPr txBox="1"/>
          <p:nvPr/>
        </p:nvSpPr>
        <p:spPr>
          <a:xfrm>
            <a:off x="34212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Sustainable Transformation:</a:t>
            </a:r>
            <a:r>
              <a:rPr sz="1300" b="0">
                <a:solidFill>
                  <a:srgbClr val="7091D5"/>
                </a:solidFill>
                <a:latin typeface="Calibri"/>
              </a:rPr>
              <a:t> Driving organizational, technological, process, and cultural change through human-centered initiatives and innovation.</a:t>
            </a:r>
          </a:p>
        </p:txBody>
      </p:sp>
      <p:sp>
        <p:nvSpPr>
          <p:cNvPr id="16" name="Rectangle 15"/>
          <p:cNvSpPr/>
          <p:nvPr/>
        </p:nvSpPr>
        <p:spPr>
          <a:xfrm>
            <a:off x="62101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103120"/>
            <a:ext cx="2377440" cy="548640"/>
          </a:xfrm>
          <a:prstGeom prst="rect">
            <a:avLst/>
          </a:prstGeom>
          <a:noFill/>
        </p:spPr>
        <p:txBody>
          <a:bodyPr wrap="square">
            <a:spAutoFit/>
          </a:bodyPr>
          <a:lstStyle/>
          <a:p>
            <a:pPr algn="l"/>
            <a:r>
              <a:rPr sz="1600" b="1">
                <a:solidFill>
                  <a:srgbClr val="F5F3FF"/>
                </a:solidFill>
                <a:latin typeface="Calibri"/>
              </a:rPr>
              <a:t>Growth Acceleration Partner (GAP)</a:t>
            </a:r>
          </a:p>
        </p:txBody>
      </p:sp>
      <p:sp>
        <p:nvSpPr>
          <p:cNvPr id="19" name="TextBox 18"/>
          <p:cNvSpPr txBox="1"/>
          <p:nvPr/>
        </p:nvSpPr>
        <p:spPr>
          <a:xfrm>
            <a:off x="6393027" y="2651760"/>
            <a:ext cx="2377440" cy="502920"/>
          </a:xfrm>
          <a:prstGeom prst="rect">
            <a:avLst/>
          </a:prstGeom>
          <a:noFill/>
        </p:spPr>
        <p:txBody>
          <a:bodyPr wrap="square">
            <a:spAutoFit/>
          </a:bodyPr>
          <a:lstStyle/>
          <a:p>
            <a:pPr algn="l"/>
            <a:r>
              <a:rPr sz="2200" b="1">
                <a:solidFill>
                  <a:srgbClr val="2350A5"/>
                </a:solidFill>
                <a:latin typeface="Calibri"/>
              </a:rPr>
              <a:t>Tailored Strategies</a:t>
            </a:r>
          </a:p>
        </p:txBody>
      </p:sp>
      <p:sp>
        <p:nvSpPr>
          <p:cNvPr id="20" name="TextBox 19"/>
          <p:cNvSpPr txBox="1"/>
          <p:nvPr/>
        </p:nvSpPr>
        <p:spPr>
          <a:xfrm>
            <a:off x="63930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Market Expansion:</a:t>
            </a:r>
            <a:r>
              <a:rPr sz="1300" b="0">
                <a:solidFill>
                  <a:srgbClr val="7091D5"/>
                </a:solidFill>
                <a:latin typeface="Calibri"/>
              </a:rPr>
              <a:t> Driving business growth through tailored strategies, operational excellence, tech innovation, and strategic funding.</a:t>
            </a:r>
          </a:p>
        </p:txBody>
      </p:sp>
      <p:sp>
        <p:nvSpPr>
          <p:cNvPr id="21" name="Rectangle 20"/>
          <p:cNvSpPr/>
          <p:nvPr/>
        </p:nvSpPr>
        <p:spPr>
          <a:xfrm>
            <a:off x="91819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1947" y="1920240"/>
            <a:ext cx="2743200" cy="54864"/>
          </a:xfrm>
          <a:prstGeom prst="rect">
            <a:avLst/>
          </a:prstGeom>
          <a:solidFill>
            <a:srgbClr val="3F7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2103120"/>
            <a:ext cx="2377440" cy="548640"/>
          </a:xfrm>
          <a:prstGeom prst="rect">
            <a:avLst/>
          </a:prstGeom>
          <a:noFill/>
        </p:spPr>
        <p:txBody>
          <a:bodyPr wrap="square">
            <a:spAutoFit/>
          </a:bodyPr>
          <a:lstStyle/>
          <a:p>
            <a:pPr algn="l"/>
            <a:r>
              <a:rPr sz="1600" b="1">
                <a:solidFill>
                  <a:srgbClr val="F5F3FF"/>
                </a:solidFill>
                <a:latin typeface="Calibri"/>
              </a:rPr>
              <a:t>Global Capabilities Centre (GCC)</a:t>
            </a:r>
          </a:p>
        </p:txBody>
      </p:sp>
      <p:sp>
        <p:nvSpPr>
          <p:cNvPr id="24" name="TextBox 23"/>
          <p:cNvSpPr txBox="1"/>
          <p:nvPr/>
        </p:nvSpPr>
        <p:spPr>
          <a:xfrm>
            <a:off x="9364827" y="2651760"/>
            <a:ext cx="2377440" cy="502920"/>
          </a:xfrm>
          <a:prstGeom prst="rect">
            <a:avLst/>
          </a:prstGeom>
          <a:noFill/>
        </p:spPr>
        <p:txBody>
          <a:bodyPr wrap="square">
            <a:spAutoFit/>
          </a:bodyPr>
          <a:lstStyle/>
          <a:p>
            <a:pPr algn="l"/>
            <a:r>
              <a:rPr sz="2200" b="1">
                <a:solidFill>
                  <a:srgbClr val="3F78E9"/>
                </a:solidFill>
                <a:latin typeface="Calibri"/>
              </a:rPr>
              <a:t>Global Reach</a:t>
            </a:r>
          </a:p>
        </p:txBody>
      </p:sp>
      <p:sp>
        <p:nvSpPr>
          <p:cNvPr id="25" name="TextBox 24"/>
          <p:cNvSpPr txBox="1"/>
          <p:nvPr/>
        </p:nvSpPr>
        <p:spPr>
          <a:xfrm>
            <a:off x="93648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Market Access:</a:t>
            </a:r>
            <a:r>
              <a:rPr sz="1300" b="0">
                <a:solidFill>
                  <a:srgbClr val="7091D5"/>
                </a:solidFill>
                <a:latin typeface="Calibri"/>
              </a:rPr>
              <a:t> Expanding global market access through strategic partnerships, innovation hubs, talent acquisition, and compliance-driven intelligence.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Business Model</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Value-driven engagement for sustainable partnerships.</a:t>
            </a:r>
          </a:p>
        </p:txBody>
      </p:sp>
      <p:sp>
        <p:nvSpPr>
          <p:cNvPr id="6" name="Rectangle 5"/>
          <p:cNvSpPr/>
          <p:nvPr/>
        </p:nvSpPr>
        <p:spPr>
          <a:xfrm>
            <a:off x="2665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5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27" y="2103120"/>
            <a:ext cx="2377440" cy="548640"/>
          </a:xfrm>
          <a:prstGeom prst="rect">
            <a:avLst/>
          </a:prstGeom>
          <a:noFill/>
        </p:spPr>
        <p:txBody>
          <a:bodyPr wrap="square">
            <a:spAutoFit/>
          </a:bodyPr>
          <a:lstStyle/>
          <a:p>
            <a:pPr algn="l"/>
            <a:r>
              <a:rPr sz="1600" b="1">
                <a:solidFill>
                  <a:srgbClr val="F5F3FF"/>
                </a:solidFill>
                <a:latin typeface="Calibri"/>
              </a:rPr>
              <a:t>Consulting Engagements</a:t>
            </a:r>
          </a:p>
        </p:txBody>
      </p:sp>
      <p:sp>
        <p:nvSpPr>
          <p:cNvPr id="9" name="TextBox 8"/>
          <p:cNvSpPr txBox="1"/>
          <p:nvPr/>
        </p:nvSpPr>
        <p:spPr>
          <a:xfrm>
            <a:off x="449427" y="2651760"/>
            <a:ext cx="2377440" cy="502920"/>
          </a:xfrm>
          <a:prstGeom prst="rect">
            <a:avLst/>
          </a:prstGeom>
          <a:noFill/>
        </p:spPr>
        <p:txBody>
          <a:bodyPr wrap="square">
            <a:spAutoFit/>
          </a:bodyPr>
          <a:lstStyle/>
          <a:p>
            <a:pPr algn="l"/>
            <a:r>
              <a:rPr sz="2200" b="1">
                <a:solidFill>
                  <a:srgbClr val="004BE2"/>
                </a:solidFill>
                <a:latin typeface="Calibri"/>
              </a:rPr>
              <a:t>Project-Based</a:t>
            </a:r>
          </a:p>
        </p:txBody>
      </p:sp>
      <p:sp>
        <p:nvSpPr>
          <p:cNvPr id="10" name="TextBox 9"/>
          <p:cNvSpPr txBox="1"/>
          <p:nvPr/>
        </p:nvSpPr>
        <p:spPr>
          <a:xfrm>
            <a:off x="4494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Strategic Advisory:</a:t>
            </a:r>
            <a:r>
              <a:rPr sz="1300" b="0">
                <a:solidFill>
                  <a:srgbClr val="7091D5"/>
                </a:solidFill>
                <a:latin typeface="Calibri"/>
              </a:rPr>
              <a:t> Tailored solutions for change management, digital transformation, and growth acceleration, billed on project scope and duration.</a:t>
            </a:r>
          </a:p>
        </p:txBody>
      </p:sp>
      <p:sp>
        <p:nvSpPr>
          <p:cNvPr id="11" name="Rectangle 10"/>
          <p:cNvSpPr/>
          <p:nvPr/>
        </p:nvSpPr>
        <p:spPr>
          <a:xfrm>
            <a:off x="32383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83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1227" y="2103120"/>
            <a:ext cx="2377440" cy="548640"/>
          </a:xfrm>
          <a:prstGeom prst="rect">
            <a:avLst/>
          </a:prstGeom>
          <a:noFill/>
        </p:spPr>
        <p:txBody>
          <a:bodyPr wrap="square">
            <a:spAutoFit/>
          </a:bodyPr>
          <a:lstStyle/>
          <a:p>
            <a:pPr algn="l"/>
            <a:r>
              <a:rPr sz="1600" b="1">
                <a:solidFill>
                  <a:srgbClr val="F5F3FF"/>
                </a:solidFill>
                <a:latin typeface="Calibri"/>
              </a:rPr>
              <a:t>Subscription for AI &amp; Assessments</a:t>
            </a:r>
          </a:p>
        </p:txBody>
      </p:sp>
      <p:sp>
        <p:nvSpPr>
          <p:cNvPr id="14" name="TextBox 13"/>
          <p:cNvSpPr txBox="1"/>
          <p:nvPr/>
        </p:nvSpPr>
        <p:spPr>
          <a:xfrm>
            <a:off x="3421227" y="2651760"/>
            <a:ext cx="2377440" cy="502920"/>
          </a:xfrm>
          <a:prstGeom prst="rect">
            <a:avLst/>
          </a:prstGeom>
          <a:noFill/>
        </p:spPr>
        <p:txBody>
          <a:bodyPr wrap="square">
            <a:spAutoFit/>
          </a:bodyPr>
          <a:lstStyle/>
          <a:p>
            <a:pPr algn="l"/>
            <a:r>
              <a:rPr sz="2200" b="1">
                <a:solidFill>
                  <a:srgbClr val="475569"/>
                </a:solidFill>
                <a:latin typeface="Calibri"/>
              </a:rPr>
              <a:t>Recurring Revenue</a:t>
            </a:r>
          </a:p>
        </p:txBody>
      </p:sp>
      <p:sp>
        <p:nvSpPr>
          <p:cNvPr id="15" name="TextBox 14"/>
          <p:cNvSpPr txBox="1"/>
          <p:nvPr/>
        </p:nvSpPr>
        <p:spPr>
          <a:xfrm>
            <a:off x="34212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Platform Access:</a:t>
            </a:r>
            <a:r>
              <a:rPr sz="1300" b="0">
                <a:solidFill>
                  <a:srgbClr val="7091D5"/>
                </a:solidFill>
                <a:latin typeface="Calibri"/>
              </a:rPr>
              <a:t> Annual or multi-year subscriptions for access to our Psychometric Assessments &amp; AI Insights platform for ongoing talent and organizational analytics.</a:t>
            </a:r>
          </a:p>
        </p:txBody>
      </p:sp>
      <p:sp>
        <p:nvSpPr>
          <p:cNvPr id="16" name="Rectangle 15"/>
          <p:cNvSpPr/>
          <p:nvPr/>
        </p:nvSpPr>
        <p:spPr>
          <a:xfrm>
            <a:off x="62101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103120"/>
            <a:ext cx="2377440" cy="548640"/>
          </a:xfrm>
          <a:prstGeom prst="rect">
            <a:avLst/>
          </a:prstGeom>
          <a:noFill/>
        </p:spPr>
        <p:txBody>
          <a:bodyPr wrap="square">
            <a:spAutoFit/>
          </a:bodyPr>
          <a:lstStyle/>
          <a:p>
            <a:pPr algn="l"/>
            <a:r>
              <a:rPr sz="1600" b="1">
                <a:solidFill>
                  <a:srgbClr val="F5F3FF"/>
                </a:solidFill>
                <a:latin typeface="Calibri"/>
              </a:rPr>
              <a:t>Strategic Partnerships &amp; Ventures</a:t>
            </a:r>
          </a:p>
        </p:txBody>
      </p:sp>
      <p:sp>
        <p:nvSpPr>
          <p:cNvPr id="19" name="TextBox 18"/>
          <p:cNvSpPr txBox="1"/>
          <p:nvPr/>
        </p:nvSpPr>
        <p:spPr>
          <a:xfrm>
            <a:off x="6393027" y="2651760"/>
            <a:ext cx="2377440" cy="502920"/>
          </a:xfrm>
          <a:prstGeom prst="rect">
            <a:avLst/>
          </a:prstGeom>
          <a:noFill/>
        </p:spPr>
        <p:txBody>
          <a:bodyPr wrap="square">
            <a:spAutoFit/>
          </a:bodyPr>
          <a:lstStyle/>
          <a:p>
            <a:pPr algn="l"/>
            <a:r>
              <a:rPr sz="2200" b="1">
                <a:solidFill>
                  <a:srgbClr val="2350A5"/>
                </a:solidFill>
                <a:latin typeface="Calibri"/>
              </a:rPr>
              <a:t>Long-Term Value</a:t>
            </a:r>
          </a:p>
        </p:txBody>
      </p:sp>
      <p:sp>
        <p:nvSpPr>
          <p:cNvPr id="20" name="TextBox 19"/>
          <p:cNvSpPr txBox="1"/>
          <p:nvPr/>
        </p:nvSpPr>
        <p:spPr>
          <a:xfrm>
            <a:off x="63930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Ecosystem Enablement:</a:t>
            </a:r>
            <a:r>
              <a:rPr sz="1300" b="0">
                <a:solidFill>
                  <a:srgbClr val="7091D5"/>
                </a:solidFill>
                <a:latin typeface="Calibri"/>
              </a:rPr>
              <a:t> Revenue sharing or equity participation in ventures we help accelerate, and fees from enabling entrepreneurial ecosystems.</a:t>
            </a:r>
          </a:p>
        </p:txBody>
      </p:sp>
      <p:sp>
        <p:nvSpPr>
          <p:cNvPr id="21" name="Rectangle 20"/>
          <p:cNvSpPr/>
          <p:nvPr/>
        </p:nvSpPr>
        <p:spPr>
          <a:xfrm>
            <a:off x="91819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1947" y="1920240"/>
            <a:ext cx="2743200" cy="54864"/>
          </a:xfrm>
          <a:prstGeom prst="rect">
            <a:avLst/>
          </a:prstGeom>
          <a:solidFill>
            <a:srgbClr val="3F7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2103120"/>
            <a:ext cx="2377440" cy="548640"/>
          </a:xfrm>
          <a:prstGeom prst="rect">
            <a:avLst/>
          </a:prstGeom>
          <a:noFill/>
        </p:spPr>
        <p:txBody>
          <a:bodyPr wrap="square">
            <a:spAutoFit/>
          </a:bodyPr>
          <a:lstStyle/>
          <a:p>
            <a:pPr algn="l"/>
            <a:r>
              <a:rPr sz="1600" b="1">
                <a:solidFill>
                  <a:srgbClr val="F5F3FF"/>
                </a:solidFill>
                <a:latin typeface="Calibri"/>
              </a:rPr>
              <a:t>Retainer-Based Services</a:t>
            </a:r>
          </a:p>
        </p:txBody>
      </p:sp>
      <p:sp>
        <p:nvSpPr>
          <p:cNvPr id="24" name="TextBox 23"/>
          <p:cNvSpPr txBox="1"/>
          <p:nvPr/>
        </p:nvSpPr>
        <p:spPr>
          <a:xfrm>
            <a:off x="9364827" y="2651760"/>
            <a:ext cx="2377440" cy="502920"/>
          </a:xfrm>
          <a:prstGeom prst="rect">
            <a:avLst/>
          </a:prstGeom>
          <a:noFill/>
        </p:spPr>
        <p:txBody>
          <a:bodyPr wrap="square">
            <a:spAutoFit/>
          </a:bodyPr>
          <a:lstStyle/>
          <a:p>
            <a:pPr algn="l"/>
            <a:r>
              <a:rPr sz="2200" b="1">
                <a:solidFill>
                  <a:srgbClr val="3F78E9"/>
                </a:solidFill>
                <a:latin typeface="Calibri"/>
              </a:rPr>
              <a:t>Predictable Income</a:t>
            </a:r>
          </a:p>
        </p:txBody>
      </p:sp>
      <p:sp>
        <p:nvSpPr>
          <p:cNvPr id="25" name="TextBox 24"/>
          <p:cNvSpPr txBox="1"/>
          <p:nvPr/>
        </p:nvSpPr>
        <p:spPr>
          <a:xfrm>
            <a:off x="93648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Ongoing Support:</a:t>
            </a:r>
            <a:r>
              <a:rPr sz="1300" b="0">
                <a:solidFill>
                  <a:srgbClr val="7091D5"/>
                </a:solidFill>
                <a:latin typeface="Calibri"/>
              </a:rPr>
              <a:t> Long-term retainer agreements for continuous strategic guidance, fractional leadership, and dedicated support for large enterprises.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TRACTION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Traction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Proven growth and client adoption.</a:t>
            </a:r>
          </a:p>
        </p:txBody>
      </p:sp>
      <p:sp>
        <p:nvSpPr>
          <p:cNvPr id="6" name="Rectangle 5"/>
          <p:cNvSpPr/>
          <p:nvPr/>
        </p:nvSpPr>
        <p:spPr>
          <a:xfrm>
            <a:off x="632307" y="2103120"/>
            <a:ext cx="2560320" cy="219456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$1.2M</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7091D5"/>
                </a:solidFill>
                <a:latin typeface="Calibri"/>
              </a:rPr>
              <a:t>Annual Recurring Revenue (ARR)</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002165"/>
                </a:solidFill>
                <a:latin typeface="Calibri"/>
              </a:rPr>
              <a:t>As of current date</a:t>
            </a:r>
          </a:p>
        </p:txBody>
      </p:sp>
      <p:sp>
        <p:nvSpPr>
          <p:cNvPr id="10" name="Rectangle 9"/>
          <p:cNvSpPr/>
          <p:nvPr/>
        </p:nvSpPr>
        <p:spPr>
          <a:xfrm>
            <a:off x="3421227" y="2103120"/>
            <a:ext cx="2560320" cy="219456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$120,000</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7091D5"/>
                </a:solidFill>
                <a:latin typeface="Calibri"/>
              </a:rPr>
              <a:t>Monthly Recurring Revenue (MRR)</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002165"/>
                </a:solidFill>
                <a:latin typeface="Calibri"/>
              </a:rPr>
              <a:t>Strong monthly growth</a:t>
            </a:r>
          </a:p>
        </p:txBody>
      </p:sp>
      <p:sp>
        <p:nvSpPr>
          <p:cNvPr id="14" name="Rectangle 13"/>
          <p:cNvSpPr/>
          <p:nvPr/>
        </p:nvSpPr>
        <p:spPr>
          <a:xfrm>
            <a:off x="6210147" y="2103120"/>
            <a:ext cx="2560320" cy="2194560"/>
          </a:xfrm>
          <a:prstGeom prst="rect">
            <a:avLst/>
          </a:prstGeom>
          <a:solidFill>
            <a:srgbClr val="120E24"/>
          </a:solidFill>
          <a:ln w="19050">
            <a:solidFill>
              <a:srgbClr val="2350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50,000</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7091D5"/>
                </a:solidFill>
                <a:latin typeface="Calibri"/>
              </a:rPr>
              <a:t>Total Customers</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002165"/>
                </a:solidFill>
                <a:latin typeface="Calibri"/>
              </a:rPr>
              <a:t>Broad client base</a:t>
            </a:r>
          </a:p>
        </p:txBody>
      </p:sp>
      <p:sp>
        <p:nvSpPr>
          <p:cNvPr id="18" name="Rectangle 17"/>
          <p:cNvSpPr/>
          <p:nvPr/>
        </p:nvSpPr>
        <p:spPr>
          <a:xfrm>
            <a:off x="8999067" y="2103120"/>
            <a:ext cx="2560320" cy="2194560"/>
          </a:xfrm>
          <a:prstGeom prst="rect">
            <a:avLst/>
          </a:prstGeom>
          <a:solidFill>
            <a:srgbClr val="120E24"/>
          </a:solidFill>
          <a:ln w="19050">
            <a:solidFill>
              <a:srgbClr val="3F78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20,000</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7091D5"/>
                </a:solidFill>
                <a:latin typeface="Calibri"/>
              </a:rPr>
              <a:t>Monthly Active Users (MAU)</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002165"/>
                </a:solidFill>
                <a:latin typeface="Calibri"/>
              </a:rPr>
              <a:t>Engaged user base for AI platform</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7091D5"/>
                </a:solidFill>
                <a:latin typeface="Calibri"/>
              </a:rPr>
              <a:t>Infopace has demonstrated significant momentum, securing a strong customer base and achieving impressive financial growth through successful project delivery and innovative product launches.</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Strategic Partnerships:</a:t>
            </a:r>
            <a:r>
              <a:rPr sz="1300" b="0">
                <a:solidFill>
                  <a:srgbClr val="7091D5"/>
                </a:solidFill>
                <a:latin typeface="Calibri"/>
              </a:rPr>
              <a:t> Collaborations with 'giants' in various industries, validating our expertise and market demand.</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Product Innovation:</a:t>
            </a:r>
            <a:r>
              <a:rPr sz="1300" b="0">
                <a:solidFill>
                  <a:srgbClr val="7091D5"/>
                </a:solidFill>
                <a:latin typeface="Calibri"/>
              </a:rPr>
              <a:t> Successful launch and adoption of Psychometric Assessments &amp; AI Insights, enhancing our value proposition.</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High Client Satisfaction:</a:t>
            </a:r>
            <a:r>
              <a:rPr sz="1300" b="0">
                <a:solidFill>
                  <a:srgbClr val="7091D5"/>
                </a:solidFill>
                <a:latin typeface="Calibri"/>
              </a:rPr>
              <a:t> Long-lasting partnerships with delighted clients, reflecting exceptional service and impactful results.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Differentiating through agility, specialization, and AI innovation.</a:t>
            </a:r>
          </a:p>
        </p:txBody>
      </p:sp>
      <p:sp>
        <p:nvSpPr>
          <p:cNvPr id="6" name="Rectangle 5"/>
          <p:cNvSpPr/>
          <p:nvPr/>
        </p:nvSpPr>
        <p:spPr>
          <a:xfrm>
            <a:off x="2665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5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27" y="2103120"/>
            <a:ext cx="2377440" cy="548640"/>
          </a:xfrm>
          <a:prstGeom prst="rect">
            <a:avLst/>
          </a:prstGeom>
          <a:noFill/>
        </p:spPr>
        <p:txBody>
          <a:bodyPr wrap="square">
            <a:spAutoFit/>
          </a:bodyPr>
          <a:lstStyle/>
          <a:p>
            <a:pPr algn="l"/>
            <a:r>
              <a:rPr sz="1600" b="1">
                <a:solidFill>
                  <a:srgbClr val="F5F3FF"/>
                </a:solidFill>
                <a:latin typeface="Calibri"/>
              </a:rPr>
              <a:t>Accenture</a:t>
            </a:r>
          </a:p>
        </p:txBody>
      </p:sp>
      <p:sp>
        <p:nvSpPr>
          <p:cNvPr id="9" name="TextBox 8"/>
          <p:cNvSpPr txBox="1"/>
          <p:nvPr/>
        </p:nvSpPr>
        <p:spPr>
          <a:xfrm>
            <a:off x="449427" y="2651760"/>
            <a:ext cx="2377440" cy="502920"/>
          </a:xfrm>
          <a:prstGeom prst="rect">
            <a:avLst/>
          </a:prstGeom>
          <a:noFill/>
        </p:spPr>
        <p:txBody>
          <a:bodyPr wrap="square">
            <a:spAutoFit/>
          </a:bodyPr>
          <a:lstStyle/>
          <a:p>
            <a:pPr algn="l"/>
            <a:r>
              <a:rPr sz="2200" b="1">
                <a:solidFill>
                  <a:srgbClr val="004BE2"/>
                </a:solidFill>
                <a:latin typeface="Calibri"/>
              </a:rPr>
              <a:t>Publicly traded (market cap billions)</a:t>
            </a:r>
          </a:p>
        </p:txBody>
      </p:sp>
      <p:sp>
        <p:nvSpPr>
          <p:cNvPr id="10" name="TextBox 9"/>
          <p:cNvSpPr txBox="1"/>
          <p:nvPr/>
        </p:nvSpPr>
        <p:spPr>
          <a:xfrm>
            <a:off x="449427" y="3154680"/>
            <a:ext cx="2377440" cy="1874520"/>
          </a:xfrm>
          <a:prstGeom prst="rect">
            <a:avLst/>
          </a:prstGeom>
          <a:noFill/>
        </p:spPr>
        <p:txBody>
          <a:bodyPr wrap="square">
            <a:spAutoFit/>
          </a:bodyPr>
          <a:lstStyle/>
          <a:p>
            <a:pPr algn="l"/>
            <a:r>
              <a:rPr sz="1300" b="0">
                <a:solidFill>
                  <a:srgbClr val="7091D5"/>
                </a:solidFill>
                <a:latin typeface="Calibri"/>
              </a:rPr>
              <a:t>Potentially less agile and personalized for smaller clients compared to a specialized firm. Broader focus may dilute specific change management expertise.</a:t>
            </a:r>
          </a:p>
        </p:txBody>
      </p:sp>
      <p:sp>
        <p:nvSpPr>
          <p:cNvPr id="11" name="Rectangle 10"/>
          <p:cNvSpPr/>
          <p:nvPr/>
        </p:nvSpPr>
        <p:spPr>
          <a:xfrm>
            <a:off x="32383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83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1227" y="2103120"/>
            <a:ext cx="2377440" cy="548640"/>
          </a:xfrm>
          <a:prstGeom prst="rect">
            <a:avLst/>
          </a:prstGeom>
          <a:noFill/>
        </p:spPr>
        <p:txBody>
          <a:bodyPr wrap="square">
            <a:spAutoFit/>
          </a:bodyPr>
          <a:lstStyle/>
          <a:p>
            <a:pPr algn="l"/>
            <a:r>
              <a:rPr sz="1600" b="1">
                <a:solidFill>
                  <a:srgbClr val="F5F3FF"/>
                </a:solidFill>
                <a:latin typeface="Calibri"/>
              </a:rPr>
              <a:t>Deloitte Consulting</a:t>
            </a:r>
          </a:p>
        </p:txBody>
      </p:sp>
      <p:sp>
        <p:nvSpPr>
          <p:cNvPr id="14" name="TextBox 13"/>
          <p:cNvSpPr txBox="1"/>
          <p:nvPr/>
        </p:nvSpPr>
        <p:spPr>
          <a:xfrm>
            <a:off x="3421227" y="2651760"/>
            <a:ext cx="2377440" cy="502920"/>
          </a:xfrm>
          <a:prstGeom prst="rect">
            <a:avLst/>
          </a:prstGeom>
          <a:noFill/>
        </p:spPr>
        <p:txBody>
          <a:bodyPr wrap="square">
            <a:spAutoFit/>
          </a:bodyPr>
          <a:lstStyle/>
          <a:p>
            <a:pPr algn="l"/>
            <a:r>
              <a:rPr sz="2200" b="1">
                <a:solidFill>
                  <a:srgbClr val="475569"/>
                </a:solidFill>
                <a:latin typeface="Calibri"/>
              </a:rPr>
              <a:t>Private (revenue billions)</a:t>
            </a:r>
          </a:p>
        </p:txBody>
      </p:sp>
      <p:sp>
        <p:nvSpPr>
          <p:cNvPr id="15" name="TextBox 14"/>
          <p:cNvSpPr txBox="1"/>
          <p:nvPr/>
        </p:nvSpPr>
        <p:spPr>
          <a:xfrm>
            <a:off x="3421227" y="3154680"/>
            <a:ext cx="2377440" cy="1874520"/>
          </a:xfrm>
          <a:prstGeom prst="rect">
            <a:avLst/>
          </a:prstGeom>
          <a:noFill/>
        </p:spPr>
        <p:txBody>
          <a:bodyPr wrap="square">
            <a:spAutoFit/>
          </a:bodyPr>
          <a:lstStyle/>
          <a:p>
            <a:pPr algn="l"/>
            <a:r>
              <a:rPr sz="1300" b="0">
                <a:solidFill>
                  <a:srgbClr val="7091D5"/>
                </a:solidFill>
                <a:latin typeface="Calibri"/>
              </a:rPr>
              <a:t>May have a higher cost structure and less focus on the specific 'people-first' approach highlighted by Infopace. Less embedded AI for psychometric insights.</a:t>
            </a:r>
          </a:p>
        </p:txBody>
      </p:sp>
      <p:sp>
        <p:nvSpPr>
          <p:cNvPr id="16" name="Rectangle 15"/>
          <p:cNvSpPr/>
          <p:nvPr/>
        </p:nvSpPr>
        <p:spPr>
          <a:xfrm>
            <a:off x="62101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103120"/>
            <a:ext cx="2377440" cy="548640"/>
          </a:xfrm>
          <a:prstGeom prst="rect">
            <a:avLst/>
          </a:prstGeom>
          <a:noFill/>
        </p:spPr>
        <p:txBody>
          <a:bodyPr wrap="square">
            <a:spAutoFit/>
          </a:bodyPr>
          <a:lstStyle/>
          <a:p>
            <a:pPr algn="l"/>
            <a:r>
              <a:rPr sz="1600" b="1">
                <a:solidFill>
                  <a:srgbClr val="F5F3FF"/>
                </a:solidFill>
                <a:latin typeface="Calibri"/>
              </a:rPr>
              <a:t>PwC Advisory</a:t>
            </a:r>
          </a:p>
        </p:txBody>
      </p:sp>
      <p:sp>
        <p:nvSpPr>
          <p:cNvPr id="19" name="TextBox 18"/>
          <p:cNvSpPr txBox="1"/>
          <p:nvPr/>
        </p:nvSpPr>
        <p:spPr>
          <a:xfrm>
            <a:off x="6393027" y="2651760"/>
            <a:ext cx="2377440" cy="502920"/>
          </a:xfrm>
          <a:prstGeom prst="rect">
            <a:avLst/>
          </a:prstGeom>
          <a:noFill/>
        </p:spPr>
        <p:txBody>
          <a:bodyPr wrap="square">
            <a:spAutoFit/>
          </a:bodyPr>
          <a:lstStyle/>
          <a:p>
            <a:pPr algn="l"/>
            <a:r>
              <a:rPr sz="2200" b="1">
                <a:solidFill>
                  <a:srgbClr val="2350A5"/>
                </a:solidFill>
                <a:latin typeface="Calibri"/>
              </a:rPr>
              <a:t>Private (revenue billions)</a:t>
            </a:r>
          </a:p>
        </p:txBody>
      </p:sp>
      <p:sp>
        <p:nvSpPr>
          <p:cNvPr id="20" name="TextBox 19"/>
          <p:cNvSpPr txBox="1"/>
          <p:nvPr/>
        </p:nvSpPr>
        <p:spPr>
          <a:xfrm>
            <a:off x="6393027" y="3154680"/>
            <a:ext cx="2377440" cy="1874520"/>
          </a:xfrm>
          <a:prstGeom prst="rect">
            <a:avLst/>
          </a:prstGeom>
          <a:noFill/>
        </p:spPr>
        <p:txBody>
          <a:bodyPr wrap="square">
            <a:spAutoFit/>
          </a:bodyPr>
          <a:lstStyle/>
          <a:p>
            <a:pPr algn="l"/>
            <a:r>
              <a:rPr sz="1300" b="0">
                <a:solidFill>
                  <a:srgbClr val="7091D5"/>
                </a:solidFill>
                <a:latin typeface="Calibri"/>
              </a:rPr>
              <a:t>Their broad range of services might dilute focus on strategic change management for specific client needs. Lacks proprietary AI assessment tools.</a:t>
            </a:r>
          </a:p>
        </p:txBody>
      </p:sp>
      <p:sp>
        <p:nvSpPr>
          <p:cNvPr id="21" name="Rectangle 20"/>
          <p:cNvSpPr/>
          <p:nvPr/>
        </p:nvSpPr>
        <p:spPr>
          <a:xfrm>
            <a:off x="91819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1947" y="1920240"/>
            <a:ext cx="2743200" cy="54864"/>
          </a:xfrm>
          <a:prstGeom prst="rect">
            <a:avLst/>
          </a:prstGeom>
          <a:solidFill>
            <a:srgbClr val="3F7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2103120"/>
            <a:ext cx="2377440" cy="548640"/>
          </a:xfrm>
          <a:prstGeom prst="rect">
            <a:avLst/>
          </a:prstGeom>
          <a:noFill/>
        </p:spPr>
        <p:txBody>
          <a:bodyPr wrap="square">
            <a:spAutoFit/>
          </a:bodyPr>
          <a:lstStyle/>
          <a:p>
            <a:pPr algn="l"/>
            <a:r>
              <a:rPr sz="1600" b="1">
                <a:solidFill>
                  <a:srgbClr val="F5F3FF"/>
                </a:solidFill>
                <a:latin typeface="Calibri"/>
              </a:rPr>
              <a:t>Infopace (Our Advantage)</a:t>
            </a:r>
          </a:p>
        </p:txBody>
      </p:sp>
      <p:sp>
        <p:nvSpPr>
          <p:cNvPr id="24" name="TextBox 23"/>
          <p:cNvSpPr txBox="1"/>
          <p:nvPr/>
        </p:nvSpPr>
        <p:spPr>
          <a:xfrm>
            <a:off x="9364827" y="2651760"/>
            <a:ext cx="2377440" cy="502920"/>
          </a:xfrm>
          <a:prstGeom prst="rect">
            <a:avLst/>
          </a:prstGeom>
          <a:noFill/>
        </p:spPr>
        <p:txBody>
          <a:bodyPr wrap="square">
            <a:spAutoFit/>
          </a:bodyPr>
          <a:lstStyle/>
          <a:p>
            <a:pPr algn="l"/>
            <a:r>
              <a:rPr sz="2200" b="1">
                <a:solidFill>
                  <a:srgbClr val="3F78E9"/>
                </a:solidFill>
                <a:latin typeface="Calibri"/>
              </a:rPr>
              <a:t>Bootstrapped / Raising $1.5M</a:t>
            </a:r>
          </a:p>
        </p:txBody>
      </p:sp>
      <p:sp>
        <p:nvSpPr>
          <p:cNvPr id="25" name="TextBox 24"/>
          <p:cNvSpPr txBox="1"/>
          <p:nvPr/>
        </p:nvSpPr>
        <p:spPr>
          <a:xfrm>
            <a:off x="93648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Specialized Focus:</a:t>
            </a:r>
            <a:r>
              <a:rPr sz="1300" b="0">
                <a:solidFill>
                  <a:srgbClr val="7091D5"/>
                </a:solidFill>
                <a:latin typeface="Calibri"/>
              </a:rPr>
              <a:t> Deep expertise in strategic change. </a:t>
            </a:r>
            <a:r>
              <a:rPr sz="1300" b="1">
                <a:solidFill>
                  <a:srgbClr val="7091D5"/>
                </a:solidFill>
                <a:latin typeface="Calibri"/>
              </a:rPr>
              <a:t>AI-Driven:</a:t>
            </a:r>
            <a:r>
              <a:rPr sz="1300" b="0">
                <a:solidFill>
                  <a:srgbClr val="7091D5"/>
                </a:solidFill>
                <a:latin typeface="Calibri"/>
              </a:rPr>
              <a:t> Proprietary psychometric assessments. </a:t>
            </a:r>
            <a:r>
              <a:rPr sz="1300" b="1">
                <a:solidFill>
                  <a:srgbClr val="7091D5"/>
                </a:solidFill>
                <a:latin typeface="Calibri"/>
              </a:rPr>
              <a:t>Agile &amp; Personalized:</a:t>
            </a:r>
            <a:r>
              <a:rPr sz="1300" b="0">
                <a:solidFill>
                  <a:srgbClr val="7091D5"/>
                </a:solidFill>
                <a:latin typeface="Calibri"/>
              </a:rPr>
              <a:t> Tailored solutions for champions. </a:t>
            </a:r>
            <a:r>
              <a:rPr sz="1300" b="1">
                <a:solidFill>
                  <a:srgbClr val="7091D5"/>
                </a:solidFill>
                <a:latin typeface="Calibri"/>
              </a:rPr>
              <a:t>People-First:</a:t>
            </a:r>
            <a:r>
              <a:rPr sz="1300" b="0">
                <a:solidFill>
                  <a:srgbClr val="7091D5"/>
                </a:solidFill>
                <a:latin typeface="Calibri"/>
              </a:rPr>
              <a:t> Human-centric transformation.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Our Exceptional Team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Experienced leaders driving innovation and client success.</a:t>
            </a:r>
          </a:p>
        </p:txBody>
      </p:sp>
      <p:sp>
        <p:nvSpPr>
          <p:cNvPr id="6" name="Rectangle 5"/>
          <p:cNvSpPr/>
          <p:nvPr/>
        </p:nvSpPr>
        <p:spPr>
          <a:xfrm>
            <a:off x="17524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J.R. Bangera</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04BE2"/>
                </a:solidFill>
                <a:latin typeface="Calibri"/>
              </a:rPr>
              <a:t>Co-Founder</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Strategic Vision:</a:t>
            </a:r>
            <a:r>
              <a:rPr sz="1300" b="0">
                <a:solidFill>
                  <a:srgbClr val="7091D5"/>
                </a:solidFill>
                <a:latin typeface="Calibri"/>
              </a:rPr>
              <a:t> Drives overall company strategy and key partnerships. Brings extensive undisclosed experience in business development and leadership.</a:t>
            </a:r>
          </a:p>
        </p:txBody>
      </p:sp>
      <p:sp>
        <p:nvSpPr>
          <p:cNvPr id="11" name="Rectangle 10"/>
          <p:cNvSpPr/>
          <p:nvPr/>
        </p:nvSpPr>
        <p:spPr>
          <a:xfrm>
            <a:off x="47242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Dr. G.P. Sudhakar</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475569"/>
                </a:solidFill>
                <a:latin typeface="Calibri"/>
              </a:rPr>
              <a:t>Co-Founder</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Academic &amp; Marketing Expert:</a:t>
            </a:r>
            <a:r>
              <a:rPr sz="1300" b="0">
                <a:solidFill>
                  <a:srgbClr val="7091D5"/>
                </a:solidFill>
                <a:latin typeface="Calibri"/>
              </a:rPr>
              <a:t> Ph.D. in Retail Store Positioning, M.B.A (Marketing), B.Com (Hons.). Brings deep academic and practical marketing insights.</a:t>
            </a:r>
          </a:p>
        </p:txBody>
      </p:sp>
      <p:sp>
        <p:nvSpPr>
          <p:cNvPr id="16" name="Rectangle 15"/>
          <p:cNvSpPr/>
          <p:nvPr/>
        </p:nvSpPr>
        <p:spPr>
          <a:xfrm>
            <a:off x="76960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Prof. Naliniprava Tripathy</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2350A5"/>
                </a:solidFill>
                <a:latin typeface="Calibri"/>
              </a:rPr>
              <a:t>Co-Founder &amp; Marketing Expert</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Professor &amp; Marketing Guru:</a:t>
            </a:r>
            <a:r>
              <a:rPr sz="1300" b="0">
                <a:solidFill>
                  <a:srgbClr val="7091D5"/>
                </a:solidFill>
                <a:latin typeface="Calibri"/>
              </a:rPr>
              <a:t> Brings profound academic and practical knowledge in marketing, shaping our go-to-market strategies and client engagement.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FINANCIALS</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Sizing &amp; Financial Projections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Significant market opportunity and robust growth trajectory.</a:t>
            </a:r>
          </a:p>
        </p:txBody>
      </p:sp>
      <p:sp>
        <p:nvSpPr>
          <p:cNvPr id="6" name="Oval 5"/>
          <p:cNvSpPr/>
          <p:nvPr/>
        </p:nvSpPr>
        <p:spPr>
          <a:xfrm>
            <a:off x="548640" y="1554480"/>
            <a:ext cx="3840480" cy="3840480"/>
          </a:xfrm>
          <a:prstGeom prst="ellipse">
            <a:avLst/>
          </a:prstGeom>
          <a:solidFill>
            <a:srgbClr val="004BE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920240"/>
            <a:ext cx="3108960" cy="3108960"/>
          </a:xfrm>
          <a:prstGeom prst="ellipse">
            <a:avLst/>
          </a:prstGeom>
          <a:solidFill>
            <a:srgbClr val="475569">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25880" y="2331720"/>
            <a:ext cx="2240280" cy="2240280"/>
          </a:xfrm>
          <a:prstGeom prst="ellipse">
            <a:avLst/>
          </a:prstGeom>
          <a:solidFill>
            <a:srgbClr val="2350A5">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17320" y="2834640"/>
            <a:ext cx="2057400" cy="320040"/>
          </a:xfrm>
          <a:prstGeom prst="rect">
            <a:avLst/>
          </a:prstGeom>
          <a:noFill/>
        </p:spPr>
        <p:txBody>
          <a:bodyPr wrap="square">
            <a:spAutoFit/>
          </a:bodyPr>
          <a:lstStyle/>
          <a:p>
            <a:pPr algn="ctr"/>
            <a:r>
              <a:rPr sz="900" b="1">
                <a:solidFill>
                  <a:srgbClr val="002165"/>
                </a:solidFill>
                <a:latin typeface="Calibri"/>
              </a:rPr>
              <a:t>CAGR</a:t>
            </a:r>
          </a:p>
        </p:txBody>
      </p:sp>
      <p:sp>
        <p:nvSpPr>
          <p:cNvPr id="10" name="TextBox 9"/>
          <p:cNvSpPr txBox="1"/>
          <p:nvPr/>
        </p:nvSpPr>
        <p:spPr>
          <a:xfrm>
            <a:off x="1417320" y="3154680"/>
            <a:ext cx="2057400" cy="548640"/>
          </a:xfrm>
          <a:prstGeom prst="rect">
            <a:avLst/>
          </a:prstGeom>
          <a:noFill/>
        </p:spPr>
        <p:txBody>
          <a:bodyPr wrap="square">
            <a:spAutoFit/>
          </a:bodyPr>
          <a:lstStyle/>
          <a:p>
            <a:pPr algn="ctr"/>
            <a:r>
              <a:rPr sz="2200" b="1">
                <a:solidFill>
                  <a:srgbClr val="3F78E9"/>
                </a:solidFill>
                <a:latin typeface="Calibri"/>
              </a:rPr>
              <a:t>11.2%</a:t>
            </a:r>
          </a:p>
        </p:txBody>
      </p:sp>
      <p:sp>
        <p:nvSpPr>
          <p:cNvPr id="11" name="Rectangle 10"/>
          <p:cNvSpPr/>
          <p:nvPr/>
        </p:nvSpPr>
        <p:spPr>
          <a:xfrm>
            <a:off x="4846320" y="1737360"/>
            <a:ext cx="6675120" cy="9144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46320" y="1737360"/>
            <a:ext cx="64008" cy="9144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1828800"/>
            <a:ext cx="914400" cy="320040"/>
          </a:xfrm>
          <a:prstGeom prst="rect">
            <a:avLst/>
          </a:prstGeom>
          <a:noFill/>
        </p:spPr>
        <p:txBody>
          <a:bodyPr wrap="square">
            <a:spAutoFit/>
          </a:bodyPr>
          <a:lstStyle/>
          <a:p>
            <a:pPr algn="l"/>
            <a:r>
              <a:rPr sz="900" b="1">
                <a:solidFill>
                  <a:srgbClr val="002165"/>
                </a:solidFill>
                <a:latin typeface="Calibri"/>
              </a:rPr>
              <a:t>TAM</a:t>
            </a:r>
          </a:p>
        </p:txBody>
      </p:sp>
      <p:sp>
        <p:nvSpPr>
          <p:cNvPr id="14" name="TextBox 13"/>
          <p:cNvSpPr txBox="1"/>
          <p:nvPr/>
        </p:nvSpPr>
        <p:spPr>
          <a:xfrm>
            <a:off x="6035040" y="1810512"/>
            <a:ext cx="2286000" cy="411480"/>
          </a:xfrm>
          <a:prstGeom prst="rect">
            <a:avLst/>
          </a:prstGeom>
          <a:noFill/>
        </p:spPr>
        <p:txBody>
          <a:bodyPr wrap="square">
            <a:spAutoFit/>
          </a:bodyPr>
          <a:lstStyle/>
          <a:p>
            <a:pPr algn="l"/>
            <a:r>
              <a:rPr sz="2800" b="1">
                <a:solidFill>
                  <a:srgbClr val="004BE2"/>
                </a:solidFill>
                <a:latin typeface="Calibri"/>
              </a:rPr>
              <a:t>$13.5B</a:t>
            </a:r>
          </a:p>
        </p:txBody>
      </p:sp>
      <p:sp>
        <p:nvSpPr>
          <p:cNvPr id="15" name="TextBox 14"/>
          <p:cNvSpPr txBox="1"/>
          <p:nvPr/>
        </p:nvSpPr>
        <p:spPr>
          <a:xfrm>
            <a:off x="5029200" y="2240280"/>
            <a:ext cx="6400800" cy="347472"/>
          </a:xfrm>
          <a:prstGeom prst="rect">
            <a:avLst/>
          </a:prstGeom>
          <a:noFill/>
        </p:spPr>
        <p:txBody>
          <a:bodyPr wrap="square">
            <a:spAutoFit/>
          </a:bodyPr>
          <a:lstStyle/>
          <a:p>
            <a:pPr algn="l"/>
            <a:r>
              <a:rPr sz="1100" b="0">
                <a:solidFill>
                  <a:srgbClr val="7091D5"/>
                </a:solidFill>
                <a:latin typeface="Calibri"/>
              </a:rPr>
              <a:t>Global Strategic Change Mgmt 2023 · Grand View Research</a:t>
            </a:r>
          </a:p>
        </p:txBody>
      </p:sp>
      <p:sp>
        <p:nvSpPr>
          <p:cNvPr id="16" name="Rectangle 15"/>
          <p:cNvSpPr/>
          <p:nvPr/>
        </p:nvSpPr>
        <p:spPr>
          <a:xfrm>
            <a:off x="4846320" y="2788920"/>
            <a:ext cx="6675120" cy="9144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788920"/>
            <a:ext cx="64008" cy="9144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2880360"/>
            <a:ext cx="914400" cy="320040"/>
          </a:xfrm>
          <a:prstGeom prst="rect">
            <a:avLst/>
          </a:prstGeom>
          <a:noFill/>
        </p:spPr>
        <p:txBody>
          <a:bodyPr wrap="square">
            <a:spAutoFit/>
          </a:bodyPr>
          <a:lstStyle/>
          <a:p>
            <a:pPr algn="l"/>
            <a:r>
              <a:rPr sz="900" b="1">
                <a:solidFill>
                  <a:srgbClr val="002165"/>
                </a:solidFill>
                <a:latin typeface="Calibri"/>
              </a:rPr>
              <a:t>SAM</a:t>
            </a:r>
          </a:p>
        </p:txBody>
      </p:sp>
      <p:sp>
        <p:nvSpPr>
          <p:cNvPr id="19" name="TextBox 18"/>
          <p:cNvSpPr txBox="1"/>
          <p:nvPr/>
        </p:nvSpPr>
        <p:spPr>
          <a:xfrm>
            <a:off x="6035040" y="2862072"/>
            <a:ext cx="2286000" cy="411480"/>
          </a:xfrm>
          <a:prstGeom prst="rect">
            <a:avLst/>
          </a:prstGeom>
          <a:noFill/>
        </p:spPr>
        <p:txBody>
          <a:bodyPr wrap="square">
            <a:spAutoFit/>
          </a:bodyPr>
          <a:lstStyle/>
          <a:p>
            <a:pPr algn="l"/>
            <a:r>
              <a:rPr sz="2800" b="1">
                <a:solidFill>
                  <a:srgbClr val="475569"/>
                </a:solidFill>
                <a:latin typeface="Calibri"/>
              </a:rPr>
              <a:t>$2.5B</a:t>
            </a:r>
          </a:p>
        </p:txBody>
      </p:sp>
      <p:sp>
        <p:nvSpPr>
          <p:cNvPr id="20" name="TextBox 19"/>
          <p:cNvSpPr txBox="1"/>
          <p:nvPr/>
        </p:nvSpPr>
        <p:spPr>
          <a:xfrm>
            <a:off x="5029200" y="3291840"/>
            <a:ext cx="6400800" cy="347472"/>
          </a:xfrm>
          <a:prstGeom prst="rect">
            <a:avLst/>
          </a:prstGeom>
          <a:noFill/>
        </p:spPr>
        <p:txBody>
          <a:bodyPr wrap="square">
            <a:spAutoFit/>
          </a:bodyPr>
          <a:lstStyle/>
          <a:p>
            <a:pPr algn="l"/>
            <a:r>
              <a:rPr sz="1100" b="0">
                <a:solidFill>
                  <a:srgbClr val="7091D5"/>
                </a:solidFill>
                <a:latin typeface="Calibri"/>
              </a:rPr>
              <a:t>India &amp; select APAC Strategic Change Mgmt</a:t>
            </a:r>
          </a:p>
        </p:txBody>
      </p:sp>
      <p:sp>
        <p:nvSpPr>
          <p:cNvPr id="21" name="Rectangle 20"/>
          <p:cNvSpPr/>
          <p:nvPr/>
        </p:nvSpPr>
        <p:spPr>
          <a:xfrm>
            <a:off x="4846320" y="3840480"/>
            <a:ext cx="6675120" cy="9144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840480"/>
            <a:ext cx="64008" cy="914400"/>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931920"/>
            <a:ext cx="914400" cy="320040"/>
          </a:xfrm>
          <a:prstGeom prst="rect">
            <a:avLst/>
          </a:prstGeom>
          <a:noFill/>
        </p:spPr>
        <p:txBody>
          <a:bodyPr wrap="square">
            <a:spAutoFit/>
          </a:bodyPr>
          <a:lstStyle/>
          <a:p>
            <a:pPr algn="l"/>
            <a:r>
              <a:rPr sz="900" b="1">
                <a:solidFill>
                  <a:srgbClr val="002165"/>
                </a:solidFill>
                <a:latin typeface="Calibri"/>
              </a:rPr>
              <a:t>SOM</a:t>
            </a:r>
          </a:p>
        </p:txBody>
      </p:sp>
      <p:sp>
        <p:nvSpPr>
          <p:cNvPr id="24" name="TextBox 23"/>
          <p:cNvSpPr txBox="1"/>
          <p:nvPr/>
        </p:nvSpPr>
        <p:spPr>
          <a:xfrm>
            <a:off x="6035040" y="3913632"/>
            <a:ext cx="2286000" cy="411480"/>
          </a:xfrm>
          <a:prstGeom prst="rect">
            <a:avLst/>
          </a:prstGeom>
          <a:noFill/>
        </p:spPr>
        <p:txBody>
          <a:bodyPr wrap="square">
            <a:spAutoFit/>
          </a:bodyPr>
          <a:lstStyle/>
          <a:p>
            <a:pPr algn="l"/>
            <a:r>
              <a:rPr sz="2800" b="1">
                <a:solidFill>
                  <a:srgbClr val="2350A5"/>
                </a:solidFill>
                <a:latin typeface="Calibri"/>
              </a:rPr>
              <a:t>$250M</a:t>
            </a:r>
          </a:p>
        </p:txBody>
      </p:sp>
      <p:sp>
        <p:nvSpPr>
          <p:cNvPr id="25" name="TextBox 24"/>
          <p:cNvSpPr txBox="1"/>
          <p:nvPr/>
        </p:nvSpPr>
        <p:spPr>
          <a:xfrm>
            <a:off x="5029200" y="4343400"/>
            <a:ext cx="6400800" cy="347472"/>
          </a:xfrm>
          <a:prstGeom prst="rect">
            <a:avLst/>
          </a:prstGeom>
          <a:noFill/>
        </p:spPr>
        <p:txBody>
          <a:bodyPr wrap="square">
            <a:spAutoFit/>
          </a:bodyPr>
          <a:lstStyle/>
          <a:p>
            <a:pPr algn="l"/>
            <a:r>
              <a:rPr sz="1100" b="0">
                <a:solidFill>
                  <a:srgbClr val="7091D5"/>
                </a:solidFill>
                <a:latin typeface="Calibri"/>
              </a:rPr>
              <a:t>~10% SAM capture · Target by FY2028</a:t>
            </a:r>
          </a:p>
        </p:txBody>
      </p:sp>
      <p:sp>
        <p:nvSpPr>
          <p:cNvPr id="26" name="Rectangle 25"/>
          <p:cNvSpPr/>
          <p:nvPr/>
        </p:nvSpPr>
        <p:spPr>
          <a:xfrm>
            <a:off x="457200" y="5760720"/>
            <a:ext cx="3657600" cy="6858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852160"/>
            <a:ext cx="3383280" cy="502920"/>
          </a:xfrm>
          <a:prstGeom prst="rect">
            <a:avLst/>
          </a:prstGeom>
          <a:noFill/>
        </p:spPr>
        <p:txBody>
          <a:bodyPr wrap="square">
            <a:spAutoFit/>
          </a:bodyPr>
          <a:lstStyle/>
          <a:p>
            <a:pPr algn="l"/>
            <a:r>
              <a:rPr sz="1200" b="0">
                <a:solidFill>
                  <a:srgbClr val="7091D5"/>
                </a:solidFill>
                <a:latin typeface="Calibri"/>
              </a:rPr>
              <a:t/>
            </a:r>
            <a:r>
              <a:rPr sz="1200" b="1">
                <a:solidFill>
                  <a:srgbClr val="7091D5"/>
                </a:solidFill>
                <a:latin typeface="Calibri"/>
              </a:rPr>
              <a:t>FY2026:</a:t>
            </a:r>
            <a:r>
              <a:rPr sz="1200" b="0">
                <a:solidFill>
                  <a:srgbClr val="7091D5"/>
                </a:solidFill>
                <a:latin typeface="Calibri"/>
              </a:rPr>
              <a:t> $2.5M ARR · 65,000 customers · Expand AI platform features</a:t>
            </a:r>
          </a:p>
        </p:txBody>
      </p:sp>
      <p:sp>
        <p:nvSpPr>
          <p:cNvPr id="28" name="Rectangle 27"/>
          <p:cNvSpPr/>
          <p:nvPr/>
        </p:nvSpPr>
        <p:spPr>
          <a:xfrm>
            <a:off x="4343400" y="5760720"/>
            <a:ext cx="3657600" cy="6858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5852160"/>
            <a:ext cx="3383280" cy="502920"/>
          </a:xfrm>
          <a:prstGeom prst="rect">
            <a:avLst/>
          </a:prstGeom>
          <a:noFill/>
        </p:spPr>
        <p:txBody>
          <a:bodyPr wrap="square">
            <a:spAutoFit/>
          </a:bodyPr>
          <a:lstStyle/>
          <a:p>
            <a:pPr algn="l"/>
            <a:r>
              <a:rPr sz="1200" b="0">
                <a:solidFill>
                  <a:srgbClr val="7091D5"/>
                </a:solidFill>
                <a:latin typeface="Calibri"/>
              </a:rPr>
              <a:t/>
            </a:r>
            <a:r>
              <a:rPr sz="1200" b="1">
                <a:solidFill>
                  <a:srgbClr val="7091D5"/>
                </a:solidFill>
                <a:latin typeface="Calibri"/>
              </a:rPr>
              <a:t>FY2027:</a:t>
            </a:r>
            <a:r>
              <a:rPr sz="1200" b="0">
                <a:solidFill>
                  <a:srgbClr val="7091D5"/>
                </a:solidFill>
                <a:latin typeface="Calibri"/>
              </a:rPr>
              <a:t> $5.2M ARR · 80,000 customers · Establish presence in 2 new APAC markets</a:t>
            </a:r>
          </a:p>
        </p:txBody>
      </p:sp>
      <p:sp>
        <p:nvSpPr>
          <p:cNvPr id="30" name="Rectangle 29"/>
          <p:cNvSpPr/>
          <p:nvPr/>
        </p:nvSpPr>
        <p:spPr>
          <a:xfrm>
            <a:off x="8229600" y="5760720"/>
            <a:ext cx="3657600" cy="6858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66760" y="5852160"/>
            <a:ext cx="3383280" cy="502920"/>
          </a:xfrm>
          <a:prstGeom prst="rect">
            <a:avLst/>
          </a:prstGeom>
          <a:noFill/>
        </p:spPr>
        <p:txBody>
          <a:bodyPr wrap="square">
            <a:spAutoFit/>
          </a:bodyPr>
          <a:lstStyle/>
          <a:p>
            <a:pPr algn="l"/>
            <a:r>
              <a:rPr sz="1200" b="0">
                <a:solidFill>
                  <a:srgbClr val="7091D5"/>
                </a:solidFill>
                <a:latin typeface="Calibri"/>
              </a:rPr>
              <a:t/>
            </a:r>
            <a:r>
              <a:rPr sz="1200" b="1">
                <a:solidFill>
                  <a:srgbClr val="7091D5"/>
                </a:solidFill>
                <a:latin typeface="Calibri"/>
              </a:rPr>
              <a:t>FY2028:</a:t>
            </a:r>
            <a:r>
              <a:rPr sz="1200" b="0">
                <a:solidFill>
                  <a:srgbClr val="7091D5"/>
                </a:solidFill>
                <a:latin typeface="Calibri"/>
              </a:rPr>
              <a:t> $10.8M ARR · 100,000 customers · Path to Series B funding round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THE 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Ask</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Raising $1,500,000 to scale innovation and accelerate growth.</a:t>
            </a:r>
          </a:p>
        </p:txBody>
      </p:sp>
      <p:sp>
        <p:nvSpPr>
          <p:cNvPr id="6" name="Rectangle 5"/>
          <p:cNvSpPr/>
          <p:nvPr/>
        </p:nvSpPr>
        <p:spPr>
          <a:xfrm>
            <a:off x="2665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5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27" y="2103120"/>
            <a:ext cx="2377440" cy="548640"/>
          </a:xfrm>
          <a:prstGeom prst="rect">
            <a:avLst/>
          </a:prstGeom>
          <a:noFill/>
        </p:spPr>
        <p:txBody>
          <a:bodyPr wrap="square">
            <a:spAutoFit/>
          </a:bodyPr>
          <a:lstStyle/>
          <a:p>
            <a:pPr algn="l"/>
            <a:r>
              <a:rPr sz="1600" b="1">
                <a:solidFill>
                  <a:srgbClr val="F5F3FF"/>
                </a:solidFill>
                <a:latin typeface="Calibri"/>
              </a:rPr>
              <a:t>Product Development</a:t>
            </a:r>
          </a:p>
        </p:txBody>
      </p:sp>
      <p:sp>
        <p:nvSpPr>
          <p:cNvPr id="9" name="TextBox 8"/>
          <p:cNvSpPr txBox="1"/>
          <p:nvPr/>
        </p:nvSpPr>
        <p:spPr>
          <a:xfrm>
            <a:off x="449427" y="2651760"/>
            <a:ext cx="2377440" cy="502920"/>
          </a:xfrm>
          <a:prstGeom prst="rect">
            <a:avLst/>
          </a:prstGeom>
          <a:noFill/>
        </p:spPr>
        <p:txBody>
          <a:bodyPr wrap="square">
            <a:spAutoFit/>
          </a:bodyPr>
          <a:lstStyle/>
          <a:p>
            <a:pPr algn="l"/>
            <a:r>
              <a:rPr sz="2200" b="1">
                <a:solidFill>
                  <a:srgbClr val="004BE2"/>
                </a:solidFill>
                <a:latin typeface="Calibri"/>
              </a:rPr>
              <a:t>40%</a:t>
            </a:r>
          </a:p>
        </p:txBody>
      </p:sp>
      <p:sp>
        <p:nvSpPr>
          <p:cNvPr id="10" name="TextBox 9"/>
          <p:cNvSpPr txBox="1"/>
          <p:nvPr/>
        </p:nvSpPr>
        <p:spPr>
          <a:xfrm>
            <a:off x="4494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AI Platform Enhancement:</a:t>
            </a:r>
            <a:r>
              <a:rPr sz="1300" b="0">
                <a:solidFill>
                  <a:srgbClr val="7091D5"/>
                </a:solidFill>
                <a:latin typeface="Calibri"/>
              </a:rPr>
              <a:t> Further develop our Psychometric Assessments &amp; AI Insights, adding new features and predictive capabilities.</a:t>
            </a:r>
          </a:p>
        </p:txBody>
      </p:sp>
      <p:sp>
        <p:nvSpPr>
          <p:cNvPr id="11" name="Rectangle 10"/>
          <p:cNvSpPr/>
          <p:nvPr/>
        </p:nvSpPr>
        <p:spPr>
          <a:xfrm>
            <a:off x="32383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83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1227" y="2103120"/>
            <a:ext cx="2377440" cy="548640"/>
          </a:xfrm>
          <a:prstGeom prst="rect">
            <a:avLst/>
          </a:prstGeom>
          <a:noFill/>
        </p:spPr>
        <p:txBody>
          <a:bodyPr wrap="square">
            <a:spAutoFit/>
          </a:bodyPr>
          <a:lstStyle/>
          <a:p>
            <a:pPr algn="l"/>
            <a:r>
              <a:rPr sz="1600" b="1">
                <a:solidFill>
                  <a:srgbClr val="F5F3FF"/>
                </a:solidFill>
                <a:latin typeface="Calibri"/>
              </a:rPr>
              <a:t>Team Expansion</a:t>
            </a:r>
          </a:p>
        </p:txBody>
      </p:sp>
      <p:sp>
        <p:nvSpPr>
          <p:cNvPr id="14" name="TextBox 13"/>
          <p:cNvSpPr txBox="1"/>
          <p:nvPr/>
        </p:nvSpPr>
        <p:spPr>
          <a:xfrm>
            <a:off x="3421227" y="2651760"/>
            <a:ext cx="2377440" cy="502920"/>
          </a:xfrm>
          <a:prstGeom prst="rect">
            <a:avLst/>
          </a:prstGeom>
          <a:noFill/>
        </p:spPr>
        <p:txBody>
          <a:bodyPr wrap="square">
            <a:spAutoFit/>
          </a:bodyPr>
          <a:lstStyle/>
          <a:p>
            <a:pPr algn="l"/>
            <a:r>
              <a:rPr sz="2200" b="1">
                <a:solidFill>
                  <a:srgbClr val="475569"/>
                </a:solidFill>
                <a:latin typeface="Calibri"/>
              </a:rPr>
              <a:t>30%</a:t>
            </a:r>
          </a:p>
        </p:txBody>
      </p:sp>
      <p:sp>
        <p:nvSpPr>
          <p:cNvPr id="15" name="TextBox 14"/>
          <p:cNvSpPr txBox="1"/>
          <p:nvPr/>
        </p:nvSpPr>
        <p:spPr>
          <a:xfrm>
            <a:off x="34212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Talent Acquisition:</a:t>
            </a:r>
            <a:r>
              <a:rPr sz="1300" b="0">
                <a:solidFill>
                  <a:srgbClr val="7091D5"/>
                </a:solidFill>
                <a:latin typeface="Calibri"/>
              </a:rPr>
              <a:t> Hire key talent in AI/ML engineering, strategic consulting, and sales to support growth and delivery.</a:t>
            </a:r>
          </a:p>
        </p:txBody>
      </p:sp>
      <p:sp>
        <p:nvSpPr>
          <p:cNvPr id="16" name="Rectangle 15"/>
          <p:cNvSpPr/>
          <p:nvPr/>
        </p:nvSpPr>
        <p:spPr>
          <a:xfrm>
            <a:off x="62101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103120"/>
            <a:ext cx="2377440" cy="548640"/>
          </a:xfrm>
          <a:prstGeom prst="rect">
            <a:avLst/>
          </a:prstGeom>
          <a:noFill/>
        </p:spPr>
        <p:txBody>
          <a:bodyPr wrap="square">
            <a:spAutoFit/>
          </a:bodyPr>
          <a:lstStyle/>
          <a:p>
            <a:pPr algn="l"/>
            <a:r>
              <a:rPr sz="1600" b="1">
                <a:solidFill>
                  <a:srgbClr val="F5F3FF"/>
                </a:solidFill>
                <a:latin typeface="Calibri"/>
              </a:rPr>
              <a:t>Market Expansion</a:t>
            </a:r>
          </a:p>
        </p:txBody>
      </p:sp>
      <p:sp>
        <p:nvSpPr>
          <p:cNvPr id="19" name="TextBox 18"/>
          <p:cNvSpPr txBox="1"/>
          <p:nvPr/>
        </p:nvSpPr>
        <p:spPr>
          <a:xfrm>
            <a:off x="6393027" y="2651760"/>
            <a:ext cx="2377440" cy="502920"/>
          </a:xfrm>
          <a:prstGeom prst="rect">
            <a:avLst/>
          </a:prstGeom>
          <a:noFill/>
        </p:spPr>
        <p:txBody>
          <a:bodyPr wrap="square">
            <a:spAutoFit/>
          </a:bodyPr>
          <a:lstStyle/>
          <a:p>
            <a:pPr algn="l"/>
            <a:r>
              <a:rPr sz="2200" b="1">
                <a:solidFill>
                  <a:srgbClr val="2350A5"/>
                </a:solidFill>
                <a:latin typeface="Calibri"/>
              </a:rPr>
              <a:t>20%</a:t>
            </a:r>
          </a:p>
        </p:txBody>
      </p:sp>
      <p:sp>
        <p:nvSpPr>
          <p:cNvPr id="20" name="TextBox 19"/>
          <p:cNvSpPr txBox="1"/>
          <p:nvPr/>
        </p:nvSpPr>
        <p:spPr>
          <a:xfrm>
            <a:off x="63930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Go-to-Market:</a:t>
            </a:r>
            <a:r>
              <a:rPr sz="1300" b="0">
                <a:solidFill>
                  <a:srgbClr val="7091D5"/>
                </a:solidFill>
                <a:latin typeface="Calibri"/>
              </a:rPr>
              <a:t> Invest in targeted marketing, sales infrastructure, and strategic partnerships to expand our reach in India and APAC.</a:t>
            </a:r>
          </a:p>
        </p:txBody>
      </p:sp>
      <p:sp>
        <p:nvSpPr>
          <p:cNvPr id="21" name="Rectangle 20"/>
          <p:cNvSpPr/>
          <p:nvPr/>
        </p:nvSpPr>
        <p:spPr>
          <a:xfrm>
            <a:off x="91819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1947" y="1920240"/>
            <a:ext cx="2743200" cy="54864"/>
          </a:xfrm>
          <a:prstGeom prst="rect">
            <a:avLst/>
          </a:prstGeom>
          <a:solidFill>
            <a:srgbClr val="3F7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2103120"/>
            <a:ext cx="2377440" cy="548640"/>
          </a:xfrm>
          <a:prstGeom prst="rect">
            <a:avLst/>
          </a:prstGeom>
          <a:noFill/>
        </p:spPr>
        <p:txBody>
          <a:bodyPr wrap="square">
            <a:spAutoFit/>
          </a:bodyPr>
          <a:lstStyle/>
          <a:p>
            <a:pPr algn="l"/>
            <a:r>
              <a:rPr sz="1600" b="1">
                <a:solidFill>
                  <a:srgbClr val="F5F3FF"/>
                </a:solidFill>
                <a:latin typeface="Calibri"/>
              </a:rPr>
              <a:t>Operational Capital</a:t>
            </a:r>
          </a:p>
        </p:txBody>
      </p:sp>
      <p:sp>
        <p:nvSpPr>
          <p:cNvPr id="24" name="TextBox 23"/>
          <p:cNvSpPr txBox="1"/>
          <p:nvPr/>
        </p:nvSpPr>
        <p:spPr>
          <a:xfrm>
            <a:off x="9364827" y="2651760"/>
            <a:ext cx="2377440" cy="502920"/>
          </a:xfrm>
          <a:prstGeom prst="rect">
            <a:avLst/>
          </a:prstGeom>
          <a:noFill/>
        </p:spPr>
        <p:txBody>
          <a:bodyPr wrap="square">
            <a:spAutoFit/>
          </a:bodyPr>
          <a:lstStyle/>
          <a:p>
            <a:pPr algn="l"/>
            <a:r>
              <a:rPr sz="2200" b="1">
                <a:solidFill>
                  <a:srgbClr val="3F78E9"/>
                </a:solidFill>
                <a:latin typeface="Calibri"/>
              </a:rPr>
              <a:t>10%</a:t>
            </a:r>
          </a:p>
        </p:txBody>
      </p:sp>
      <p:sp>
        <p:nvSpPr>
          <p:cNvPr id="25" name="TextBox 24"/>
          <p:cNvSpPr txBox="1"/>
          <p:nvPr/>
        </p:nvSpPr>
        <p:spPr>
          <a:xfrm>
            <a:off x="93648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Working Capital:</a:t>
            </a:r>
            <a:r>
              <a:rPr sz="1300" b="0">
                <a:solidFill>
                  <a:srgbClr val="7091D5"/>
                </a:solidFill>
                <a:latin typeface="Calibri"/>
              </a:rPr>
              <a:t> Ensure smooth operations, infrastructure upgrades, and general administrative expenses to support scale.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Thank You</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7091D5"/>
                </a:solidFill>
                <a:latin typeface="Calibri"/>
              </a:rPr>
              <a:t>Let's partner to shape the future of strategic change.</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002165"/>
                </a:solidFill>
                <a:latin typeface="Calibri"/>
              </a:rPr>
              <a:t>Infopace is uniquely positioned to capitalize on the massive market opportunity in strategic change management, driven by our innovative AI platform, experienced team, and proven ability to deliver transformative results for enterprises. Join us in empowering businesses worldwide.</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002165"/>
                </a:solidFill>
                <a:latin typeface="Calibri"/>
              </a:rPr>
              <a:t>Investor Presentation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