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Notion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The AI workspace that works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Unifying teams and tools to redefine enterprise productivity.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Future of Work, Unified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Notion is building the AI-powered operating system for modern enterprises.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$600B+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Global Enterprise Software 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Massive &amp; Growing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Average SaaS Apps per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The Cost of Fragmentation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Trusted by Forbes Cloud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Unmatched Enterprise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Last Reported 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Demonstrated Market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In an era of unprecedented digital complexity, Notion delivers an integrated platform that eliminates tool sprawl and leverages AI to unlock unparalleled productivity, positioning us for massive market capture.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Productivity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Enterprises are drowning in tools, suffering from complexity, and lagging in AI adoption.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Tool Sprawl &amp; Cost Overload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$1M+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Average enterprise uses ~130 SaaS apps, leading to $250k-$1M+ annual cost in integration overhead and lost productivity for mid-market.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Inefficient Knowledge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20% Time 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Dispersed information across various platforms makes finding critical data difficult, wasting up to 20% of an employee's week.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Low AI Adoption &amp;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Only 12% Adopted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Despite growing demand, only 12% of companies have fully deployed AI solutions effectively into daily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Notion: The Integrated AI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Consolidating tools and empowering teams with intelligent automation.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Unified AI Workspace:</a:t>
            </a:r>
            <a:r>
              <a:rPr sz="1400" b="0">
                <a:solidFill>
                  <a:srgbClr val="9B8EC4"/>
                </a:solidFill>
                <a:latin typeface="Calibri"/>
              </a:rPr>
              <a:t> Deeply integrated AI agents for Q&amp;A, task routing, reporting, and custom automations, directly addressing low AI adoption.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Flexibility &amp; Customization:</a:t>
            </a:r>
            <a:r>
              <a:rPr sz="1400" b="0">
                <a:solidFill>
                  <a:srgbClr val="9B8EC4"/>
                </a:solidFill>
                <a:latin typeface="Calibri"/>
              </a:rPr>
              <a:t> Our adaptable 'Lego-block' architecture empowers users to build bespoke workflows and knowledge bases without coding, serving diverse business needs.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Comprehensive Platform:</a:t>
            </a:r>
            <a:r>
              <a:rPr sz="1400" b="0">
                <a:solidFill>
                  <a:srgbClr val="9B8EC4"/>
                </a:solidFill>
                <a:latin typeface="Calibri"/>
              </a:rPr>
              <a:t> Replaces fragmented point solutions – from team wikis and project management to basic CRM – into a single, intuitive environment, tackling tool sprawl head-on.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Superior User Experience:</a:t>
            </a:r>
            <a:r>
              <a:rPr sz="1400" b="0">
                <a:solidFill>
                  <a:srgbClr val="9B8EC4"/>
                </a:solidFill>
                <a:latin typeface="Calibri"/>
              </a:rPr>
              <a:t> A modern, clean interface designed for intuitive use, fostering higher user adoption and satisfaction compared to rigid enterprise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Your AI-Powered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Core capabilities transforming how teams work, every 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Intelligent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24/7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AI-powered Q&amp;A, task routing, and reporting agents automate repetitive work and provide instant answers from your internal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Unified 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All Tools, One 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Bring together team wikis, project management, CRM, and documents in one flexible, block-based platform, eliminating silos.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Custom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No-Code Customization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Easily create your own Custom Agent and build tailored solutions for any business need, from product feedback to security alerts.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A Trillion-Dollar Market Reshaped by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Notion is poised to capture significant share in enterprise productivity and collaboration.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$600B+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Global Enterprise Software 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Massive Overarching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Serviceable Addressable Market (SAM)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Mid-Market to Large Enterprise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13.8%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Collaboration Software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Strong Sector Growth (2024-2029)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Enterprises Increasing AI Investment by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Driving Demand for AI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The convergence of AI adoption, demand for tool consolidation, and the permanent shift to hybrid work creates a timely and significant market opportunity for Notion's integrated AI workspace.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Scalable SaaS with AI-Driven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Predictable recurring revenue with clear pathways for growth and monetization.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Tiered Subscriptions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Subscription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Our core SaaS model offers Free, 'Plus' at $8/user/month, 'Business' at $15/user/month, and custom 'Enterprise' plans for maximum feature set and support.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AI Usage Credits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Usage-based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Secondary revenue stream from usage-based AI add-on credits for advanced generative AI features, driving value from increased AI adoption.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Ecosystem Monetization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Future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Future potential from a Notion Certified Consultant Network and a vibrant Template Marketplace, enhancing platform stickiness and recurring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Proven Market Leadership &amp;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Scaling rapidly, Notion is trusted by the world's leading organizations.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30M+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Global User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Exceeded in 2023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Trusted by Forbes Cloud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Elite Enterprise Adoption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3x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Workflows Streamlined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Reduced Timelines (Customer Quote)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Last Reported 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Series C (Oct 2021)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Our rapid user growth, strong enterprise adoption, and significant funding history underscore Notion's position as a category leader.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Multi-Channel Growth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Reaching diverse customer segments and maximizing adoption efficiency.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82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Product-Led Growth (PLG):</a:t>
            </a:r>
            <a:r>
              <a:rPr sz="1400" b="0">
                <a:solidFill>
                  <a:srgbClr val="9B8EC4"/>
                </a:solidFill>
                <a:latin typeface="Calibri"/>
              </a:rPr>
              <a:t> Self-serve motions targeting SMBs and individual teams to drive initial adoption and organic expansion.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1518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Direct Enterprise Sales:</a:t>
            </a:r>
            <a:r>
              <a:rPr sz="1400" b="0">
                <a:solidFill>
                  <a:srgbClr val="9B8EC4"/>
                </a:solidFill>
                <a:latin typeface="Calibri"/>
              </a:rPr>
              <a:t> Focused on mid-market and large enterprises, leveraging our 'Forbes Cloud 100' credibility to address tool sprawl and AI integration mandates.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04825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Content &amp; Thought Leadership:</a:t>
            </a:r>
            <a:r>
              <a:rPr sz="1400" b="0">
                <a:solidFill>
                  <a:srgbClr val="9B8EC4"/>
                </a:solidFill>
                <a:latin typeface="Calibri"/>
              </a:rPr>
              <a:t> Positioning Notion as the future of work and a leader in AI-driven productivity through strategic content marketing.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615184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8716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/>
            </a:r>
            <a:r>
              <a:rPr sz="1400" b="1">
                <a:solidFill>
                  <a:srgbClr val="9B8EC4"/>
                </a:solidFill>
                <a:latin typeface="Calibri"/>
              </a:rPr>
              <a:t>Ecosystem Expansion:</a:t>
            </a:r>
            <a:r>
              <a:rPr sz="1400" b="0">
                <a:solidFill>
                  <a:srgbClr val="9B8EC4"/>
                </a:solidFill>
                <a:latin typeface="Calibri"/>
              </a:rPr>
              <a:t> Building a Notion Certified Consultant Network and Template Marketplace to enhance product stickiness and broaden use cases within existing customers.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Redefining the Productivity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Notion’s integrated AI workspace vs. fragmented incumbent suites.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Incumbent Suites &amp; Point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Complexity &amp;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Fragmented Tools:</a:t>
            </a:r>
            <a:r>
              <a:rPr sz="1300" b="0">
                <a:solidFill>
                  <a:srgbClr val="9B8EC4"/>
                </a:solidFill>
                <a:latin typeface="Calibri"/>
              </a:rPr>
              <a:t> Separate apps for project management, wiki, docs (e.g., Jira, Confluence, ClickUp, Asana).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Bolt-on AI:</a:t>
            </a:r>
            <a:r>
              <a:rPr sz="1300" b="0">
                <a:solidFill>
                  <a:srgbClr val="9B8EC4"/>
                </a:solidFill>
                <a:latin typeface="Calibri"/>
              </a:rPr>
              <a:t> AI features often added as extensions rather than being core to the platform's foundation.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Rigid Workflows:</a:t>
            </a:r>
            <a:r>
              <a:rPr sz="1300" b="0">
                <a:solidFill>
                  <a:srgbClr val="9B8EC4"/>
                </a:solidFill>
                <a:latin typeface="Calibri"/>
              </a:rPr>
              <a:t> Less flexibility for custom solutions, forcing companies into suboptimal processes.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Higher TCO:</a:t>
            </a:r>
            <a:r>
              <a:rPr sz="1300" b="0">
                <a:solidFill>
                  <a:srgbClr val="9B8EC4"/>
                </a:solidFill>
                <a:latin typeface="Calibri"/>
              </a:rPr>
              <a:t> Tool sprawl leads to hidden costs in licenses, integrations, and training.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A113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Notion: The Integrated AI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Simplicity &amp;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Unified AI Workspace:</a:t>
            </a:r>
            <a:r>
              <a:rPr sz="1300" b="0">
                <a:solidFill>
                  <a:srgbClr val="9B8EC4"/>
                </a:solidFill>
                <a:latin typeface="Calibri"/>
              </a:rPr>
              <a:t> All tools (wiki, PM, CRM, notes) powered by deeply integrated AI agents on one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Custom Agent Framework:</a:t>
            </a:r>
            <a:r>
              <a:rPr sz="1300" b="0">
                <a:solidFill>
                  <a:srgbClr val="9B8EC4"/>
                </a:solidFill>
                <a:latin typeface="Calibri"/>
              </a:rPr>
              <a:t> Build bespoke AI agents for any repetitive task without coding, driving true automation.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Unparalleled Flexibility:</a:t>
            </a:r>
            <a:r>
              <a:rPr sz="1300" b="0">
                <a:solidFill>
                  <a:srgbClr val="9B8EC4"/>
                </a:solidFill>
                <a:latin typeface="Calibri"/>
              </a:rPr>
              <a:t> Block-based architecture enables rapid customization for diverse workflows and knowledge management needs.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•  </a:t>
            </a:r>
            <a:r>
              <a:rPr sz="1300" b="1">
                <a:solidFill>
                  <a:srgbClr val="9B8EC4"/>
                </a:solidFill>
                <a:latin typeface="Calibri"/>
              </a:rPr>
              <a:t>High Switching Costs:</a:t>
            </a:r>
            <a:r>
              <a:rPr sz="1300" b="0">
                <a:solidFill>
                  <a:srgbClr val="9B8EC4"/>
                </a:solidFill>
                <a:latin typeface="Calibri"/>
              </a:rPr>
              <a:t> Core operations built within Notion create strong network effects and platform stickiness.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Visionary Leadership, Proven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A world-class team driving the future of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Ivan Zhao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Co-founder &amp; CEO. The visionary behind Notion's philosophy of customizable tools and intuitive design; leads product strategy and innovation to redefine productivity.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Simon Last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12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Co-founder &amp; CTO. Architect of Notion's flexible, block-based infrastructure and scalability; drives the core engineering and AI platform development.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Akshay Kothari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Chief Operating Officer. Veteran SaaS leader with a proven track record of scaling high-growth companies; responsible for GTM, operations, and global expansion.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Blake Bartlett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48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Board Member (Lightspeed). Renowned venture capitalist, known for investing in and advising category-defining SaaS companies like Notion.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Accelerating Towards Unprecedented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Strong revenue trajectory with predictable SaaS margins and clear drivers for expansion.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$450M - $550M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Conservative Y1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Moderate enterprise adoption &amp; SMB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$600M - $700M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Base Y2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Scaling AI agent monetization &amp; enterprise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$800M - $900M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Optimistic Y3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Aggressive market penetration &amp; leadership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A11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AI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8EC4"/>
                </a:solidFill>
                <a:latin typeface="Calibri"/>
              </a:rPr>
              <a:t>Primary Growth 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Expanding value &amp; monetization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8EC4"/>
                </a:solidFill>
                <a:latin typeface="Calibri"/>
              </a:rPr>
              <a:t>Notion's integrated platform and AI-driven value proposition are driving substantial revenue growth, capitalizing on market demand.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4E7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Join Us in Redefining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B8EC4"/>
                </a:solidFill>
                <a:latin typeface="Calibri"/>
              </a:rPr>
              <a:t>Seeking $200M-$300M to accelerate global expansion and AI innovation.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Investment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$200M-$300M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Securing $200M-$300M in late-stage private funding to solidify market leadership and scale operations globally.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AI R&amp;D Acceleration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Calibri"/>
              </a:rPr>
              <a:t>40% R&amp;D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40% allocated to R&amp;D for next-generation AI agents, predictive analytics, and platform scalability, maintaining our competitive edge.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Global Market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30% GTM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30% for aggressive international market penetration and strategic enterprise sales initiatives to capture underserved markets.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A1130"/>
          </a:solidFill>
          <a:ln w="12700">
            <a:solidFill>
              <a:srgbClr val="2A1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Talent &amp; Infrastructure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libri"/>
              </a:rPr>
              <a:t>30%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8EC4"/>
                </a:solidFill>
                <a:latin typeface="Calibri"/>
              </a:rPr>
              <a:t>30% for scaling our world-class team, strengthening operational infrastructure, and ensuring enterprise-grade security and compliance.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Notion: The AI Workspace That Works For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B8EC4"/>
                </a:solidFill>
                <a:latin typeface="Calibri"/>
              </a:rPr>
              <a:t>Empowering every team to build their future of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4E7A"/>
                </a:solidFill>
                <a:latin typeface="Calibri"/>
              </a:rPr>
              <a:t>Let's build the future of enterprise productivity,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C4E7A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