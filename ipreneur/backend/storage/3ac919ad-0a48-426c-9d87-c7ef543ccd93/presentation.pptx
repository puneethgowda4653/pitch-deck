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Stripe</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B8EC4"/>
                </a:solidFill>
                <a:latin typeface="Calibri"/>
              </a:rPr>
              <a:t>Financial infrastructure to grow your revenue.</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5C4E7A"/>
                </a:solidFill>
                <a:latin typeface="Calibri"/>
              </a:rPr>
              <a:t>Stripe is a financial services platform that helps all types of businesses accept payments, build flexible billing models and manage money movement. It provides financial infrastructure to grow revenue, offering flexible solutions for every business model from the first transaction to the billionth.</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The opportunity at a glance</a:t>
            </a:r>
          </a:p>
        </p:txBody>
      </p:sp>
      <p:sp>
        <p:nvSpPr>
          <p:cNvPr id="6" name="Rectangle 5"/>
          <p:cNvSpPr/>
          <p:nvPr/>
        </p:nvSpPr>
        <p:spPr>
          <a:xfrm>
            <a:off x="63230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$209.50B</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9B8EC4"/>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5C4E7A"/>
                </a:solidFill>
                <a:latin typeface="Calibri"/>
              </a:rPr>
              <a:t>Total global FinTech market (2024)</a:t>
            </a:r>
          </a:p>
        </p:txBody>
      </p:sp>
      <p:sp>
        <p:nvSpPr>
          <p:cNvPr id="10" name="Rectangle 9"/>
          <p:cNvSpPr/>
          <p:nvPr/>
        </p:nvSpPr>
        <p:spPr>
          <a:xfrm>
            <a:off x="342122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25.2% CAGR (2024–2032)</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Growth</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Projected 2024-2030</a:t>
            </a:r>
          </a:p>
        </p:txBody>
      </p:sp>
      <p:sp>
        <p:nvSpPr>
          <p:cNvPr id="14" name="Rectangle 13"/>
          <p:cNvSpPr/>
          <p:nvPr/>
        </p:nvSpPr>
        <p:spPr>
          <a:xfrm>
            <a:off x="621014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Early traction</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Customers</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Design partners signed</a:t>
            </a:r>
          </a:p>
        </p:txBody>
      </p:sp>
      <p:sp>
        <p:nvSpPr>
          <p:cNvPr id="18" name="Rectangle 17"/>
          <p:cNvSpPr/>
          <p:nvPr/>
        </p:nvSpPr>
        <p:spPr>
          <a:xfrm>
            <a:off x="899906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Seed / Series A</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9B8EC4"/>
                </a:solidFill>
                <a:latin typeface="Calibri"/>
              </a:rPr>
              <a:t>Stage</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5C4E7A"/>
                </a:solidFill>
                <a:latin typeface="Calibri"/>
              </a:rPr>
              <a:t>Raising now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PROBLEM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Problem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Pain points costing customers time and money</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Pain Point 1</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31323"/>
                </a:solidFill>
                <a:latin typeface="Calibri"/>
              </a:rPr>
              <a:t>High cost</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Fragmented Global Financial Infrastructure: Businesses face significant expenses, inefficiencies, and time consumption (est. 10-20% higher operational costs) in managing cross-border operations due to outdated and disparate global financial systems.</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Pain Point 2</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000000"/>
                </a:solidFill>
                <a:latin typeface="Calibri"/>
              </a:rPr>
              <a:t>Lost time</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Regulatory Compliance Burden: Navigating complex and evolving global financial regulations (e.g., KYC, AML, PCI DSS) poses a substantial operational and financial challenge for businesses, risking penalties and operational delays.</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Pain Point 3</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Poor outcomes</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Fraud and Security Risks: The constant threat of sophisticated online fraud and the imperative for robust 'zero-trust' security measures require substantial ongoing investment and expertise to protect customer data and transactions.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Stripe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Stripe is a financial services platform that helps all types of businesses accept payments, build flexible billing models and manage money movement. It provides financial infrastructure to grow revenue, offering flexible solutions for every business model from the first transaction to the billionth.</a:t>
            </a:r>
          </a:p>
        </p:txBody>
      </p:sp>
      <p:sp>
        <p:nvSpPr>
          <p:cNvPr id="6" name="Oval 5"/>
          <p:cNvSpPr/>
          <p:nvPr/>
        </p:nvSpPr>
        <p:spPr>
          <a:xfrm>
            <a:off x="731520" y="2048256"/>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20240"/>
            <a:ext cx="5010912" cy="512064"/>
          </a:xfrm>
          <a:prstGeom prst="rect">
            <a:avLst/>
          </a:prstGeom>
          <a:noFill/>
        </p:spPr>
        <p:txBody>
          <a:bodyPr wrap="square">
            <a:spAutoFit/>
          </a:bodyPr>
          <a:lstStyle/>
          <a:p>
            <a:pPr algn="l"/>
            <a:r>
              <a:rPr sz="1400" b="0">
                <a:solidFill>
                  <a:srgbClr val="9B8EC4"/>
                </a:solidFill>
                <a:latin typeface="Calibri"/>
              </a:rPr>
              <a:t>Developer-First Approach &amp; API Excellence: Industry-leading, well-documented APIs that attract developers and foster rapid, flexible integrations across diverse business models.</a:t>
            </a:r>
          </a:p>
        </p:txBody>
      </p:sp>
      <p:sp>
        <p:nvSpPr>
          <p:cNvPr id="8" name="Oval 7"/>
          <p:cNvSpPr/>
          <p:nvPr/>
        </p:nvSpPr>
        <p:spPr>
          <a:xfrm>
            <a:off x="731520" y="2615184"/>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87168"/>
            <a:ext cx="5010912" cy="512064"/>
          </a:xfrm>
          <a:prstGeom prst="rect">
            <a:avLst/>
          </a:prstGeom>
          <a:noFill/>
        </p:spPr>
        <p:txBody>
          <a:bodyPr wrap="square">
            <a:spAutoFit/>
          </a:bodyPr>
          <a:lstStyle/>
          <a:p>
            <a:pPr algn="l"/>
            <a:r>
              <a:rPr sz="1400" b="0">
                <a:solidFill>
                  <a:srgbClr val="9B8EC4"/>
                </a:solidFill>
                <a:latin typeface="Calibri"/>
              </a:rPr>
              <a:t>Comprehensive Product Suite: Offers a wide array of financial tools beyond core payments including billing, fraud prevention, tax, corporate cards, and treasury services (Revenue suite on track for $1B ARR).</a:t>
            </a:r>
          </a:p>
        </p:txBody>
      </p:sp>
      <p:sp>
        <p:nvSpPr>
          <p:cNvPr id="10" name="Oval 9"/>
          <p:cNvSpPr/>
          <p:nvPr/>
        </p:nvSpPr>
        <p:spPr>
          <a:xfrm>
            <a:off x="6400800" y="2048256"/>
            <a:ext cx="109728" cy="10972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5010912" cy="512064"/>
          </a:xfrm>
          <a:prstGeom prst="rect">
            <a:avLst/>
          </a:prstGeom>
          <a:noFill/>
        </p:spPr>
        <p:txBody>
          <a:bodyPr wrap="square">
            <a:spAutoFit/>
          </a:bodyPr>
          <a:lstStyle/>
          <a:p>
            <a:pPr algn="l"/>
            <a:r>
              <a:rPr sz="1400" b="0">
                <a:solidFill>
                  <a:srgbClr val="9B8EC4"/>
                </a:solidFill>
                <a:latin typeface="Calibri"/>
              </a:rPr>
              <a:t>Scalability &amp; Enterprise Adoption: Supports businesses from startups to large global enterprises, powering 90% of the Dow Jones Industrial Average and 80% of the Nasdaq 100.</a:t>
            </a:r>
          </a:p>
        </p:txBody>
      </p:sp>
      <p:sp>
        <p:nvSpPr>
          <p:cNvPr id="12" name="Oval 11"/>
          <p:cNvSpPr/>
          <p:nvPr/>
        </p:nvSpPr>
        <p:spPr>
          <a:xfrm>
            <a:off x="6400800" y="2615184"/>
            <a:ext cx="109728" cy="10972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2487168"/>
            <a:ext cx="5010912" cy="512064"/>
          </a:xfrm>
          <a:prstGeom prst="rect">
            <a:avLst/>
          </a:prstGeom>
          <a:noFill/>
        </p:spPr>
        <p:txBody>
          <a:bodyPr wrap="square">
            <a:spAutoFit/>
          </a:bodyPr>
          <a:lstStyle/>
          <a:p>
            <a:pPr algn="l"/>
            <a:r>
              <a:rPr sz="1400" b="0">
                <a:solidFill>
                  <a:srgbClr val="9B8EC4"/>
                </a:solidFill>
                <a:latin typeface="Calibri"/>
              </a:rPr>
              <a:t>Global Reach &amp; Local Payment Methods: Extensive global coverage supporting a vast array of payment methods and currencies, simplifying international expansion for businesses.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Product Highlights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Core capabilities that win customers</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Payments</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9B8EC4"/>
                </a:solidFill>
                <a:latin typeface="Calibri"/>
              </a:rPr>
              <a:t>Purpose-built capability</a:t>
            </a:r>
          </a:p>
        </p:txBody>
      </p:sp>
      <p:sp>
        <p:nvSpPr>
          <p:cNvPr id="10" name="Rectangle 9"/>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Terminal</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9B8EC4"/>
                </a:solidFill>
                <a:latin typeface="Calibri"/>
              </a:rPr>
              <a:t>Designed for ease of use</a:t>
            </a:r>
          </a:p>
        </p:txBody>
      </p:sp>
      <p:sp>
        <p:nvSpPr>
          <p:cNvPr id="14" name="Rectangle 13"/>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Connect</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9B8EC4"/>
                </a:solidFill>
                <a:latin typeface="Calibri"/>
              </a:rPr>
              <a:t>Built for fast adoption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$209.50 Billion global FinTech market (2024) — 25.2% CAGR (2024–2032)</a:t>
            </a:r>
          </a:p>
        </p:txBody>
      </p:sp>
      <p:sp>
        <p:nvSpPr>
          <p:cNvPr id="6" name="Rectangle 5"/>
          <p:cNvSpPr/>
          <p:nvPr/>
        </p:nvSpPr>
        <p:spPr>
          <a:xfrm>
            <a:off x="63230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$209.50B</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9B8EC4"/>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5C4E7A"/>
                </a:solidFill>
                <a:latin typeface="Calibri"/>
              </a:rPr>
              <a:t>Total global FinTech market (2024)</a:t>
            </a:r>
          </a:p>
        </p:txBody>
      </p:sp>
      <p:sp>
        <p:nvSpPr>
          <p:cNvPr id="10" name="Rectangle 9"/>
          <p:cNvSpPr/>
          <p:nvPr/>
        </p:nvSpPr>
        <p:spPr>
          <a:xfrm>
            <a:off x="342122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$150B</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SAM</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Serviceable market matching Stripe's ICP (Digital Payment Infrastructure &amp; Business Financial Services) (est. 2024)</a:t>
            </a:r>
          </a:p>
        </p:txBody>
      </p:sp>
      <p:sp>
        <p:nvSpPr>
          <p:cNvPr id="14" name="Rectangle 13"/>
          <p:cNvSpPr/>
          <p:nvPr/>
        </p:nvSpPr>
        <p:spPr>
          <a:xfrm>
            <a:off x="621014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$30.3B</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SOM (Y3)</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Realistic 3-year capture with current go-to-market (est. Stripe's projected revenue by 2027, based on 2025 ARR and market CAGR)</a:t>
            </a:r>
          </a:p>
        </p:txBody>
      </p:sp>
      <p:sp>
        <p:nvSpPr>
          <p:cNvPr id="18" name="Rectangle 17"/>
          <p:cNvSpPr/>
          <p:nvPr/>
        </p:nvSpPr>
        <p:spPr>
          <a:xfrm>
            <a:off x="899906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25.2% CAGR (2024–2032)</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9B8EC4"/>
                </a:solidFill>
                <a:latin typeface="Calibri"/>
              </a:rPr>
              <a:t>CAGR</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5C4E7A"/>
                </a:solidFill>
                <a:latin typeface="Calibri"/>
              </a:rPr>
              <a:t>Market growth rate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How we generate and grow revenue</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Subscription</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31323"/>
                </a:solidFill>
                <a:latin typeface="Calibri"/>
              </a:rPr>
              <a:t>Primary</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Transaction-based fees (e.g., 2.9% + $0.30 per successful card charge), complemented by usage-based and subscription models for advanced products like Billing, Fraud Prevention, and Treasury services.</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Services</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000000"/>
                </a:solidFill>
                <a:latin typeface="Calibri"/>
              </a:rPr>
              <a:t>Secondary</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Implementation and professional services</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Expansion</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Growth motion</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Land-and-expand within accounts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Traction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Early momentum and market validation</a:t>
            </a:r>
          </a:p>
        </p:txBody>
      </p:sp>
      <p:sp>
        <p:nvSpPr>
          <p:cNvPr id="6" name="Rectangle 5"/>
          <p:cNvSpPr/>
          <p:nvPr/>
        </p:nvSpPr>
        <p:spPr>
          <a:xfrm>
            <a:off x="342122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Growing</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Momentum</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Early customers engaged</a:t>
            </a:r>
          </a:p>
        </p:txBody>
      </p:sp>
      <p:sp>
        <p:nvSpPr>
          <p:cNvPr id="10" name="Rectangle 9"/>
          <p:cNvSpPr/>
          <p:nvPr/>
        </p:nvSpPr>
        <p:spPr>
          <a:xfrm>
            <a:off x="621014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25.2% CAGR (2024–2032)</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Growth</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Market tailwind</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First customers signed, design partners engaged, waitlist building.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GO TO MARKET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Go-to-Market Strategy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How we acquire, expand, and retain customers</a:t>
            </a:r>
          </a:p>
        </p:txBody>
      </p:sp>
      <p:sp>
        <p:nvSpPr>
          <p:cNvPr id="6" name="Oval 5"/>
          <p:cNvSpPr/>
          <p:nvPr/>
        </p:nvSpPr>
        <p:spPr>
          <a:xfrm>
            <a:off x="731520" y="2048256"/>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20240"/>
            <a:ext cx="5010912" cy="512064"/>
          </a:xfrm>
          <a:prstGeom prst="rect">
            <a:avLst/>
          </a:prstGeom>
          <a:noFill/>
        </p:spPr>
        <p:txBody>
          <a:bodyPr wrap="square">
            <a:spAutoFit/>
          </a:bodyPr>
          <a:lstStyle/>
          <a:p>
            <a:pPr algn="l"/>
            <a:r>
              <a:rPr sz="1400" b="0">
                <a:solidFill>
                  <a:srgbClr val="9B8EC4"/>
                </a:solidFill>
                <a:latin typeface="Calibri"/>
              </a:rPr>
              <a:t>Direct outbound targeting VP-level buyers in key verticals</a:t>
            </a:r>
          </a:p>
        </p:txBody>
      </p:sp>
      <p:sp>
        <p:nvSpPr>
          <p:cNvPr id="8" name="Oval 7"/>
          <p:cNvSpPr/>
          <p:nvPr/>
        </p:nvSpPr>
        <p:spPr>
          <a:xfrm>
            <a:off x="731520" y="2615184"/>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87168"/>
            <a:ext cx="5010912" cy="512064"/>
          </a:xfrm>
          <a:prstGeom prst="rect">
            <a:avLst/>
          </a:prstGeom>
          <a:noFill/>
        </p:spPr>
        <p:txBody>
          <a:bodyPr wrap="square">
            <a:spAutoFit/>
          </a:bodyPr>
          <a:lstStyle/>
          <a:p>
            <a:pPr algn="l"/>
            <a:r>
              <a:rPr sz="1400" b="0">
                <a:solidFill>
                  <a:srgbClr val="9B8EC4"/>
                </a:solidFill>
                <a:latin typeface="Calibri"/>
              </a:rPr>
              <a:t>Content marketing and SEO to capture inbound demand</a:t>
            </a:r>
          </a:p>
        </p:txBody>
      </p:sp>
      <p:sp>
        <p:nvSpPr>
          <p:cNvPr id="10" name="Oval 9"/>
          <p:cNvSpPr/>
          <p:nvPr/>
        </p:nvSpPr>
        <p:spPr>
          <a:xfrm>
            <a:off x="6400800" y="2048256"/>
            <a:ext cx="109728" cy="10972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5010912" cy="512064"/>
          </a:xfrm>
          <a:prstGeom prst="rect">
            <a:avLst/>
          </a:prstGeom>
          <a:noFill/>
        </p:spPr>
        <p:txBody>
          <a:bodyPr wrap="square">
            <a:spAutoFit/>
          </a:bodyPr>
          <a:lstStyle/>
          <a:p>
            <a:pPr algn="l"/>
            <a:r>
              <a:rPr sz="1400" b="0">
                <a:solidFill>
                  <a:srgbClr val="9B8EC4"/>
                </a:solidFill>
                <a:latin typeface="Calibri"/>
              </a:rPr>
              <a:t>Strategic partnerships with complementary tools</a:t>
            </a:r>
          </a:p>
        </p:txBody>
      </p:sp>
      <p:sp>
        <p:nvSpPr>
          <p:cNvPr id="12" name="Oval 11"/>
          <p:cNvSpPr/>
          <p:nvPr/>
        </p:nvSpPr>
        <p:spPr>
          <a:xfrm>
            <a:off x="6400800" y="2615184"/>
            <a:ext cx="109728" cy="10972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2487168"/>
            <a:ext cx="5010912" cy="512064"/>
          </a:xfrm>
          <a:prstGeom prst="rect">
            <a:avLst/>
          </a:prstGeom>
          <a:noFill/>
        </p:spPr>
        <p:txBody>
          <a:bodyPr wrap="square">
            <a:spAutoFit/>
          </a:bodyPr>
          <a:lstStyle/>
          <a:p>
            <a:pPr algn="l"/>
            <a:r>
              <a:rPr sz="1400" b="0">
                <a:solidFill>
                  <a:srgbClr val="9B8EC4"/>
                </a:solidFill>
                <a:latin typeface="Calibri"/>
              </a:rPr>
              <a:t>Land-and-expand to grow within accounts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Why we win against alternatives</a:t>
            </a:r>
          </a:p>
        </p:txBody>
      </p:sp>
      <p:sp>
        <p:nvSpPr>
          <p:cNvPr id="6" name="Rectangle 5"/>
          <p:cNvSpPr/>
          <p:nvPr/>
        </p:nvSpPr>
        <p:spPr>
          <a:xfrm>
            <a:off x="640080" y="1737360"/>
            <a:ext cx="5303520" cy="411480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F5F3FF"/>
                </a:solidFill>
                <a:latin typeface="Calibri"/>
              </a:rPr>
              <a:t>Stripe</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031323"/>
                </a:solidFill>
                <a:latin typeface="Calibri"/>
              </a:rPr>
              <a:t>Purpose-built &amp; modern</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9B8EC4"/>
                </a:solidFill>
                <a:latin typeface="Calibri"/>
              </a:rPr>
              <a:t>•  Developer-First Approach &amp; API Excellence: Industry-leading, well-documented APIs that attract developers and foster rapid, flexible integrations across diverse business models.</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9B8EC4"/>
                </a:solidFill>
                <a:latin typeface="Calibri"/>
              </a:rPr>
              <a:t>•  Comprehensive Product Suite: Offers a wide array of financial tools beyond core payments including billing, fraud prevention, tax, corporate cards, and treasury services (Revenue suite on track for $1B ARR).</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9B8EC4"/>
                </a:solidFill>
                <a:latin typeface="Calibri"/>
              </a:rPr>
              <a:t>•  Scalability &amp; Enterprise Adoption: Supports businesses from startups to large global enterprises, powering 90% of the Dow Jones Industrial Average and 80% of the Nasdaq 100.</a:t>
            </a:r>
          </a:p>
        </p:txBody>
      </p:sp>
      <p:sp>
        <p:nvSpPr>
          <p:cNvPr id="13" name="Rectangle 12"/>
          <p:cNvSpPr/>
          <p:nvPr/>
        </p:nvSpPr>
        <p:spPr>
          <a:xfrm>
            <a:off x="6400800" y="1737360"/>
            <a:ext cx="5303520" cy="4114800"/>
          </a:xfrm>
          <a:prstGeom prst="rect">
            <a:avLst/>
          </a:prstGeom>
          <a:solidFill>
            <a:srgbClr val="1A11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737360"/>
            <a:ext cx="5303520"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920240"/>
            <a:ext cx="4937760" cy="502920"/>
          </a:xfrm>
          <a:prstGeom prst="rect">
            <a:avLst/>
          </a:prstGeom>
          <a:noFill/>
        </p:spPr>
        <p:txBody>
          <a:bodyPr wrap="square">
            <a:spAutoFit/>
          </a:bodyPr>
          <a:lstStyle/>
          <a:p>
            <a:pPr algn="l"/>
            <a:r>
              <a:rPr sz="1800" b="1">
                <a:solidFill>
                  <a:srgbClr val="F5F3FF"/>
                </a:solidFill>
                <a:latin typeface="Calibri"/>
              </a:rPr>
              <a:t>Existing Solutions</a:t>
            </a:r>
          </a:p>
        </p:txBody>
      </p:sp>
      <p:sp>
        <p:nvSpPr>
          <p:cNvPr id="16" name="TextBox 15"/>
          <p:cNvSpPr txBox="1"/>
          <p:nvPr/>
        </p:nvSpPr>
        <p:spPr>
          <a:xfrm>
            <a:off x="6583680" y="2468880"/>
            <a:ext cx="4937760" cy="502920"/>
          </a:xfrm>
          <a:prstGeom prst="rect">
            <a:avLst/>
          </a:prstGeom>
          <a:noFill/>
        </p:spPr>
        <p:txBody>
          <a:bodyPr wrap="square">
            <a:spAutoFit/>
          </a:bodyPr>
          <a:lstStyle/>
          <a:p>
            <a:pPr algn="l"/>
            <a:r>
              <a:rPr sz="2400" b="1">
                <a:solidFill>
                  <a:srgbClr val="000000"/>
                </a:solidFill>
                <a:latin typeface="Calibri"/>
              </a:rPr>
              <a:t>Legacy &amp; fragmented</a:t>
            </a:r>
          </a:p>
        </p:txBody>
      </p:sp>
      <p:sp>
        <p:nvSpPr>
          <p:cNvPr id="17" name="TextBox 16"/>
          <p:cNvSpPr txBox="1"/>
          <p:nvPr/>
        </p:nvSpPr>
        <p:spPr>
          <a:xfrm>
            <a:off x="6675120" y="3017520"/>
            <a:ext cx="4846320" cy="438912"/>
          </a:xfrm>
          <a:prstGeom prst="rect">
            <a:avLst/>
          </a:prstGeom>
          <a:noFill/>
        </p:spPr>
        <p:txBody>
          <a:bodyPr wrap="square">
            <a:spAutoFit/>
          </a:bodyPr>
          <a:lstStyle/>
          <a:p>
            <a:pPr algn="l"/>
            <a:r>
              <a:rPr sz="1300" b="0">
                <a:solidFill>
                  <a:srgbClr val="9B8EC4"/>
                </a:solidFill>
                <a:latin typeface="Calibri"/>
              </a:rPr>
              <a:t>•  PayPal Holdings Inc.: Often perceived as less developer-friendly for complex integrations, higher transaction fees for some merchant types, legacy infrastructure, less flexible for novel business models.</a:t>
            </a:r>
          </a:p>
        </p:txBody>
      </p:sp>
      <p:sp>
        <p:nvSpPr>
          <p:cNvPr id="18" name="TextBox 17"/>
          <p:cNvSpPr txBox="1"/>
          <p:nvPr/>
        </p:nvSpPr>
        <p:spPr>
          <a:xfrm>
            <a:off x="6675120" y="3456432"/>
            <a:ext cx="4846320" cy="438912"/>
          </a:xfrm>
          <a:prstGeom prst="rect">
            <a:avLst/>
          </a:prstGeom>
          <a:noFill/>
        </p:spPr>
        <p:txBody>
          <a:bodyPr wrap="square">
            <a:spAutoFit/>
          </a:bodyPr>
          <a:lstStyle/>
          <a:p>
            <a:pPr algn="l"/>
            <a:r>
              <a:rPr sz="1300" b="0">
                <a:solidFill>
                  <a:srgbClr val="9B8EC4"/>
                </a:solidFill>
                <a:latin typeface="Calibri"/>
              </a:rPr>
              <a:t>•  Adyen N.V.: Less tailored for small businesses, higher entry barriers/complexity for smaller merchants, less widely known among general consumers.</a:t>
            </a:r>
          </a:p>
        </p:txBody>
      </p:sp>
      <p:sp>
        <p:nvSpPr>
          <p:cNvPr id="19" name="TextBox 18"/>
          <p:cNvSpPr txBox="1"/>
          <p:nvPr/>
        </p:nvSpPr>
        <p:spPr>
          <a:xfrm>
            <a:off x="6675120" y="3895344"/>
            <a:ext cx="4846320" cy="438912"/>
          </a:xfrm>
          <a:prstGeom prst="rect">
            <a:avLst/>
          </a:prstGeom>
          <a:noFill/>
        </p:spPr>
        <p:txBody>
          <a:bodyPr wrap="square">
            <a:spAutoFit/>
          </a:bodyPr>
          <a:lstStyle/>
          <a:p>
            <a:pPr algn="l"/>
            <a:r>
              <a:rPr sz="1300" b="0">
                <a:solidFill>
                  <a:srgbClr val="9B8EC4"/>
                </a:solidFill>
                <a:latin typeface="Calibri"/>
              </a:rPr>
              <a:t>•  Block (Square): Less robust for large enterprises with complex international or diverse business model needs, higher fees for high-volume merchants, less developer-centric for pure online/platform plays.</a:t>
            </a:r>
          </a:p>
        </p:txBody>
      </p:sp>
      <p:sp>
        <p:nvSpPr>
          <p:cNvPr id="20" name="Rectangle 19"/>
          <p:cNvSpPr/>
          <p:nvPr/>
        </p:nvSpPr>
        <p:spPr>
          <a:xfrm>
            <a:off x="6144768" y="2011680"/>
            <a:ext cx="27432" cy="3566160"/>
          </a:xfrm>
          <a:prstGeom prst="rect">
            <a:avLst/>
          </a:prstGeom>
          <a:solidFill>
            <a:srgbClr val="2A1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Domain expertise meets execution track record</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Founder &amp; CEO</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9B8EC4"/>
                </a:solidFill>
                <a:latin typeface="Calibri"/>
              </a:rPr>
              <a:t>Experienced founder with deep domain expertise in the industry</a:t>
            </a:r>
          </a:p>
        </p:txBody>
      </p:sp>
      <p:sp>
        <p:nvSpPr>
          <p:cNvPr id="10" name="Rectangle 9"/>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Head of Product</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9B8EC4"/>
                </a:solidFill>
                <a:latin typeface="Calibri"/>
              </a:rPr>
              <a:t>Product leader with a track record of shipping customer-loved software</a:t>
            </a:r>
          </a:p>
        </p:txBody>
      </p:sp>
      <p:sp>
        <p:nvSpPr>
          <p:cNvPr id="14" name="Rectangle 13"/>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Head of Sales</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9B8EC4"/>
                </a:solidFill>
                <a:latin typeface="Calibri"/>
              </a:rPr>
              <a:t>Enterprise sales leader with experience scaling ARR from 0 to $10M+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Financial Projections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Path to scale with clear milestones</a:t>
            </a:r>
          </a:p>
        </p:txBody>
      </p:sp>
      <p:sp>
        <p:nvSpPr>
          <p:cNvPr id="6" name="Rectangle 5"/>
          <p:cNvSpPr/>
          <p:nvPr/>
        </p:nvSpPr>
        <p:spPr>
          <a:xfrm>
            <a:off x="202676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3927" y="2331720"/>
            <a:ext cx="2286000" cy="914400"/>
          </a:xfrm>
          <a:prstGeom prst="rect">
            <a:avLst/>
          </a:prstGeom>
          <a:noFill/>
        </p:spPr>
        <p:txBody>
          <a:bodyPr wrap="square">
            <a:spAutoFit/>
          </a:bodyPr>
          <a:lstStyle/>
          <a:p>
            <a:pPr algn="ctr"/>
            <a:r>
              <a:rPr sz="3400" b="1">
                <a:solidFill>
                  <a:srgbClr val="F5F3FF"/>
                </a:solidFill>
                <a:latin typeface="Calibri"/>
              </a:rPr>
              <a:t>$500K</a:t>
            </a:r>
          </a:p>
        </p:txBody>
      </p:sp>
      <p:sp>
        <p:nvSpPr>
          <p:cNvPr id="8" name="TextBox 7"/>
          <p:cNvSpPr txBox="1"/>
          <p:nvPr/>
        </p:nvSpPr>
        <p:spPr>
          <a:xfrm>
            <a:off x="2163927" y="3246120"/>
            <a:ext cx="2286000" cy="411480"/>
          </a:xfrm>
          <a:prstGeom prst="rect">
            <a:avLst/>
          </a:prstGeom>
          <a:noFill/>
        </p:spPr>
        <p:txBody>
          <a:bodyPr wrap="square">
            <a:spAutoFit/>
          </a:bodyPr>
          <a:lstStyle/>
          <a:p>
            <a:pPr algn="ctr"/>
            <a:r>
              <a:rPr sz="1200" b="0">
                <a:solidFill>
                  <a:srgbClr val="9B8EC4"/>
                </a:solidFill>
                <a:latin typeface="Calibri"/>
              </a:rPr>
              <a:t>Conservative Y1</a:t>
            </a:r>
          </a:p>
        </p:txBody>
      </p:sp>
      <p:sp>
        <p:nvSpPr>
          <p:cNvPr id="9" name="TextBox 8"/>
          <p:cNvSpPr txBox="1"/>
          <p:nvPr/>
        </p:nvSpPr>
        <p:spPr>
          <a:xfrm>
            <a:off x="2118207" y="3657600"/>
            <a:ext cx="2377440" cy="457200"/>
          </a:xfrm>
          <a:prstGeom prst="rect">
            <a:avLst/>
          </a:prstGeom>
          <a:noFill/>
        </p:spPr>
        <p:txBody>
          <a:bodyPr wrap="square">
            <a:spAutoFit/>
          </a:bodyPr>
          <a:lstStyle/>
          <a:p>
            <a:pPr algn="ctr"/>
            <a:r>
              <a:rPr sz="1000" b="0">
                <a:solidFill>
                  <a:srgbClr val="5C4E7A"/>
                </a:solidFill>
                <a:latin typeface="Calibri"/>
              </a:rPr>
              <a:t>50 customers at $10K ACV</a:t>
            </a:r>
          </a:p>
        </p:txBody>
      </p:sp>
      <p:sp>
        <p:nvSpPr>
          <p:cNvPr id="10" name="Rectangle 9"/>
          <p:cNvSpPr/>
          <p:nvPr/>
        </p:nvSpPr>
        <p:spPr>
          <a:xfrm>
            <a:off x="481568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2847" y="2331720"/>
            <a:ext cx="2286000" cy="914400"/>
          </a:xfrm>
          <a:prstGeom prst="rect">
            <a:avLst/>
          </a:prstGeom>
          <a:noFill/>
        </p:spPr>
        <p:txBody>
          <a:bodyPr wrap="square">
            <a:spAutoFit/>
          </a:bodyPr>
          <a:lstStyle/>
          <a:p>
            <a:pPr algn="ctr"/>
            <a:r>
              <a:rPr sz="3400" b="1">
                <a:solidFill>
                  <a:srgbClr val="F5F3FF"/>
                </a:solidFill>
                <a:latin typeface="Calibri"/>
              </a:rPr>
              <a:t>$2M</a:t>
            </a:r>
          </a:p>
        </p:txBody>
      </p:sp>
      <p:sp>
        <p:nvSpPr>
          <p:cNvPr id="12" name="TextBox 11"/>
          <p:cNvSpPr txBox="1"/>
          <p:nvPr/>
        </p:nvSpPr>
        <p:spPr>
          <a:xfrm>
            <a:off x="4952847" y="3246120"/>
            <a:ext cx="2286000" cy="411480"/>
          </a:xfrm>
          <a:prstGeom prst="rect">
            <a:avLst/>
          </a:prstGeom>
          <a:noFill/>
        </p:spPr>
        <p:txBody>
          <a:bodyPr wrap="square">
            <a:spAutoFit/>
          </a:bodyPr>
          <a:lstStyle/>
          <a:p>
            <a:pPr algn="ctr"/>
            <a:r>
              <a:rPr sz="1200" b="0">
                <a:solidFill>
                  <a:srgbClr val="9B8EC4"/>
                </a:solidFill>
                <a:latin typeface="Calibri"/>
              </a:rPr>
              <a:t>Base Y2</a:t>
            </a:r>
          </a:p>
        </p:txBody>
      </p:sp>
      <p:sp>
        <p:nvSpPr>
          <p:cNvPr id="13" name="TextBox 12"/>
          <p:cNvSpPr txBox="1"/>
          <p:nvPr/>
        </p:nvSpPr>
        <p:spPr>
          <a:xfrm>
            <a:off x="4907127" y="3657600"/>
            <a:ext cx="2377440" cy="457200"/>
          </a:xfrm>
          <a:prstGeom prst="rect">
            <a:avLst/>
          </a:prstGeom>
          <a:noFill/>
        </p:spPr>
        <p:txBody>
          <a:bodyPr wrap="square">
            <a:spAutoFit/>
          </a:bodyPr>
          <a:lstStyle/>
          <a:p>
            <a:pPr algn="ctr"/>
            <a:r>
              <a:rPr sz="1000" b="0">
                <a:solidFill>
                  <a:srgbClr val="5C4E7A"/>
                </a:solidFill>
                <a:latin typeface="Calibri"/>
              </a:rPr>
              <a:t>150 customers, expanding ACV</a:t>
            </a:r>
          </a:p>
        </p:txBody>
      </p:sp>
      <p:sp>
        <p:nvSpPr>
          <p:cNvPr id="14" name="Rectangle 13"/>
          <p:cNvSpPr/>
          <p:nvPr/>
        </p:nvSpPr>
        <p:spPr>
          <a:xfrm>
            <a:off x="760460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1767" y="2331720"/>
            <a:ext cx="2286000" cy="914400"/>
          </a:xfrm>
          <a:prstGeom prst="rect">
            <a:avLst/>
          </a:prstGeom>
          <a:noFill/>
        </p:spPr>
        <p:txBody>
          <a:bodyPr wrap="square">
            <a:spAutoFit/>
          </a:bodyPr>
          <a:lstStyle/>
          <a:p>
            <a:pPr algn="ctr"/>
            <a:r>
              <a:rPr sz="3400" b="1">
                <a:solidFill>
                  <a:srgbClr val="F5F3FF"/>
                </a:solidFill>
                <a:latin typeface="Calibri"/>
              </a:rPr>
              <a:t>$8M</a:t>
            </a:r>
          </a:p>
        </p:txBody>
      </p:sp>
      <p:sp>
        <p:nvSpPr>
          <p:cNvPr id="16" name="TextBox 15"/>
          <p:cNvSpPr txBox="1"/>
          <p:nvPr/>
        </p:nvSpPr>
        <p:spPr>
          <a:xfrm>
            <a:off x="7741767" y="3246120"/>
            <a:ext cx="2286000" cy="411480"/>
          </a:xfrm>
          <a:prstGeom prst="rect">
            <a:avLst/>
          </a:prstGeom>
          <a:noFill/>
        </p:spPr>
        <p:txBody>
          <a:bodyPr wrap="square">
            <a:spAutoFit/>
          </a:bodyPr>
          <a:lstStyle/>
          <a:p>
            <a:pPr algn="ctr"/>
            <a:r>
              <a:rPr sz="1200" b="0">
                <a:solidFill>
                  <a:srgbClr val="9B8EC4"/>
                </a:solidFill>
                <a:latin typeface="Calibri"/>
              </a:rPr>
              <a:t>Optimistic Y3</a:t>
            </a:r>
          </a:p>
        </p:txBody>
      </p:sp>
      <p:sp>
        <p:nvSpPr>
          <p:cNvPr id="17" name="TextBox 16"/>
          <p:cNvSpPr txBox="1"/>
          <p:nvPr/>
        </p:nvSpPr>
        <p:spPr>
          <a:xfrm>
            <a:off x="7696047" y="3657600"/>
            <a:ext cx="2377440" cy="457200"/>
          </a:xfrm>
          <a:prstGeom prst="rect">
            <a:avLst/>
          </a:prstGeom>
          <a:noFill/>
        </p:spPr>
        <p:txBody>
          <a:bodyPr wrap="square">
            <a:spAutoFit/>
          </a:bodyPr>
          <a:lstStyle/>
          <a:p>
            <a:pPr algn="ctr"/>
            <a:r>
              <a:rPr sz="1000" b="0">
                <a:solidFill>
                  <a:srgbClr val="5C4E7A"/>
                </a:solidFill>
                <a:latin typeface="Calibri"/>
              </a:rPr>
              <a:t>Enterprise expansion + new verticals</a:t>
            </a:r>
          </a:p>
        </p:txBody>
      </p:sp>
      <p:sp>
        <p:nvSpPr>
          <p:cNvPr id="18" name="TextBox 17"/>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Assumptions: SaaS subscription model, land-and-expand motion, CAC payback &lt; 12 months.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Investment to reach the next milestone</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Product</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31323"/>
                </a:solidFill>
                <a:latin typeface="Calibri"/>
              </a:rPr>
              <a:t>40%</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Expand engineering team, accelerate roadmap, build enterprise features</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Go-to-Market</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000000"/>
                </a:solidFill>
                <a:latin typeface="Calibri"/>
              </a:rPr>
              <a:t>40%</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Hire first sales reps, launch demand gen programs, close anchor customers</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Operations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20%</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Build customer success team, scale infrastructure, strengthen ops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Stripe is building the leading platform for FinTech</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B8EC4"/>
                </a:solidFill>
                <a:latin typeface="Calibri"/>
              </a:rPr>
              <a:t>Join us in building the category leader.</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5C4E7A"/>
                </a:solidFill>
                <a:latin typeface="Calibri"/>
              </a:rPr>
              <a:t>Contact us • Stripe</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