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40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5F3FF"/>
                </a:solidFill>
                <a:latin typeface="Calibri"/>
              </a:rPr>
              <a:t>swiggy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63093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1C51"/>
                </a:solidFill>
                <a:latin typeface="Calibri"/>
              </a:rPr>
              <a:t>Investor Presentation  •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1C51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08DC2"/>
                </a:solidFill>
                <a:latin typeface="Calibri"/>
              </a:rPr>
              <a:t>swiggy is a Technology platform — in a Large and growing Technology market market growing at Strong double-digit CAGR.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2307" y="2103120"/>
            <a:ext cx="2560320" cy="2194560"/>
          </a:xfrm>
          <a:prstGeom prst="rect">
            <a:avLst/>
          </a:prstGeom>
          <a:solidFill>
            <a:srgbClr val="120E1E"/>
          </a:solidFill>
          <a:ln w="19050">
            <a:solidFill>
              <a:srgbClr val="2540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946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Large market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46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08DC2"/>
                </a:solidFill>
                <a:latin typeface="Calibri"/>
              </a:rPr>
              <a:t>TAM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74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1C51"/>
                </a:solidFill>
                <a:latin typeface="Calibri"/>
              </a:rPr>
              <a:t>Total Technology market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1227" y="2103120"/>
            <a:ext cx="2560320" cy="2194560"/>
          </a:xfrm>
          <a:prstGeom prst="rect">
            <a:avLst/>
          </a:prstGeom>
          <a:solidFill>
            <a:srgbClr val="120E1E"/>
          </a:solidFill>
          <a:ln w="19050">
            <a:solidFill>
              <a:srgbClr val="7B2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838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Strong double-digit CAGR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838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08DC2"/>
                </a:solidFill>
                <a:latin typeface="Calibri"/>
              </a:rPr>
              <a:t>CAGR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266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1C51"/>
                </a:solidFill>
                <a:latin typeface="Calibri"/>
              </a:rPr>
              <a:t>2024–2030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2103120"/>
            <a:ext cx="2560320" cy="2194560"/>
          </a:xfrm>
          <a:prstGeom prst="rect">
            <a:avLst/>
          </a:prstGeom>
          <a:solidFill>
            <a:srgbClr val="120E1E"/>
          </a:solidFill>
          <a:ln w="19050">
            <a:solidFill>
              <a:srgbClr val="503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730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Seed stage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08DC2"/>
                </a:solidFill>
                <a:latin typeface="Calibri"/>
              </a:rPr>
              <a:t>Valuation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158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1C51"/>
                </a:solidFill>
                <a:latin typeface="Calibri"/>
              </a:rPr>
              <a:t>Early stage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99067" y="2103120"/>
            <a:ext cx="2560320" cy="2194560"/>
          </a:xfrm>
          <a:prstGeom prst="rect">
            <a:avLst/>
          </a:prstGeom>
          <a:solidFill>
            <a:srgbClr val="120E1E"/>
          </a:solidFill>
          <a:ln w="19050">
            <a:solidFill>
              <a:srgbClr val="5B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622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Launching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622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08DC2"/>
                </a:solidFill>
                <a:latin typeface="Calibri"/>
              </a:rPr>
              <a:t>Operations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050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1C51"/>
                </a:solidFill>
                <a:latin typeface="Calibri"/>
              </a:rPr>
              <a:t>Growing 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08DC2"/>
                </a:solidFill>
                <a:latin typeface="Calibri"/>
              </a:rPr>
              <a:t>swiggy builds purpose-built solutions for Technology. The convergence of affordable AI infrastructure and widespread cloud adoption has created a window for swiggy to displace entrenched legacy vendors in the Technology market — a transition that was cost-prohibitive just 3 years ago. Seed stage.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1C51"/>
                </a:solidFill>
                <a:latin typeface="Calibri"/>
              </a:rP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Market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08DC2"/>
                </a:solidFill>
                <a:latin typeface="Calibri"/>
              </a:rPr>
              <a:t>The Technology market is at an inflection point — Large and growing Technology market and accelerating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32307" y="2103120"/>
            <a:ext cx="2560320" cy="2194560"/>
          </a:xfrm>
          <a:prstGeom prst="rect">
            <a:avLst/>
          </a:prstGeom>
          <a:solidFill>
            <a:srgbClr val="120E1E"/>
          </a:solidFill>
          <a:ln w="19050">
            <a:solidFill>
              <a:srgbClr val="2540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946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Large market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46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08DC2"/>
                </a:solidFill>
                <a:latin typeface="Calibri"/>
              </a:rPr>
              <a:t>TAM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74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1C51"/>
                </a:solidFill>
                <a:latin typeface="Calibri"/>
              </a:rPr>
              <a:t>Total Technology market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1227" y="2103120"/>
            <a:ext cx="2560320" cy="2194560"/>
          </a:xfrm>
          <a:prstGeom prst="rect">
            <a:avLst/>
          </a:prstGeom>
          <a:solidFill>
            <a:srgbClr val="120E1E"/>
          </a:solidFill>
          <a:ln w="19050">
            <a:solidFill>
              <a:srgbClr val="7B2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838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Significant SAM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838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08DC2"/>
                </a:solidFill>
                <a:latin typeface="Calibri"/>
              </a:rPr>
              <a:t>SAM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266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1C51"/>
                </a:solidFill>
                <a:latin typeface="Calibri"/>
              </a:rPr>
              <a:t>Serviceable addressable market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2103120"/>
            <a:ext cx="2560320" cy="2194560"/>
          </a:xfrm>
          <a:prstGeom prst="rect">
            <a:avLst/>
          </a:prstGeom>
          <a:solidFill>
            <a:srgbClr val="120E1E"/>
          </a:solidFill>
          <a:ln w="19050">
            <a:solidFill>
              <a:srgbClr val="503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730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Achievable SOM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08DC2"/>
                </a:solidFill>
                <a:latin typeface="Calibri"/>
              </a:rPr>
              <a:t>SOM (Y3)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158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1C51"/>
                </a:solidFill>
                <a:latin typeface="Calibri"/>
              </a:rPr>
              <a:t>3-year capture target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99067" y="2103120"/>
            <a:ext cx="2560320" cy="2194560"/>
          </a:xfrm>
          <a:prstGeom prst="rect">
            <a:avLst/>
          </a:prstGeom>
          <a:solidFill>
            <a:srgbClr val="120E1E"/>
          </a:solidFill>
          <a:ln w="19050">
            <a:solidFill>
              <a:srgbClr val="5B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622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Strong double-digit CAGR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622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08DC2"/>
                </a:solidFill>
                <a:latin typeface="Calibri"/>
              </a:rPr>
              <a:t>CAGR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050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1C51"/>
                </a:solidFill>
                <a:latin typeface="Calibri"/>
              </a:rPr>
              <a:t>2024–2030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08DC2"/>
                </a:solidFill>
                <a:latin typeface="Calibri"/>
              </a:rPr>
              <a:t>The Technology market is undergoing rapid transformation driven by digital adoption and AI integration. Companies in this space face mounting pressure to modernize legacy workflows, creating significant demand for purpose-built solutions. swiggy is positioned at the center of this shift. The convergence of affordable AI infrastructure and widespread cloud adoption has created a window for swiggy to displace entrenched legacy vendors in the Technology market — a transition that was cost-prohibitive just 3 years ago.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3949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›  Digital transformation accelerating across Technology — 70%+ of enterprises increasing tech spend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8064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›  AI and automation unlocking new efficiency gains previously unavailable to this sector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›  Shift from fragmented point solutions to integrated platforms reducing total cost of ownership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1C51"/>
                </a:solidFill>
                <a:latin typeface="Calibri"/>
              </a:rP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Technology Has a Critical Unsolved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08DC2"/>
                </a:solidFill>
                <a:latin typeface="Calibri"/>
              </a:rPr>
              <a:t>Buyers are losing time and money to an outdated status quo.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08DC2"/>
                </a:solidFill>
                <a:latin typeface="Calibri"/>
              </a:rPr>
              <a:t>High costs of existing fragmented tooling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825496"/>
            <a:ext cx="109728" cy="109728"/>
          </a:xfrm>
          <a:prstGeom prst="ellipse">
            <a:avLst/>
          </a:prstGeom>
          <a:solidFill>
            <a:srgbClr val="2540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697480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08DC2"/>
                </a:solidFill>
                <a:latin typeface="Calibri"/>
              </a:rPr>
              <a:t/>
            </a:r>
            <a:r>
              <a:rPr sz="1400" b="1">
                <a:solidFill>
                  <a:srgbClr val="808DC2"/>
                </a:solidFill>
                <a:latin typeface="Calibri"/>
              </a:rPr>
              <a:t>Pain:</a:t>
            </a:r>
            <a:r>
              <a:rPr sz="1400" b="0">
                <a:solidFill>
                  <a:srgbClr val="808DC2"/>
                </a:solidFill>
                <a:latin typeface="Calibri"/>
              </a:rPr>
              <a:t> High costs of existing fragmented tooling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392424"/>
            <a:ext cx="109728" cy="109728"/>
          </a:xfrm>
          <a:prstGeom prst="ellipse">
            <a:avLst/>
          </a:prstGeom>
          <a:solidFill>
            <a:srgbClr val="2540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3264408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08DC2"/>
                </a:solidFill>
                <a:latin typeface="Calibri"/>
              </a:rPr>
              <a:t/>
            </a:r>
            <a:r>
              <a:rPr sz="1400" b="1">
                <a:solidFill>
                  <a:srgbClr val="808DC2"/>
                </a:solidFill>
                <a:latin typeface="Calibri"/>
              </a:rPr>
              <a:t>Pain:</a:t>
            </a:r>
            <a:r>
              <a:rPr sz="1400" b="0">
                <a:solidFill>
                  <a:srgbClr val="808DC2"/>
                </a:solidFill>
                <a:latin typeface="Calibri"/>
              </a:rPr>
              <a:t> Time-consuming manual processes reducing productivity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0" y="2825496"/>
            <a:ext cx="109728" cy="109728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1968" y="2697480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08DC2"/>
                </a:solidFill>
                <a:latin typeface="Calibri"/>
              </a:rPr>
              <a:t/>
            </a:r>
            <a:r>
              <a:rPr sz="1400" b="1">
                <a:solidFill>
                  <a:srgbClr val="808DC2"/>
                </a:solidFill>
                <a:latin typeface="Calibri"/>
              </a:rPr>
              <a:t>Pain:</a:t>
            </a:r>
            <a:r>
              <a:rPr sz="1400" b="0">
                <a:solidFill>
                  <a:srgbClr val="808DC2"/>
                </a:solidFill>
                <a:latin typeface="Calibri"/>
              </a:rPr>
              <a:t> Lack of real-time data for decision-making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0" y="3392424"/>
            <a:ext cx="109728" cy="109728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1968" y="3264408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08DC2"/>
                </a:solidFill>
                <a:latin typeface="Calibri"/>
              </a:rPr>
              <a:t/>
            </a:r>
            <a:r>
              <a:rPr sz="1400" b="1">
                <a:solidFill>
                  <a:srgbClr val="808DC2"/>
                </a:solidFill>
                <a:latin typeface="Calibri"/>
              </a:rPr>
              <a:t>Pain:</a:t>
            </a:r>
            <a:r>
              <a:rPr sz="1400" b="0">
                <a:solidFill>
                  <a:srgbClr val="808DC2"/>
                </a:solidFill>
                <a:latin typeface="Calibri"/>
              </a:rPr>
              <a:t> Integration complexity slowing teams down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1C51"/>
                </a:solidFill>
                <a:latin typeface="Calibri"/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08DC2"/>
                </a:solidFill>
                <a:latin typeface="Calibri"/>
              </a:rPr>
              <a:t>swiggy solves this with a purpose-built Technology platform.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2540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Core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53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Helps customers achieve outcomes faster and more reliably.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Speed &amp; Scale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071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Fast onboarding — live in minutes, not months.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5036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Intelligence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789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AI-powered insights on modern infrastructure.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1C51"/>
                </a:solidFill>
                <a:latin typeface="Calibri"/>
              </a:rP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08DC2"/>
                </a:solidFill>
                <a:latin typeface="Calibri"/>
              </a:rPr>
              <a:t>Three capabilities that make swiggy the obvious choice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2540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Core Feature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53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Purpose-built for the use case — not a horizontal tool adapted for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Automation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071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Eliminates manual steps — customers save hours every week.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5036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Insights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789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Real-time visibility that drives faster, smarter decisions.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1C51"/>
                </a:solidFill>
                <a:latin typeface="Calibri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08DC2"/>
                </a:solidFill>
                <a:latin typeface="Calibri"/>
              </a:rPr>
              <a:t>Recurring revenue with strong expansion economics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2540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Core 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53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540B6"/>
                </a:solidFill>
                <a:latin typeface="Calibri"/>
              </a:rPr>
              <a:t>Primary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53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Technology services / SaaS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Services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071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B2CBF"/>
                </a:solidFill>
                <a:latin typeface="Calibri"/>
              </a:rPr>
              <a:t>Secondary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071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Professional services and implementation for enterprise customers.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5036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Land &amp; Expand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789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036BA"/>
                </a:solidFill>
                <a:latin typeface="Calibri"/>
              </a:rPr>
              <a:t>Growth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789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Low entry point drives adoption; expansion within accounts grows ACV over time.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1C51"/>
                </a:solidFill>
                <a:latin typeface="Calibri"/>
              </a:rPr>
              <a:t>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08DC2"/>
                </a:solidFill>
                <a:latin typeface="Calibri"/>
              </a:rPr>
              <a:t>swiggy is gaining momentum</a:t>
            </a:r>
          </a:p>
        </p:txBody>
      </p:sp>
      <p:sp>
        <p:nvSpPr>
          <p:cNvPr id="6" name="Rectangle 5"/>
          <p:cNvSpPr/>
          <p:nvPr/>
        </p:nvSpPr>
        <p:spPr>
          <a:xfrm>
            <a:off x="632307" y="2103120"/>
            <a:ext cx="2560320" cy="2194560"/>
          </a:xfrm>
          <a:prstGeom prst="rect">
            <a:avLst/>
          </a:prstGeom>
          <a:solidFill>
            <a:srgbClr val="120E1E"/>
          </a:solidFill>
          <a:ln w="19050">
            <a:solidFill>
              <a:srgbClr val="2540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946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$500K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46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08DC2"/>
                </a:solidFill>
                <a:latin typeface="Calibri"/>
              </a:rPr>
              <a:t>Y1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74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1C51"/>
                </a:solidFill>
                <a:latin typeface="Calibri"/>
              </a:rPr>
              <a:t>ARR projection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1227" y="2103120"/>
            <a:ext cx="2560320" cy="2194560"/>
          </a:xfrm>
          <a:prstGeom prst="rect">
            <a:avLst/>
          </a:prstGeom>
          <a:solidFill>
            <a:srgbClr val="120E1E"/>
          </a:solidFill>
          <a:ln w="19050">
            <a:solidFill>
              <a:srgbClr val="7B2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838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Growing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838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08DC2"/>
                </a:solidFill>
                <a:latin typeface="Calibri"/>
              </a:rPr>
              <a:t>Traction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266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1C51"/>
                </a:solidFill>
                <a:latin typeface="Calibri"/>
              </a:rPr>
              <a:t>Early stage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2103120"/>
            <a:ext cx="2560320" cy="2194560"/>
          </a:xfrm>
          <a:prstGeom prst="rect">
            <a:avLst/>
          </a:prstGeom>
          <a:solidFill>
            <a:srgbClr val="120E1E"/>
          </a:solidFill>
          <a:ln w="19050">
            <a:solidFill>
              <a:srgbClr val="503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730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Growing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08DC2"/>
                </a:solidFill>
                <a:latin typeface="Calibri"/>
              </a:rPr>
              <a:t>Traction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158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1C51"/>
                </a:solidFill>
                <a:latin typeface="Calibri"/>
              </a:rPr>
              <a:t>Early stage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99067" y="2103120"/>
            <a:ext cx="2560320" cy="2194560"/>
          </a:xfrm>
          <a:prstGeom prst="rect">
            <a:avLst/>
          </a:prstGeom>
          <a:solidFill>
            <a:srgbClr val="120E1E"/>
          </a:solidFill>
          <a:ln w="19050">
            <a:solidFill>
              <a:srgbClr val="5B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622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Growing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622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08DC2"/>
                </a:solidFill>
                <a:latin typeface="Calibri"/>
              </a:rPr>
              <a:t>Traction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050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1C51"/>
                </a:solidFill>
                <a:latin typeface="Calibri"/>
              </a:rPr>
              <a:t>Early stage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08DC2"/>
                </a:solidFill>
                <a:latin typeface="Calibri"/>
              </a:rPr>
              <a:t>Seed-funded and growing.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3949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›  </a:t>
            </a:r>
            <a:r>
              <a:rPr sz="1300" b="1">
                <a:solidFill>
                  <a:srgbClr val="808DC2"/>
                </a:solidFill>
                <a:latin typeface="Calibri"/>
              </a:rPr>
              <a:t>Customers:</a:t>
            </a:r>
            <a:r>
              <a:rPr sz="1300" b="0">
                <a:solidFill>
                  <a:srgbClr val="808DC2"/>
                </a:solidFill>
                <a:latin typeface="Calibri"/>
              </a:rPr>
              <a:t> Design partners signed and providing active product feedback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8064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›  </a:t>
            </a:r>
            <a:r>
              <a:rPr sz="1300" b="1">
                <a:solidFill>
                  <a:srgbClr val="808DC2"/>
                </a:solidFill>
                <a:latin typeface="Calibri"/>
              </a:rPr>
              <a:t>Product:</a:t>
            </a:r>
            <a:r>
              <a:rPr sz="1300" b="0">
                <a:solidFill>
                  <a:srgbClr val="808DC2"/>
                </a:solidFill>
                <a:latin typeface="Calibri"/>
              </a:rPr>
              <a:t> Core platform live — onboarding first paying customers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›  </a:t>
            </a:r>
            <a:r>
              <a:rPr sz="1300" b="1">
                <a:solidFill>
                  <a:srgbClr val="808DC2"/>
                </a:solidFill>
                <a:latin typeface="Calibri"/>
              </a:rPr>
              <a:t>Team:</a:t>
            </a:r>
            <a:r>
              <a:rPr sz="1300" b="0">
                <a:solidFill>
                  <a:srgbClr val="808DC2"/>
                </a:solidFill>
                <a:latin typeface="Calibri"/>
              </a:rPr>
              <a:t> Core team in place across engineering, product, and GTM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1C51"/>
                </a:solidFill>
                <a:latin typeface="Calibri"/>
              </a:rPr>
              <a:t>COMPETITIVE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Competitive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08DC2"/>
                </a:solidFill>
                <a:latin typeface="Calibri"/>
              </a:rPr>
              <a:t>swiggy is building the leading platform for Technology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792327" y="1828800"/>
            <a:ext cx="5120640" cy="347472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2327" y="1828800"/>
            <a:ext cx="5120640" cy="54864"/>
          </a:xfrm>
          <a:prstGeom prst="rect">
            <a:avLst/>
          </a:prstGeom>
          <a:solidFill>
            <a:srgbClr val="2540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5207" y="20116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Existing solutions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5207" y="25603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540B6"/>
                </a:solidFill>
                <a:latin typeface="Calibri"/>
              </a:rPr>
              <a:t>swiggy's purpose-built approach vs. horizontal 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5207" y="3063240"/>
            <a:ext cx="47548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Legacy tools and manual processes Slow and expensive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78727" y="1828800"/>
            <a:ext cx="5120640" cy="347472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78727" y="1828800"/>
            <a:ext cx="512064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1607" y="20116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Generic platforms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1607" y="25603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B2CBF"/>
                </a:solidFill>
                <a:latin typeface="Calibri"/>
              </a:rPr>
              <a:t>Faster time-to-value with modern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1607" y="3063240"/>
            <a:ext cx="47548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Horizontal tools adapted for vertical use Not purpose-built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1C51"/>
                </a:solidFill>
                <a:latin typeface="Calibri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The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08DC2"/>
                </a:solidFill>
                <a:latin typeface="Calibri"/>
              </a:rPr>
              <a:t>The right people to win this market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2540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Key Hire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53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540B6"/>
                </a:solidFill>
                <a:latin typeface="Calibri"/>
              </a:rPr>
              <a:t>Open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53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Actively hiring for this role as we scale.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Key Hire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071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B2CBF"/>
                </a:solidFill>
                <a:latin typeface="Calibri"/>
              </a:rPr>
              <a:t>Open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071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Actively hiring for this role as we scale.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5036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Key Hire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789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036BA"/>
                </a:solidFill>
                <a:latin typeface="Calibri"/>
              </a:rPr>
              <a:t>Open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789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Actively hiring for this role as we scale.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1C51"/>
                </a:solidFill>
                <a:latin typeface="Calibri"/>
              </a:rPr>
              <a:t>FINANCIALS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Financial Projections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08DC2"/>
                </a:solidFill>
                <a:latin typeface="Calibri"/>
              </a:rPr>
              <a:t>Clear path to scale with defensible unit economics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632307" y="2103120"/>
            <a:ext cx="2560320" cy="2194560"/>
          </a:xfrm>
          <a:prstGeom prst="rect">
            <a:avLst/>
          </a:prstGeom>
          <a:solidFill>
            <a:srgbClr val="120E1E"/>
          </a:solidFill>
          <a:ln w="19050">
            <a:solidFill>
              <a:srgbClr val="2540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946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$500K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46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08DC2"/>
                </a:solidFill>
                <a:latin typeface="Calibri"/>
              </a:rPr>
              <a:t>Conservative Y1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74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1C51"/>
                </a:solidFill>
                <a:latin typeface="Calibri"/>
              </a:rPr>
              <a:t>50 customers at $10K ACV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1227" y="2103120"/>
            <a:ext cx="2560320" cy="2194560"/>
          </a:xfrm>
          <a:prstGeom prst="rect">
            <a:avLst/>
          </a:prstGeom>
          <a:solidFill>
            <a:srgbClr val="120E1E"/>
          </a:solidFill>
          <a:ln w="19050">
            <a:solidFill>
              <a:srgbClr val="7B2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838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$2M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838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08DC2"/>
                </a:solidFill>
                <a:latin typeface="Calibri"/>
              </a:rPr>
              <a:t>Base Y2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266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1C51"/>
                </a:solidFill>
                <a:latin typeface="Calibri"/>
              </a:rPr>
              <a:t>150 customers, expanding ACV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2103120"/>
            <a:ext cx="2560320" cy="2194560"/>
          </a:xfrm>
          <a:prstGeom prst="rect">
            <a:avLst/>
          </a:prstGeom>
          <a:solidFill>
            <a:srgbClr val="120E1E"/>
          </a:solidFill>
          <a:ln w="19050">
            <a:solidFill>
              <a:srgbClr val="503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730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$8M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08DC2"/>
                </a:solidFill>
                <a:latin typeface="Calibri"/>
              </a:rPr>
              <a:t>Optimistic Y3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158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1C51"/>
                </a:solidFill>
                <a:latin typeface="Calibri"/>
              </a:rPr>
              <a:t>Enterprise expansion + new verticals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99067" y="2103120"/>
            <a:ext cx="2560320" cy="2194560"/>
          </a:xfrm>
          <a:prstGeom prst="rect">
            <a:avLst/>
          </a:prstGeom>
          <a:solidFill>
            <a:srgbClr val="120E1E"/>
          </a:solidFill>
          <a:ln w="19050">
            <a:solidFill>
              <a:srgbClr val="5B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622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70–80%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622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08DC2"/>
                </a:solidFill>
                <a:latin typeface="Calibri"/>
              </a:rPr>
              <a:t>Gross Margin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050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1C51"/>
                </a:solidFill>
                <a:latin typeface="Calibri"/>
              </a:rPr>
              <a:t>Target at scale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08DC2"/>
                </a:solidFill>
                <a:latin typeface="Calibri"/>
              </a:rPr>
              <a:t>Assumptions: land-and-expand motion, CAC payback &lt; 12 months, positive unit economics from Day 1.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1C51"/>
                </a:solidFill>
                <a:latin typeface="Calibri"/>
              </a:rPr>
              <a:t>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08DC2"/>
                </a:solidFill>
                <a:latin typeface="Calibri"/>
              </a:rPr>
              <a:t>Raising to reach $2M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2540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Product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53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540B6"/>
                </a:solidFill>
                <a:latin typeface="Calibri"/>
              </a:rPr>
              <a:t>40%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53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Scale engineering, ship enterprise features, reach product-market fit.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Go-to-Market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071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B2CBF"/>
                </a:solidFill>
                <a:latin typeface="Calibri"/>
              </a:rPr>
              <a:t>40%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071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Hire first AEs, launch demand gen, close 10 anchor customers.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5036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Operations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789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036BA"/>
                </a:solidFill>
                <a:latin typeface="Calibri"/>
              </a:rPr>
              <a:t>20%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789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Customer success, infrastructure, legal and compliance.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40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5F3FF"/>
                </a:solidFill>
                <a:latin typeface="Calibri"/>
              </a:rPr>
              <a:t>swiggy is building the leading platform for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808DC2"/>
                </a:solidFill>
                <a:latin typeface="Calibri"/>
              </a:rPr>
              <a:t>Join us in building the category leader in Technology.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02336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01C51"/>
                </a:solidFill>
                <a:latin typeface="Calibri"/>
              </a:rPr>
              <a:t>Contact us · swiggy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63093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1C51"/>
                </a:solidFill>
                <a:latin typeface="Calibri"/>
              </a:rPr>
              <a:t>Investor Presentation  •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