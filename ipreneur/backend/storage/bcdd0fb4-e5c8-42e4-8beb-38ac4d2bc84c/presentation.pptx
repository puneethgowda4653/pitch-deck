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Amazon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B570"/>
                </a:solidFill>
                <a:latin typeface="Calibri"/>
              </a:rPr>
              <a:t>Inventing the Future, One Customer at a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4400"/>
                </a:solidFill>
                <a:latin typeface="Calibri"/>
              </a:rPr>
              <a:t>A confidential presentation for potential investors. Discover how Amazon is continually redefining commerce, cloud computing, and digital innovation on a global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The Future of Commerce, Cloud, and Connectivity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202676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639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39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182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Strong, consistent growth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568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5284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284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712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Loyal global user 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0460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9A7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417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$85B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417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Seeking Investment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60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To fuel next-gen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B570"/>
                </a:solidFill>
                <a:latin typeface="Calibri"/>
              </a:rPr>
              <a:t>Amazon is the global leader in e-commerce, cloud computing (AWS), and digital innovation, serving millions of customers and businesses worldwide. Our integrated ecosystem drives unparalleled customer value and sustainable, diversified revenue growth.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Market Dominance:</a:t>
            </a:r>
            <a:r>
              <a:rPr sz="1300" b="0">
                <a:solidFill>
                  <a:srgbClr val="E2B570"/>
                </a:solidFill>
                <a:latin typeface="Calibri"/>
              </a:rPr>
              <a:t> Unrivaled leadership across global e-commerce, cloud infrastructure, and digital entertainment segments.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Relentless Innovation:</a:t>
            </a:r>
            <a:r>
              <a:rPr sz="1300" b="0">
                <a:solidFill>
                  <a:srgbClr val="E2B570"/>
                </a:solidFill>
                <a:latin typeface="Calibri"/>
              </a:rPr>
              <a:t> Continuous investment in AI, robotics, and advanced logistics to enhance customer experience and operational efficiency.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Global Scale:</a:t>
            </a:r>
            <a:r>
              <a:rPr sz="1300" b="0">
                <a:solidFill>
                  <a:srgbClr val="E2B570"/>
                </a:solidFill>
                <a:latin typeface="Calibri"/>
              </a:rPr>
              <a:t> A vast operational footprint and customer base spanning continents, driving network effects and competitive advantage.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Vast &amp; Expanding 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Tapping into Trillions Across Global Verticals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$12T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Global Digital Economy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Projected TAM for 2025, Source: World Economic Forum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E-commerce &amp; Cloud CAGR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Blended growth 2023-2028, Source: Industry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B570"/>
                </a:solidFill>
                <a:latin typeface="Calibri"/>
              </a:rPr>
              <a:t>The convergence of e-commerce, cloud computing, and digital services creates a multi-trillion dollar market landscape with immense potential for sustained growth and innovation.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Digital Transformation:</a:t>
            </a:r>
            <a:r>
              <a:rPr sz="1300" b="0">
                <a:solidFill>
                  <a:srgbClr val="E2B570"/>
                </a:solidFill>
                <a:latin typeface="Calibri"/>
              </a:rPr>
              <a:t> Businesses globally are accelerating their cloud adoption and digital migration, driving demand for AWS.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E-commerce Surge:</a:t>
            </a:r>
            <a:r>
              <a:rPr sz="1300" b="0">
                <a:solidFill>
                  <a:srgbClr val="E2B570"/>
                </a:solidFill>
                <a:latin typeface="Calibri"/>
              </a:rPr>
              <a:t> Online retail continues its robust growth, fueled by mobile penetration and evolving consumer habits worldwide.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AI &amp; Automation:</a:t>
            </a:r>
            <a:r>
              <a:rPr sz="1300" b="0">
                <a:solidFill>
                  <a:srgbClr val="E2B570"/>
                </a:solidFill>
                <a:latin typeface="Calibri"/>
              </a:rPr>
              <a:t> Rapid advancements in artificial intelligence and robotics are creating new markets and enhancing existing 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PROBLEM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Transforming Friction into Seamless Experiences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Addressing Core Consumer &amp; Business Challenges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5303520" cy="4114800"/>
          </a:xfrm>
          <a:prstGeom prst="rect">
            <a:avLst/>
          </a:prstGeom>
          <a:solidFill>
            <a:srgbClr val="23121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03520" cy="6400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9900"/>
                </a:solidFill>
                <a:latin typeface="Calibri"/>
              </a:rPr>
              <a:t>Fragmented digital experiences cost businesses and consumers trillions annually.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Inconvenience &amp; Limited Selection:</a:t>
            </a:r>
            <a:r>
              <a:rPr sz="1300" b="0">
                <a:solidFill>
                  <a:srgbClr val="E2B570"/>
                </a:solidFill>
                <a:latin typeface="Calibri"/>
              </a:rPr>
              <a:t> Consumers face fragmented shopping, narrow product choices, and inconsistent service across disparate platforms.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Complex Infrastructure:</a:t>
            </a:r>
            <a:r>
              <a:rPr sz="1300" b="0">
                <a:solidFill>
                  <a:srgbClr val="E2B570"/>
                </a:solidFill>
                <a:latin typeface="Calibri"/>
              </a:rPr>
              <a:t> Businesses struggle with high costs, technical complexity, and scalability issues for their digital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Logistical Hurdles:</a:t>
            </a:r>
            <a:r>
              <a:rPr sz="1300" b="0">
                <a:solidFill>
                  <a:srgbClr val="E2B570"/>
                </a:solidFill>
                <a:latin typeface="Calibri"/>
              </a:rPr>
              <a:t> Global supply chains and last-mile delivery remain inefficient, creating delays and inflated costs.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Data Silos &amp; Security:</a:t>
            </a:r>
            <a:r>
              <a:rPr sz="1300" b="0">
                <a:solidFill>
                  <a:srgbClr val="E2B570"/>
                </a:solidFill>
                <a:latin typeface="Calibri"/>
              </a:rPr>
              <a:t> Organizations grapple with isolated data, hindering innovation and raising critical security concerns.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737360"/>
            <a:ext cx="5303520" cy="4114800"/>
          </a:xfrm>
          <a:prstGeom prst="rect">
            <a:avLst/>
          </a:prstGeom>
          <a:solidFill>
            <a:srgbClr val="23121E"/>
          </a:solidFill>
          <a:ln w="19050"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737360"/>
            <a:ext cx="5303520" cy="64008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3FF"/>
                </a:solidFill>
                <a:latin typeface="Calibr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4688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364860"/>
                </a:solidFill>
                <a:latin typeface="Calibri"/>
              </a:rPr>
              <a:t>The world's most customer-centric ecosystem, powered by innovation.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017520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Unmatched Selection &amp; Convenience:</a:t>
            </a:r>
            <a:r>
              <a:rPr sz="1300" b="0">
                <a:solidFill>
                  <a:srgbClr val="E2B570"/>
                </a:solidFill>
                <a:latin typeface="Calibri"/>
              </a:rPr>
              <a:t> Amazon.com offers billions of products with rapid, reliable delivery, simplifying global commerce for everyone.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456432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Scalable Cloud Infrastructure:</a:t>
            </a:r>
            <a:r>
              <a:rPr sz="1300" b="0">
                <a:solidFill>
                  <a:srgbClr val="E2B570"/>
                </a:solidFill>
                <a:latin typeface="Calibri"/>
              </a:rPr>
              <a:t> AWS provides industry-leading, on-demand cloud services, empowering businesses of all sizes to innovate and scale efficiently.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895344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Advanced Logistics Network:</a:t>
            </a:r>
            <a:r>
              <a:rPr sz="1300" b="0">
                <a:solidFill>
                  <a:srgbClr val="E2B570"/>
                </a:solidFill>
                <a:latin typeface="Calibri"/>
              </a:rPr>
              <a:t> Our global fulfillment and delivery network ensures rapid, cost-effective shipping for millions of items daily.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34256"/>
            <a:ext cx="4846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•  </a:t>
            </a:r>
            <a:r>
              <a:rPr sz="1300" b="1">
                <a:solidFill>
                  <a:srgbClr val="E2B570"/>
                </a:solidFill>
                <a:latin typeface="Calibri"/>
              </a:rPr>
              <a:t>Integrated AI &amp; Data Services:</a:t>
            </a:r>
            <a:r>
              <a:rPr sz="1300" b="0">
                <a:solidFill>
                  <a:srgbClr val="E2B570"/>
                </a:solidFill>
                <a:latin typeface="Calibri"/>
              </a:rPr>
              <a:t> Cutting-edge AI tools and secure data platforms enhance personalization, efficiency, and drive new insights.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011680"/>
            <a:ext cx="27432" cy="3566160"/>
          </a:xfrm>
          <a:prstGeom prst="rect">
            <a:avLst/>
          </a:prstGeom>
          <a:solidFill>
            <a:srgbClr val="51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Our Ecosystem of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Beyond E-commerce: Cloud, Content, and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Amazon.com &amp; 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  <a:latin typeface="Calibri"/>
              </a:rPr>
              <a:t>Billions of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Global Retail:</a:t>
            </a:r>
            <a:r>
              <a:rPr sz="1300" b="0">
                <a:solidFill>
                  <a:srgbClr val="E2B570"/>
                </a:solidFill>
                <a:latin typeface="Calibri"/>
              </a:rPr>
              <a:t> The world's largest online store, offering unparalleled selection and fast delivery, connecting millions of sellers and buyers.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Amazon Web Services (AWS)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64860"/>
                </a:solidFill>
                <a:latin typeface="Calibri"/>
              </a:rPr>
              <a:t>Leader in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Cloud Computing:</a:t>
            </a:r>
            <a:r>
              <a:rPr sz="1300" b="0">
                <a:solidFill>
                  <a:srgbClr val="E2B570"/>
                </a:solidFill>
                <a:latin typeface="Calibri"/>
              </a:rPr>
              <a:t> The most comprehensive and broadly adopted cloud platform, powering enterprises, startups, and governments worldwide.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A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Prime &amp; Digital Entertainment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7030"/>
                </a:solidFill>
                <a:latin typeface="Calibri"/>
              </a:rPr>
              <a:t>200M+ Subscribers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Subscription Services:</a:t>
            </a:r>
            <a:r>
              <a:rPr sz="1300" b="0">
                <a:solidFill>
                  <a:srgbClr val="E2B570"/>
                </a:solidFill>
                <a:latin typeface="Calibri"/>
              </a:rPr>
              <a:t> Prime provides premium benefits including fast shipping, video, music, and exclusive deals, fostering unparalleled customer loyalty.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FB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Alexa &amp; AI Technologies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23F"/>
                </a:solidFill>
                <a:latin typeface="Calibri"/>
              </a:rPr>
              <a:t>Millions of Devices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Artificial Intelligence:</a:t>
            </a:r>
            <a:r>
              <a:rPr sz="1300" b="0">
                <a:solidFill>
                  <a:srgbClr val="E2B570"/>
                </a:solidFill>
                <a:latin typeface="Calibri"/>
              </a:rPr>
              <a:t> Pioneering voice AI, machine learning, and robotics for intuitive interactions and optimized operations across our ecosystem.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Diversified &amp; Robust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Leveraging Scale Across Multiple High-Growth Verticals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Online Stores &amp; 3P Seller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  <a:latin typeface="Calibri"/>
              </a:rPr>
              <a:t>Core Retail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Direct Sales &amp; Commission:</a:t>
            </a:r>
            <a:r>
              <a:rPr sz="1300" b="0">
                <a:solidFill>
                  <a:srgbClr val="E2B570"/>
                </a:solidFill>
                <a:latin typeface="Calibri"/>
              </a:rPr>
              <a:t> Revenue from first-party product sales and commissions/fees from third-party seller transactions and fulfillment.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Amazon Web Services (AWS)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64860"/>
                </a:solidFill>
                <a:latin typeface="Calibri"/>
              </a:rPr>
              <a:t>High-Margin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Cloud Services:</a:t>
            </a:r>
            <a:r>
              <a:rPr sz="1300" b="0">
                <a:solidFill>
                  <a:srgbClr val="E2B570"/>
                </a:solidFill>
                <a:latin typeface="Calibri"/>
              </a:rPr>
              <a:t> Subscription-based revenue for compute, storage, database, analytics, machine learning, and other infrastructure-as-a-service offerings.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A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Subscription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7030"/>
                </a:solidFill>
                <a:latin typeface="Calibri"/>
              </a:rPr>
              <a:t>Loyalty &amp;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Prime Memberships:</a:t>
            </a:r>
            <a:r>
              <a:rPr sz="1300" b="0">
                <a:solidFill>
                  <a:srgbClr val="E2B570"/>
                </a:solidFill>
                <a:latin typeface="Calibri"/>
              </a:rPr>
              <a:t> Annual/monthly fees for Prime, alongside revenue from other digital content subscriptions like Kindle Unlimited and Amazon Music.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FB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Advertising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23F"/>
                </a:solidFill>
                <a:latin typeface="Calibri"/>
              </a:rPr>
              <a:t>Accelerating Profitability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Targeted Ads:</a:t>
            </a:r>
            <a:r>
              <a:rPr sz="1300" b="0">
                <a:solidFill>
                  <a:srgbClr val="E2B570"/>
                </a:solidFill>
                <a:latin typeface="Calibri"/>
              </a:rPr>
              <a:t> High-growth revenue from sponsored product ads, display advertising, and video ads across Amazon's owned and operated sites.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Unprecedented Global 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Demonstrated Growth and Market Dominance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3230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946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$7.8B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46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Annual Recurring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374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Consolidated across all divisions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122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364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5838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8M+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838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Total Customers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266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Global accounts leveraging services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9A7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730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1.4M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Monthly Active Users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158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Engaged users across key platforms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99067" y="2103120"/>
            <a:ext cx="2560320" cy="2194560"/>
          </a:xfrm>
          <a:prstGeom prst="rect">
            <a:avLst/>
          </a:prstGeom>
          <a:solidFill>
            <a:srgbClr val="23121E"/>
          </a:solidFill>
          <a:ln w="19050">
            <a:solidFill>
              <a:srgbClr val="FFB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6227" y="233172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5F3FF"/>
                </a:solidFill>
                <a:latin typeface="Calibri"/>
              </a:rPr>
              <a:t>$3.997M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6227" y="32461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2B570"/>
                </a:solidFill>
                <a:latin typeface="Calibri"/>
              </a:rPr>
              <a:t>Monthly Recurring 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657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From specific subscription segments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B570"/>
                </a:solidFill>
                <a:latin typeface="Calibri"/>
              </a:rPr>
              <a:t>Amazon continues to demonstrate robust growth and unparalleled customer adoption across its key segments, reflecting strong market fit and operational excellence.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Sustained Revenue Growth:</a:t>
            </a:r>
            <a:r>
              <a:rPr sz="1300" b="0">
                <a:solidFill>
                  <a:srgbClr val="E2B570"/>
                </a:solidFill>
                <a:latin typeface="Calibri"/>
              </a:rPr>
              <a:t> Consistent year-over-year expansion in core retail, AWS, and advertising segments.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Expanding Customer Base:</a:t>
            </a:r>
            <a:r>
              <a:rPr sz="1300" b="0">
                <a:solidFill>
                  <a:srgbClr val="E2B570"/>
                </a:solidFill>
                <a:latin typeface="Calibri"/>
              </a:rPr>
              <a:t> Continuous acquisition of new customers globally, alongside high retention rates for Prime members.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›  </a:t>
            </a:r>
            <a:r>
              <a:rPr sz="1300" b="1">
                <a:solidFill>
                  <a:srgbClr val="E2B570"/>
                </a:solidFill>
                <a:latin typeface="Calibri"/>
              </a:rPr>
              <a:t>High User Engagement:</a:t>
            </a:r>
            <a:r>
              <a:rPr sz="1300" b="0">
                <a:solidFill>
                  <a:srgbClr val="E2B570"/>
                </a:solidFill>
                <a:latin typeface="Calibri"/>
              </a:rPr>
              <a:t> Strong monthly active user figures indicate deep integration into daily consumer and business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Navigating a Dynamic Competitive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Maintaining Leadership Through Continuous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24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52447" y="1920240"/>
            <a:ext cx="27432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353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Walmart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53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  <a:latin typeface="Calibri"/>
              </a:rPr>
              <a:t>$500B+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53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Retail Rival:</a:t>
            </a:r>
            <a:r>
              <a:rPr sz="1300" b="0">
                <a:solidFill>
                  <a:srgbClr val="E2B570"/>
                </a:solidFill>
                <a:latin typeface="Calibri"/>
              </a:rPr>
              <a:t> Strong brick-and-mortar presence and growing e-commerce. Lacks Amazon's cloud and advanced digital ecosystem integration.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242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24247" y="1920240"/>
            <a:ext cx="2743200" cy="54864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71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Microsoft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71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64860"/>
                </a:solidFill>
                <a:latin typeface="Calibri"/>
              </a:rPr>
              <a:t>$3T+ 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71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Cloud &amp; Enterprise:</a:t>
            </a:r>
            <a:r>
              <a:rPr sz="1300" b="0">
                <a:solidFill>
                  <a:srgbClr val="E2B570"/>
                </a:solidFill>
                <a:latin typeface="Calibri"/>
              </a:rPr>
              <a:t> Dominant in enterprise software and a strong competitor in cloud (Azure). Lacks Amazon's direct-to-consumer retail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960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96047" y="1920240"/>
            <a:ext cx="2743200" cy="54864"/>
          </a:xfrm>
          <a:prstGeom prst="rect">
            <a:avLst/>
          </a:prstGeom>
          <a:solidFill>
            <a:srgbClr val="9A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89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Alibaba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89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7030"/>
                </a:solidFill>
                <a:latin typeface="Calibri"/>
              </a:rPr>
              <a:t>$200B+ 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789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Global E-commerce &amp; Cloud (Asia):</a:t>
            </a:r>
            <a:r>
              <a:rPr sz="1300" b="0">
                <a:solidFill>
                  <a:srgbClr val="E2B570"/>
                </a:solidFill>
                <a:latin typeface="Calibri"/>
              </a:rPr>
              <a:t> Strong e-commerce and cloud presence primarily in Asian markets. Limited direct competition in Western markets.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Visionary Leadership &amp; World-Class Talent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Driving Innovation and Execution at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535527" y="1828800"/>
            <a:ext cx="5120640" cy="347472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27" y="1828800"/>
            <a:ext cx="512064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18407" y="2011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Founding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18407" y="256032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  <a:latin typeface="Calibri"/>
              </a:rPr>
              <a:t>Decades of combined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306324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>Profiles of key leadership and advisory board members are available upon request, showcasing deep expertise in technology, retail, logistics, and cloud infrastructure.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Strategic Market Penetration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Unlocking Trillions in Addressable Markets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554480"/>
            <a:ext cx="3840480" cy="3840480"/>
          </a:xfrm>
          <a:prstGeom prst="ellipse">
            <a:avLst/>
          </a:prstGeom>
          <a:solidFill>
            <a:srgbClr val="FF99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20240"/>
            <a:ext cx="3108960" cy="3108960"/>
          </a:xfrm>
          <a:prstGeom prst="ellipse">
            <a:avLst/>
          </a:prstGeom>
          <a:solidFill>
            <a:srgbClr val="364860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25880" y="2331720"/>
            <a:ext cx="2240280" cy="2240280"/>
          </a:xfrm>
          <a:prstGeom prst="ellipse">
            <a:avLst/>
          </a:prstGeom>
          <a:solidFill>
            <a:srgbClr val="9A7030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24400"/>
                </a:solidFill>
                <a:latin typeface="Calibri"/>
              </a:rPr>
              <a:t>CAGR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154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B23F"/>
                </a:solidFill>
                <a:latin typeface="Calibri"/>
              </a:rPr>
              <a:t>18%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6675120" cy="91440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737360"/>
            <a:ext cx="64008" cy="914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1828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TAM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8105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9900"/>
                </a:solidFill>
                <a:latin typeface="Calibri"/>
              </a:rPr>
              <a:t>$12T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402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B570"/>
                </a:solidFill>
                <a:latin typeface="Calibri"/>
              </a:rPr>
              <a:t>Global digital economy encompassing e-commerce, cloud services, and digital advertising (Statista)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788920"/>
            <a:ext cx="6675120" cy="91440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788920"/>
            <a:ext cx="64008" cy="914400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8803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SAM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8620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64860"/>
                </a:solidFill>
                <a:latin typeface="Calibri"/>
              </a:rPr>
              <a:t>$5T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B570"/>
                </a:solidFill>
                <a:latin typeface="Calibri"/>
              </a:rPr>
              <a:t>Core markets for online retail, infrastructure-as-a-service, and platform services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3840480"/>
            <a:ext cx="6675120" cy="91440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3840480"/>
            <a:ext cx="64008" cy="914400"/>
          </a:xfrm>
          <a:prstGeom prst="rect">
            <a:avLst/>
          </a:prstGeom>
          <a:solidFill>
            <a:srgbClr val="9A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9319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9136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9A7030"/>
                </a:solidFill>
                <a:latin typeface="Calibri"/>
              </a:rPr>
              <a:t>$1.5T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34340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2B570"/>
                </a:solidFill>
                <a:latin typeface="Calibri"/>
              </a:rPr>
              <a:t>Realizable market share within e-commerce, cloud, and subscription services over 5 years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3657600" cy="68580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B570"/>
                </a:solidFill>
                <a:latin typeface="Calibri"/>
              </a:rPr>
              <a:t/>
            </a:r>
            <a:r>
              <a:rPr sz="1200" b="1">
                <a:solidFill>
                  <a:srgbClr val="E2B570"/>
                </a:solidFill>
                <a:latin typeface="Calibri"/>
              </a:rPr>
              <a:t>Year 1 Projections:</a:t>
            </a:r>
            <a:r>
              <a:rPr sz="1200" b="0">
                <a:solidFill>
                  <a:srgbClr val="E2B570"/>
                </a:solidFill>
                <a:latin typeface="Calibri"/>
              </a:rPr>
              <a:t> Achieve $1.2B in new AWS contracts, expanding enterprise footprint in emerging sectors.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5760720"/>
            <a:ext cx="3657600" cy="68580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B570"/>
                </a:solidFill>
                <a:latin typeface="Calibri"/>
              </a:rPr>
              <a:t/>
            </a:r>
            <a:r>
              <a:rPr sz="1200" b="1">
                <a:solidFill>
                  <a:srgbClr val="E2B570"/>
                </a:solidFill>
                <a:latin typeface="Calibri"/>
              </a:rPr>
              <a:t>Year 2 Projections:</a:t>
            </a:r>
            <a:r>
              <a:rPr sz="1200" b="0">
                <a:solidFill>
                  <a:srgbClr val="E2B570"/>
                </a:solidFill>
                <a:latin typeface="Calibri"/>
              </a:rPr>
              <a:t> Expand Prime membership by 15% globally, enhancing customer loyalty and subscription revenue.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5760720"/>
            <a:ext cx="3657600" cy="68580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5852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2B570"/>
                </a:solidFill>
                <a:latin typeface="Calibri"/>
              </a:rPr>
              <a:t/>
            </a:r>
            <a:r>
              <a:rPr sz="1200" b="1">
                <a:solidFill>
                  <a:srgbClr val="E2B570"/>
                </a:solidFill>
                <a:latin typeface="Calibri"/>
              </a:rPr>
              <a:t>Year 3 Projections:</a:t>
            </a:r>
            <a:r>
              <a:rPr sz="1200" b="0">
                <a:solidFill>
                  <a:srgbClr val="E2B570"/>
                </a:solidFill>
                <a:latin typeface="Calibri"/>
              </a:rPr>
              <a:t> Capture 5% market share in emerging e-commerce categories leveraging AI-driven personalization.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24400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3FF"/>
                </a:solidFill>
                <a:latin typeface="Calibri"/>
              </a:rPr>
              <a:t>The Opportunity: Invest in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E2B570"/>
                </a:solidFill>
                <a:latin typeface="Calibri"/>
              </a:rPr>
              <a:t>Securing Continued Leadership and Innovation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5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547" y="1920240"/>
            <a:ext cx="2743200" cy="54864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Global Market Expansion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  <a:latin typeface="Calibri"/>
              </a:rPr>
              <a:t>New Regions &amp; Verticals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4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International Growth:</a:t>
            </a:r>
            <a:r>
              <a:rPr sz="1300" b="0">
                <a:solidFill>
                  <a:srgbClr val="E2B570"/>
                </a:solidFill>
                <a:latin typeface="Calibri"/>
              </a:rPr>
              <a:t> Funding new market entries, strengthening logistics networks, and localizing services in high-potential geographies.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383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8347" y="1920240"/>
            <a:ext cx="2743200" cy="54864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12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R&amp;D &amp;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12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64860"/>
                </a:solidFill>
                <a:latin typeface="Calibri"/>
              </a:rPr>
              <a:t>AI, Robotics, Sustainability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12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Technological Advancement:</a:t>
            </a:r>
            <a:r>
              <a:rPr sz="1300" b="0">
                <a:solidFill>
                  <a:srgbClr val="E2B570"/>
                </a:solidFill>
                <a:latin typeface="Calibri"/>
              </a:rPr>
              <a:t> Investing heavily in AI/ML, advanced robotics, quantum computing, and sustainable operational technologies.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01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920240"/>
            <a:ext cx="2743200" cy="54864"/>
          </a:xfrm>
          <a:prstGeom prst="rect">
            <a:avLst/>
          </a:prstGeom>
          <a:solidFill>
            <a:srgbClr val="9A7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30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Strategic Acquisitions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A7030"/>
                </a:solidFill>
                <a:latin typeface="Calibri"/>
              </a:rPr>
              <a:t>Synergistic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0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Portfolio Enhancement:</a:t>
            </a:r>
            <a:r>
              <a:rPr sz="1300" b="0">
                <a:solidFill>
                  <a:srgbClr val="E2B570"/>
                </a:solidFill>
                <a:latin typeface="Calibri"/>
              </a:rPr>
              <a:t> Pursuing targeted acquisitions that expand our technological capabilities, market reach, or enhance our talent base.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1947" y="1920240"/>
            <a:ext cx="2743200" cy="3291840"/>
          </a:xfrm>
          <a:prstGeom prst="rect">
            <a:avLst/>
          </a:prstGeom>
          <a:solidFill>
            <a:srgbClr val="23121E"/>
          </a:solidFill>
          <a:ln w="12700">
            <a:solidFill>
              <a:srgbClr val="5127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1947" y="1920240"/>
            <a:ext cx="2743200" cy="54864"/>
          </a:xfrm>
          <a:prstGeom prst="rect">
            <a:avLst/>
          </a:prstGeom>
          <a:solidFill>
            <a:srgbClr val="FFB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64827" y="21031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F3FF"/>
                </a:solidFill>
                <a:latin typeface="Calibri"/>
              </a:rPr>
              <a:t>Infrastructure &amp; Talent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64827" y="26517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B23F"/>
                </a:solidFill>
                <a:latin typeface="Calibri"/>
              </a:rPr>
              <a:t>Scalability &amp; Excellence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4827" y="3154680"/>
            <a:ext cx="237744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2B570"/>
                </a:solidFill>
                <a:latin typeface="Calibri"/>
              </a:rPr>
              <a:t/>
            </a:r>
            <a:r>
              <a:rPr sz="1300" b="1">
                <a:solidFill>
                  <a:srgbClr val="E2B570"/>
                </a:solidFill>
                <a:latin typeface="Calibri"/>
              </a:rPr>
              <a:t>Operational Scaling:</a:t>
            </a:r>
            <a:r>
              <a:rPr sz="1300" b="0">
                <a:solidFill>
                  <a:srgbClr val="E2B570"/>
                </a:solidFill>
                <a:latin typeface="Calibri"/>
              </a:rPr>
              <a:t> Expanding our data center capacity, fulfillment centers, and attracting top-tier engineering and leadership talent globally.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09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364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5F3FF"/>
                </a:solidFill>
                <a:latin typeface="Calibri"/>
              </a:rPr>
              <a:t>Join Us on Our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2B570"/>
                </a:solidFill>
                <a:latin typeface="Calibri"/>
              </a:rPr>
              <a:t>Inventing the Future, One Customer at a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02336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724400"/>
                </a:solidFill>
                <a:latin typeface="Calibri"/>
              </a:rPr>
              <a:t>Invest in Amazon and become a part of a legacy of innovation, customer obsession, and unparalleled global impact. Together, we can continue to build the future of commerce, cloud, and digital experiences.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09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24400"/>
                </a:solidFill>
                <a:latin typeface="Calibri"/>
              </a:rPr>
              <a:t>Investor Presentation  •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