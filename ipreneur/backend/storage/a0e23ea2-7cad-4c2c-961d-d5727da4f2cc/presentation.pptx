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Stripe</a:t>
            </a:r>
          </a:p>
        </p:txBody>
      </p:sp>
      <p:sp>
        <p:nvSpPr>
          <p:cNvPr id="5" name="TextBox 4"/>
          <p:cNvSpPr txBox="1"/>
          <p:nvPr/>
        </p:nvSpPr>
        <p:spPr>
          <a:xfrm>
            <a:off x="1371600" y="3200400"/>
            <a:ext cx="9418320" cy="731520"/>
          </a:xfrm>
          <a:prstGeom prst="rect">
            <a:avLst/>
          </a:prstGeom>
          <a:noFill/>
        </p:spPr>
        <p:txBody>
          <a:bodyPr wrap="square">
            <a:spAutoFit/>
          </a:bodyPr>
          <a:lstStyle/>
          <a:p>
            <a:pPr algn="ctr"/>
            <a:r>
              <a:rPr sz="2200" b="0">
                <a:solidFill>
                  <a:srgbClr val="9B8EC4"/>
                </a:solidFill>
                <a:latin typeface="Calibri"/>
              </a:rPr>
              <a:t>Financial infrastructure to grow your revenue.</a:t>
            </a:r>
          </a:p>
        </p:txBody>
      </p:sp>
      <p:sp>
        <p:nvSpPr>
          <p:cNvPr id="6" name="TextBox 5"/>
          <p:cNvSpPr txBox="1"/>
          <p:nvPr/>
        </p:nvSpPr>
        <p:spPr>
          <a:xfrm>
            <a:off x="1828800" y="4023360"/>
            <a:ext cx="8503920" cy="731520"/>
          </a:xfrm>
          <a:prstGeom prst="rect">
            <a:avLst/>
          </a:prstGeom>
          <a:noFill/>
        </p:spPr>
        <p:txBody>
          <a:bodyPr wrap="square">
            <a:spAutoFit/>
          </a:bodyPr>
          <a:lstStyle/>
          <a:p>
            <a:pPr algn="ctr"/>
            <a:r>
              <a:rPr sz="1500" b="0">
                <a:solidFill>
                  <a:srgbClr val="5C4E7A"/>
                </a:solidFill>
                <a:latin typeface="Calibri"/>
              </a:rPr>
              <a:t>Stripe is a financial services platform that helps all types of businesses accept payments, build flexible billing models and manage money movement. It provides financial infrastructure to grow revenue, enabling businesses to accept payments, offer financial services and implement custom revenue models – from their first transaction to their billionth.</a:t>
            </a:r>
          </a:p>
        </p:txBody>
      </p:sp>
      <p:sp>
        <p:nvSpPr>
          <p:cNvPr id="7" name="TextBox 6"/>
          <p:cNvSpPr txBox="1"/>
          <p:nvPr/>
        </p:nvSpPr>
        <p:spPr>
          <a:xfrm>
            <a:off x="3200400" y="6309360"/>
            <a:ext cx="5760720" cy="365760"/>
          </a:xfrm>
          <a:prstGeom prst="rect">
            <a:avLst/>
          </a:prstGeom>
          <a:noFill/>
        </p:spPr>
        <p:txBody>
          <a:bodyPr wrap="square">
            <a:spAutoFit/>
          </a:bodyPr>
          <a:lstStyle/>
          <a:p>
            <a:pPr algn="ctr"/>
            <a:r>
              <a:rPr sz="1000" b="0">
                <a:solidFill>
                  <a:srgbClr val="5C4E7A"/>
                </a:solidFill>
                <a:latin typeface="Calibri"/>
              </a:rPr>
              <a:t>Investor Presentation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EXECUTIVE SUMMARY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Executive Summary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The only solution built for all types of businesses, every business model, businesses of all sizes, enterprise in a Large and growing Financial Infrastructure market market growing at Strong double-digit CAGR</a:t>
            </a:r>
          </a:p>
        </p:txBody>
      </p:sp>
      <p:sp>
        <p:nvSpPr>
          <p:cNvPr id="6" name="Rectangle 5"/>
          <p:cNvSpPr/>
          <p:nvPr/>
        </p:nvSpPr>
        <p:spPr>
          <a:xfrm>
            <a:off x="63230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Large market</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9B8EC4"/>
                </a:solidFill>
                <a:latin typeface="Calibri"/>
              </a:rPr>
              <a:t>TAM</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5C4E7A"/>
                </a:solidFill>
                <a:latin typeface="Calibri"/>
              </a:rPr>
              <a:t>Total Financial Infrastructure market</a:t>
            </a:r>
          </a:p>
        </p:txBody>
      </p:sp>
      <p:sp>
        <p:nvSpPr>
          <p:cNvPr id="10" name="Rectangle 9"/>
          <p:cNvSpPr/>
          <p:nvPr/>
        </p:nvSpPr>
        <p:spPr>
          <a:xfrm>
            <a:off x="342122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Strong double-digit CAGR</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9B8EC4"/>
                </a:solidFill>
                <a:latin typeface="Calibri"/>
              </a:rPr>
              <a:t>CAGR</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5C4E7A"/>
                </a:solidFill>
                <a:latin typeface="Calibri"/>
              </a:rPr>
              <a:t>Projected 2024–2030</a:t>
            </a:r>
          </a:p>
        </p:txBody>
      </p:sp>
      <p:sp>
        <p:nvSpPr>
          <p:cNvPr id="14" name="Rectangle 13"/>
          <p:cNvSpPr/>
          <p:nvPr/>
        </p:nvSpPr>
        <p:spPr>
          <a:xfrm>
            <a:off x="621014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Early traction</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9B8EC4"/>
                </a:solidFill>
                <a:latin typeface="Calibri"/>
              </a:rPr>
              <a:t>Customers</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5C4E7A"/>
                </a:solidFill>
                <a:latin typeface="Calibri"/>
              </a:rPr>
              <a:t>Design partners signed</a:t>
            </a:r>
          </a:p>
        </p:txBody>
      </p:sp>
      <p:sp>
        <p:nvSpPr>
          <p:cNvPr id="18" name="Rectangle 17"/>
          <p:cNvSpPr/>
          <p:nvPr/>
        </p:nvSpPr>
        <p:spPr>
          <a:xfrm>
            <a:off x="899906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Seed / Series A</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9B8EC4"/>
                </a:solidFill>
                <a:latin typeface="Calibri"/>
              </a:rPr>
              <a:t>Stage</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5C4E7A"/>
                </a:solidFill>
                <a:latin typeface="Calibri"/>
              </a:rPr>
              <a:t>Raising now</a:t>
            </a:r>
          </a:p>
        </p:txBody>
      </p:sp>
      <p:sp>
        <p:nvSpPr>
          <p:cNvPr id="22" name="TextBox 21"/>
          <p:cNvSpPr txBox="1"/>
          <p:nvPr/>
        </p:nvSpPr>
        <p:spPr>
          <a:xfrm>
            <a:off x="731520" y="4572000"/>
            <a:ext cx="10698480" cy="822960"/>
          </a:xfrm>
          <a:prstGeom prst="rect">
            <a:avLst/>
          </a:prstGeom>
          <a:noFill/>
        </p:spPr>
        <p:txBody>
          <a:bodyPr wrap="square">
            <a:spAutoFit/>
          </a:bodyPr>
          <a:lstStyle/>
          <a:p>
            <a:pPr algn="l"/>
            <a:r>
              <a:rPr sz="1400" b="0">
                <a:solidFill>
                  <a:srgbClr val="9B8EC4"/>
                </a:solidFill>
                <a:latin typeface="Calibri"/>
              </a:rPr>
              <a:t>The Financial Infrastructure market is undergoing rapid transformation driven by digital adoption and AI integration. Companies in this space face mounting pressure to modernize legacy workflows, creating significant demand for purpose-built solutions. Stripe is positioned at the center of this shift.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PROBLEM</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Problem</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Pain points costing customers time and money</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Pain Point 1</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031323"/>
                </a:solidFill>
                <a:latin typeface="Calibri"/>
              </a:rPr>
              <a:t>High cost</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9B8EC4"/>
                </a:solidFill>
                <a:latin typeface="Calibri"/>
              </a:rPr>
              <a:t>High costs of existing fragmented tooling</a:t>
            </a:r>
          </a:p>
        </p:txBody>
      </p:sp>
      <p:sp>
        <p:nvSpPr>
          <p:cNvPr id="11" name="Rectangle 10"/>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Pain Point 2</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000000"/>
                </a:solidFill>
                <a:latin typeface="Calibri"/>
              </a:rPr>
              <a:t>Lost time</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9B8EC4"/>
                </a:solidFill>
                <a:latin typeface="Calibri"/>
              </a:rPr>
              <a:t>Time-consuming manual processes reducing productivity</a:t>
            </a:r>
          </a:p>
        </p:txBody>
      </p:sp>
      <p:sp>
        <p:nvSpPr>
          <p:cNvPr id="16" name="Rectangle 15"/>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Pain Point 3</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7B2CBF"/>
                </a:solidFill>
                <a:latin typeface="Calibri"/>
              </a:rPr>
              <a:t>Poor outcomes</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9B8EC4"/>
                </a:solidFill>
                <a:latin typeface="Calibri"/>
              </a:rPr>
              <a:t>Lack of real-time data for decision-making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SOLUTION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Stripe Solution</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Stripe is a financial services platform that helps all types of businesses accept payments, build flexible billing models and manage money movement. It provides financial infrastructure to grow revenue, enabling businesses to accept payments, offer financial services and implement custom revenue models – from their first transaction to their billionth.</a:t>
            </a:r>
          </a:p>
        </p:txBody>
      </p:sp>
      <p:sp>
        <p:nvSpPr>
          <p:cNvPr id="6" name="Oval 5"/>
          <p:cNvSpPr/>
          <p:nvPr/>
        </p:nvSpPr>
        <p:spPr>
          <a:xfrm>
            <a:off x="731520" y="2048256"/>
            <a:ext cx="109728" cy="109728"/>
          </a:xfrm>
          <a:prstGeom prst="ellipse">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920240"/>
            <a:ext cx="5010912" cy="512064"/>
          </a:xfrm>
          <a:prstGeom prst="rect">
            <a:avLst/>
          </a:prstGeom>
          <a:noFill/>
        </p:spPr>
        <p:txBody>
          <a:bodyPr wrap="square">
            <a:spAutoFit/>
          </a:bodyPr>
          <a:lstStyle/>
          <a:p>
            <a:pPr algn="l"/>
            <a:r>
              <a:rPr sz="1400" b="0">
                <a:solidFill>
                  <a:srgbClr val="9B8EC4"/>
                </a:solidFill>
                <a:latin typeface="Calibri"/>
              </a:rPr>
              <a:t>Stripe's purpose-built approach vs. horizontal tools</a:t>
            </a:r>
          </a:p>
        </p:txBody>
      </p:sp>
      <p:sp>
        <p:nvSpPr>
          <p:cNvPr id="8" name="Oval 7"/>
          <p:cNvSpPr/>
          <p:nvPr/>
        </p:nvSpPr>
        <p:spPr>
          <a:xfrm>
            <a:off x="731520" y="2615184"/>
            <a:ext cx="109728" cy="109728"/>
          </a:xfrm>
          <a:prstGeom prst="ellipse">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487168"/>
            <a:ext cx="5010912" cy="512064"/>
          </a:xfrm>
          <a:prstGeom prst="rect">
            <a:avLst/>
          </a:prstGeom>
          <a:noFill/>
        </p:spPr>
        <p:txBody>
          <a:bodyPr wrap="square">
            <a:spAutoFit/>
          </a:bodyPr>
          <a:lstStyle/>
          <a:p>
            <a:pPr algn="l"/>
            <a:r>
              <a:rPr sz="1400" b="0">
                <a:solidFill>
                  <a:srgbClr val="9B8EC4"/>
                </a:solidFill>
                <a:latin typeface="Calibri"/>
              </a:rPr>
              <a:t>Faster time-to-value with modern architecture</a:t>
            </a:r>
          </a:p>
        </p:txBody>
      </p:sp>
      <p:sp>
        <p:nvSpPr>
          <p:cNvPr id="10" name="Oval 9"/>
          <p:cNvSpPr/>
          <p:nvPr/>
        </p:nvSpPr>
        <p:spPr>
          <a:xfrm>
            <a:off x="6400800" y="2048256"/>
            <a:ext cx="109728" cy="10972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1968" y="1920240"/>
            <a:ext cx="5010912" cy="512064"/>
          </a:xfrm>
          <a:prstGeom prst="rect">
            <a:avLst/>
          </a:prstGeom>
          <a:noFill/>
        </p:spPr>
        <p:txBody>
          <a:bodyPr wrap="square">
            <a:spAutoFit/>
          </a:bodyPr>
          <a:lstStyle/>
          <a:p>
            <a:pPr algn="l"/>
            <a:r>
              <a:rPr sz="1400" b="0">
                <a:solidFill>
                  <a:srgbClr val="9B8EC4"/>
                </a:solidFill>
                <a:latin typeface="Calibri"/>
              </a:rPr>
              <a:t>AI-native design vs. retrofitted legacy systems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PRODUCT</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Product Highlights</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Core capabilities that win customers</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Accept and optimise payments globally – online and in person</a:t>
            </a:r>
          </a:p>
        </p:txBody>
      </p:sp>
      <p:sp>
        <p:nvSpPr>
          <p:cNvPr id="9" name="TextBox 8"/>
          <p:cNvSpPr txBox="1"/>
          <p:nvPr/>
        </p:nvSpPr>
        <p:spPr>
          <a:xfrm>
            <a:off x="1935327" y="2697480"/>
            <a:ext cx="2377440" cy="2331720"/>
          </a:xfrm>
          <a:prstGeom prst="rect">
            <a:avLst/>
          </a:prstGeom>
          <a:noFill/>
        </p:spPr>
        <p:txBody>
          <a:bodyPr wrap="square">
            <a:spAutoFit/>
          </a:bodyPr>
          <a:lstStyle/>
          <a:p>
            <a:pPr algn="l"/>
            <a:r>
              <a:rPr sz="1300" b="0">
                <a:solidFill>
                  <a:srgbClr val="9B8EC4"/>
                </a:solidFill>
                <a:latin typeface="Calibri"/>
              </a:rPr>
              <a:t>Purpose-built capability</a:t>
            </a:r>
          </a:p>
        </p:txBody>
      </p:sp>
      <p:sp>
        <p:nvSpPr>
          <p:cNvPr id="10" name="Rectangle 9"/>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24247" y="1920240"/>
            <a:ext cx="2743200" cy="5486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Enable any billing model</a:t>
            </a:r>
          </a:p>
        </p:txBody>
      </p:sp>
      <p:sp>
        <p:nvSpPr>
          <p:cNvPr id="13" name="TextBox 12"/>
          <p:cNvSpPr txBox="1"/>
          <p:nvPr/>
        </p:nvSpPr>
        <p:spPr>
          <a:xfrm>
            <a:off x="4907127" y="2697480"/>
            <a:ext cx="2377440" cy="2331720"/>
          </a:xfrm>
          <a:prstGeom prst="rect">
            <a:avLst/>
          </a:prstGeom>
          <a:noFill/>
        </p:spPr>
        <p:txBody>
          <a:bodyPr wrap="square">
            <a:spAutoFit/>
          </a:bodyPr>
          <a:lstStyle/>
          <a:p>
            <a:pPr algn="l"/>
            <a:r>
              <a:rPr sz="1300" b="0">
                <a:solidFill>
                  <a:srgbClr val="9B8EC4"/>
                </a:solidFill>
                <a:latin typeface="Calibri"/>
              </a:rPr>
              <a:t>Designed for ease of use</a:t>
            </a:r>
          </a:p>
        </p:txBody>
      </p:sp>
      <p:sp>
        <p:nvSpPr>
          <p:cNvPr id="14" name="Rectangle 13"/>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Monetise through agentic commerce</a:t>
            </a:r>
          </a:p>
        </p:txBody>
      </p:sp>
      <p:sp>
        <p:nvSpPr>
          <p:cNvPr id="17" name="TextBox 16"/>
          <p:cNvSpPr txBox="1"/>
          <p:nvPr/>
        </p:nvSpPr>
        <p:spPr>
          <a:xfrm>
            <a:off x="7878927" y="2697480"/>
            <a:ext cx="2377440" cy="2331720"/>
          </a:xfrm>
          <a:prstGeom prst="rect">
            <a:avLst/>
          </a:prstGeom>
          <a:noFill/>
        </p:spPr>
        <p:txBody>
          <a:bodyPr wrap="square">
            <a:spAutoFit/>
          </a:bodyPr>
          <a:lstStyle/>
          <a:p>
            <a:pPr algn="l"/>
            <a:r>
              <a:rPr sz="1300" b="0">
                <a:solidFill>
                  <a:srgbClr val="9B8EC4"/>
                </a:solidFill>
                <a:latin typeface="Calibri"/>
              </a:rPr>
              <a:t>Built for fast adoption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MARKET OPPORTUNITY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Market Opportunity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The Financial Infrastructure market is at an inflection point — Large and growing Financial Infrastructure market opportunity growing at Strong double-digit CAGR</a:t>
            </a:r>
          </a:p>
        </p:txBody>
      </p:sp>
      <p:sp>
        <p:nvSpPr>
          <p:cNvPr id="6" name="Rectangle 5"/>
          <p:cNvSpPr/>
          <p:nvPr/>
        </p:nvSpPr>
        <p:spPr>
          <a:xfrm>
            <a:off x="63230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Large market</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9B8EC4"/>
                </a:solidFill>
                <a:latin typeface="Calibri"/>
              </a:rPr>
              <a:t>TAM</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5C4E7A"/>
                </a:solidFill>
                <a:latin typeface="Calibri"/>
              </a:rPr>
              <a:t>Total Financial Infrastructure market</a:t>
            </a:r>
          </a:p>
        </p:txBody>
      </p:sp>
      <p:sp>
        <p:nvSpPr>
          <p:cNvPr id="10" name="Rectangle 9"/>
          <p:cNvSpPr/>
          <p:nvPr/>
        </p:nvSpPr>
        <p:spPr>
          <a:xfrm>
            <a:off x="342122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Significant SAM</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9B8EC4"/>
                </a:solidFill>
                <a:latin typeface="Calibri"/>
              </a:rPr>
              <a:t>SAM</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5C4E7A"/>
                </a:solidFill>
                <a:latin typeface="Calibri"/>
              </a:rPr>
              <a:t>Serviceable addressable market</a:t>
            </a:r>
          </a:p>
        </p:txBody>
      </p:sp>
      <p:sp>
        <p:nvSpPr>
          <p:cNvPr id="14" name="Rectangle 13"/>
          <p:cNvSpPr/>
          <p:nvPr/>
        </p:nvSpPr>
        <p:spPr>
          <a:xfrm>
            <a:off x="621014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Achievable SOM</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9B8EC4"/>
                </a:solidFill>
                <a:latin typeface="Calibri"/>
              </a:rPr>
              <a:t>SOM (Y3)</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5C4E7A"/>
                </a:solidFill>
                <a:latin typeface="Calibri"/>
              </a:rPr>
              <a:t>3-year capture target</a:t>
            </a:r>
          </a:p>
        </p:txBody>
      </p:sp>
      <p:sp>
        <p:nvSpPr>
          <p:cNvPr id="18" name="Rectangle 17"/>
          <p:cNvSpPr/>
          <p:nvPr/>
        </p:nvSpPr>
        <p:spPr>
          <a:xfrm>
            <a:off x="899906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Strong double-digit CAGR</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9B8EC4"/>
                </a:solidFill>
                <a:latin typeface="Calibri"/>
              </a:rPr>
              <a:t>CAGR</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5C4E7A"/>
                </a:solidFill>
                <a:latin typeface="Calibri"/>
              </a:rPr>
              <a:t>Market growth rate 2024–2030</a:t>
            </a:r>
          </a:p>
        </p:txBody>
      </p:sp>
      <p:sp>
        <p:nvSpPr>
          <p:cNvPr id="22" name="TextBox 21"/>
          <p:cNvSpPr txBox="1"/>
          <p:nvPr/>
        </p:nvSpPr>
        <p:spPr>
          <a:xfrm>
            <a:off x="731520" y="4572000"/>
            <a:ext cx="10698480" cy="822960"/>
          </a:xfrm>
          <a:prstGeom prst="rect">
            <a:avLst/>
          </a:prstGeom>
          <a:noFill/>
        </p:spPr>
        <p:txBody>
          <a:bodyPr wrap="square">
            <a:spAutoFit/>
          </a:bodyPr>
          <a:lstStyle/>
          <a:p>
            <a:pPr algn="l"/>
            <a:r>
              <a:rPr sz="1400" b="0">
                <a:solidFill>
                  <a:srgbClr val="9B8EC4"/>
                </a:solidFill>
                <a:latin typeface="Calibri"/>
              </a:rPr>
              <a:t>The Financial Infrastructure market is undergoing rapid transformation driven by digital adoption and AI integration. Companies in this space face mounting pressure to modernize legacy workflows, creating significant demand for purpose-built solutions. Stripe is positioned at the center of this shift. The convergence of affordable AI infrastructure and widespread cloud adoption has created a window for Stripe to displace entrenched legacy vendors in the Financial Infrastructure market — a transition that was cost-prohibitive just 3 years ago.</a:t>
            </a:r>
          </a:p>
        </p:txBody>
      </p:sp>
      <p:sp>
        <p:nvSpPr>
          <p:cNvPr id="23" name="TextBox 22"/>
          <p:cNvSpPr txBox="1"/>
          <p:nvPr/>
        </p:nvSpPr>
        <p:spPr>
          <a:xfrm>
            <a:off x="914400" y="5394960"/>
            <a:ext cx="10332720" cy="365760"/>
          </a:xfrm>
          <a:prstGeom prst="rect">
            <a:avLst/>
          </a:prstGeom>
          <a:noFill/>
        </p:spPr>
        <p:txBody>
          <a:bodyPr wrap="square">
            <a:spAutoFit/>
          </a:bodyPr>
          <a:lstStyle/>
          <a:p>
            <a:pPr algn="l"/>
            <a:r>
              <a:rPr sz="1300" b="0">
                <a:solidFill>
                  <a:srgbClr val="9B8EC4"/>
                </a:solidFill>
                <a:latin typeface="Calibri"/>
              </a:rPr>
              <a:t>›  Digital transformation accelerating across Financial Infrastructure — 70%+ of enterprises increasing tech spend</a:t>
            </a:r>
          </a:p>
        </p:txBody>
      </p:sp>
      <p:sp>
        <p:nvSpPr>
          <p:cNvPr id="24" name="TextBox 23"/>
          <p:cNvSpPr txBox="1"/>
          <p:nvPr/>
        </p:nvSpPr>
        <p:spPr>
          <a:xfrm>
            <a:off x="914400" y="5806440"/>
            <a:ext cx="10332720" cy="365760"/>
          </a:xfrm>
          <a:prstGeom prst="rect">
            <a:avLst/>
          </a:prstGeom>
          <a:noFill/>
        </p:spPr>
        <p:txBody>
          <a:bodyPr wrap="square">
            <a:spAutoFit/>
          </a:bodyPr>
          <a:lstStyle/>
          <a:p>
            <a:pPr algn="l"/>
            <a:r>
              <a:rPr sz="1300" b="0">
                <a:solidFill>
                  <a:srgbClr val="9B8EC4"/>
                </a:solidFill>
                <a:latin typeface="Calibri"/>
              </a:rPr>
              <a:t>›  AI and automation unlocking new efficiency gains previously unavailable to this sector</a:t>
            </a:r>
          </a:p>
        </p:txBody>
      </p:sp>
      <p:sp>
        <p:nvSpPr>
          <p:cNvPr id="25" name="TextBox 24"/>
          <p:cNvSpPr txBox="1"/>
          <p:nvPr/>
        </p:nvSpPr>
        <p:spPr>
          <a:xfrm>
            <a:off x="914400" y="6217920"/>
            <a:ext cx="10332720" cy="365760"/>
          </a:xfrm>
          <a:prstGeom prst="rect">
            <a:avLst/>
          </a:prstGeom>
          <a:noFill/>
        </p:spPr>
        <p:txBody>
          <a:bodyPr wrap="square">
            <a:spAutoFit/>
          </a:bodyPr>
          <a:lstStyle/>
          <a:p>
            <a:pPr algn="l"/>
            <a:r>
              <a:rPr sz="1300" b="0">
                <a:solidFill>
                  <a:srgbClr val="9B8EC4"/>
                </a:solidFill>
                <a:latin typeface="Calibri"/>
              </a:rPr>
              <a:t>›  Shift from fragmented point solutions to integrated platforms reducing total cost of ownership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BUSINESS MODEL</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Business Model</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How we generate and grow revenue</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Subscription</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031323"/>
                </a:solidFill>
                <a:latin typeface="Calibri"/>
              </a:rPr>
              <a:t>Primary</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9B8EC4"/>
                </a:solidFill>
                <a:latin typeface="Calibri"/>
              </a:rPr>
              <a:t>Technology services / SaaS</a:t>
            </a:r>
          </a:p>
        </p:txBody>
      </p:sp>
      <p:sp>
        <p:nvSpPr>
          <p:cNvPr id="11" name="Rectangle 10"/>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Services</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000000"/>
                </a:solidFill>
                <a:latin typeface="Calibri"/>
              </a:rPr>
              <a:t>Secondary</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9B8EC4"/>
                </a:solidFill>
                <a:latin typeface="Calibri"/>
              </a:rPr>
              <a:t>Implementation and professional services</a:t>
            </a:r>
          </a:p>
        </p:txBody>
      </p:sp>
      <p:sp>
        <p:nvSpPr>
          <p:cNvPr id="16" name="Rectangle 15"/>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Expansion</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7B2CBF"/>
                </a:solidFill>
                <a:latin typeface="Calibri"/>
              </a:rPr>
              <a:t>Growth motion</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9B8EC4"/>
                </a:solidFill>
                <a:latin typeface="Calibri"/>
              </a:rPr>
              <a:t>Land-and-expand within accounts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TRACTION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Traction</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Early momentum and market validation</a:t>
            </a:r>
          </a:p>
        </p:txBody>
      </p:sp>
      <p:sp>
        <p:nvSpPr>
          <p:cNvPr id="6" name="Rectangle 5"/>
          <p:cNvSpPr/>
          <p:nvPr/>
        </p:nvSpPr>
        <p:spPr>
          <a:xfrm>
            <a:off x="342122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Growing</a:t>
            </a:r>
          </a:p>
        </p:txBody>
      </p:sp>
      <p:sp>
        <p:nvSpPr>
          <p:cNvPr id="8" name="TextBox 7"/>
          <p:cNvSpPr txBox="1"/>
          <p:nvPr/>
        </p:nvSpPr>
        <p:spPr>
          <a:xfrm>
            <a:off x="3558387" y="3246120"/>
            <a:ext cx="2286000" cy="411480"/>
          </a:xfrm>
          <a:prstGeom prst="rect">
            <a:avLst/>
          </a:prstGeom>
          <a:noFill/>
        </p:spPr>
        <p:txBody>
          <a:bodyPr wrap="square">
            <a:spAutoFit/>
          </a:bodyPr>
          <a:lstStyle/>
          <a:p>
            <a:pPr algn="ctr"/>
            <a:r>
              <a:rPr sz="1200" b="0">
                <a:solidFill>
                  <a:srgbClr val="9B8EC4"/>
                </a:solidFill>
                <a:latin typeface="Calibri"/>
              </a:rPr>
              <a:t>Momentum</a:t>
            </a:r>
          </a:p>
        </p:txBody>
      </p:sp>
      <p:sp>
        <p:nvSpPr>
          <p:cNvPr id="9" name="TextBox 8"/>
          <p:cNvSpPr txBox="1"/>
          <p:nvPr/>
        </p:nvSpPr>
        <p:spPr>
          <a:xfrm>
            <a:off x="3512667" y="3657600"/>
            <a:ext cx="2377440" cy="457200"/>
          </a:xfrm>
          <a:prstGeom prst="rect">
            <a:avLst/>
          </a:prstGeom>
          <a:noFill/>
        </p:spPr>
        <p:txBody>
          <a:bodyPr wrap="square">
            <a:spAutoFit/>
          </a:bodyPr>
          <a:lstStyle/>
          <a:p>
            <a:pPr algn="ctr"/>
            <a:r>
              <a:rPr sz="1000" b="0">
                <a:solidFill>
                  <a:srgbClr val="5C4E7A"/>
                </a:solidFill>
                <a:latin typeface="Calibri"/>
              </a:rPr>
              <a:t>Early customers engaged</a:t>
            </a:r>
          </a:p>
        </p:txBody>
      </p:sp>
      <p:sp>
        <p:nvSpPr>
          <p:cNvPr id="10" name="Rectangle 9"/>
          <p:cNvSpPr/>
          <p:nvPr/>
        </p:nvSpPr>
        <p:spPr>
          <a:xfrm>
            <a:off x="621014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Strong double-digit CAGR</a:t>
            </a:r>
          </a:p>
        </p:txBody>
      </p:sp>
      <p:sp>
        <p:nvSpPr>
          <p:cNvPr id="12" name="TextBox 11"/>
          <p:cNvSpPr txBox="1"/>
          <p:nvPr/>
        </p:nvSpPr>
        <p:spPr>
          <a:xfrm>
            <a:off x="6347307" y="3246120"/>
            <a:ext cx="2286000" cy="411480"/>
          </a:xfrm>
          <a:prstGeom prst="rect">
            <a:avLst/>
          </a:prstGeom>
          <a:noFill/>
        </p:spPr>
        <p:txBody>
          <a:bodyPr wrap="square">
            <a:spAutoFit/>
          </a:bodyPr>
          <a:lstStyle/>
          <a:p>
            <a:pPr algn="ctr"/>
            <a:r>
              <a:rPr sz="1200" b="0">
                <a:solidFill>
                  <a:srgbClr val="9B8EC4"/>
                </a:solidFill>
                <a:latin typeface="Calibri"/>
              </a:rPr>
              <a:t>Growth</a:t>
            </a:r>
          </a:p>
        </p:txBody>
      </p:sp>
      <p:sp>
        <p:nvSpPr>
          <p:cNvPr id="13" name="TextBox 12"/>
          <p:cNvSpPr txBox="1"/>
          <p:nvPr/>
        </p:nvSpPr>
        <p:spPr>
          <a:xfrm>
            <a:off x="6301587" y="3657600"/>
            <a:ext cx="2377440" cy="457200"/>
          </a:xfrm>
          <a:prstGeom prst="rect">
            <a:avLst/>
          </a:prstGeom>
          <a:noFill/>
        </p:spPr>
        <p:txBody>
          <a:bodyPr wrap="square">
            <a:spAutoFit/>
          </a:bodyPr>
          <a:lstStyle/>
          <a:p>
            <a:pPr algn="ctr"/>
            <a:r>
              <a:rPr sz="1000" b="0">
                <a:solidFill>
                  <a:srgbClr val="5C4E7A"/>
                </a:solidFill>
                <a:latin typeface="Calibri"/>
              </a:rPr>
              <a:t>Market tailwind</a:t>
            </a:r>
          </a:p>
        </p:txBody>
      </p:sp>
      <p:sp>
        <p:nvSpPr>
          <p:cNvPr id="14" name="TextBox 13"/>
          <p:cNvSpPr txBox="1"/>
          <p:nvPr/>
        </p:nvSpPr>
        <p:spPr>
          <a:xfrm>
            <a:off x="731520" y="4572000"/>
            <a:ext cx="10698480" cy="822960"/>
          </a:xfrm>
          <a:prstGeom prst="rect">
            <a:avLst/>
          </a:prstGeom>
          <a:noFill/>
        </p:spPr>
        <p:txBody>
          <a:bodyPr wrap="square">
            <a:spAutoFit/>
          </a:bodyPr>
          <a:lstStyle/>
          <a:p>
            <a:pPr algn="l"/>
            <a:r>
              <a:rPr sz="1400" b="0">
                <a:solidFill>
                  <a:srgbClr val="9B8EC4"/>
                </a:solidFill>
                <a:latin typeface="Calibri"/>
              </a:rPr>
              <a:t>First customers signed, design partners engaged, waitlist building.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GO TO MARKET</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Go-to-Market Strategy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How we acquire, expand, and retain customers</a:t>
            </a:r>
          </a:p>
        </p:txBody>
      </p:sp>
      <p:sp>
        <p:nvSpPr>
          <p:cNvPr id="6" name="Oval 5"/>
          <p:cNvSpPr/>
          <p:nvPr/>
        </p:nvSpPr>
        <p:spPr>
          <a:xfrm>
            <a:off x="731520" y="2048256"/>
            <a:ext cx="109728" cy="109728"/>
          </a:xfrm>
          <a:prstGeom prst="ellipse">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920240"/>
            <a:ext cx="5010912" cy="512064"/>
          </a:xfrm>
          <a:prstGeom prst="rect">
            <a:avLst/>
          </a:prstGeom>
          <a:noFill/>
        </p:spPr>
        <p:txBody>
          <a:bodyPr wrap="square">
            <a:spAutoFit/>
          </a:bodyPr>
          <a:lstStyle/>
          <a:p>
            <a:pPr algn="l"/>
            <a:r>
              <a:rPr sz="1400" b="0">
                <a:solidFill>
                  <a:srgbClr val="9B8EC4"/>
                </a:solidFill>
                <a:latin typeface="Calibri"/>
              </a:rPr>
              <a:t>Direct outbound targeting VP-level buyers in key verticals</a:t>
            </a:r>
          </a:p>
        </p:txBody>
      </p:sp>
      <p:sp>
        <p:nvSpPr>
          <p:cNvPr id="8" name="Oval 7"/>
          <p:cNvSpPr/>
          <p:nvPr/>
        </p:nvSpPr>
        <p:spPr>
          <a:xfrm>
            <a:off x="731520" y="2615184"/>
            <a:ext cx="109728" cy="109728"/>
          </a:xfrm>
          <a:prstGeom prst="ellipse">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487168"/>
            <a:ext cx="5010912" cy="512064"/>
          </a:xfrm>
          <a:prstGeom prst="rect">
            <a:avLst/>
          </a:prstGeom>
          <a:noFill/>
        </p:spPr>
        <p:txBody>
          <a:bodyPr wrap="square">
            <a:spAutoFit/>
          </a:bodyPr>
          <a:lstStyle/>
          <a:p>
            <a:pPr algn="l"/>
            <a:r>
              <a:rPr sz="1400" b="0">
                <a:solidFill>
                  <a:srgbClr val="9B8EC4"/>
                </a:solidFill>
                <a:latin typeface="Calibri"/>
              </a:rPr>
              <a:t>Content marketing and SEO to capture inbound demand</a:t>
            </a:r>
          </a:p>
        </p:txBody>
      </p:sp>
      <p:sp>
        <p:nvSpPr>
          <p:cNvPr id="10" name="Oval 9"/>
          <p:cNvSpPr/>
          <p:nvPr/>
        </p:nvSpPr>
        <p:spPr>
          <a:xfrm>
            <a:off x="6400800" y="2048256"/>
            <a:ext cx="109728" cy="10972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1968" y="1920240"/>
            <a:ext cx="5010912" cy="512064"/>
          </a:xfrm>
          <a:prstGeom prst="rect">
            <a:avLst/>
          </a:prstGeom>
          <a:noFill/>
        </p:spPr>
        <p:txBody>
          <a:bodyPr wrap="square">
            <a:spAutoFit/>
          </a:bodyPr>
          <a:lstStyle/>
          <a:p>
            <a:pPr algn="l"/>
            <a:r>
              <a:rPr sz="1400" b="0">
                <a:solidFill>
                  <a:srgbClr val="9B8EC4"/>
                </a:solidFill>
                <a:latin typeface="Calibri"/>
              </a:rPr>
              <a:t>Strategic partnerships with complementary tools</a:t>
            </a:r>
          </a:p>
        </p:txBody>
      </p:sp>
      <p:sp>
        <p:nvSpPr>
          <p:cNvPr id="12" name="Oval 11"/>
          <p:cNvSpPr/>
          <p:nvPr/>
        </p:nvSpPr>
        <p:spPr>
          <a:xfrm>
            <a:off x="6400800" y="2615184"/>
            <a:ext cx="109728" cy="109728"/>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01968" y="2487168"/>
            <a:ext cx="5010912" cy="512064"/>
          </a:xfrm>
          <a:prstGeom prst="rect">
            <a:avLst/>
          </a:prstGeom>
          <a:noFill/>
        </p:spPr>
        <p:txBody>
          <a:bodyPr wrap="square">
            <a:spAutoFit/>
          </a:bodyPr>
          <a:lstStyle/>
          <a:p>
            <a:pPr algn="l"/>
            <a:r>
              <a:rPr sz="1400" b="0">
                <a:solidFill>
                  <a:srgbClr val="9B8EC4"/>
                </a:solidFill>
                <a:latin typeface="Calibri"/>
              </a:rPr>
              <a:t>Land-and-expand to grow within accounts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COMPETITIVE LANDSCAPE</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Competitive Landscape</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Why we win against alternatives</a:t>
            </a:r>
          </a:p>
        </p:txBody>
      </p:sp>
      <p:sp>
        <p:nvSpPr>
          <p:cNvPr id="6" name="Rectangle 5"/>
          <p:cNvSpPr/>
          <p:nvPr/>
        </p:nvSpPr>
        <p:spPr>
          <a:xfrm>
            <a:off x="640080" y="1737360"/>
            <a:ext cx="5303520" cy="411480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737360"/>
            <a:ext cx="5303520" cy="64008"/>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4937760" cy="502920"/>
          </a:xfrm>
          <a:prstGeom prst="rect">
            <a:avLst/>
          </a:prstGeom>
          <a:noFill/>
        </p:spPr>
        <p:txBody>
          <a:bodyPr wrap="square">
            <a:spAutoFit/>
          </a:bodyPr>
          <a:lstStyle/>
          <a:p>
            <a:pPr algn="l"/>
            <a:r>
              <a:rPr sz="1800" b="1">
                <a:solidFill>
                  <a:srgbClr val="F5F3FF"/>
                </a:solidFill>
                <a:latin typeface="Calibri"/>
              </a:rPr>
              <a:t>Stripe</a:t>
            </a:r>
          </a:p>
        </p:txBody>
      </p:sp>
      <p:sp>
        <p:nvSpPr>
          <p:cNvPr id="9" name="TextBox 8"/>
          <p:cNvSpPr txBox="1"/>
          <p:nvPr/>
        </p:nvSpPr>
        <p:spPr>
          <a:xfrm>
            <a:off x="822960" y="2468880"/>
            <a:ext cx="4937760" cy="502920"/>
          </a:xfrm>
          <a:prstGeom prst="rect">
            <a:avLst/>
          </a:prstGeom>
          <a:noFill/>
        </p:spPr>
        <p:txBody>
          <a:bodyPr wrap="square">
            <a:spAutoFit/>
          </a:bodyPr>
          <a:lstStyle/>
          <a:p>
            <a:pPr algn="l"/>
            <a:r>
              <a:rPr sz="2400" b="1">
                <a:solidFill>
                  <a:srgbClr val="031323"/>
                </a:solidFill>
                <a:latin typeface="Calibri"/>
              </a:rPr>
              <a:t>Purpose-built &amp; modern</a:t>
            </a:r>
          </a:p>
        </p:txBody>
      </p:sp>
      <p:sp>
        <p:nvSpPr>
          <p:cNvPr id="10" name="TextBox 9"/>
          <p:cNvSpPr txBox="1"/>
          <p:nvPr/>
        </p:nvSpPr>
        <p:spPr>
          <a:xfrm>
            <a:off x="914400" y="3017520"/>
            <a:ext cx="4846320" cy="438912"/>
          </a:xfrm>
          <a:prstGeom prst="rect">
            <a:avLst/>
          </a:prstGeom>
          <a:noFill/>
        </p:spPr>
        <p:txBody>
          <a:bodyPr wrap="square">
            <a:spAutoFit/>
          </a:bodyPr>
          <a:lstStyle/>
          <a:p>
            <a:pPr algn="l"/>
            <a:r>
              <a:rPr sz="1300" b="0">
                <a:solidFill>
                  <a:srgbClr val="9B8EC4"/>
                </a:solidFill>
                <a:latin typeface="Calibri"/>
              </a:rPr>
              <a:t>•  Stripe's purpose-built approach vs. horizontal tools</a:t>
            </a:r>
          </a:p>
        </p:txBody>
      </p:sp>
      <p:sp>
        <p:nvSpPr>
          <p:cNvPr id="11" name="TextBox 10"/>
          <p:cNvSpPr txBox="1"/>
          <p:nvPr/>
        </p:nvSpPr>
        <p:spPr>
          <a:xfrm>
            <a:off x="914400" y="3456432"/>
            <a:ext cx="4846320" cy="438912"/>
          </a:xfrm>
          <a:prstGeom prst="rect">
            <a:avLst/>
          </a:prstGeom>
          <a:noFill/>
        </p:spPr>
        <p:txBody>
          <a:bodyPr wrap="square">
            <a:spAutoFit/>
          </a:bodyPr>
          <a:lstStyle/>
          <a:p>
            <a:pPr algn="l"/>
            <a:r>
              <a:rPr sz="1300" b="0">
                <a:solidFill>
                  <a:srgbClr val="9B8EC4"/>
                </a:solidFill>
                <a:latin typeface="Calibri"/>
              </a:rPr>
              <a:t>•  Faster time-to-value with modern architecture</a:t>
            </a:r>
          </a:p>
        </p:txBody>
      </p:sp>
      <p:sp>
        <p:nvSpPr>
          <p:cNvPr id="12" name="TextBox 11"/>
          <p:cNvSpPr txBox="1"/>
          <p:nvPr/>
        </p:nvSpPr>
        <p:spPr>
          <a:xfrm>
            <a:off x="914400" y="3895344"/>
            <a:ext cx="4846320" cy="438912"/>
          </a:xfrm>
          <a:prstGeom prst="rect">
            <a:avLst/>
          </a:prstGeom>
          <a:noFill/>
        </p:spPr>
        <p:txBody>
          <a:bodyPr wrap="square">
            <a:spAutoFit/>
          </a:bodyPr>
          <a:lstStyle/>
          <a:p>
            <a:pPr algn="l"/>
            <a:r>
              <a:rPr sz="1300" b="0">
                <a:solidFill>
                  <a:srgbClr val="9B8EC4"/>
                </a:solidFill>
                <a:latin typeface="Calibri"/>
              </a:rPr>
              <a:t>•  AI-native design vs. retrofitted legacy systems</a:t>
            </a:r>
          </a:p>
        </p:txBody>
      </p:sp>
      <p:sp>
        <p:nvSpPr>
          <p:cNvPr id="13" name="Rectangle 12"/>
          <p:cNvSpPr/>
          <p:nvPr/>
        </p:nvSpPr>
        <p:spPr>
          <a:xfrm>
            <a:off x="6400800" y="1737360"/>
            <a:ext cx="5303520" cy="4114800"/>
          </a:xfrm>
          <a:prstGeom prst="rect">
            <a:avLst/>
          </a:prstGeom>
          <a:solidFill>
            <a:srgbClr val="1A1130"/>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737360"/>
            <a:ext cx="5303520" cy="640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920240"/>
            <a:ext cx="4937760" cy="502920"/>
          </a:xfrm>
          <a:prstGeom prst="rect">
            <a:avLst/>
          </a:prstGeom>
          <a:noFill/>
        </p:spPr>
        <p:txBody>
          <a:bodyPr wrap="square">
            <a:spAutoFit/>
          </a:bodyPr>
          <a:lstStyle/>
          <a:p>
            <a:pPr algn="l"/>
            <a:r>
              <a:rPr sz="1800" b="1">
                <a:solidFill>
                  <a:srgbClr val="F5F3FF"/>
                </a:solidFill>
                <a:latin typeface="Calibri"/>
              </a:rPr>
              <a:t>Existing Solutions</a:t>
            </a:r>
          </a:p>
        </p:txBody>
      </p:sp>
      <p:sp>
        <p:nvSpPr>
          <p:cNvPr id="16" name="TextBox 15"/>
          <p:cNvSpPr txBox="1"/>
          <p:nvPr/>
        </p:nvSpPr>
        <p:spPr>
          <a:xfrm>
            <a:off x="6583680" y="2468880"/>
            <a:ext cx="4937760" cy="502920"/>
          </a:xfrm>
          <a:prstGeom prst="rect">
            <a:avLst/>
          </a:prstGeom>
          <a:noFill/>
        </p:spPr>
        <p:txBody>
          <a:bodyPr wrap="square">
            <a:spAutoFit/>
          </a:bodyPr>
          <a:lstStyle/>
          <a:p>
            <a:pPr algn="l"/>
            <a:r>
              <a:rPr sz="2400" b="1">
                <a:solidFill>
                  <a:srgbClr val="000000"/>
                </a:solidFill>
                <a:latin typeface="Calibri"/>
              </a:rPr>
              <a:t>Legacy &amp; fragmented</a:t>
            </a:r>
          </a:p>
        </p:txBody>
      </p:sp>
      <p:sp>
        <p:nvSpPr>
          <p:cNvPr id="17" name="TextBox 16"/>
          <p:cNvSpPr txBox="1"/>
          <p:nvPr/>
        </p:nvSpPr>
        <p:spPr>
          <a:xfrm>
            <a:off x="6675120" y="3017520"/>
            <a:ext cx="4846320" cy="438912"/>
          </a:xfrm>
          <a:prstGeom prst="rect">
            <a:avLst/>
          </a:prstGeom>
          <a:noFill/>
        </p:spPr>
        <p:txBody>
          <a:bodyPr wrap="square">
            <a:spAutoFit/>
          </a:bodyPr>
          <a:lstStyle/>
          <a:p>
            <a:pPr algn="l"/>
            <a:r>
              <a:rPr sz="1300" b="0">
                <a:solidFill>
                  <a:srgbClr val="9B8EC4"/>
                </a:solidFill>
                <a:latin typeface="Calibri"/>
              </a:rPr>
              <a:t>•  Existing solutions: Slow and expensive</a:t>
            </a:r>
          </a:p>
        </p:txBody>
      </p:sp>
      <p:sp>
        <p:nvSpPr>
          <p:cNvPr id="18" name="TextBox 17"/>
          <p:cNvSpPr txBox="1"/>
          <p:nvPr/>
        </p:nvSpPr>
        <p:spPr>
          <a:xfrm>
            <a:off x="6675120" y="3456432"/>
            <a:ext cx="4846320" cy="438912"/>
          </a:xfrm>
          <a:prstGeom prst="rect">
            <a:avLst/>
          </a:prstGeom>
          <a:noFill/>
        </p:spPr>
        <p:txBody>
          <a:bodyPr wrap="square">
            <a:spAutoFit/>
          </a:bodyPr>
          <a:lstStyle/>
          <a:p>
            <a:pPr algn="l"/>
            <a:r>
              <a:rPr sz="1300" b="0">
                <a:solidFill>
                  <a:srgbClr val="9B8EC4"/>
                </a:solidFill>
                <a:latin typeface="Calibri"/>
              </a:rPr>
              <a:t>•  Generic platforms: Not purpose-built</a:t>
            </a:r>
          </a:p>
        </p:txBody>
      </p:sp>
      <p:sp>
        <p:nvSpPr>
          <p:cNvPr id="19" name="Rectangle 18"/>
          <p:cNvSpPr/>
          <p:nvPr/>
        </p:nvSpPr>
        <p:spPr>
          <a:xfrm>
            <a:off x="6144768" y="2011680"/>
            <a:ext cx="27432" cy="3566160"/>
          </a:xfrm>
          <a:prstGeom prst="rect">
            <a:avLst/>
          </a:prstGeom>
          <a:solidFill>
            <a:srgbClr val="2A1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TEAM</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Team</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Domain expertise meets execution track record</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Founder &amp; CEO</a:t>
            </a:r>
          </a:p>
        </p:txBody>
      </p:sp>
      <p:sp>
        <p:nvSpPr>
          <p:cNvPr id="9" name="TextBox 8"/>
          <p:cNvSpPr txBox="1"/>
          <p:nvPr/>
        </p:nvSpPr>
        <p:spPr>
          <a:xfrm>
            <a:off x="1935327" y="2697480"/>
            <a:ext cx="2377440" cy="2331720"/>
          </a:xfrm>
          <a:prstGeom prst="rect">
            <a:avLst/>
          </a:prstGeom>
          <a:noFill/>
        </p:spPr>
        <p:txBody>
          <a:bodyPr wrap="square">
            <a:spAutoFit/>
          </a:bodyPr>
          <a:lstStyle/>
          <a:p>
            <a:pPr algn="l"/>
            <a:r>
              <a:rPr sz="1300" b="0">
                <a:solidFill>
                  <a:srgbClr val="9B8EC4"/>
                </a:solidFill>
                <a:latin typeface="Calibri"/>
              </a:rPr>
              <a:t>Experienced founder with deep domain expertise in the industry</a:t>
            </a:r>
          </a:p>
        </p:txBody>
      </p:sp>
      <p:sp>
        <p:nvSpPr>
          <p:cNvPr id="10" name="Rectangle 9"/>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24247" y="1920240"/>
            <a:ext cx="2743200" cy="5486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Head of Product</a:t>
            </a:r>
          </a:p>
        </p:txBody>
      </p:sp>
      <p:sp>
        <p:nvSpPr>
          <p:cNvPr id="13" name="TextBox 12"/>
          <p:cNvSpPr txBox="1"/>
          <p:nvPr/>
        </p:nvSpPr>
        <p:spPr>
          <a:xfrm>
            <a:off x="4907127" y="2697480"/>
            <a:ext cx="2377440" cy="2331720"/>
          </a:xfrm>
          <a:prstGeom prst="rect">
            <a:avLst/>
          </a:prstGeom>
          <a:noFill/>
        </p:spPr>
        <p:txBody>
          <a:bodyPr wrap="square">
            <a:spAutoFit/>
          </a:bodyPr>
          <a:lstStyle/>
          <a:p>
            <a:pPr algn="l"/>
            <a:r>
              <a:rPr sz="1300" b="0">
                <a:solidFill>
                  <a:srgbClr val="9B8EC4"/>
                </a:solidFill>
                <a:latin typeface="Calibri"/>
              </a:rPr>
              <a:t>Product leader with a track record of shipping customer-loved software</a:t>
            </a:r>
          </a:p>
        </p:txBody>
      </p:sp>
      <p:sp>
        <p:nvSpPr>
          <p:cNvPr id="14" name="Rectangle 13"/>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Head of Sales</a:t>
            </a:r>
          </a:p>
        </p:txBody>
      </p:sp>
      <p:sp>
        <p:nvSpPr>
          <p:cNvPr id="17" name="TextBox 16"/>
          <p:cNvSpPr txBox="1"/>
          <p:nvPr/>
        </p:nvSpPr>
        <p:spPr>
          <a:xfrm>
            <a:off x="7878927" y="2697480"/>
            <a:ext cx="2377440" cy="2331720"/>
          </a:xfrm>
          <a:prstGeom prst="rect">
            <a:avLst/>
          </a:prstGeom>
          <a:noFill/>
        </p:spPr>
        <p:txBody>
          <a:bodyPr wrap="square">
            <a:spAutoFit/>
          </a:bodyPr>
          <a:lstStyle/>
          <a:p>
            <a:pPr algn="l"/>
            <a:r>
              <a:rPr sz="1300" b="0">
                <a:solidFill>
                  <a:srgbClr val="9B8EC4"/>
                </a:solidFill>
                <a:latin typeface="Calibri"/>
              </a:rPr>
              <a:t>Enterprise sales leader with experience scaling ARR from 0 to $10M+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FINANCIALS</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Financial Projections</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Path to scale with clear milestones</a:t>
            </a:r>
          </a:p>
        </p:txBody>
      </p:sp>
      <p:sp>
        <p:nvSpPr>
          <p:cNvPr id="6" name="Rectangle 5"/>
          <p:cNvSpPr/>
          <p:nvPr/>
        </p:nvSpPr>
        <p:spPr>
          <a:xfrm>
            <a:off x="202676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63927" y="2331720"/>
            <a:ext cx="2286000" cy="914400"/>
          </a:xfrm>
          <a:prstGeom prst="rect">
            <a:avLst/>
          </a:prstGeom>
          <a:noFill/>
        </p:spPr>
        <p:txBody>
          <a:bodyPr wrap="square">
            <a:spAutoFit/>
          </a:bodyPr>
          <a:lstStyle/>
          <a:p>
            <a:pPr algn="ctr"/>
            <a:r>
              <a:rPr sz="3400" b="1">
                <a:solidFill>
                  <a:srgbClr val="F5F3FF"/>
                </a:solidFill>
                <a:latin typeface="Calibri"/>
              </a:rPr>
              <a:t>$500K</a:t>
            </a:r>
          </a:p>
        </p:txBody>
      </p:sp>
      <p:sp>
        <p:nvSpPr>
          <p:cNvPr id="8" name="TextBox 7"/>
          <p:cNvSpPr txBox="1"/>
          <p:nvPr/>
        </p:nvSpPr>
        <p:spPr>
          <a:xfrm>
            <a:off x="2163927" y="3246120"/>
            <a:ext cx="2286000" cy="411480"/>
          </a:xfrm>
          <a:prstGeom prst="rect">
            <a:avLst/>
          </a:prstGeom>
          <a:noFill/>
        </p:spPr>
        <p:txBody>
          <a:bodyPr wrap="square">
            <a:spAutoFit/>
          </a:bodyPr>
          <a:lstStyle/>
          <a:p>
            <a:pPr algn="ctr"/>
            <a:r>
              <a:rPr sz="1200" b="0">
                <a:solidFill>
                  <a:srgbClr val="9B8EC4"/>
                </a:solidFill>
                <a:latin typeface="Calibri"/>
              </a:rPr>
              <a:t>Conservative Y1</a:t>
            </a:r>
          </a:p>
        </p:txBody>
      </p:sp>
      <p:sp>
        <p:nvSpPr>
          <p:cNvPr id="9" name="TextBox 8"/>
          <p:cNvSpPr txBox="1"/>
          <p:nvPr/>
        </p:nvSpPr>
        <p:spPr>
          <a:xfrm>
            <a:off x="2118207" y="3657600"/>
            <a:ext cx="2377440" cy="457200"/>
          </a:xfrm>
          <a:prstGeom prst="rect">
            <a:avLst/>
          </a:prstGeom>
          <a:noFill/>
        </p:spPr>
        <p:txBody>
          <a:bodyPr wrap="square">
            <a:spAutoFit/>
          </a:bodyPr>
          <a:lstStyle/>
          <a:p>
            <a:pPr algn="ctr"/>
            <a:r>
              <a:rPr sz="1000" b="0">
                <a:solidFill>
                  <a:srgbClr val="5C4E7A"/>
                </a:solidFill>
                <a:latin typeface="Calibri"/>
              </a:rPr>
              <a:t>50 customers at $10K ACV</a:t>
            </a:r>
          </a:p>
        </p:txBody>
      </p:sp>
      <p:sp>
        <p:nvSpPr>
          <p:cNvPr id="10" name="Rectangle 9"/>
          <p:cNvSpPr/>
          <p:nvPr/>
        </p:nvSpPr>
        <p:spPr>
          <a:xfrm>
            <a:off x="481568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52847" y="2331720"/>
            <a:ext cx="2286000" cy="914400"/>
          </a:xfrm>
          <a:prstGeom prst="rect">
            <a:avLst/>
          </a:prstGeom>
          <a:noFill/>
        </p:spPr>
        <p:txBody>
          <a:bodyPr wrap="square">
            <a:spAutoFit/>
          </a:bodyPr>
          <a:lstStyle/>
          <a:p>
            <a:pPr algn="ctr"/>
            <a:r>
              <a:rPr sz="3400" b="1">
                <a:solidFill>
                  <a:srgbClr val="F5F3FF"/>
                </a:solidFill>
                <a:latin typeface="Calibri"/>
              </a:rPr>
              <a:t>$2M</a:t>
            </a:r>
          </a:p>
        </p:txBody>
      </p:sp>
      <p:sp>
        <p:nvSpPr>
          <p:cNvPr id="12" name="TextBox 11"/>
          <p:cNvSpPr txBox="1"/>
          <p:nvPr/>
        </p:nvSpPr>
        <p:spPr>
          <a:xfrm>
            <a:off x="4952847" y="3246120"/>
            <a:ext cx="2286000" cy="411480"/>
          </a:xfrm>
          <a:prstGeom prst="rect">
            <a:avLst/>
          </a:prstGeom>
          <a:noFill/>
        </p:spPr>
        <p:txBody>
          <a:bodyPr wrap="square">
            <a:spAutoFit/>
          </a:bodyPr>
          <a:lstStyle/>
          <a:p>
            <a:pPr algn="ctr"/>
            <a:r>
              <a:rPr sz="1200" b="0">
                <a:solidFill>
                  <a:srgbClr val="9B8EC4"/>
                </a:solidFill>
                <a:latin typeface="Calibri"/>
              </a:rPr>
              <a:t>Base Y2</a:t>
            </a:r>
          </a:p>
        </p:txBody>
      </p:sp>
      <p:sp>
        <p:nvSpPr>
          <p:cNvPr id="13" name="TextBox 12"/>
          <p:cNvSpPr txBox="1"/>
          <p:nvPr/>
        </p:nvSpPr>
        <p:spPr>
          <a:xfrm>
            <a:off x="4907127" y="3657600"/>
            <a:ext cx="2377440" cy="457200"/>
          </a:xfrm>
          <a:prstGeom prst="rect">
            <a:avLst/>
          </a:prstGeom>
          <a:noFill/>
        </p:spPr>
        <p:txBody>
          <a:bodyPr wrap="square">
            <a:spAutoFit/>
          </a:bodyPr>
          <a:lstStyle/>
          <a:p>
            <a:pPr algn="ctr"/>
            <a:r>
              <a:rPr sz="1000" b="0">
                <a:solidFill>
                  <a:srgbClr val="5C4E7A"/>
                </a:solidFill>
                <a:latin typeface="Calibri"/>
              </a:rPr>
              <a:t>150 customers, expanding ACV</a:t>
            </a:r>
          </a:p>
        </p:txBody>
      </p:sp>
      <p:sp>
        <p:nvSpPr>
          <p:cNvPr id="14" name="Rectangle 13"/>
          <p:cNvSpPr/>
          <p:nvPr/>
        </p:nvSpPr>
        <p:spPr>
          <a:xfrm>
            <a:off x="7604607" y="2103120"/>
            <a:ext cx="2560320" cy="2194560"/>
          </a:xfrm>
          <a:prstGeom prst="rect">
            <a:avLst/>
          </a:prstGeom>
          <a:solidFill>
            <a:srgbClr val="1A1130"/>
          </a:solidFill>
          <a:ln w="19050">
            <a:solidFill>
              <a:srgbClr val="031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41767" y="2331720"/>
            <a:ext cx="2286000" cy="914400"/>
          </a:xfrm>
          <a:prstGeom prst="rect">
            <a:avLst/>
          </a:prstGeom>
          <a:noFill/>
        </p:spPr>
        <p:txBody>
          <a:bodyPr wrap="square">
            <a:spAutoFit/>
          </a:bodyPr>
          <a:lstStyle/>
          <a:p>
            <a:pPr algn="ctr"/>
            <a:r>
              <a:rPr sz="3400" b="1">
                <a:solidFill>
                  <a:srgbClr val="F5F3FF"/>
                </a:solidFill>
                <a:latin typeface="Calibri"/>
              </a:rPr>
              <a:t>$8M</a:t>
            </a:r>
          </a:p>
        </p:txBody>
      </p:sp>
      <p:sp>
        <p:nvSpPr>
          <p:cNvPr id="16" name="TextBox 15"/>
          <p:cNvSpPr txBox="1"/>
          <p:nvPr/>
        </p:nvSpPr>
        <p:spPr>
          <a:xfrm>
            <a:off x="7741767" y="3246120"/>
            <a:ext cx="2286000" cy="411480"/>
          </a:xfrm>
          <a:prstGeom prst="rect">
            <a:avLst/>
          </a:prstGeom>
          <a:noFill/>
        </p:spPr>
        <p:txBody>
          <a:bodyPr wrap="square">
            <a:spAutoFit/>
          </a:bodyPr>
          <a:lstStyle/>
          <a:p>
            <a:pPr algn="ctr"/>
            <a:r>
              <a:rPr sz="1200" b="0">
                <a:solidFill>
                  <a:srgbClr val="9B8EC4"/>
                </a:solidFill>
                <a:latin typeface="Calibri"/>
              </a:rPr>
              <a:t>Optimistic Y3</a:t>
            </a:r>
          </a:p>
        </p:txBody>
      </p:sp>
      <p:sp>
        <p:nvSpPr>
          <p:cNvPr id="17" name="TextBox 16"/>
          <p:cNvSpPr txBox="1"/>
          <p:nvPr/>
        </p:nvSpPr>
        <p:spPr>
          <a:xfrm>
            <a:off x="7696047" y="3657600"/>
            <a:ext cx="2377440" cy="457200"/>
          </a:xfrm>
          <a:prstGeom prst="rect">
            <a:avLst/>
          </a:prstGeom>
          <a:noFill/>
        </p:spPr>
        <p:txBody>
          <a:bodyPr wrap="square">
            <a:spAutoFit/>
          </a:bodyPr>
          <a:lstStyle/>
          <a:p>
            <a:pPr algn="ctr"/>
            <a:r>
              <a:rPr sz="1000" b="0">
                <a:solidFill>
                  <a:srgbClr val="5C4E7A"/>
                </a:solidFill>
                <a:latin typeface="Calibri"/>
              </a:rPr>
              <a:t>Enterprise expansion + new verticals</a:t>
            </a:r>
          </a:p>
        </p:txBody>
      </p:sp>
      <p:sp>
        <p:nvSpPr>
          <p:cNvPr id="18" name="TextBox 17"/>
          <p:cNvSpPr txBox="1"/>
          <p:nvPr/>
        </p:nvSpPr>
        <p:spPr>
          <a:xfrm>
            <a:off x="731520" y="4572000"/>
            <a:ext cx="10698480" cy="822960"/>
          </a:xfrm>
          <a:prstGeom prst="rect">
            <a:avLst/>
          </a:prstGeom>
          <a:noFill/>
        </p:spPr>
        <p:txBody>
          <a:bodyPr wrap="square">
            <a:spAutoFit/>
          </a:bodyPr>
          <a:lstStyle/>
          <a:p>
            <a:pPr algn="l"/>
            <a:r>
              <a:rPr sz="1400" b="0">
                <a:solidFill>
                  <a:srgbClr val="9B8EC4"/>
                </a:solidFill>
                <a:latin typeface="Calibri"/>
              </a:rPr>
              <a:t>Assumptions: SaaS subscription model, land-and-expand motion, CAC payback &lt; 12 months.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ASK</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Ask</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Investment to reach the next milestone</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Product</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031323"/>
                </a:solidFill>
                <a:latin typeface="Calibri"/>
              </a:rPr>
              <a:t>40%</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9B8EC4"/>
                </a:solidFill>
                <a:latin typeface="Calibri"/>
              </a:rPr>
              <a:t>Expand engineering team, accelerate roadmap, build enterprise features</a:t>
            </a:r>
          </a:p>
        </p:txBody>
      </p:sp>
      <p:sp>
        <p:nvSpPr>
          <p:cNvPr id="11" name="Rectangle 10"/>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Go-to-Market</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000000"/>
                </a:solidFill>
                <a:latin typeface="Calibri"/>
              </a:rPr>
              <a:t>40%</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9B8EC4"/>
                </a:solidFill>
                <a:latin typeface="Calibri"/>
              </a:rPr>
              <a:t>Hire first sales reps, launch demand gen programs, close anchor customers</a:t>
            </a:r>
          </a:p>
        </p:txBody>
      </p:sp>
      <p:sp>
        <p:nvSpPr>
          <p:cNvPr id="16" name="Rectangle 15"/>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Operations</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7B2CBF"/>
                </a:solidFill>
                <a:latin typeface="Calibri"/>
              </a:rPr>
              <a:t>20%</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9B8EC4"/>
                </a:solidFill>
                <a:latin typeface="Calibri"/>
              </a:rPr>
              <a:t>Build customer success team, scale infrastructure, strengthen ops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31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Stripe is building the leading platform for Financial Infrastructure</a:t>
            </a:r>
          </a:p>
        </p:txBody>
      </p:sp>
      <p:sp>
        <p:nvSpPr>
          <p:cNvPr id="5" name="TextBox 4"/>
          <p:cNvSpPr txBox="1"/>
          <p:nvPr/>
        </p:nvSpPr>
        <p:spPr>
          <a:xfrm>
            <a:off x="1371600" y="3200400"/>
            <a:ext cx="9418320" cy="731520"/>
          </a:xfrm>
          <a:prstGeom prst="rect">
            <a:avLst/>
          </a:prstGeom>
          <a:noFill/>
        </p:spPr>
        <p:txBody>
          <a:bodyPr wrap="square">
            <a:spAutoFit/>
          </a:bodyPr>
          <a:lstStyle/>
          <a:p>
            <a:pPr algn="ctr"/>
            <a:r>
              <a:rPr sz="2200" b="0">
                <a:solidFill>
                  <a:srgbClr val="9B8EC4"/>
                </a:solidFill>
                <a:latin typeface="Calibri"/>
              </a:rPr>
              <a:t>Join us in building the category leader.</a:t>
            </a:r>
          </a:p>
        </p:txBody>
      </p:sp>
      <p:sp>
        <p:nvSpPr>
          <p:cNvPr id="6" name="TextBox 5"/>
          <p:cNvSpPr txBox="1"/>
          <p:nvPr/>
        </p:nvSpPr>
        <p:spPr>
          <a:xfrm>
            <a:off x="1828800" y="4023360"/>
            <a:ext cx="8503920" cy="731520"/>
          </a:xfrm>
          <a:prstGeom prst="rect">
            <a:avLst/>
          </a:prstGeom>
          <a:noFill/>
        </p:spPr>
        <p:txBody>
          <a:bodyPr wrap="square">
            <a:spAutoFit/>
          </a:bodyPr>
          <a:lstStyle/>
          <a:p>
            <a:pPr algn="ctr"/>
            <a:r>
              <a:rPr sz="1500" b="0">
                <a:solidFill>
                  <a:srgbClr val="5C4E7A"/>
                </a:solidFill>
                <a:latin typeface="Calibri"/>
              </a:rPr>
              <a:t>Contact us • Stripe</a:t>
            </a:r>
          </a:p>
        </p:txBody>
      </p:sp>
      <p:sp>
        <p:nvSpPr>
          <p:cNvPr id="7" name="TextBox 6"/>
          <p:cNvSpPr txBox="1"/>
          <p:nvPr/>
        </p:nvSpPr>
        <p:spPr>
          <a:xfrm>
            <a:off x="3200400" y="6309360"/>
            <a:ext cx="5760720" cy="365760"/>
          </a:xfrm>
          <a:prstGeom prst="rect">
            <a:avLst/>
          </a:prstGeom>
          <a:noFill/>
        </p:spPr>
        <p:txBody>
          <a:bodyPr wrap="square">
            <a:spAutoFit/>
          </a:bodyPr>
          <a:lstStyle/>
          <a:p>
            <a:pPr algn="ctr"/>
            <a:r>
              <a:rPr sz="1000" b="0">
                <a:solidFill>
                  <a:srgbClr val="5C4E7A"/>
                </a:solidFill>
                <a:latin typeface="Calibri"/>
              </a:rPr>
              <a:t>Investor Presentation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