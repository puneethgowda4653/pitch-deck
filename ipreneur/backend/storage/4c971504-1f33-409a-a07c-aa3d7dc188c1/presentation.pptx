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zepto</a:t>
            </a:r>
          </a:p>
        </p:txBody>
      </p:sp>
      <p:sp>
        <p:nvSpPr>
          <p:cNvPr id="5" name="TextBox 4"/>
          <p:cNvSpPr txBox="1"/>
          <p:nvPr/>
        </p:nvSpPr>
        <p:spPr>
          <a:xfrm>
            <a:off x="1828800" y="4023360"/>
            <a:ext cx="8503920" cy="731520"/>
          </a:xfrm>
          <a:prstGeom prst="rect">
            <a:avLst/>
          </a:prstGeom>
          <a:noFill/>
        </p:spPr>
        <p:txBody>
          <a:bodyPr wrap="square">
            <a:spAutoFit/>
          </a:bodyPr>
          <a:lstStyle/>
          <a:p>
            <a:pPr algn="ctr"/>
            <a:r>
              <a:rPr sz="1500" b="0">
                <a:solidFill>
                  <a:srgbClr val="101C51"/>
                </a:solidFill>
                <a:latin typeface="Calibri"/>
              </a:rPr>
              <a:t>Zepto is an instant grocery delivery service in India. They offer a wide range of products including fresh produce, daily essentials, and gourmet items, delivered in minutes. Their app is available on both iOS and Android.</a:t>
            </a:r>
          </a:p>
        </p:txBody>
      </p:sp>
      <p:sp>
        <p:nvSpPr>
          <p:cNvPr id="6" name="TextBox 5"/>
          <p:cNvSpPr txBox="1"/>
          <p:nvPr/>
        </p:nvSpPr>
        <p:spPr>
          <a:xfrm>
            <a:off x="3200400" y="6309360"/>
            <a:ext cx="5760720" cy="365760"/>
          </a:xfrm>
          <a:prstGeom prst="rect">
            <a:avLst/>
          </a:prstGeom>
          <a:noFill/>
        </p:spPr>
        <p:txBody>
          <a:bodyPr wrap="square">
            <a:spAutoFit/>
          </a:bodyPr>
          <a:lstStyle/>
          <a:p>
            <a:pPr algn="ctr"/>
            <a:r>
              <a:rPr sz="1000" b="0">
                <a:solidFill>
                  <a:srgbClr val="101C51"/>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Consumers in India buyers face a critical, costly, unresolved problem.</a:t>
            </a:r>
          </a:p>
        </p:txBody>
      </p:sp>
      <p:sp>
        <p:nvSpPr>
          <p:cNvPr id="6" name="TextBox 5"/>
          <p:cNvSpPr txBox="1"/>
          <p:nvPr/>
        </p:nvSpPr>
        <p:spPr>
          <a:xfrm>
            <a:off x="731520" y="1828800"/>
            <a:ext cx="10698480" cy="777240"/>
          </a:xfrm>
          <a:prstGeom prst="rect">
            <a:avLst/>
          </a:prstGeom>
          <a:noFill/>
        </p:spPr>
        <p:txBody>
          <a:bodyPr wrap="square">
            <a:spAutoFit/>
          </a:bodyPr>
          <a:lstStyle/>
          <a:p>
            <a:pPr algn="l"/>
            <a:r>
              <a:rPr sz="1500" b="0">
                <a:solidFill>
                  <a:srgbClr val="808DC2"/>
                </a:solidFill>
                <a:latin typeface="Calibri"/>
              </a:rPr>
              <a:t>High costs of existing fragmented tooling</a:t>
            </a:r>
          </a:p>
        </p:txBody>
      </p:sp>
      <p:sp>
        <p:nvSpPr>
          <p:cNvPr id="7" name="Oval 6"/>
          <p:cNvSpPr/>
          <p:nvPr/>
        </p:nvSpPr>
        <p:spPr>
          <a:xfrm>
            <a:off x="731520" y="2825496"/>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697480"/>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High costs of existing fragmented tooling</a:t>
            </a:r>
          </a:p>
        </p:txBody>
      </p:sp>
      <p:sp>
        <p:nvSpPr>
          <p:cNvPr id="9" name="Oval 8"/>
          <p:cNvSpPr/>
          <p:nvPr/>
        </p:nvSpPr>
        <p:spPr>
          <a:xfrm>
            <a:off x="731520" y="3392424"/>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264408"/>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Time-consuming manual processes reducing productivity</a:t>
            </a:r>
          </a:p>
        </p:txBody>
      </p:sp>
      <p:sp>
        <p:nvSpPr>
          <p:cNvPr id="11" name="Oval 10"/>
          <p:cNvSpPr/>
          <p:nvPr/>
        </p:nvSpPr>
        <p:spPr>
          <a:xfrm>
            <a:off x="6400800" y="2825496"/>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2697480"/>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Lack of real-time data for decision-making</a:t>
            </a:r>
          </a:p>
        </p:txBody>
      </p:sp>
      <p:sp>
        <p:nvSpPr>
          <p:cNvPr id="13" name="Oval 12"/>
          <p:cNvSpPr/>
          <p:nvPr/>
        </p:nvSpPr>
        <p:spPr>
          <a:xfrm>
            <a:off x="6400800" y="3392424"/>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3264408"/>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Integration complexity slowing teams 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is an instant grocery delivery service in India. They offer a wide range of products including fresh produce, daily essentials, and gourmet items, delivered in minutes. Their app is available on both iOS and Android.</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instant grocery delivery service</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808DC2"/>
                </a:solidFill>
                <a:latin typeface="Calibri"/>
              </a:rPr>
              <a:t>Helps Consumers in India achieve their goals faster and more reliably.</a:t>
            </a:r>
          </a:p>
        </p:txBody>
      </p:sp>
      <p:sp>
        <p:nvSpPr>
          <p:cNvPr id="10" name="Rectangle 9"/>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fresh produce</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808DC2"/>
                </a:solidFill>
                <a:latin typeface="Calibri"/>
              </a:rPr>
              <a:t>Designed for fast onboarding — up and running in minutes, not months.</a:t>
            </a:r>
          </a:p>
        </p:txBody>
      </p:sp>
      <p:sp>
        <p:nvSpPr>
          <p:cNvPr id="14" name="Rectangle 13"/>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daily essentials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808DC2"/>
                </a:solidFill>
                <a:latin typeface="Calibri"/>
              </a:rPr>
              <a:t>AI-powered insights built on modern cloud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The Grocery Delivery market is at an inflection point — Large and growing Grocery Delivery market and accelerating</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Total Grocery Delivery market</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Significant SAM</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Serviceable addressable market</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Achievable SOM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3-year capture target</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2024–2030</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The Grocery Delivery market is undergoing rapid transformation driven by digital adoption and AI integration. Companies in this space face mounting pressure to modernize legacy workflows, creating significant demand for purpose-built solutions. zepto is positioned at the center of this shift. The convergence of affordable AI infrastructure and widespread cloud adoption has created a window for zepto to displace entrenched legacy vendors in the Grocery Delivery market — a transition that was cost-prohibitive just 3 years ago.</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808DC2"/>
                </a:solidFill>
                <a:latin typeface="Calibri"/>
              </a:rPr>
              <a:t>›  Digital transformation accelerating across Grocery Delivery — 70%+ of enterprises increasing tech spend</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808DC2"/>
                </a:solidFill>
                <a:latin typeface="Calibri"/>
              </a:rPr>
              <a:t>›  AI and automation unlocking new efficiency gains previously unavailable to this sector</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808DC2"/>
                </a:solidFill>
                <a:latin typeface="Calibri"/>
              </a:rPr>
              <a:t>›  Shift from fragmented point solutions to integrated platforms reducing total cost of ownership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Recurring revenue with strong expansion economics</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Core Revenue</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Technology services / SaaS</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Professional services and implementation support for enterprise customers.</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Land &amp; Expand</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Growth</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Low entry point drives adoption; usage-based or seat expansion grows ACV over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is gaining momentum with strong early validation</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Y1 Target</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ARR projection</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Seed-funded and growing.</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Customers:</a:t>
            </a:r>
            <a:r>
              <a:rPr sz="1300" b="0">
                <a:solidFill>
                  <a:srgbClr val="808DC2"/>
                </a:solidFill>
                <a:latin typeface="Calibri"/>
              </a:rPr>
              <a:t> Design partners signed and providing active feedback</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Product:</a:t>
            </a:r>
            <a:r>
              <a:rPr sz="1300" b="0">
                <a:solidFill>
                  <a:srgbClr val="808DC2"/>
                </a:solidFill>
                <a:latin typeface="Calibri"/>
              </a:rPr>
              <a:t> Core platform live — onboarding first paying customers</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Team:</a:t>
            </a:r>
            <a:r>
              <a:rPr sz="1300" b="0">
                <a:solidFill>
                  <a:srgbClr val="808DC2"/>
                </a:solidFill>
                <a:latin typeface="Calibri"/>
              </a:rPr>
              <a:t> Core team hired across engineering, product, and sales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GO TO 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Go-to-Market Strategy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How zepto acquires, expands, and retains customers</a:t>
            </a:r>
          </a:p>
        </p:txBody>
      </p:sp>
      <p:sp>
        <p:nvSpPr>
          <p:cNvPr id="6" name="Oval 5"/>
          <p:cNvSpPr/>
          <p:nvPr/>
        </p:nvSpPr>
        <p:spPr>
          <a:xfrm>
            <a:off x="731520" y="2048256"/>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808DC2"/>
                </a:solidFill>
                <a:latin typeface="Calibri"/>
              </a:rPr>
              <a:t>Direct outbound targeting VP-level buyers in key verticals</a:t>
            </a:r>
          </a:p>
        </p:txBody>
      </p:sp>
      <p:sp>
        <p:nvSpPr>
          <p:cNvPr id="8" name="Oval 7"/>
          <p:cNvSpPr/>
          <p:nvPr/>
        </p:nvSpPr>
        <p:spPr>
          <a:xfrm>
            <a:off x="731520" y="2615184"/>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808DC2"/>
                </a:solidFill>
                <a:latin typeface="Calibri"/>
              </a:rPr>
              <a:t>Content marketing and SEO to capture inbound demand</a:t>
            </a:r>
          </a:p>
        </p:txBody>
      </p:sp>
      <p:sp>
        <p:nvSpPr>
          <p:cNvPr id="10" name="Oval 9"/>
          <p:cNvSpPr/>
          <p:nvPr/>
        </p:nvSpPr>
        <p:spPr>
          <a:xfrm>
            <a:off x="6400800" y="2048256"/>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808DC2"/>
                </a:solidFill>
                <a:latin typeface="Calibri"/>
              </a:rPr>
              <a:t>Strategic partnerships with complementary tools</a:t>
            </a:r>
          </a:p>
        </p:txBody>
      </p:sp>
      <p:sp>
        <p:nvSpPr>
          <p:cNvPr id="12" name="Oval 11"/>
          <p:cNvSpPr/>
          <p:nvPr/>
        </p:nvSpPr>
        <p:spPr>
          <a:xfrm>
            <a:off x="6400800" y="2615184"/>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808DC2"/>
                </a:solidFill>
                <a:latin typeface="Calibri"/>
              </a:rPr>
              <a:t>Land-and-expand to grow within accounts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Why zepto wins</a:t>
            </a:r>
          </a:p>
        </p:txBody>
      </p:sp>
      <p:sp>
        <p:nvSpPr>
          <p:cNvPr id="6" name="Rectangle 5"/>
          <p:cNvSpPr/>
          <p:nvPr/>
        </p:nvSpPr>
        <p:spPr>
          <a:xfrm>
            <a:off x="640080" y="1737360"/>
            <a:ext cx="5303520" cy="411480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zepto</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2540B6"/>
                </a:solidFill>
                <a:latin typeface="Calibri"/>
              </a:rPr>
              <a:t>zepto is building the leading platform for Grocery Delivery</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808DC2"/>
                </a:solidFill>
                <a:latin typeface="Calibri"/>
              </a:rPr>
              <a:t>•  Strong domain expertise in Grocery Delivery</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808DC2"/>
                </a:solidFill>
                <a:latin typeface="Calibri"/>
              </a:rPr>
              <a:t>•  Modern technical architecture</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808DC2"/>
                </a:solidFill>
                <a:latin typeface="Calibri"/>
              </a:rPr>
              <a:t>•  Clear value proposition</a:t>
            </a:r>
          </a:p>
        </p:txBody>
      </p:sp>
      <p:sp>
        <p:nvSpPr>
          <p:cNvPr id="13" name="Rectangle 12"/>
          <p:cNvSpPr/>
          <p:nvPr/>
        </p:nvSpPr>
        <p:spPr>
          <a:xfrm>
            <a:off x="6400800" y="1737360"/>
            <a:ext cx="5303520" cy="411480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5303520" cy="64008"/>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Existing Alternatives</a:t>
            </a:r>
          </a:p>
        </p:txBody>
      </p:sp>
      <p:sp>
        <p:nvSpPr>
          <p:cNvPr id="16" name="TextBox 15"/>
          <p:cNvSpPr txBox="1"/>
          <p:nvPr/>
        </p:nvSpPr>
        <p:spPr>
          <a:xfrm>
            <a:off x="6583680" y="2468880"/>
            <a:ext cx="4937760" cy="502920"/>
          </a:xfrm>
          <a:prstGeom prst="rect">
            <a:avLst/>
          </a:prstGeom>
          <a:noFill/>
        </p:spPr>
        <p:txBody>
          <a:bodyPr wrap="square">
            <a:spAutoFit/>
          </a:bodyPr>
          <a:lstStyle/>
          <a:p>
            <a:pPr algn="l"/>
            <a:r>
              <a:rPr sz="2400" b="1">
                <a:solidFill>
                  <a:srgbClr val="7B2CBF"/>
                </a:solidFill>
                <a:latin typeface="Calibri"/>
              </a:rPr>
              <a:t>Legacy limitations</a:t>
            </a:r>
          </a:p>
        </p:txBody>
      </p:sp>
      <p:sp>
        <p:nvSpPr>
          <p:cNvPr id="17" name="TextBox 16"/>
          <p:cNvSpPr txBox="1"/>
          <p:nvPr/>
        </p:nvSpPr>
        <p:spPr>
          <a:xfrm>
            <a:off x="6675120" y="3017520"/>
            <a:ext cx="4846320" cy="438912"/>
          </a:xfrm>
          <a:prstGeom prst="rect">
            <a:avLst/>
          </a:prstGeom>
          <a:noFill/>
        </p:spPr>
        <p:txBody>
          <a:bodyPr wrap="square">
            <a:spAutoFit/>
          </a:bodyPr>
          <a:lstStyle/>
          <a:p>
            <a:pPr algn="l"/>
            <a:r>
              <a:rPr sz="1300" b="0">
                <a:solidFill>
                  <a:srgbClr val="808DC2"/>
                </a:solidFill>
                <a:latin typeface="Calibri"/>
              </a:rPr>
              <a:t>•  Existing solutions: Slow and expensive</a:t>
            </a:r>
          </a:p>
        </p:txBody>
      </p:sp>
      <p:sp>
        <p:nvSpPr>
          <p:cNvPr id="18" name="TextBox 17"/>
          <p:cNvSpPr txBox="1"/>
          <p:nvPr/>
        </p:nvSpPr>
        <p:spPr>
          <a:xfrm>
            <a:off x="6675120" y="3456432"/>
            <a:ext cx="4846320" cy="438912"/>
          </a:xfrm>
          <a:prstGeom prst="rect">
            <a:avLst/>
          </a:prstGeom>
          <a:noFill/>
        </p:spPr>
        <p:txBody>
          <a:bodyPr wrap="square">
            <a:spAutoFit/>
          </a:bodyPr>
          <a:lstStyle/>
          <a:p>
            <a:pPr algn="l"/>
            <a:r>
              <a:rPr sz="1300" b="0">
                <a:solidFill>
                  <a:srgbClr val="808DC2"/>
                </a:solidFill>
                <a:latin typeface="Calibri"/>
              </a:rPr>
              <a:t>•  Generic platforms: Not purpose-built</a:t>
            </a:r>
          </a:p>
        </p:txBody>
      </p:sp>
      <p:sp>
        <p:nvSpPr>
          <p:cNvPr id="19" name="Rectangle 18"/>
          <p:cNvSpPr/>
          <p:nvPr/>
        </p:nvSpPr>
        <p:spPr>
          <a:xfrm>
            <a:off x="6144768" y="2011680"/>
            <a:ext cx="27432" cy="3566160"/>
          </a:xfrm>
          <a:prstGeom prst="rect">
            <a:avLst/>
          </a:prstGeom>
          <a:solidFill>
            <a:srgbClr val="2820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The right people to win this market</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Open</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Open</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Open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Raising to reach $2M</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Scale engineering, ship enterprise features, reach product-market fit.</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Hire first AEs, launch demand gen, close 10 anchor customers.</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Customer success, infrastructure scale, legal and compliance.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