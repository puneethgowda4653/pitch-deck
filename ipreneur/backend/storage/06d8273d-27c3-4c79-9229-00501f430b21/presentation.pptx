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Zepto</a:t>
            </a:r>
          </a:p>
        </p:txBody>
      </p:sp>
      <p:sp>
        <p:nvSpPr>
          <p:cNvPr id="5" name="TextBox 4"/>
          <p:cNvSpPr txBox="1"/>
          <p:nvPr/>
        </p:nvSpPr>
        <p:spPr>
          <a:xfrm>
            <a:off x="3200400" y="6309360"/>
            <a:ext cx="5760720" cy="365760"/>
          </a:xfrm>
          <a:prstGeom prst="rect">
            <a:avLst/>
          </a:prstGeom>
          <a:noFill/>
        </p:spPr>
        <p:txBody>
          <a:bodyPr wrap="square">
            <a:spAutoFit/>
          </a:bodyPr>
          <a:lstStyle/>
          <a:p>
            <a:pPr algn="ctr"/>
            <a:r>
              <a:rPr sz="1000" b="0">
                <a:solidFill>
                  <a:srgbClr val="101C51"/>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Zepto is a Quick Commerce platform — in a Large and growing Quick Commerce market market growing at Strong double-digit CAGR.</a:t>
            </a:r>
          </a:p>
        </p:txBody>
      </p:sp>
      <p:sp>
        <p:nvSpPr>
          <p:cNvPr id="6" name="Rectangle 5"/>
          <p:cNvSpPr/>
          <p:nvPr/>
        </p:nvSpPr>
        <p:spPr>
          <a:xfrm>
            <a:off x="632307" y="2103120"/>
            <a:ext cx="2560320" cy="219456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808DC2"/>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101C51"/>
                </a:solidFill>
                <a:latin typeface="Calibri"/>
              </a:rPr>
              <a:t>Total Quick Commerce market</a:t>
            </a:r>
          </a:p>
        </p:txBody>
      </p:sp>
      <p:sp>
        <p:nvSpPr>
          <p:cNvPr id="10" name="Rectangle 9"/>
          <p:cNvSpPr/>
          <p:nvPr/>
        </p:nvSpPr>
        <p:spPr>
          <a:xfrm>
            <a:off x="3421227" y="2103120"/>
            <a:ext cx="2560320" cy="219456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808DC2"/>
                </a:solidFill>
                <a:latin typeface="Calibri"/>
              </a:rPr>
              <a:t>CAGR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101C51"/>
                </a:solidFill>
                <a:latin typeface="Calibri"/>
              </a:rPr>
              <a:t>2024–2030</a:t>
            </a:r>
          </a:p>
        </p:txBody>
      </p:sp>
      <p:sp>
        <p:nvSpPr>
          <p:cNvPr id="14" name="Rectangle 13"/>
          <p:cNvSpPr/>
          <p:nvPr/>
        </p:nvSpPr>
        <p:spPr>
          <a:xfrm>
            <a:off x="6210147" y="2103120"/>
            <a:ext cx="2560320" cy="2194560"/>
          </a:xfrm>
          <a:prstGeom prst="rect">
            <a:avLst/>
          </a:prstGeom>
          <a:solidFill>
            <a:srgbClr val="120E1E"/>
          </a:solidFill>
          <a:ln w="19050">
            <a:solidFill>
              <a:srgbClr val="5036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Seed stage</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808DC2"/>
                </a:solidFill>
                <a:latin typeface="Calibri"/>
              </a:rPr>
              <a:t>Valuation</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18" name="Rectangle 17"/>
          <p:cNvSpPr/>
          <p:nvPr/>
        </p:nvSpPr>
        <p:spPr>
          <a:xfrm>
            <a:off x="8999067" y="2103120"/>
            <a:ext cx="2560320" cy="2194560"/>
          </a:xfrm>
          <a:prstGeom prst="rect">
            <a:avLst/>
          </a:prstGeom>
          <a:solidFill>
            <a:srgbClr val="120E1E"/>
          </a:solidFill>
          <a:ln w="19050">
            <a:solidFill>
              <a:srgbClr val="5B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Launching</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808DC2"/>
                </a:solidFill>
                <a:latin typeface="Calibri"/>
              </a:rPr>
              <a:t>Operations</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101C51"/>
                </a:solidFill>
                <a:latin typeface="Calibri"/>
              </a:rPr>
              <a:t>Growing team</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808DC2"/>
                </a:solidFill>
                <a:latin typeface="Calibri"/>
              </a:rPr>
              <a:t>Zepto builds purpose-built solutions for Quick Commerce. The convergence of affordable AI infrastructure and widespread cloud adoption has created a window for Zepto to displace entrenched legacy vendors in the Quick Commerce market — a transition that was cost-prohibitive just 3 years ago. Seed stage.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The Quick Commerce market is at an inflection point — Large and growing Quick Commerce market and accelerating</a:t>
            </a:r>
          </a:p>
        </p:txBody>
      </p:sp>
      <p:sp>
        <p:nvSpPr>
          <p:cNvPr id="6" name="Rectangle 5"/>
          <p:cNvSpPr/>
          <p:nvPr/>
        </p:nvSpPr>
        <p:spPr>
          <a:xfrm>
            <a:off x="632307" y="2103120"/>
            <a:ext cx="2560320" cy="219456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808DC2"/>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101C51"/>
                </a:solidFill>
                <a:latin typeface="Calibri"/>
              </a:rPr>
              <a:t>Total Quick Commerce market</a:t>
            </a:r>
          </a:p>
        </p:txBody>
      </p:sp>
      <p:sp>
        <p:nvSpPr>
          <p:cNvPr id="10" name="Rectangle 9"/>
          <p:cNvSpPr/>
          <p:nvPr/>
        </p:nvSpPr>
        <p:spPr>
          <a:xfrm>
            <a:off x="3421227" y="2103120"/>
            <a:ext cx="2560320" cy="219456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Significant SAM</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808DC2"/>
                </a:solidFill>
                <a:latin typeface="Calibri"/>
              </a:rPr>
              <a:t>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101C51"/>
                </a:solidFill>
                <a:latin typeface="Calibri"/>
              </a:rPr>
              <a:t>Serviceable addressable market</a:t>
            </a:r>
          </a:p>
        </p:txBody>
      </p:sp>
      <p:sp>
        <p:nvSpPr>
          <p:cNvPr id="14" name="Rectangle 13"/>
          <p:cNvSpPr/>
          <p:nvPr/>
        </p:nvSpPr>
        <p:spPr>
          <a:xfrm>
            <a:off x="6210147" y="2103120"/>
            <a:ext cx="2560320" cy="2194560"/>
          </a:xfrm>
          <a:prstGeom prst="rect">
            <a:avLst/>
          </a:prstGeom>
          <a:solidFill>
            <a:srgbClr val="120E1E"/>
          </a:solidFill>
          <a:ln w="19050">
            <a:solidFill>
              <a:srgbClr val="5036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Achievable SOM</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808DC2"/>
                </a:solidFill>
                <a:latin typeface="Calibri"/>
              </a:rPr>
              <a:t>SOM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101C51"/>
                </a:solidFill>
                <a:latin typeface="Calibri"/>
              </a:rPr>
              <a:t>3-year capture target</a:t>
            </a:r>
          </a:p>
        </p:txBody>
      </p:sp>
      <p:sp>
        <p:nvSpPr>
          <p:cNvPr id="18" name="Rectangle 17"/>
          <p:cNvSpPr/>
          <p:nvPr/>
        </p:nvSpPr>
        <p:spPr>
          <a:xfrm>
            <a:off x="8999067" y="2103120"/>
            <a:ext cx="2560320" cy="2194560"/>
          </a:xfrm>
          <a:prstGeom prst="rect">
            <a:avLst/>
          </a:prstGeom>
          <a:solidFill>
            <a:srgbClr val="120E1E"/>
          </a:solidFill>
          <a:ln w="19050">
            <a:solidFill>
              <a:srgbClr val="5B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808DC2"/>
                </a:solidFill>
                <a:latin typeface="Calibri"/>
              </a:rPr>
              <a:t>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101C51"/>
                </a:solidFill>
                <a:latin typeface="Calibri"/>
              </a:rPr>
              <a:t>2024–2030</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808DC2"/>
                </a:solidFill>
                <a:latin typeface="Calibri"/>
              </a:rPr>
              <a:t>The Quick Commerce market is undergoing rapid transformation driven by digital adoption and AI integration. Companies in this space face mounting pressure to modernize legacy workflows, creating significant demand for purpose-built solutions. Zepto is positioned at the center of this shift. The convergence of affordable AI infrastructure and widespread cloud adoption has created a window for Zepto to displace entrenched legacy vendors in the Quick Commerce market — a transition that was cost-prohibitive just 3 years ago.</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808DC2"/>
                </a:solidFill>
                <a:latin typeface="Calibri"/>
              </a:rPr>
              <a:t>›  Digital transformation accelerating across Quick Commerce — 70%+ of enterprises increasing tech spend</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808DC2"/>
                </a:solidFill>
                <a:latin typeface="Calibri"/>
              </a:rPr>
              <a:t>›  AI and automation unlocking new efficiency gains previously unavailable to this sector</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808DC2"/>
                </a:solidFill>
                <a:latin typeface="Calibri"/>
              </a:rPr>
              <a:t>›  Shift from fragmented point solutions to integrated platforms reducing total cost of ownership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PROBLEM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Quick Commerce Has a Critical Unsolved Problem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Buyers are losing time and money to an outdated status quo.</a:t>
            </a:r>
          </a:p>
        </p:txBody>
      </p:sp>
      <p:sp>
        <p:nvSpPr>
          <p:cNvPr id="6" name="TextBox 5"/>
          <p:cNvSpPr txBox="1"/>
          <p:nvPr/>
        </p:nvSpPr>
        <p:spPr>
          <a:xfrm>
            <a:off x="731520" y="1828800"/>
            <a:ext cx="10698480" cy="777240"/>
          </a:xfrm>
          <a:prstGeom prst="rect">
            <a:avLst/>
          </a:prstGeom>
          <a:noFill/>
        </p:spPr>
        <p:txBody>
          <a:bodyPr wrap="square">
            <a:spAutoFit/>
          </a:bodyPr>
          <a:lstStyle/>
          <a:p>
            <a:pPr algn="l"/>
            <a:r>
              <a:rPr sz="1500" b="0">
                <a:solidFill>
                  <a:srgbClr val="808DC2"/>
                </a:solidFill>
                <a:latin typeface="Calibri"/>
              </a:rPr>
              <a:t>High costs of existing fragmented tooling</a:t>
            </a:r>
          </a:p>
        </p:txBody>
      </p:sp>
      <p:sp>
        <p:nvSpPr>
          <p:cNvPr id="7" name="Oval 6"/>
          <p:cNvSpPr/>
          <p:nvPr/>
        </p:nvSpPr>
        <p:spPr>
          <a:xfrm>
            <a:off x="731520" y="2825496"/>
            <a:ext cx="109728" cy="109728"/>
          </a:xfrm>
          <a:prstGeom prst="ellipse">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697480"/>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High costs of existing fragmented tooling</a:t>
            </a:r>
          </a:p>
        </p:txBody>
      </p:sp>
      <p:sp>
        <p:nvSpPr>
          <p:cNvPr id="9" name="Oval 8"/>
          <p:cNvSpPr/>
          <p:nvPr/>
        </p:nvSpPr>
        <p:spPr>
          <a:xfrm>
            <a:off x="731520" y="3392424"/>
            <a:ext cx="109728" cy="109728"/>
          </a:xfrm>
          <a:prstGeom prst="ellipse">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3264408"/>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Time-consuming manual processes reducing productivity</a:t>
            </a:r>
          </a:p>
        </p:txBody>
      </p:sp>
      <p:sp>
        <p:nvSpPr>
          <p:cNvPr id="11" name="Oval 10"/>
          <p:cNvSpPr/>
          <p:nvPr/>
        </p:nvSpPr>
        <p:spPr>
          <a:xfrm>
            <a:off x="6400800" y="2825496"/>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2697480"/>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Lack of real-time data for decision-making</a:t>
            </a:r>
          </a:p>
        </p:txBody>
      </p:sp>
      <p:sp>
        <p:nvSpPr>
          <p:cNvPr id="13" name="Oval 12"/>
          <p:cNvSpPr/>
          <p:nvPr/>
        </p:nvSpPr>
        <p:spPr>
          <a:xfrm>
            <a:off x="6400800" y="3392424"/>
            <a:ext cx="109728" cy="109728"/>
          </a:xfrm>
          <a:prstGeom prst="ellipse">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3264408"/>
            <a:ext cx="5010912" cy="512064"/>
          </a:xfrm>
          <a:prstGeom prst="rect">
            <a:avLst/>
          </a:prstGeom>
          <a:noFill/>
        </p:spPr>
        <p:txBody>
          <a:bodyPr wrap="square">
            <a:spAutoFit/>
          </a:bodyPr>
          <a:lstStyle/>
          <a:p>
            <a:pPr algn="l"/>
            <a:r>
              <a:rPr sz="1400" b="0">
                <a:solidFill>
                  <a:srgbClr val="808DC2"/>
                </a:solidFill>
                <a:latin typeface="Calibri"/>
              </a:rPr>
              <a:t/>
            </a:r>
            <a:r>
              <a:rPr sz="1400" b="1">
                <a:solidFill>
                  <a:srgbClr val="808DC2"/>
                </a:solidFill>
                <a:latin typeface="Calibri"/>
              </a:rPr>
              <a:t>Pain:</a:t>
            </a:r>
            <a:r>
              <a:rPr sz="1400" b="0">
                <a:solidFill>
                  <a:srgbClr val="808DC2"/>
                </a:solidFill>
                <a:latin typeface="Calibri"/>
              </a:rPr>
              <a:t> Integration complexity slowing teams down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Zepto solves this with a purpose-built Quick Commerce platform.</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Core Platform</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808DC2"/>
                </a:solidFill>
                <a:latin typeface="Calibri"/>
              </a:rPr>
              <a:t>Helps customers achieve outcomes faster and more reliably.</a:t>
            </a:r>
          </a:p>
        </p:txBody>
      </p:sp>
      <p:sp>
        <p:nvSpPr>
          <p:cNvPr id="10" name="Rectangle 9"/>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Speed &amp; Scale</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808DC2"/>
                </a:solidFill>
                <a:latin typeface="Calibri"/>
              </a:rPr>
              <a:t>Fast onboarding — live in minutes, not months.</a:t>
            </a:r>
          </a:p>
        </p:txBody>
      </p:sp>
      <p:sp>
        <p:nvSpPr>
          <p:cNvPr id="14" name="Rectangle 13"/>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Intelligence</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808DC2"/>
                </a:solidFill>
                <a:latin typeface="Calibri"/>
              </a:rPr>
              <a:t>AI-powered insights on modern infrastructure.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Product</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Three capabilities that make Zepto the obvious choice</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Core Feature</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808DC2"/>
                </a:solidFill>
                <a:latin typeface="Calibri"/>
              </a:rPr>
              <a:t>Purpose-built for the use case — not a horizontal tool adapted for it.</a:t>
            </a:r>
          </a:p>
        </p:txBody>
      </p:sp>
      <p:sp>
        <p:nvSpPr>
          <p:cNvPr id="10" name="Rectangle 9"/>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Automation</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808DC2"/>
                </a:solidFill>
                <a:latin typeface="Calibri"/>
              </a:rPr>
              <a:t>Eliminates manual steps — customers save hours every week.</a:t>
            </a:r>
          </a:p>
        </p:txBody>
      </p:sp>
      <p:sp>
        <p:nvSpPr>
          <p:cNvPr id="14" name="Rectangle 13"/>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Insights</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808DC2"/>
                </a:solidFill>
                <a:latin typeface="Calibri"/>
              </a:rPr>
              <a:t>Real-time visibility that drives faster, smarter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Recurring revenue with strong expansion economics</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Core Revenue</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6"/>
                </a:solidFill>
                <a:latin typeface="Calibri"/>
              </a:rPr>
              <a:t>Primary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808DC2"/>
                </a:solidFill>
                <a:latin typeface="Calibri"/>
              </a:rPr>
              <a:t>Technology services / SaaS</a:t>
            </a:r>
          </a:p>
        </p:txBody>
      </p:sp>
      <p:sp>
        <p:nvSpPr>
          <p:cNvPr id="11" name="Rectangle 10"/>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Services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Secondary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808DC2"/>
                </a:solidFill>
                <a:latin typeface="Calibri"/>
              </a:rPr>
              <a:t>Professional services and implementation for enterprise customers.</a:t>
            </a:r>
          </a:p>
        </p:txBody>
      </p:sp>
      <p:sp>
        <p:nvSpPr>
          <p:cNvPr id="16" name="Rectangle 15"/>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Land &amp; Expand</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036BA"/>
                </a:solidFill>
                <a:latin typeface="Calibri"/>
              </a:rPr>
              <a:t>Growth</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808DC2"/>
                </a:solidFill>
                <a:latin typeface="Calibri"/>
              </a:rPr>
              <a:t>Low entry point drives adoption; expansion within accounts grows ACV over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Zepto is gaining momentum</a:t>
            </a:r>
          </a:p>
        </p:txBody>
      </p:sp>
      <p:sp>
        <p:nvSpPr>
          <p:cNvPr id="6" name="Rectangle 5"/>
          <p:cNvSpPr/>
          <p:nvPr/>
        </p:nvSpPr>
        <p:spPr>
          <a:xfrm>
            <a:off x="632307" y="2103120"/>
            <a:ext cx="2560320" cy="219456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808DC2"/>
                </a:solidFill>
                <a:latin typeface="Calibri"/>
              </a:rPr>
              <a:t>Y1 Target</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101C51"/>
                </a:solidFill>
                <a:latin typeface="Calibri"/>
              </a:rPr>
              <a:t>ARR projection</a:t>
            </a:r>
          </a:p>
        </p:txBody>
      </p:sp>
      <p:sp>
        <p:nvSpPr>
          <p:cNvPr id="10" name="Rectangle 9"/>
          <p:cNvSpPr/>
          <p:nvPr/>
        </p:nvSpPr>
        <p:spPr>
          <a:xfrm>
            <a:off x="3421227" y="2103120"/>
            <a:ext cx="2560320" cy="219456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808DC2"/>
                </a:solidFill>
                <a:latin typeface="Calibri"/>
              </a:rPr>
              <a:t>Traction</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14" name="Rectangle 13"/>
          <p:cNvSpPr/>
          <p:nvPr/>
        </p:nvSpPr>
        <p:spPr>
          <a:xfrm>
            <a:off x="6210147" y="2103120"/>
            <a:ext cx="2560320" cy="2194560"/>
          </a:xfrm>
          <a:prstGeom prst="rect">
            <a:avLst/>
          </a:prstGeom>
          <a:solidFill>
            <a:srgbClr val="120E1E"/>
          </a:solidFill>
          <a:ln w="19050">
            <a:solidFill>
              <a:srgbClr val="5036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808DC2"/>
                </a:solidFill>
                <a:latin typeface="Calibri"/>
              </a:rPr>
              <a:t>Traction</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18" name="Rectangle 17"/>
          <p:cNvSpPr/>
          <p:nvPr/>
        </p:nvSpPr>
        <p:spPr>
          <a:xfrm>
            <a:off x="8999067" y="2103120"/>
            <a:ext cx="2560320" cy="2194560"/>
          </a:xfrm>
          <a:prstGeom prst="rect">
            <a:avLst/>
          </a:prstGeom>
          <a:solidFill>
            <a:srgbClr val="120E1E"/>
          </a:solidFill>
          <a:ln w="19050">
            <a:solidFill>
              <a:srgbClr val="5B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808DC2"/>
                </a:solidFill>
                <a:latin typeface="Calibri"/>
              </a:rPr>
              <a:t>Traction</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101C51"/>
                </a:solidFill>
                <a:latin typeface="Calibri"/>
              </a:rPr>
              <a:t>Early stage</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808DC2"/>
                </a:solidFill>
                <a:latin typeface="Calibri"/>
              </a:rPr>
              <a:t>Seed-funded and growing.</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808DC2"/>
                </a:solidFill>
                <a:latin typeface="Calibri"/>
              </a:rPr>
              <a:t>›  </a:t>
            </a:r>
            <a:r>
              <a:rPr sz="1300" b="1">
                <a:solidFill>
                  <a:srgbClr val="808DC2"/>
                </a:solidFill>
                <a:latin typeface="Calibri"/>
              </a:rPr>
              <a:t>Customers:</a:t>
            </a:r>
            <a:r>
              <a:rPr sz="1300" b="0">
                <a:solidFill>
                  <a:srgbClr val="808DC2"/>
                </a:solidFill>
                <a:latin typeface="Calibri"/>
              </a:rPr>
              <a:t> Design partners signed and providing active product feedback</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808DC2"/>
                </a:solidFill>
                <a:latin typeface="Calibri"/>
              </a:rPr>
              <a:t>›  </a:t>
            </a:r>
            <a:r>
              <a:rPr sz="1300" b="1">
                <a:solidFill>
                  <a:srgbClr val="808DC2"/>
                </a:solidFill>
                <a:latin typeface="Calibri"/>
              </a:rPr>
              <a:t>Product:</a:t>
            </a:r>
            <a:r>
              <a:rPr sz="1300" b="0">
                <a:solidFill>
                  <a:srgbClr val="808DC2"/>
                </a:solidFill>
                <a:latin typeface="Calibri"/>
              </a:rPr>
              <a:t> Core platform live — onboarding first paying customers</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808DC2"/>
                </a:solidFill>
                <a:latin typeface="Calibri"/>
              </a:rPr>
              <a:t>›  </a:t>
            </a:r>
            <a:r>
              <a:rPr sz="1300" b="1">
                <a:solidFill>
                  <a:srgbClr val="808DC2"/>
                </a:solidFill>
                <a:latin typeface="Calibri"/>
              </a:rPr>
              <a:t>Team:</a:t>
            </a:r>
            <a:r>
              <a:rPr sz="1300" b="0">
                <a:solidFill>
                  <a:srgbClr val="808DC2"/>
                </a:solidFill>
                <a:latin typeface="Calibri"/>
              </a:rPr>
              <a:t> Core team in place across engineering, product, and GTM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Zepto is building the leading platform for Quick Commerce</a:t>
            </a:r>
          </a:p>
        </p:txBody>
      </p:sp>
      <p:sp>
        <p:nvSpPr>
          <p:cNvPr id="6" name="Rectangle 5"/>
          <p:cNvSpPr/>
          <p:nvPr/>
        </p:nvSpPr>
        <p:spPr>
          <a:xfrm>
            <a:off x="792327" y="1828800"/>
            <a:ext cx="5120640" cy="347472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92327" y="1828800"/>
            <a:ext cx="512064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207" y="2011680"/>
            <a:ext cx="4754880" cy="548640"/>
          </a:xfrm>
          <a:prstGeom prst="rect">
            <a:avLst/>
          </a:prstGeom>
          <a:noFill/>
        </p:spPr>
        <p:txBody>
          <a:bodyPr wrap="square">
            <a:spAutoFit/>
          </a:bodyPr>
          <a:lstStyle/>
          <a:p>
            <a:pPr algn="l"/>
            <a:r>
              <a:rPr sz="1600" b="1">
                <a:solidFill>
                  <a:srgbClr val="F5F3FF"/>
                </a:solidFill>
                <a:latin typeface="Calibri"/>
              </a:rPr>
              <a:t>Existing solutions</a:t>
            </a:r>
          </a:p>
        </p:txBody>
      </p:sp>
      <p:sp>
        <p:nvSpPr>
          <p:cNvPr id="9" name="TextBox 8"/>
          <p:cNvSpPr txBox="1"/>
          <p:nvPr/>
        </p:nvSpPr>
        <p:spPr>
          <a:xfrm>
            <a:off x="975207" y="2560320"/>
            <a:ext cx="4754880" cy="502920"/>
          </a:xfrm>
          <a:prstGeom prst="rect">
            <a:avLst/>
          </a:prstGeom>
          <a:noFill/>
        </p:spPr>
        <p:txBody>
          <a:bodyPr wrap="square">
            <a:spAutoFit/>
          </a:bodyPr>
          <a:lstStyle/>
          <a:p>
            <a:pPr algn="l"/>
            <a:r>
              <a:rPr sz="2200" b="1">
                <a:solidFill>
                  <a:srgbClr val="2540B6"/>
                </a:solidFill>
                <a:latin typeface="Calibri"/>
              </a:rPr>
              <a:t>Zepto's purpose-built approach vs. horizontal tools</a:t>
            </a:r>
          </a:p>
        </p:txBody>
      </p:sp>
      <p:sp>
        <p:nvSpPr>
          <p:cNvPr id="10" name="TextBox 9"/>
          <p:cNvSpPr txBox="1"/>
          <p:nvPr/>
        </p:nvSpPr>
        <p:spPr>
          <a:xfrm>
            <a:off x="975207" y="3063240"/>
            <a:ext cx="4754880" cy="2057400"/>
          </a:xfrm>
          <a:prstGeom prst="rect">
            <a:avLst/>
          </a:prstGeom>
          <a:noFill/>
        </p:spPr>
        <p:txBody>
          <a:bodyPr wrap="square">
            <a:spAutoFit/>
          </a:bodyPr>
          <a:lstStyle/>
          <a:p>
            <a:pPr algn="l"/>
            <a:r>
              <a:rPr sz="1300" b="0">
                <a:solidFill>
                  <a:srgbClr val="808DC2"/>
                </a:solidFill>
                <a:latin typeface="Calibri"/>
              </a:rPr>
              <a:t>Legacy tools and manual processes Slow and expensive</a:t>
            </a:r>
          </a:p>
        </p:txBody>
      </p:sp>
      <p:sp>
        <p:nvSpPr>
          <p:cNvPr id="11" name="Rectangle 10"/>
          <p:cNvSpPr/>
          <p:nvPr/>
        </p:nvSpPr>
        <p:spPr>
          <a:xfrm>
            <a:off x="6278727" y="1828800"/>
            <a:ext cx="5120640" cy="347472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78727" y="1828800"/>
            <a:ext cx="512064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2011680"/>
            <a:ext cx="4754880" cy="548640"/>
          </a:xfrm>
          <a:prstGeom prst="rect">
            <a:avLst/>
          </a:prstGeom>
          <a:noFill/>
        </p:spPr>
        <p:txBody>
          <a:bodyPr wrap="square">
            <a:spAutoFit/>
          </a:bodyPr>
          <a:lstStyle/>
          <a:p>
            <a:pPr algn="l"/>
            <a:r>
              <a:rPr sz="1600" b="1">
                <a:solidFill>
                  <a:srgbClr val="F5F3FF"/>
                </a:solidFill>
                <a:latin typeface="Calibri"/>
              </a:rPr>
              <a:t>Generic platforms</a:t>
            </a:r>
          </a:p>
        </p:txBody>
      </p:sp>
      <p:sp>
        <p:nvSpPr>
          <p:cNvPr id="14" name="TextBox 13"/>
          <p:cNvSpPr txBox="1"/>
          <p:nvPr/>
        </p:nvSpPr>
        <p:spPr>
          <a:xfrm>
            <a:off x="6461607" y="2560320"/>
            <a:ext cx="4754880" cy="502920"/>
          </a:xfrm>
          <a:prstGeom prst="rect">
            <a:avLst/>
          </a:prstGeom>
          <a:noFill/>
        </p:spPr>
        <p:txBody>
          <a:bodyPr wrap="square">
            <a:spAutoFit/>
          </a:bodyPr>
          <a:lstStyle/>
          <a:p>
            <a:pPr algn="l"/>
            <a:r>
              <a:rPr sz="2200" b="1">
                <a:solidFill>
                  <a:srgbClr val="7B2CBF"/>
                </a:solidFill>
                <a:latin typeface="Calibri"/>
              </a:rPr>
              <a:t>Faster time-to-value with modern architecture</a:t>
            </a:r>
          </a:p>
        </p:txBody>
      </p:sp>
      <p:sp>
        <p:nvSpPr>
          <p:cNvPr id="15" name="TextBox 14"/>
          <p:cNvSpPr txBox="1"/>
          <p:nvPr/>
        </p:nvSpPr>
        <p:spPr>
          <a:xfrm>
            <a:off x="6461607" y="3063240"/>
            <a:ext cx="4754880" cy="2057400"/>
          </a:xfrm>
          <a:prstGeom prst="rect">
            <a:avLst/>
          </a:prstGeom>
          <a:noFill/>
        </p:spPr>
        <p:txBody>
          <a:bodyPr wrap="square">
            <a:spAutoFit/>
          </a:bodyPr>
          <a:lstStyle/>
          <a:p>
            <a:pPr algn="l"/>
            <a:r>
              <a:rPr sz="1300" b="0">
                <a:solidFill>
                  <a:srgbClr val="808DC2"/>
                </a:solidFill>
                <a:latin typeface="Calibri"/>
              </a:rPr>
              <a:t>Horizontal tools adapted for vertical use Not purpose-built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The right people to win this market</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Key Hire</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6"/>
                </a:solidFill>
                <a:latin typeface="Calibri"/>
              </a:rPr>
              <a:t>Open</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808DC2"/>
                </a:solidFill>
                <a:latin typeface="Calibri"/>
              </a:rPr>
              <a:t>Actively hiring for this role as we scale.</a:t>
            </a:r>
          </a:p>
        </p:txBody>
      </p:sp>
      <p:sp>
        <p:nvSpPr>
          <p:cNvPr id="11" name="Rectangle 10"/>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Key Hire</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Open</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808DC2"/>
                </a:solidFill>
                <a:latin typeface="Calibri"/>
              </a:rPr>
              <a:t>Actively hiring for this role as we scale.</a:t>
            </a:r>
          </a:p>
        </p:txBody>
      </p:sp>
      <p:sp>
        <p:nvSpPr>
          <p:cNvPr id="16" name="Rectangle 15"/>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Key Hire</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036BA"/>
                </a:solidFill>
                <a:latin typeface="Calibri"/>
              </a:rPr>
              <a:t>Open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808DC2"/>
                </a:solidFill>
                <a:latin typeface="Calibri"/>
              </a:rPr>
              <a:t>Actively hiring for this role as we scale.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Clear path to scale with defensible unit economics</a:t>
            </a:r>
          </a:p>
        </p:txBody>
      </p:sp>
      <p:sp>
        <p:nvSpPr>
          <p:cNvPr id="6" name="Rectangle 5"/>
          <p:cNvSpPr/>
          <p:nvPr/>
        </p:nvSpPr>
        <p:spPr>
          <a:xfrm>
            <a:off x="632307" y="2103120"/>
            <a:ext cx="2560320" cy="2194560"/>
          </a:xfrm>
          <a:prstGeom prst="rect">
            <a:avLst/>
          </a:prstGeom>
          <a:solidFill>
            <a:srgbClr val="120E1E"/>
          </a:solidFill>
          <a:ln w="19050">
            <a:solidFill>
              <a:srgbClr val="254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808DC2"/>
                </a:solidFill>
                <a:latin typeface="Calibri"/>
              </a:rPr>
              <a:t>Conservative Y1</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101C51"/>
                </a:solidFill>
                <a:latin typeface="Calibri"/>
              </a:rPr>
              <a:t>50 customers at $10K ACV</a:t>
            </a:r>
          </a:p>
        </p:txBody>
      </p:sp>
      <p:sp>
        <p:nvSpPr>
          <p:cNvPr id="10" name="Rectangle 9"/>
          <p:cNvSpPr/>
          <p:nvPr/>
        </p:nvSpPr>
        <p:spPr>
          <a:xfrm>
            <a:off x="3421227" y="2103120"/>
            <a:ext cx="2560320" cy="2194560"/>
          </a:xfrm>
          <a:prstGeom prst="rect">
            <a:avLst/>
          </a:prstGeom>
          <a:solidFill>
            <a:srgbClr val="120E1E"/>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$2M</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808DC2"/>
                </a:solidFill>
                <a:latin typeface="Calibri"/>
              </a:rPr>
              <a:t>Base Y2</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101C51"/>
                </a:solidFill>
                <a:latin typeface="Calibri"/>
              </a:rPr>
              <a:t>150 customers, expanding ACV</a:t>
            </a:r>
          </a:p>
        </p:txBody>
      </p:sp>
      <p:sp>
        <p:nvSpPr>
          <p:cNvPr id="14" name="Rectangle 13"/>
          <p:cNvSpPr/>
          <p:nvPr/>
        </p:nvSpPr>
        <p:spPr>
          <a:xfrm>
            <a:off x="6210147" y="2103120"/>
            <a:ext cx="2560320" cy="2194560"/>
          </a:xfrm>
          <a:prstGeom prst="rect">
            <a:avLst/>
          </a:prstGeom>
          <a:solidFill>
            <a:srgbClr val="120E1E"/>
          </a:solidFill>
          <a:ln w="19050">
            <a:solidFill>
              <a:srgbClr val="5036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$8M</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808DC2"/>
                </a:solidFill>
                <a:latin typeface="Calibri"/>
              </a:rPr>
              <a:t>Optimistic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101C51"/>
                </a:solidFill>
                <a:latin typeface="Calibri"/>
              </a:rPr>
              <a:t>Enterprise expansion + new verticals</a:t>
            </a:r>
          </a:p>
        </p:txBody>
      </p:sp>
      <p:sp>
        <p:nvSpPr>
          <p:cNvPr id="18" name="Rectangle 17"/>
          <p:cNvSpPr/>
          <p:nvPr/>
        </p:nvSpPr>
        <p:spPr>
          <a:xfrm>
            <a:off x="8999067" y="2103120"/>
            <a:ext cx="2560320" cy="2194560"/>
          </a:xfrm>
          <a:prstGeom prst="rect">
            <a:avLst/>
          </a:prstGeom>
          <a:solidFill>
            <a:srgbClr val="120E1E"/>
          </a:solidFill>
          <a:ln w="19050">
            <a:solidFill>
              <a:srgbClr val="5B6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70–80%</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808DC2"/>
                </a:solidFill>
                <a:latin typeface="Calibri"/>
              </a:rPr>
              <a:t>Gross Margin</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101C51"/>
                </a:solidFill>
                <a:latin typeface="Calibri"/>
              </a:rPr>
              <a:t>Target at scale</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808DC2"/>
                </a:solidFill>
                <a:latin typeface="Calibri"/>
              </a:rPr>
              <a:t>Assumptions: land-and-expand motion, CAC payback &lt; 12 months, positive unit economics from Day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101C51"/>
                </a:solidFill>
                <a:latin typeface="Calibri"/>
              </a:rPr>
              <a:t>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808DC2"/>
                </a:solidFill>
                <a:latin typeface="Calibri"/>
              </a:rPr>
              <a:t>Raising to reach $2M</a:t>
            </a:r>
          </a:p>
        </p:txBody>
      </p:sp>
      <p:sp>
        <p:nvSpPr>
          <p:cNvPr id="6" name="Rectangle 5"/>
          <p:cNvSpPr/>
          <p:nvPr/>
        </p:nvSpPr>
        <p:spPr>
          <a:xfrm>
            <a:off x="17524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2540B6"/>
                </a:solidFill>
                <a:latin typeface="Calibri"/>
              </a:rPr>
              <a:t>40%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808DC2"/>
                </a:solidFill>
                <a:latin typeface="Calibri"/>
              </a:rPr>
              <a:t>Scale engineering, ship enterprise features, reach product-market fit.</a:t>
            </a:r>
          </a:p>
        </p:txBody>
      </p:sp>
      <p:sp>
        <p:nvSpPr>
          <p:cNvPr id="11" name="Rectangle 10"/>
          <p:cNvSpPr/>
          <p:nvPr/>
        </p:nvSpPr>
        <p:spPr>
          <a:xfrm>
            <a:off x="47242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Go-to-Market</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7B2CBF"/>
                </a:solidFill>
                <a:latin typeface="Calibri"/>
              </a:rPr>
              <a:t>40%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808DC2"/>
                </a:solidFill>
                <a:latin typeface="Calibri"/>
              </a:rPr>
              <a:t>Hire first AEs, launch demand gen, close 10 anchor customers.</a:t>
            </a:r>
          </a:p>
        </p:txBody>
      </p:sp>
      <p:sp>
        <p:nvSpPr>
          <p:cNvPr id="16" name="Rectangle 15"/>
          <p:cNvSpPr/>
          <p:nvPr/>
        </p:nvSpPr>
        <p:spPr>
          <a:xfrm>
            <a:off x="7696047" y="1920240"/>
            <a:ext cx="2743200" cy="3291840"/>
          </a:xfrm>
          <a:prstGeom prst="rect">
            <a:avLst/>
          </a:prstGeom>
          <a:solidFill>
            <a:srgbClr val="120E1E"/>
          </a:solidFill>
          <a:ln w="12700">
            <a:solidFill>
              <a:srgbClr val="2820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503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Operations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5036BA"/>
                </a:solidFill>
                <a:latin typeface="Calibri"/>
              </a:rPr>
              <a:t>20%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808DC2"/>
                </a:solidFill>
                <a:latin typeface="Calibri"/>
              </a:rPr>
              <a:t>Customer success, infrastructure, legal and compliance.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6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54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Zepto is building the leading platform for Quick Commerce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808DC2"/>
                </a:solidFill>
                <a:latin typeface="Calibri"/>
              </a:rPr>
              <a:t>Join us in building the category leader in Quick Commerce.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101C51"/>
                </a:solidFill>
                <a:latin typeface="Calibri"/>
              </a:rPr>
              <a:t>Contact us · Zepto</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101C51"/>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