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Ola: Driving the Future of Mobility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692"/>
                </a:solidFill>
                <a:latin typeface="Calibri"/>
              </a:rPr>
              <a:t>Connecting Millions, Transforming Transportation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622"/>
                </a:solidFill>
                <a:latin typeface="Calibri"/>
              </a:rPr>
              <a:t>Your trusted partner for seamless, on-demand travel across India and beyond.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Leading India's Mobility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As of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250+ Cities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Across 4 Countries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$7.15B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As of Feb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Ola is India's largest ride-sharing platform, rapidly expanding its global footprint while diversifying into electric vehicles. With a proven track record of innovation and market dominance, we are poised for exponential growth in the burgeoning mobility sector.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Market Leader:</a:t>
            </a:r>
            <a:r>
              <a:rPr sz="1300" b="0">
                <a:solidFill>
                  <a:srgbClr val="E29692"/>
                </a:solidFill>
                <a:latin typeface="Calibri"/>
              </a:rPr>
              <a:t> Dominant player in India's ride-sharing market with significant international presence.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Comprehensive Ecosystem:</a:t>
            </a:r>
            <a:r>
              <a:rPr sz="1300" b="0">
                <a:solidFill>
                  <a:srgbClr val="E29692"/>
                </a:solidFill>
                <a:latin typeface="Calibri"/>
              </a:rPr>
              <a:t> Offering diverse services from cabs and auto-rickshaws to electric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Strong Financials:</a:t>
            </a:r>
            <a:r>
              <a:rPr sz="1300" b="0">
                <a:solidFill>
                  <a:srgbClr val="E29692"/>
                </a:solidFill>
                <a:latin typeface="Calibri"/>
              </a:rPr>
              <a:t> Consistent growth in revenue and customer base, demonstrating robust market demand.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Massive &amp; Growing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The Global Mobility Market is Exploding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$185B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Global Ride-Hailing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2024 Market Size (Source: Statista)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Projected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2024-2029 (Source: Statista)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Indian Mobility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Expected by 2030 (Source: RedSeer)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Urbanization, digitalization, and a shift towards shared and sustainable transportation are fueling unprecedented growth in the global mobility sector. Ola is strategically positioned to capture a significant share of this expanding market.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Urbanization Trends:</a:t>
            </a:r>
            <a:r>
              <a:rPr sz="1300" b="0">
                <a:solidFill>
                  <a:srgbClr val="E29692"/>
                </a:solidFill>
                <a:latin typeface="Calibri"/>
              </a:rPr>
              <a:t> Rapid growth of urban populations globally drives demand for efficient transportation.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Digital Adoption: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Increasing smartphone penetration and digital payment adoption enable seamless service delivery.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Sustainability Focus:</a:t>
            </a:r>
            <a:r>
              <a:rPr sz="1300" b="0">
                <a:solidFill>
                  <a:srgbClr val="E29692"/>
                </a:solidFill>
                <a:latin typeface="Calibri"/>
              </a:rPr>
              <a:t> Growing consumer preference for eco-friendly and shared mobility solutions, boosting EV adoption.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Problem: Inefficient Urban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Our Solution: Seamless, Smart Mobility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E554C"/>
                </a:solidFill>
                <a:latin typeface="Calibri"/>
              </a:rPr>
              <a:t>Fragmented &amp; Unreliable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Unreliable Transport:</a:t>
            </a:r>
            <a:r>
              <a:rPr sz="1300" b="0">
                <a:solidFill>
                  <a:srgbClr val="E29692"/>
                </a:solidFill>
                <a:latin typeface="Calibri"/>
              </a:rPr>
              <a:t> Passengers often face long wait times and inconsistent service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High Costs:</a:t>
            </a:r>
            <a:r>
              <a:rPr sz="1300" b="0">
                <a:solidFill>
                  <a:srgbClr val="E29692"/>
                </a:solidFill>
                <a:latin typeface="Calibri"/>
              </a:rPr>
              <a:t> Traditional taxi services are expensive and often lack transparent pricing.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Safety Concerns:</a:t>
            </a:r>
            <a:r>
              <a:rPr sz="1300" b="0">
                <a:solidFill>
                  <a:srgbClr val="E29692"/>
                </a:solidFill>
                <a:latin typeface="Calibri"/>
              </a:rPr>
              <a:t> Lack of accountability and verification for drivers raises passenger safety issues.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Environmental Impact:</a:t>
            </a:r>
            <a:r>
              <a:rPr sz="1300" b="0">
                <a:solidFill>
                  <a:srgbClr val="E29692"/>
                </a:solidFill>
                <a:latin typeface="Calibri"/>
              </a:rPr>
              <a:t> Predominance of combustion engine vehicles contributes to urban pollution.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E554C"/>
                </a:solidFill>
                <a:latin typeface="Calibri"/>
              </a:rPr>
              <a:t>On-Demand &amp; Sustainable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Instant Booking:</a:t>
            </a:r>
            <a:r>
              <a:rPr sz="1300" b="0">
                <a:solidFill>
                  <a:srgbClr val="E29692"/>
                </a:solidFill>
                <a:latin typeface="Calibri"/>
              </a:rPr>
              <a:t> Connects users with nearby cabs instantly via a user-friendly mobile 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Transparent Pricing:</a:t>
            </a:r>
            <a:r>
              <a:rPr sz="1300" b="0">
                <a:solidFill>
                  <a:srgbClr val="E29692"/>
                </a:solidFill>
                <a:latin typeface="Calibri"/>
              </a:rPr>
              <a:t> Upfront fare estimates and varied ride options to suit every budget.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Enhanced Safety:</a:t>
            </a:r>
            <a:r>
              <a:rPr sz="1300" b="0">
                <a:solidFill>
                  <a:srgbClr val="E29692"/>
                </a:solidFill>
                <a:latin typeface="Calibri"/>
              </a:rPr>
              <a:t> GPS tracking, in-app SOS, and verified drivers for a secure experience.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•  </a:t>
            </a:r>
            <a:r>
              <a:rPr sz="1300" b="1">
                <a:solidFill>
                  <a:srgbClr val="E29692"/>
                </a:solidFill>
                <a:latin typeface="Calibri"/>
              </a:rPr>
              <a:t>Eco-Friendly Options:</a:t>
            </a:r>
            <a:r>
              <a:rPr sz="1300" b="0">
                <a:solidFill>
                  <a:srgbClr val="E29692"/>
                </a:solidFill>
                <a:latin typeface="Calibri"/>
              </a:rPr>
              <a:t> Pioneering electric vehicle adoption through Ola Electric for sustainable rides.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51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Product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Diverse Services for Every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Ola Cabs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On-Demand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Variety:</a:t>
            </a:r>
            <a:r>
              <a:rPr sz="1300" b="0">
                <a:solidFill>
                  <a:srgbClr val="E29692"/>
                </a:solidFill>
                <a:latin typeface="Calibri"/>
              </a:rPr>
              <a:t> Hatchbacks, Sedans, SUVs, and luxury cars available at competitive prices.
</a:t>
            </a:r>
            <a:r>
              <a:rPr sz="1300" b="1">
                <a:solidFill>
                  <a:srgbClr val="E29692"/>
                </a:solidFill>
                <a:latin typeface="Calibri"/>
              </a:rPr>
              <a:t>Convenience:</a:t>
            </a:r>
            <a:r>
              <a:rPr sz="1300" b="0">
                <a:solidFill>
                  <a:srgbClr val="E29692"/>
                </a:solidFill>
                <a:latin typeface="Calibri"/>
              </a:rPr>
              <a:t> Doorstep pickup and drop-off, real-time tracking, and in-app payments.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Ola 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Affordable Commutes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Accessibility:</a:t>
            </a:r>
            <a:r>
              <a:rPr sz="1300" b="0">
                <a:solidFill>
                  <a:srgbClr val="E29692"/>
                </a:solidFill>
                <a:latin typeface="Calibri"/>
              </a:rPr>
              <a:t> Easy booking of auto-rickshaws for short distances, popular in Indian cities.
</a:t>
            </a:r>
            <a:r>
              <a:rPr sz="1300" b="1">
                <a:solidFill>
                  <a:srgbClr val="E29692"/>
                </a:solidFill>
                <a:latin typeface="Calibri"/>
              </a:rPr>
              <a:t>Economy:</a:t>
            </a:r>
            <a:r>
              <a:rPr sz="1300" b="0">
                <a:solidFill>
                  <a:srgbClr val="E29692"/>
                </a:solidFill>
                <a:latin typeface="Calibri"/>
              </a:rPr>
              <a:t> Cost-effective travel option for daily commutes.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Ola Electric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Sustainable 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EV Manufacturing:</a:t>
            </a:r>
            <a:r>
              <a:rPr sz="1300" b="0">
                <a:solidFill>
                  <a:srgbClr val="E29692"/>
                </a:solidFill>
                <a:latin typeface="Calibri"/>
              </a:rPr>
              <a:t> India's largest electric two-wheeler manufacturer.
</a:t>
            </a:r>
            <a:r>
              <a:rPr sz="1300" b="1">
                <a:solidFill>
                  <a:srgbClr val="E29692"/>
                </a:solidFill>
                <a:latin typeface="Calibri"/>
              </a:rPr>
              <a:t>Charging Network:</a:t>
            </a:r>
            <a:r>
              <a:rPr sz="1300" b="0">
                <a:solidFill>
                  <a:srgbClr val="E29692"/>
                </a:solidFill>
                <a:latin typeface="Calibri"/>
              </a:rPr>
              <a:t> Building a robust charging infrastructure to support EV adoption.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E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Corporate &amp; Outstation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7F78"/>
                </a:solidFill>
                <a:latin typeface="Calibri"/>
              </a:rPr>
              <a:t>Business &amp; Leisure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Corporate Travel:</a:t>
            </a:r>
            <a:r>
              <a:rPr sz="1300" b="0">
                <a:solidFill>
                  <a:srgbClr val="E29692"/>
                </a:solidFill>
                <a:latin typeface="Calibri"/>
              </a:rPr>
              <a:t> Dedicated solutions for businesses with expense management.
</a:t>
            </a:r>
            <a:r>
              <a:rPr sz="1300" b="1">
                <a:solidFill>
                  <a:srgbClr val="E29692"/>
                </a:solidFill>
                <a:latin typeface="Calibri"/>
              </a:rPr>
              <a:t>Outstation Cabs:</a:t>
            </a:r>
            <a:r>
              <a:rPr sz="1300" b="0">
                <a:solidFill>
                  <a:srgbClr val="E29692"/>
                </a:solidFill>
                <a:latin typeface="Calibri"/>
              </a:rPr>
              <a:t> Long-distance travel options with hourly or fixed packages.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Robust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Diversified Revenue Streams, Scalable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Commission on Rides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Primary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Percentage Cut:</a:t>
            </a:r>
            <a:r>
              <a:rPr sz="1300" b="0">
                <a:solidFill>
                  <a:srgbClr val="E29692"/>
                </a:solidFill>
                <a:latin typeface="Calibri"/>
              </a:rPr>
              <a:t> We earn a commission on every ride booked through the Ola platform.
</a:t>
            </a:r>
            <a:r>
              <a:rPr sz="1300" b="1">
                <a:solidFill>
                  <a:srgbClr val="E29692"/>
                </a:solidFill>
                <a:latin typeface="Calibri"/>
              </a:rPr>
              <a:t>Dynamic Pricing:</a:t>
            </a:r>
            <a:r>
              <a:rPr sz="1300" b="0">
                <a:solidFill>
                  <a:srgbClr val="E29692"/>
                </a:solidFill>
                <a:latin typeface="Calibri"/>
              </a:rPr>
              <a:t> Optimized pricing based on demand, traffic, and distance.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&amp; Value-Added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Recurring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Ola Play:</a:t>
            </a:r>
            <a:r>
              <a:rPr sz="1300" b="0">
                <a:solidFill>
                  <a:srgbClr val="E29692"/>
                </a:solidFill>
                <a:latin typeface="Calibri"/>
              </a:rPr>
              <a:t> In-car entertainment system with premium content for enhanced passenger experience.
</a:t>
            </a:r>
            <a:r>
              <a:rPr sz="1300" b="1">
                <a:solidFill>
                  <a:srgbClr val="E29692"/>
                </a:solidFill>
                <a:latin typeface="Calibri"/>
              </a:rPr>
              <a:t>Corporate Accounts:</a:t>
            </a:r>
            <a:r>
              <a:rPr sz="1300" b="0">
                <a:solidFill>
                  <a:srgbClr val="E29692"/>
                </a:solidFill>
                <a:latin typeface="Calibri"/>
              </a:rPr>
              <a:t> Subscription-based services for businesses managing employee travel.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Ola Electric Vehicle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New Growth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Scooter Sales:</a:t>
            </a:r>
            <a:r>
              <a:rPr sz="1300" b="0">
                <a:solidFill>
                  <a:srgbClr val="E29692"/>
                </a:solidFill>
                <a:latin typeface="Calibri"/>
              </a:rPr>
              <a:t> Revenue from the direct sale of Ola Electric scooters to consumers.
</a:t>
            </a:r>
            <a:r>
              <a:rPr sz="1300" b="1">
                <a:solidFill>
                  <a:srgbClr val="E29692"/>
                </a:solidFill>
                <a:latin typeface="Calibri"/>
              </a:rPr>
              <a:t>Battery Swapping/Charging:</a:t>
            </a:r>
            <a:r>
              <a:rPr sz="1300" b="0">
                <a:solidFill>
                  <a:srgbClr val="E29692"/>
                </a:solidFill>
                <a:latin typeface="Calibri"/>
              </a:rPr>
              <a:t> Future revenue from energy services for our EV fleet.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E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Data &amp; Advertising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7F78"/>
                </a:solidFill>
                <a:latin typeface="Calibri"/>
              </a:rPr>
              <a:t>Future Potential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Insights:</a:t>
            </a:r>
            <a:r>
              <a:rPr sz="1300" b="0">
                <a:solidFill>
                  <a:srgbClr val="E29692"/>
                </a:solidFill>
                <a:latin typeface="Calibri"/>
              </a:rPr>
              <a:t> Leveraging anonymized mobility data for urban planning and smart city initiatives.
</a:t>
            </a:r>
            <a:r>
              <a:rPr sz="1300" b="1">
                <a:solidFill>
                  <a:srgbClr val="E29692"/>
                </a:solidFill>
                <a:latin typeface="Calibri"/>
              </a:rPr>
              <a:t>In-App Ads:</a:t>
            </a:r>
            <a:r>
              <a:rPr sz="1300" b="0">
                <a:solidFill>
                  <a:srgbClr val="E29692"/>
                </a:solidFill>
                <a:latin typeface="Calibri"/>
              </a:rPr>
              <a:t> Targeted advertising opportunities within the Ola app.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Traction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Scaling Rapidly Across 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Current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Current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Platform-wide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Monthly Active Users (MAU)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Consistent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Ola has consistently demonstrated strong market traction and impressive growth across its key performance indicators, solidifying its position as a market leader and indicating significant future potential.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Market Dominance:</a:t>
            </a:r>
            <a:r>
              <a:rPr sz="1300" b="0">
                <a:solidFill>
                  <a:srgbClr val="E29692"/>
                </a:solidFill>
                <a:latin typeface="Calibri"/>
              </a:rPr>
              <a:t> Maintained leadership in the Indian ride-sharing market despite intense competition.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Customer Loyalty:</a:t>
            </a:r>
            <a:r>
              <a:rPr sz="1300" b="0">
                <a:solidFill>
                  <a:srgbClr val="E29692"/>
                </a:solidFill>
                <a:latin typeface="Calibri"/>
              </a:rPr>
              <a:t> High retention rates and frequent usage from our growing customer 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Operational Efficiency:</a:t>
            </a:r>
            <a:r>
              <a:rPr sz="1300" b="0">
                <a:solidFill>
                  <a:srgbClr val="E29692"/>
                </a:solidFill>
                <a:latin typeface="Calibri"/>
              </a:rPr>
              <a:t> Continuous improvements in driver onboarding, route optimization, and customer service.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Navigating a Dynamic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$13.2B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Weakness:</a:t>
            </a:r>
            <a:r>
              <a:rPr sz="1300" b="0">
                <a:solidFill>
                  <a:srgbClr val="E29692"/>
                </a:solidFill>
                <a:latin typeface="Calibri"/>
              </a:rPr>
              <a:t> Has faced significant regulatory challenges and public scrutiny in various markets, sometimes struggling to adapt to local conditions and cultural nuances, which can hinder market penetration and growth.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Bike-taxi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Weakness:</a:t>
            </a:r>
            <a:r>
              <a:rPr sz="1300" b="0">
                <a:solidFill>
                  <a:srgbClr val="E29692"/>
                </a:solidFill>
                <a:latin typeface="Calibri"/>
              </a:rPr>
              <a:t> Primarily focused on bike-taxis, limiting its appeal to a broader segment of users who require car-based or multi-passenger services, and potentially facing scalability challenges in diverse urban environments.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BluSmart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EV focus (limited)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Weakness:</a:t>
            </a:r>
            <a:r>
              <a:rPr sz="1300" b="0">
                <a:solidFill>
                  <a:srgbClr val="E29692"/>
                </a:solidFill>
                <a:latin typeface="Calibri"/>
              </a:rPr>
              <a:t> While focused on EVs, its operational footprint and fleet size are significantly smaller than Ola's, limiting its ability to offer widespread availability and rapid service across all major urban centers.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Visionary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Driving Innovation and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Bhavish Aggarwal — Co-founder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Forbes 30 Under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Education: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IIT Bombay, B.Tech Computer Science and Engineering, 2008
</a:t>
            </a:r>
            <a:r>
              <a:rPr sz="1300" b="1">
                <a:solidFill>
                  <a:srgbClr val="E29692"/>
                </a:solidFill>
                <a:latin typeface="Calibri"/>
              </a:rPr>
              <a:t>Prior Experience:</a:t>
            </a:r>
            <a:r>
              <a:rPr sz="1300" b="0">
                <a:solidFill>
                  <a:srgbClr val="E29692"/>
                </a:solidFill>
                <a:latin typeface="Calibri"/>
              </a:rPr>
              <a:t> Microsoft Research, Assistant Researcher, 2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Ankit Bhati — Co-founder &amp; 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Entrepreneur of the Year 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Education: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IIT Bombay, B.Tech &amp; M.Tech Mechanical Engineering, 2011
</a:t>
            </a:r>
            <a:r>
              <a:rPr sz="1300" b="1">
                <a:solidFill>
                  <a:srgbClr val="E29692"/>
                </a:solidFill>
                <a:latin typeface="Calibri"/>
              </a:rPr>
              <a:t>Prior Experience:</a:t>
            </a:r>
            <a:r>
              <a:rPr sz="1300" b="0">
                <a:solidFill>
                  <a:srgbClr val="E29692"/>
                </a:solidFill>
                <a:latin typeface="Calibri"/>
              </a:rPr>
              <a:t> Freelance developer, several startups including Makesense and Wilcom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Unlocking the Future of Mobility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FE554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FE554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FE554C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22622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7F78"/>
                </a:solidFill>
                <a:latin typeface="Calibri"/>
              </a:rPr>
              <a:t>15.3%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E554C"/>
                </a:solidFill>
                <a:latin typeface="Calibri"/>
              </a:rPr>
              <a:t>$185B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692"/>
                </a:solidFill>
                <a:latin typeface="Calibri"/>
              </a:rPr>
              <a:t>Global Ride-Hailing Market 2024 · Statista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E554C"/>
                </a:solidFill>
                <a:latin typeface="Calibri"/>
              </a:rPr>
              <a:t>$90B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692"/>
                </a:solidFill>
                <a:latin typeface="Calibri"/>
              </a:rPr>
              <a:t>Indian Mobility Market by 2030 · RedSeer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E554C"/>
                </a:solidFill>
                <a:latin typeface="Calibri"/>
              </a:rPr>
              <a:t>$9B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692"/>
                </a:solidFill>
                <a:latin typeface="Calibri"/>
              </a:rPr>
              <a:t>~10% SAM capture · Target by 2028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692"/>
                </a:solidFill>
                <a:latin typeface="Calibri"/>
              </a:rPr>
              <a:t/>
            </a:r>
            <a:r>
              <a:rPr sz="1200" b="1">
                <a:solidFill>
                  <a:srgbClr val="E29692"/>
                </a:solidFill>
                <a:latin typeface="Calibri"/>
              </a:rPr>
              <a:t>FY2026:</a:t>
            </a:r>
            <a:r>
              <a:rPr sz="1200" b="0">
                <a:solidFill>
                  <a:srgbClr val="E29692"/>
                </a:solidFill>
                <a:latin typeface="Calibri"/>
              </a:rPr>
              <a:t> $250M ARR · 750,000 customers · Expand EV fleet and charging network.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692"/>
                </a:solidFill>
                <a:latin typeface="Calibri"/>
              </a:rPr>
              <a:t/>
            </a:r>
            <a:r>
              <a:rPr sz="1200" b="1">
                <a:solidFill>
                  <a:srgbClr val="E29692"/>
                </a:solidFill>
                <a:latin typeface="Calibri"/>
              </a:rPr>
              <a:t>FY2027:</a:t>
            </a:r>
            <a:r>
              <a:rPr sz="1200" b="0">
                <a:solidFill>
                  <a:srgbClr val="E29692"/>
                </a:solidFill>
                <a:latin typeface="Calibri"/>
              </a:rPr>
              <a:t> $400M ARR · 1.2M customers · Launch in 2 new international markets.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692"/>
                </a:solidFill>
                <a:latin typeface="Calibri"/>
              </a:rPr>
              <a:t/>
            </a:r>
            <a:r>
              <a:rPr sz="1200" b="1">
                <a:solidFill>
                  <a:srgbClr val="E29692"/>
                </a:solidFill>
                <a:latin typeface="Calibri"/>
              </a:rPr>
              <a:t>FY2028:</a:t>
            </a:r>
            <a:r>
              <a:rPr sz="1200" b="0">
                <a:solidFill>
                  <a:srgbClr val="E29692"/>
                </a:solidFill>
                <a:latin typeface="Calibri"/>
              </a:rPr>
              <a:t> $650M ARR · 2M customers · Achieve profitability across all core segments.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Ask: Fueling Our Next Phase of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Seeking $150 Million in Growth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Geographic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$60M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New Markets:</a:t>
            </a:r>
            <a:r>
              <a:rPr sz="1300" b="0">
                <a:solidFill>
                  <a:srgbClr val="E29692"/>
                </a:solidFill>
                <a:latin typeface="Calibri"/>
              </a:rPr>
              <a:t> Launching Ola services in 3-5 new high-potential international cities.
</a:t>
            </a:r>
            <a:r>
              <a:rPr sz="1300" b="1">
                <a:solidFill>
                  <a:srgbClr val="E29692"/>
                </a:solidFill>
                <a:latin typeface="Calibri"/>
              </a:rPr>
              <a:t>Deeper Penetration: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Expanding into Tier-2 and Tier-3 cities within existing markets.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Ola Electric R&amp;D &amp;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$50M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Product Development:</a:t>
            </a:r>
            <a:r>
              <a:rPr sz="1300" b="0">
                <a:solidFill>
                  <a:srgbClr val="E29692"/>
                </a:solidFill>
                <a:latin typeface="Calibri"/>
              </a:rPr>
              <a:t> Investing in next-generation EV models and battery technology.
</a:t>
            </a:r>
            <a:r>
              <a:rPr sz="1300" b="1">
                <a:solidFill>
                  <a:srgbClr val="E29692"/>
                </a:solidFill>
                <a:latin typeface="Calibri"/>
              </a:rPr>
              <a:t>Manufacturing Scale:</a:t>
            </a:r>
            <a:r>
              <a:rPr sz="1300" b="0">
                <a:solidFill>
                  <a:srgbClr val="E29692"/>
                </a:solidFill>
                <a:latin typeface="Calibri"/>
              </a:rPr>
              <a:t> Enhancing production capacity at our Futurefactory.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Technology &amp; AI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554C"/>
                </a:solidFill>
                <a:latin typeface="Calibri"/>
              </a:rPr>
              <a:t>$20M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Platform Enhancement:</a:t>
            </a:r>
            <a:r>
              <a:rPr sz="1300" b="0">
                <a:solidFill>
                  <a:srgbClr val="E29692"/>
                </a:solidFill>
                <a:latin typeface="Calibri"/>
              </a:rPr>
              <a:t> Improving matching algorithms, user experience, and safety features.
</a:t>
            </a:r>
            <a:r>
              <a:rPr sz="1300" b="1">
                <a:solidFill>
                  <a:srgbClr val="E29692"/>
                </a:solidFill>
                <a:latin typeface="Calibri"/>
              </a:rPr>
              <a:t>Data Analytics:</a:t>
            </a:r>
            <a:r>
              <a:rPr sz="1300" b="0">
                <a:solidFill>
                  <a:srgbClr val="E29692"/>
                </a:solidFill>
                <a:latin typeface="Calibri"/>
              </a:rPr>
              <a:t> Leveraging AI for predictive demand, dynamic pricing, and operational efficiency.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E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Acquisitions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E7F78"/>
                </a:solidFill>
                <a:latin typeface="Calibri"/>
              </a:rPr>
              <a:t>$20M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/>
            </a:r>
            <a:r>
              <a:rPr sz="1300" b="1">
                <a:solidFill>
                  <a:srgbClr val="E29692"/>
                </a:solidFill>
                <a:latin typeface="Calibri"/>
              </a:rPr>
              <a:t>Market Consolidation:</a:t>
            </a:r>
            <a:r>
              <a:rPr sz="1300" b="0">
                <a:solidFill>
                  <a:srgbClr val="E29692"/>
                </a:solidFill>
                <a:latin typeface="Calibri"/>
              </a:rPr>
              <a:t> Exploring opportunities for strategic acquisitions to expand services or market share.
</a:t>
            </a:r>
            <a:r>
              <a:rPr sz="1300" b="1">
                <a:solidFill>
                  <a:srgbClr val="E29692"/>
                </a:solidFill>
                <a:latin typeface="Calibri"/>
              </a:rPr>
              <a:t>Talent &amp; Technology:</a:t>
            </a:r>
            <a:r>
              <a:rPr sz="1300" b="0">
                <a:solidFill>
                  <a:srgbClr val="E29692"/>
                </a:solidFill>
                <a:latin typeface="Calibri"/>
              </a:rPr>
              <a:t> Acquiring companies with complementary technologies or skilled teams.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Ola: Drive the Future of Mobility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692"/>
                </a:solidFill>
                <a:latin typeface="Calibri"/>
              </a:rPr>
              <a:t>Invest in a Leader, Impact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622"/>
                </a:solidFill>
                <a:latin typeface="Calibri"/>
              </a:rPr>
              <a:t>Ola is more than a ride-sharing company; we are building a comprehensive, sustainable mobility ecosystem that is transforming urban travel and empowering communities. Partner with us to shape the future of transportation.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Investor Presentation  •  Confidential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