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Zomato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B8EC4"/>
                </a:solidFill>
                <a:latin typeface="Calibri"/>
              </a:rPr>
              <a:t>Streamlining Enterprise Operations for a Digitally Transformed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C4E7A"/>
                </a:solidFill>
                <a:latin typeface="Calibri"/>
              </a:rPr>
              <a:t>Zomato is the integrated operations automation platform for mid-to-large enterprises undergoing digital transformation.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Unlocking unparalleled operational efficiency in a massive, underserved market.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$500B+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Total Addressable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Global Operations Automation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15%+ CAGR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Market 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Strong Double-Digit Growth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3+ Enterprises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Early 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Piloting the Platform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Seeking $7M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Current Round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Series A Funding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Zomato addresses critical pain points in enterprise operations, poised to capture significant market share with its integrated automation platform.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Fragmented tools and manual processes are crippling enterprise productivity and profitability.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Fragmented Costs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40B5"/>
                </a:solidFill>
                <a:latin typeface="Calibri"/>
              </a:rPr>
              <a:t>$100K-$500K+ /yr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Mid-to-large enterprises struggle with fragmented legacy tooling, leading to high operational expenditure and inefficient resource allocation across their tech stack.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Manual Bottlenecks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30%+ Productivity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Time-consuming manual processes hinder productivity and introduce errors, diverting valuable employee time from high-impact strategic initiatives.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Data Disconnect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Delayed Insights by Weeks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A lack of real-time, integrated data makes strategic decision-making difficult, leading to missed opportunities and reactive instead of proactive operations.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Zomato Operations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An integrated, intelligent automation platform purpose-built to transform enterprise efficiency.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048256"/>
            <a:ext cx="109728" cy="109728"/>
          </a:xfrm>
          <a:prstGeom prst="ellipse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Consolidate Costs:</a:t>
            </a:r>
            <a:r>
              <a:rPr sz="1400" b="0">
                <a:solidFill>
                  <a:srgbClr val="9B8EC4"/>
                </a:solidFill>
                <a:latin typeface="Calibri"/>
              </a:rPr>
              <a:t> Unify fragmented legacy tooling into a single, integrated platform, drastically reducing operational expenditure and vendor sprawl.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15184"/>
            <a:ext cx="109728" cy="109728"/>
          </a:xfrm>
          <a:prstGeom prst="ellipse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Automate Workflows:</a:t>
            </a:r>
            <a:r>
              <a:rPr sz="1400" b="0">
                <a:solidFill>
                  <a:srgbClr val="9B8EC4"/>
                </a:solidFill>
                <a:latin typeface="Calibri"/>
              </a:rPr>
              <a:t> Eliminate time-consuming manual processes through intelligent automation, boosting employee productivity and freeing up valuable resources.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82112"/>
            <a:ext cx="109728" cy="109728"/>
          </a:xfrm>
          <a:prstGeom prst="ellipse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054096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Real-time Insights:</a:t>
            </a:r>
            <a:r>
              <a:rPr sz="1400" b="0">
                <a:solidFill>
                  <a:srgbClr val="9B8EC4"/>
                </a:solidFill>
                <a:latin typeface="Calibri"/>
              </a:rPr>
              <a:t> Provide a unified, real-time view of operational data across the enterprise, enabling faster, more informed strategic decision-making.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2048256"/>
            <a:ext cx="109728" cy="109728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API-First Integration:</a:t>
            </a:r>
            <a:r>
              <a:rPr sz="1400" b="0">
                <a:solidFill>
                  <a:srgbClr val="9B8EC4"/>
                </a:solidFill>
                <a:latin typeface="Calibri"/>
              </a:rPr>
              <a:t> Seamlessly connect with existing enterprise systems and data sources through a robust, modern API-first architecture, reducing integration complexity.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2615184"/>
            <a:ext cx="109728" cy="109728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Purpose-Built Platform:</a:t>
            </a:r>
            <a:r>
              <a:rPr sz="1400" b="0">
                <a:solidFill>
                  <a:srgbClr val="9B8EC4"/>
                </a:solidFill>
                <a:latin typeface="Calibri"/>
              </a:rPr>
              <a:t> Deliver industry-agnostic, yet purpose-built capabilities designed specifically for the unique demands of complex enterprise operations, unlike generic tools.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Product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Core features driving unparalleled operational efficiency and intelligence.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Intelligent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40B5"/>
                </a:solidFill>
                <a:latin typeface="Calibri"/>
              </a:rPr>
              <a:t>5x Faster Processes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Zomato’s powerful automation engine digitizes and streamlines complex operational workflows, eliminating repetitive tasks and ensuring consistency across the enterprise.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Unified Data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Reduced Data Silos by 80%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Consolidate disparate data sources into a single, real-time operational data hub, providing a holistic view for enhanced visibility and performance monitoring.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Seamless Integrations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90% Faster 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An API-first architecture enables rapid, low-code integration with existing ERPs, CRMs, and other business-critical applications, minimizing friction and setup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A massive, growing market ripe for integrated enterprise automation.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$500B+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Total Addressable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Global market opportunity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$100B+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Serviceable Addressable Market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Our immediate target market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$1.5B (Y3)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Serviceable Obtainable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Achievable 3-year capture target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15%+ CAGR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Market Growth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Strong double-digit growth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The demand for digital transformation and operational efficiency in mid-to-large enterprises presents a compelling and expansive market for Zomato.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Recurring SaaS revenue complemented by value-add services and clear expansion paths.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Subscription Software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40B5"/>
                </a:solidFill>
                <a:latin typeface="Calibri"/>
              </a:rPr>
              <a:t>$100K-$500K+/yr ACV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Core revenue is derived from annual or multi-year SaaS subscriptions, based on platform usage, number of users, or modules deployed by enterprise clients.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Professional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Project-Based Fees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Initial deployments, complex integrations, and custom workflow configurations generate additional revenue through professional services, ensuring successful enterprise adoption.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Expansion &amp; Upsell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High NRR Potential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Drive recurring growth by expanding platform usage across departments, adding new modules, or increasing user licenses within existing enterprise accounts.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Early market validation and strong interest from enterprise leaders.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02676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39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3+ Enterprises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39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Design Partners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182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Actively piloting the 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1568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284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High Interest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284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Market Engagement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From C-suite buyers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0460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417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MVP Launched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17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Product Development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60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Core automation capabilities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The market is ripe for integrated operational automation, with early enterprise engagements validating the critical need for Zomato's solution.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GO TO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Go-to-Market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Capturing the enterprise market through targeted sales and strategic ecosystem plays.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048256"/>
            <a:ext cx="109728" cy="109728"/>
          </a:xfrm>
          <a:prstGeom prst="ellipse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Enterprise Direct Sales:</a:t>
            </a:r>
            <a:r>
              <a:rPr sz="1400" b="0">
                <a:solidFill>
                  <a:srgbClr val="9B8EC4"/>
                </a:solidFill>
                <a:latin typeface="Calibri"/>
              </a:rPr>
              <a:t> Focus on engaging C-suite executives (CIOs, COOs, CFOs) and Head of Operations within mid-to-large enterprises through dedicated sales teams.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15184"/>
            <a:ext cx="109728" cy="109728"/>
          </a:xfrm>
          <a:prstGeom prst="ellipse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Content &amp; Thought Leadership:</a:t>
            </a:r>
            <a:r>
              <a:rPr sz="1400" b="0">
                <a:solidFill>
                  <a:srgbClr val="9B8EC4"/>
                </a:solidFill>
                <a:latin typeface="Calibri"/>
              </a:rPr>
              <a:t> Establish Zomato as an industry leader by publishing whitepapers, case studies, and hosting webinars on digital transformation and operational automation.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2048256"/>
            <a:ext cx="109728" cy="109728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Strategic Partnerships:</a:t>
            </a:r>
            <a:r>
              <a:rPr sz="1400" b="0">
                <a:solidFill>
                  <a:srgbClr val="9B8EC4"/>
                </a:solidFill>
                <a:latin typeface="Calibri"/>
              </a:rPr>
              <a:t> Collaborate with system integrators, consulting firms, and technology partners to extend reach and facilitate complex enterprise deployments.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2615184"/>
            <a:ext cx="109728" cy="109728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Land-and-Expand Model:</a:t>
            </a:r>
            <a:r>
              <a:rPr sz="1400" b="0">
                <a:solidFill>
                  <a:srgbClr val="9B8EC4"/>
                </a:solidFill>
                <a:latin typeface="Calibri"/>
              </a:rPr>
              <a:t> Secure initial deployments within specific departments or use cases, then systematically expand platform adoption and module usage across the organization based on proven ROI.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Zomato's integrated platform delivers purpose-built automation unlike fragmented or generic solutions.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303520" cy="411480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303520" cy="64008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Zomato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540B5"/>
                </a:solidFill>
                <a:latin typeface="Calibri"/>
              </a:rPr>
              <a:t>Integrated Operations 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Purpose-built for enterprise operational workflows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Unified platform consolidates fragmented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Real-time data insights for strategic decision-making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342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API-first for seamless, deep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73168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High switching costs create strong customer stickiness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737360"/>
            <a:ext cx="5303520" cy="4114800"/>
          </a:xfrm>
          <a:prstGeom prst="rect">
            <a:avLst/>
          </a:prstGeom>
          <a:solidFill>
            <a:srgbClr val="1A1130"/>
          </a:solidFill>
          <a:ln w="19050"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737360"/>
            <a:ext cx="5303520" cy="64008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Competitors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7B2CBF"/>
                </a:solidFill>
                <a:latin typeface="Calibri"/>
              </a:rPr>
              <a:t>Fragmented &amp; Generic Solutions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Legacy tools are slow, expensive, and manual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Generic platforms lack purpose-built functionality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Fragmented ecosystem increases integration complexity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3342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Limited real-time data visibility across systems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773168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High operational overhead and low scalability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2011680"/>
            <a:ext cx="27432" cy="3566160"/>
          </a:xfrm>
          <a:prstGeom prst="rect">
            <a:avLst/>
          </a:prstGeom>
          <a:solidFill>
            <a:srgbClr val="2A1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Our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A seasoned and passionate team poised to execute on Zomato's vision.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Experienced Founding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40B5"/>
                </a:solidFill>
                <a:latin typeface="Calibri"/>
              </a:rPr>
              <a:t>Decades of Industry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A seasoned group of entrepreneurs with deep expertise in enterprise software, operational automation, and digital transformation.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Visionary Leadership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Proven Track 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Committed to redefining enterprise operations through integrated, intelligent automation, driving innovation and market disruption.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Specialized Talent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Domain Experts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Our team comprises experts in cloud architecture, AI/ML, and enterprise-grade system integrations, essential for scaling complex platforms.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Financial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Aggressive, yet achievable revenue growth driven by enterprise adoption.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$2M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Projected Y1 ARR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Driven by initial enterprise pilots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Projected Y2 ARR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Accelerated customer acquisition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$30M+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Projected Y3 ARR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Strong market adoption &amp; expansion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50+ Enterprises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Key Assumption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At average $400K ACV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These projections are underpinned by robust enterprise demand and a land-and-expand strategy, paving a clear path to significant market penetration and profitability.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Raising $7M in Series A funding to accelerate product development and market expansion.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$7M Series A 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40B5"/>
                </a:solidFill>
                <a:latin typeface="Calibri"/>
              </a:rPr>
              <a:t>40% allocated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Fuel product innovation by expanding the engineering team, accelerating the platform roadmap, and integrating advanced AI/ML capabilities.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Sales &amp; Marketing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40% allocated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Scale enterprise direct sales force, invest in targeted content marketing, and build out strategic partnership channels for wider reach.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Operational Scaling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20% allocated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Strengthen customer success and support teams, enhance operational infrastructure, and hire key leadership to manage rapid growth.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Zomato: Powering the Future of Enterprise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B8EC4"/>
                </a:solidFill>
                <a:latin typeface="Calibri"/>
              </a:rPr>
              <a:t>Backed by the right partners, we will redefine how mid-to-large enterprises achieve operational excellence through intelligent automation.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C4E7A"/>
                </a:solidFill>
                <a:latin typeface="Calibri"/>
              </a:rPr>
              <a:t>Contact us for a deep dive into Zomato's platform and our vision for enterprise transformation.
[info@zomato.com]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