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Notion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The AI workspace that works for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Unifying tools and teams for a new era of productivity.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Unified Work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Notion: An AI-native workspace solving enterprise tool sprawl and driving unparalleled productivity.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$65B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Workplace Collaboration Market (2024)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130+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Problem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Avg. SaaS apps per enterprise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Enterprise 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Fortune 500 projected adoption by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$400M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Revenue (2024)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with 60% YoY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Cost of Fragmentation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Businesses are drowning in tool sprawl, context switching, and manual inefficiencies.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Tool Sprawl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130+ SaaS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Organizations struggle with managing </a:t>
            </a:r>
            <a:r>
              <a:rPr sz="1300" b="1">
                <a:solidFill>
                  <a:srgbClr val="9B8EC4"/>
                </a:solidFill>
                <a:latin typeface="Calibri"/>
              </a:rPr>
              <a:t>130+ SaaS apps</a:t>
            </a:r>
            <a:r>
              <a:rPr sz="1300" b="0">
                <a:solidFill>
                  <a:srgbClr val="9B8EC4"/>
                </a:solidFill>
                <a:latin typeface="Calibri"/>
              </a:rPr>
              <a:t>, leading to fragmented workflows and decreased productivity.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Information Silos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Fragmented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Dispersed data across various tools hinders centralized knowledge management and effective team collaboration.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Manual 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Lost Productivity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Employees spend excessive time on non-value-added tasks, creating demand for automation and AI-driven efficiency.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Inefficient Processes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A5E9"/>
                </a:solidFill>
                <a:latin typeface="Calibri"/>
              </a:rPr>
              <a:t>$$$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Lack of a unified workspace leads to missed opportunities and hinders data-driven decision making, especially for </a:t>
            </a:r>
            <a:r>
              <a:rPr sz="1300" b="1">
                <a:solidFill>
                  <a:srgbClr val="9B8EC4"/>
                </a:solidFill>
                <a:latin typeface="Calibri"/>
              </a:rPr>
              <a:t>SaaS companies</a:t>
            </a:r>
            <a:r>
              <a:rPr sz="1300" b="0">
                <a:solidFill>
                  <a:srgbClr val="9B8EC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Notion: The AI Workspace That Works For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Consolidating tools and teams into a single, intelligent platform, powered by native AI.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Unified Platform:</a:t>
            </a:r>
            <a:r>
              <a:rPr sz="1400" b="0">
                <a:solidFill>
                  <a:srgbClr val="9B8EC4"/>
                </a:solidFill>
                <a:latin typeface="Calibri"/>
              </a:rPr>
              <a:t> Brings together project management, CRM, team wikis, and more under one roof, significantly reducing tool sprawl for users.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AI-Native Automation:</a:t>
            </a:r>
            <a:r>
              <a:rPr sz="1400" b="0">
                <a:solidFill>
                  <a:srgbClr val="9B8EC4"/>
                </a:solidFill>
                <a:latin typeface="Calibri"/>
              </a:rPr>
              <a:t> Embedded AI agents for Q&amp;A, task routing, and reporting enhance productivity and automate workflows directly within the workspace.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82112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054096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Centralized Knowledge:</a:t>
            </a:r>
            <a:r>
              <a:rPr sz="1400" b="0">
                <a:solidFill>
                  <a:srgbClr val="9B8EC4"/>
                </a:solidFill>
                <a:latin typeface="Calibri"/>
              </a:rPr>
              <a:t> Provides a single source of truth for all information, eliminating silos and fostering effective team collaboration.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No-Code Flexibility:</a:t>
            </a:r>
            <a:r>
              <a:rPr sz="1400" b="0">
                <a:solidFill>
                  <a:srgbClr val="9B8EC4"/>
                </a:solidFill>
                <a:latin typeface="Calibri"/>
              </a:rPr>
              <a:t> Notion’s customizable, 'build-your-own-tool' philosophy empowers non-developers to create bespoke solutions, aligning with the </a:t>
            </a:r>
            <a:r>
              <a:rPr sz="1400" b="1">
                <a:solidFill>
                  <a:srgbClr val="9B8EC4"/>
                </a:solidFill>
                <a:latin typeface="Calibri"/>
              </a:rPr>
              <a:t>$65B no-code market</a:t>
            </a:r>
            <a:r>
              <a:rPr sz="1400" b="0">
                <a:solidFill>
                  <a:srgbClr val="9B8EC4"/>
                </a:solidFill>
                <a:latin typeface="Calibri"/>
              </a:rPr>
              <a:t>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Modern Architecture:</a:t>
            </a:r>
            <a:r>
              <a:rPr sz="1400" b="0">
                <a:solidFill>
                  <a:srgbClr val="9B8EC4"/>
                </a:solidFill>
                <a:latin typeface="Calibri"/>
              </a:rPr>
              <a:t> Built with a clean UI/UX and scalable infrastructure, ensuring rapid user adoption and a superior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Empowering Teams with Intelligent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Notion's core features deliver tangible productivity gains and workflow automation.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24/7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Q&amp;A, Task Routing, and Reporting agents automate repetitive tasks, allowing teams to </a:t>
            </a:r>
            <a:r>
              <a:rPr sz="1300" b="1">
                <a:solidFill>
                  <a:srgbClr val="9B8EC4"/>
                </a:solidFill>
                <a:latin typeface="Calibri"/>
              </a:rPr>
              <a:t>create Custom Agents for any workflow</a:t>
            </a:r>
            <a:r>
              <a:rPr sz="1300" b="0">
                <a:solidFill>
                  <a:srgbClr val="9B8EC4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Unified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Tools Consolidated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Consolidate project management, CRM, team wikis, and more – reducing the need for </a:t>
            </a:r>
            <a:r>
              <a:rPr sz="1300" b="1">
                <a:solidFill>
                  <a:srgbClr val="9B8EC4"/>
                </a:solidFill>
                <a:latin typeface="Calibri"/>
              </a:rPr>
              <a:t>10+ separate tools</a:t>
            </a:r>
            <a:r>
              <a:rPr sz="1300" b="0">
                <a:solidFill>
                  <a:srgbClr val="9B8EC4"/>
                </a:solidFill>
                <a:latin typeface="Calibri"/>
              </a:rPr>
              <a:t> and saving valuable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AI Search &amp;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Instant Answers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Instantly find answers and generate insights from your entire knowledge base, making information accessible and actionable.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A $65 Billion Untapped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global demand for integrated AI-powered collaboration is accelerating rapidly.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$65B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Total Addressable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Global Workplace Collaboration &amp; Productivity Software (2024)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Serviceable Available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Mid-market to Enterprise (50-5000+ employees)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15.7%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Market Growth (CAGR)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Workplace Collaboration Software (2023-2030)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68%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AI Spending Increase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IT decision-makers increasing AI spending in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Scalable SaaS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Freemium-led, tiered subscription model with significant expansion opportunities.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Subscription Tiers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Tiered Pricing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Primary revenue from paid plans (Plus, Business, Enterprise) based on features, number of users, and usage.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AI Feature Add-ons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Premium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Premium AI capabilities (e.g., advanced AI credits, custom agents) drive higher Average Revenue Per User (ARPU).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Land &amp; Expand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Organic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Freemium adoption facilitates viral growth, leading to paid conversions and enterprise upgrades within existing accounts.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Rapid Growth &amp; Enterprise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Proven market validation and accelerating financial performance.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100M+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Total users in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4M+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Paying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Globally in 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$400M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Revenue (2024)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60% YoY Growth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$600M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Projected ARR (2025)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Strong Momentum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GO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Strategic GTM for Enterprise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Targeting tech-forward mid-market and enterprise with a multi-pronged approach.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Direct Outbound:</a:t>
            </a:r>
            <a:r>
              <a:rPr sz="1400" b="0">
                <a:solidFill>
                  <a:srgbClr val="9B8EC4"/>
                </a:solidFill>
                <a:latin typeface="Calibri"/>
              </a:rPr>
              <a:t> Targeting VP-level buyers (e.g., VP Operations, CTO, Head of Product) in key SaaS verticals.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Content Marketing &amp; SEO:</a:t>
            </a:r>
            <a:r>
              <a:rPr sz="1400" b="0">
                <a:solidFill>
                  <a:srgbClr val="9B8EC4"/>
                </a:solidFill>
                <a:latin typeface="Calibri"/>
              </a:rPr>
              <a:t> Capturing inbound demand through thought leadership, user guides, and organic search, driving self-serve adoption.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Strategic Partnerships:</a:t>
            </a:r>
            <a:r>
              <a:rPr sz="1400" b="0">
                <a:solidFill>
                  <a:srgbClr val="9B8EC4"/>
                </a:solidFill>
                <a:latin typeface="Calibri"/>
              </a:rPr>
              <a:t> Collaborating with complementary tools and service providers to expand reach and integration capabilities.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Land-and-Expand:</a:t>
            </a:r>
            <a:r>
              <a:rPr sz="1400" b="0">
                <a:solidFill>
                  <a:srgbClr val="9B8EC4"/>
                </a:solidFill>
                <a:latin typeface="Calibri"/>
              </a:rPr>
              <a:t> Leveraging Notion’s viral adoption within teams to grow usage and convert to broader enterprise accounts, with a target </a:t>
            </a:r>
            <a:r>
              <a:rPr sz="1400" b="1">
                <a:solidFill>
                  <a:srgbClr val="9B8EC4"/>
                </a:solidFill>
                <a:latin typeface="Calibri"/>
              </a:rPr>
              <a:t>ACV of $12K-$60K/yr</a:t>
            </a:r>
            <a:r>
              <a:rPr sz="1400" b="0">
                <a:solidFill>
                  <a:srgbClr val="9B8EC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Beyond Fragmentation: The Notion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We're not just a feature; we're the unified AI-native Work OS, building a defensible moat.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Legacy &amp; Point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Fragmented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Asana:</a:t>
            </a:r>
            <a:r>
              <a:rPr sz="1300" b="0">
                <a:solidFill>
                  <a:srgbClr val="9B8EC4"/>
                </a:solidFill>
                <a:latin typeface="Calibri"/>
              </a:rPr>
              <a:t> Robust PM, but rigid for free-form content or custom databases. Can be overly prescriptive.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Confluence:</a:t>
            </a:r>
            <a:r>
              <a:rPr sz="1300" b="0">
                <a:solidFill>
                  <a:srgbClr val="9B8EC4"/>
                </a:solidFill>
                <a:latin typeface="Calibri"/>
              </a:rPr>
              <a:t> Excellent for documentation, but less intuitive for PM, modern UX, or cross-functional use beyond wikis.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Coda / Airtable:</a:t>
            </a:r>
            <a:r>
              <a:rPr sz="1300" b="0">
                <a:solidFill>
                  <a:srgbClr val="9B8EC4"/>
                </a:solidFill>
                <a:latin typeface="Calibri"/>
              </a:rPr>
              <a:t> Powerful customization, but steeper learning curve; Coda feels overwhelming, Airtable is not a document/wiki tool.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Slite:</a:t>
            </a:r>
            <a:r>
              <a:rPr sz="1300" b="0">
                <a:solidFill>
                  <a:srgbClr val="9B8EC4"/>
                </a:solidFill>
                <a:latin typeface="Calibri"/>
              </a:rPr>
              <a:t> Simple knowledge base, but less comprehensive in project management or advanced database functions.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Notion's Unified AI Workspace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Calibri"/>
              </a:rPr>
              <a:t>Intelligent Work 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AI-Native Integration:</a:t>
            </a:r>
            <a:r>
              <a:rPr sz="1300" b="0">
                <a:solidFill>
                  <a:srgbClr val="9B8EC4"/>
                </a:solidFill>
                <a:latin typeface="Calibri"/>
              </a:rPr>
              <a:t> Embedded AI agents for Q&amp;A, task routing, and reporting are core to the platform, not an afterthought.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True Consolidation:</a:t>
            </a:r>
            <a:r>
              <a:rPr sz="1300" b="0">
                <a:solidFill>
                  <a:srgbClr val="9B8EC4"/>
                </a:solidFill>
                <a:latin typeface="Calibri"/>
              </a:rPr>
              <a:t> Project management, CRM, team wikis, and more – all under one intelligent, flexible roof.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Flexible &amp; Intuitive:</a:t>
            </a:r>
            <a:r>
              <a:rPr sz="1300" b="0">
                <a:solidFill>
                  <a:srgbClr val="9B8EC4"/>
                </a:solidFill>
                <a:latin typeface="Calibri"/>
              </a:rPr>
              <a:t> Customizable yet easy to adopt, powered by a vibrant community and extensive template library.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Powerful for All:</a:t>
            </a:r>
            <a:r>
              <a:rPr sz="1300" b="0">
                <a:solidFill>
                  <a:srgbClr val="9B8EC4"/>
                </a:solidFill>
                <a:latin typeface="Calibri"/>
              </a:rPr>
              <a:t> Equally effective for individual knowledge workers, SMBs, and large enterprise departments (75% of Fortune 500 projected to use by 2026).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Experienced Leadership for Hypergrowth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A seasoned team with deep domain expertise in SaaS and enterprise productivity.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Ivan Zhao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CEO &amp; Co-founder. Visionary behind Notion's product philosophy and user-centric, flexible design. Deep expertise in productivity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Akshay Kothari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12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COO &amp; Co-founder. Driving Notion's operational excellence, GTM strategy, and scaling the organization to meet hypergrowth demands.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Chris Lin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0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CTO. Architect of Notion's scalable, modern technical infrastructure and the driving force behind its AI-native integration capabilities.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Head of Enterprise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A5E9"/>
                </a:solidFill>
                <a:latin typeface="Calibri"/>
              </a:rPr>
              <a:t>Strategic Hire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Leading the charge into mid-market and enterprise, building out the sales team and securing anchor customers. (Role to be filled/hired for scale)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Aggressive Growth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Achieving significant revenue milestones through strategic expansion and AI-driven value.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$400M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FY24 Actual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60% YoY Growth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$600M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FY25 Projected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Driving AI adoption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$1.2B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FY26 Projected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Enterprise &amp; International Expansion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Customer ACV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Expected via land &amp; expand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Our projections are based on continued market penetration, enterprise expansion, and increasing ARPU through premium AI features.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Fueling the Next Phase of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Seeking $100M to accelerate product innovation and market expansion.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 &amp; AI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40% allocated to R&amp;D for expanding AI agent capabilities, platform features, and integrations to solidify market leadership.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Market 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35%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35% for scaling our sales team (reducing CAC), accelerating international market entry, and developing new vertical solutions.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Brand &amp; Awareness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15% for strategic marketing, building global brand awareness, and generating compelling enterprise case studies.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Operational Scalability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A5E9"/>
                </a:solidFill>
                <a:latin typeface="Calibri"/>
              </a:rP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10% for enhancing infrastructure, security, and team scaling to support hypergrowth and ensure operational excellence.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The Future of Work is Unified. And Intelligent.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Notion: Your AI Workspace.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Join us in building the essential platform for every team to achieve their best work. Contact: invest@notion.so | notion.so/investors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