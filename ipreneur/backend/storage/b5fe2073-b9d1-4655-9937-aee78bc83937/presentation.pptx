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Classmate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09CD9"/>
                </a:solidFill>
                <a:latin typeface="Calibri"/>
              </a:rPr>
              <a:t>Redefining the Future of Learning Essentials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02C69"/>
                </a:solidFill>
                <a:latin typeface="Calibri"/>
              </a:rPr>
              <a:t>Empowering millions of students with quality, accessible, and inspiring educational tools.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2C69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2C69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9CD9"/>
                </a:solidFill>
                <a:latin typeface="Calibri"/>
              </a:rPr>
              <a:t>India's trusted leader in educational stationery, poised for digital expansion.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20E25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$150M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9CD9"/>
                </a:solidFill>
                <a:latin typeface="Calibri"/>
              </a:rPr>
              <a:t>Annual Recurring Revenue (ARR)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2C69"/>
                </a:solidFill>
                <a:latin typeface="Calibri"/>
              </a:rPr>
              <a:t>Strong, consistent revenue base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20E25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1M+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9CD9"/>
                </a:solidFill>
                <a:latin typeface="Calibri"/>
              </a:rPr>
              <a:t>Total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2C69"/>
                </a:solidFill>
                <a:latin typeface="Calibri"/>
              </a:rPr>
              <a:t>Vast and loyal customer community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9CD9"/>
                </a:solidFill>
                <a:latin typeface="Calibri"/>
              </a:rPr>
              <a:t>Classmate, a household name in India, has built unparalleled brand loyalty and distribution. We are now leveraging this foundation to scale our digital presence and expand our product ecosystem.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9CD9"/>
                </a:solidFill>
                <a:latin typeface="Calibri"/>
              </a:rPr>
              <a:t>›  </a:t>
            </a:r>
            <a:r>
              <a:rPr sz="1300" b="1">
                <a:solidFill>
                  <a:srgbClr val="809CD9"/>
                </a:solidFill>
                <a:latin typeface="Calibri"/>
              </a:rPr>
              <a:t>Market Leader:</a:t>
            </a:r>
            <a:r>
              <a:rPr sz="1300" b="0">
                <a:solidFill>
                  <a:srgbClr val="809CD9"/>
                </a:solidFill>
                <a:latin typeface="Calibri"/>
              </a:rPr>
              <a:t> Dominant position in the Indian educational stationery market.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9CD9"/>
                </a:solidFill>
                <a:latin typeface="Calibri"/>
              </a:rPr>
              <a:t>›  </a:t>
            </a:r>
            <a:r>
              <a:rPr sz="1300" b="1">
                <a:solidFill>
                  <a:srgbClr val="809CD9"/>
                </a:solidFill>
                <a:latin typeface="Calibri"/>
              </a:rPr>
              <a:t>Proven Traction:</a:t>
            </a:r>
            <a:r>
              <a:rPr sz="1300" b="0">
                <a:solidFill>
                  <a:srgbClr val="809CD9"/>
                </a:solidFill>
                <a:latin typeface="Calibri"/>
              </a:rPr>
              <a:t> Strong financials and a vast customer base underscore our market impact.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9CD9"/>
                </a:solidFill>
                <a:latin typeface="Calibri"/>
              </a:rPr>
              <a:t>›  </a:t>
            </a:r>
            <a:r>
              <a:rPr sz="1300" b="1">
                <a:solidFill>
                  <a:srgbClr val="809CD9"/>
                </a:solidFill>
                <a:latin typeface="Calibri"/>
              </a:rPr>
              <a:t>Digital Transformation:</a:t>
            </a:r>
            <a:r>
              <a:rPr sz="1300" b="0">
                <a:solidFill>
                  <a:srgbClr val="809CD9"/>
                </a:solidFill>
                <a:latin typeface="Calibri"/>
              </a:rPr>
              <a:t> Strategic shift towards a robust online platform for D2C growth and enhanced reach.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2C69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9CD9"/>
                </a:solidFill>
                <a:latin typeface="Calibri"/>
              </a:rPr>
              <a:t>A multi-billion dollar EdTech and stationery market driven by digital adoption.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20E25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$10B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9CD9"/>
                </a:solidFill>
                <a:latin typeface="Calibri"/>
              </a:rPr>
              <a:t>Indian EdTech Market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2C69"/>
                </a:solidFill>
                <a:latin typeface="Calibri"/>
              </a:rPr>
              <a:t>Projected by 2025 · Source: RedSeer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20E25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10.5%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9CD9"/>
                </a:solidFill>
                <a:latin typeface="Calibri"/>
              </a:rPr>
              <a:t>Stationery Market CAGR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2C69"/>
                </a:solidFill>
                <a:latin typeface="Calibri"/>
              </a:rPr>
              <a:t>2023-2028 · Source: Mordor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9CD9"/>
                </a:solidFill>
                <a:latin typeface="Calibri"/>
              </a:rPr>
              <a:t>The Indian education sector is experiencing unprecedented growth, fueled by rising literacy rates, government initiatives, and a burgeoning middle class. The shift to digital learning further amplifies the demand for integrated educational solutions and quality supplies.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9CD9"/>
                </a:solidFill>
                <a:latin typeface="Calibri"/>
              </a:rPr>
              <a:t>›  </a:t>
            </a:r>
            <a:r>
              <a:rPr sz="1300" b="1">
                <a:solidFill>
                  <a:srgbClr val="809CD9"/>
                </a:solidFill>
                <a:latin typeface="Calibri"/>
              </a:rPr>
              <a:t>Massive Student Base:</a:t>
            </a:r>
            <a:r>
              <a:rPr sz="1300" b="0">
                <a:solidFill>
                  <a:srgbClr val="809CD9"/>
                </a:solidFill>
                <a:latin typeface="Calibri"/>
              </a:rPr>
              <a:t> India has over </a:t>
            </a:r>
            <a:r>
              <a:rPr sz="1300" b="1">
                <a:solidFill>
                  <a:srgbClr val="809CD9"/>
                </a:solidFill>
                <a:latin typeface="Calibri"/>
              </a:rPr>
              <a:t>300 million K-12 students</a:t>
            </a:r>
            <a:r>
              <a:rPr sz="1300" b="0">
                <a:solidFill>
                  <a:srgbClr val="809CD9"/>
                </a:solidFill>
                <a:latin typeface="Calibri"/>
              </a:rPr>
              <a:t>, a demographic dividend driving sustained demand.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9CD9"/>
                </a:solidFill>
                <a:latin typeface="Calibri"/>
              </a:rPr>
              <a:t>›  </a:t>
            </a:r>
            <a:r>
              <a:rPr sz="1300" b="1">
                <a:solidFill>
                  <a:srgbClr val="809CD9"/>
                </a:solidFill>
                <a:latin typeface="Calibri"/>
              </a:rPr>
              <a:t>Growing Disposable Income:</a:t>
            </a:r>
            <a:r>
              <a:rPr sz="1300" b="0">
                <a:solidFill>
                  <a:srgbClr val="809CD9"/>
                </a:solidFill>
                <a:latin typeface="Calibri"/>
              </a:rPr>
              <a:t> Increased parental spending on education and quality learning materials.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9CD9"/>
                </a:solidFill>
                <a:latin typeface="Calibri"/>
              </a:rPr>
              <a:t>›  </a:t>
            </a:r>
            <a:r>
              <a:rPr sz="1300" b="1">
                <a:solidFill>
                  <a:srgbClr val="809CD9"/>
                </a:solidFill>
                <a:latin typeface="Calibri"/>
              </a:rPr>
              <a:t>Digital Learning Boom:</a:t>
            </a:r>
            <a:r>
              <a:rPr sz="1300" b="0">
                <a:solidFill>
                  <a:srgbClr val="809CD9"/>
                </a:solidFill>
                <a:latin typeface="Calibri"/>
              </a:rPr>
              <a:t> Accelerated adoption of online education platforms, requiring complementary physical tools.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2C69"/>
                </a:solidFill>
                <a:latin typeface="Calibri"/>
              </a:rPr>
              <a:t>PROBLEM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Problem &amp;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9CD9"/>
                </a:solidFill>
                <a:latin typeface="Calibri"/>
              </a:rPr>
              <a:t>Addressing fragmented access and inconsistent quality in learning essentials.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303520" cy="4114800"/>
          </a:xfrm>
          <a:prstGeom prst="rect">
            <a:avLst/>
          </a:prstGeom>
          <a:solidFill>
            <a:srgbClr val="120E25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30352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563EB"/>
                </a:solidFill>
                <a:latin typeface="Calibri"/>
              </a:rPr>
              <a:t>Fragmented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9CD9"/>
                </a:solidFill>
                <a:latin typeface="Calibri"/>
              </a:rPr>
              <a:t>•  </a:t>
            </a:r>
            <a:r>
              <a:rPr sz="1300" b="1">
                <a:solidFill>
                  <a:srgbClr val="809CD9"/>
                </a:solidFill>
                <a:latin typeface="Calibri"/>
              </a:rPr>
              <a:t>Inconsistent Quality:</a:t>
            </a:r>
            <a:r>
              <a:rPr sz="1300" b="0">
                <a:solidFill>
                  <a:srgbClr val="809CD9"/>
                </a:solidFill>
                <a:latin typeface="Calibri"/>
              </a:rPr>
              <a:t> Students often face varying quality in stationery, impacting learning outcomes.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9CD9"/>
                </a:solidFill>
                <a:latin typeface="Calibri"/>
              </a:rPr>
              <a:t>•  </a:t>
            </a:r>
            <a:r>
              <a:rPr sz="1300" b="1">
                <a:solidFill>
                  <a:srgbClr val="809CD9"/>
                </a:solidFill>
                <a:latin typeface="Calibri"/>
              </a:rPr>
              <a:t>Limited Accessibility:</a:t>
            </a:r>
            <a:r>
              <a:rPr sz="1300" b="0">
                <a:solidFill>
                  <a:srgbClr val="809CD9"/>
                </a:solidFill>
                <a:latin typeface="Calibri"/>
              </a:rPr>
              <a:t> Rural and semi-urban areas lack easy access to a comprehensive range of educational supplies.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9CD9"/>
                </a:solidFill>
                <a:latin typeface="Calibri"/>
              </a:rPr>
              <a:t>•  </a:t>
            </a:r>
            <a:r>
              <a:rPr sz="1300" b="1">
                <a:solidFill>
                  <a:srgbClr val="809CD9"/>
                </a:solidFill>
                <a:latin typeface="Calibri"/>
              </a:rPr>
              <a:t>Time-Consuming Procurement:</a:t>
            </a:r>
            <a:r>
              <a:rPr sz="1300" b="0">
                <a:solidFill>
                  <a:srgbClr val="809CD9"/>
                </a:solidFill>
                <a:latin typeface="Calibri"/>
              </a:rPr>
              <a:t> Parents and institutions spend significant time sourcing diverse school materials.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342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9CD9"/>
                </a:solidFill>
                <a:latin typeface="Calibri"/>
              </a:rPr>
              <a:t>•  </a:t>
            </a:r>
            <a:r>
              <a:rPr sz="1300" b="1">
                <a:solidFill>
                  <a:srgbClr val="809CD9"/>
                </a:solidFill>
                <a:latin typeface="Calibri"/>
              </a:rPr>
              <a:t>Lack of Integrated Solutions:</a:t>
            </a:r>
            <a:r>
              <a:rPr sz="1300" b="0">
                <a:solidFill>
                  <a:srgbClr val="809CD9"/>
                </a:solidFill>
                <a:latin typeface="Calibri"/>
              </a:rPr>
              <a:t> Disconnect between physical learning tools and modern digital education platforms.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737360"/>
            <a:ext cx="5303520" cy="4114800"/>
          </a:xfrm>
          <a:prstGeom prst="rect">
            <a:avLst/>
          </a:prstGeom>
          <a:solidFill>
            <a:srgbClr val="120E25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737360"/>
            <a:ext cx="5303520" cy="6400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Our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4899"/>
                </a:solidFill>
                <a:latin typeface="Calibri"/>
              </a:rPr>
              <a:t>Integrated Learning Ecosystem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9CD9"/>
                </a:solidFill>
                <a:latin typeface="Calibri"/>
              </a:rPr>
              <a:t>•  </a:t>
            </a:r>
            <a:r>
              <a:rPr sz="1300" b="1">
                <a:solidFill>
                  <a:srgbClr val="809CD9"/>
                </a:solidFill>
                <a:latin typeface="Calibri"/>
              </a:rPr>
              <a:t>Guaranteed Quality:</a:t>
            </a:r>
            <a:r>
              <a:rPr sz="1300" b="0">
                <a:solidFill>
                  <a:srgbClr val="809CD9"/>
                </a:solidFill>
                <a:latin typeface="Calibri"/>
              </a:rPr>
              <a:t> Classmate's trusted brand ensures consistent, high-quality products for all learners.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9CD9"/>
                </a:solidFill>
                <a:latin typeface="Calibri"/>
              </a:rPr>
              <a:t>•  </a:t>
            </a:r>
            <a:r>
              <a:rPr sz="1300" b="1">
                <a:solidFill>
                  <a:srgbClr val="809CD9"/>
                </a:solidFill>
                <a:latin typeface="Calibri"/>
              </a:rPr>
              <a:t>Nationwide Digital Reach:</a:t>
            </a:r>
            <a:r>
              <a:rPr sz="1300" b="0">
                <a:solidFill>
                  <a:srgbClr val="809CD9"/>
                </a:solidFill>
                <a:latin typeface="Calibri"/>
              </a:rPr>
              <a:t> Our e-commerce platform provides unparalleled access across all geographies.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9CD9"/>
                </a:solidFill>
                <a:latin typeface="Calibri"/>
              </a:rPr>
              <a:t>•  </a:t>
            </a:r>
            <a:r>
              <a:rPr sz="1300" b="1">
                <a:solidFill>
                  <a:srgbClr val="809CD9"/>
                </a:solidFill>
                <a:latin typeface="Calibri"/>
              </a:rPr>
              <a:t>One-Stop Shop:</a:t>
            </a:r>
            <a:r>
              <a:rPr sz="1300" b="0">
                <a:solidFill>
                  <a:srgbClr val="809CD9"/>
                </a:solidFill>
                <a:latin typeface="Calibri"/>
              </a:rPr>
              <a:t> A comprehensive catalog simplifies procurement for individuals and institutions.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3342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9CD9"/>
                </a:solidFill>
                <a:latin typeface="Calibri"/>
              </a:rPr>
              <a:t>•  </a:t>
            </a:r>
            <a:r>
              <a:rPr sz="1300" b="1">
                <a:solidFill>
                  <a:srgbClr val="809CD9"/>
                </a:solidFill>
                <a:latin typeface="Calibri"/>
              </a:rPr>
              <a:t>Future-Ready Integration:</a:t>
            </a:r>
            <a:r>
              <a:rPr sz="1300" b="0">
                <a:solidFill>
                  <a:srgbClr val="809CD9"/>
                </a:solidFill>
                <a:latin typeface="Calibri"/>
              </a:rPr>
              <a:t> Developing digital tools to complement physical products, creating a holistic learning experience.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011680"/>
            <a:ext cx="27432" cy="3566160"/>
          </a:xfrm>
          <a:prstGeom prst="rect">
            <a:avLst/>
          </a:prstGeom>
          <a:solidFill>
            <a:srgbClr val="282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2C69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Our Product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9CD9"/>
                </a:solidFill>
                <a:latin typeface="Calibri"/>
              </a:rPr>
              <a:t>Beyond stationery: A comprehensive suite for the modern learner.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120E25"/>
          </a:solidFill>
          <a:ln w="12700">
            <a:solidFill>
              <a:srgbClr val="282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Notebooks &amp; Paper Products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Calibri"/>
              </a:rPr>
              <a:t>800+ SKUs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9CD9"/>
                </a:solidFill>
                <a:latin typeface="Calibri"/>
              </a:rPr>
              <a:t>Wide range of notebooks, drawing books, and project papers tailored for various age groups and subjects.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120E25"/>
          </a:solidFill>
          <a:ln w="12700">
            <a:solidFill>
              <a:srgbClr val="282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Pens &amp; Writing Instruments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C4899"/>
                </a:solidFill>
                <a:latin typeface="Calibri"/>
              </a:rPr>
              <a:t>150+ SKUs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9CD9"/>
                </a:solidFill>
                <a:latin typeface="Calibri"/>
              </a:rPr>
              <a:t>Ergonomically designed pens, pencils, and markers for comfortable and effective writing.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120E25"/>
          </a:solidFill>
          <a:ln w="12700">
            <a:solidFill>
              <a:srgbClr val="282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885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Art &amp; Craft Supplies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8855C2"/>
                </a:solidFill>
                <a:latin typeface="Calibri"/>
              </a:rPr>
              <a:t>200+ SKUs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9CD9"/>
                </a:solidFill>
                <a:latin typeface="Calibri"/>
              </a:rPr>
              <a:t>Vibrant colors, brushes, and craft kits to foster creativity and artistic expression.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120E25"/>
          </a:solidFill>
          <a:ln w="12700">
            <a:solidFill>
              <a:srgbClr val="282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5B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School &amp; Office Essentials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48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8AF0"/>
                </a:solidFill>
                <a:latin typeface="Calibri"/>
              </a:rPr>
              <a:t>100+ SKUs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48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9CD9"/>
                </a:solidFill>
                <a:latin typeface="Calibri"/>
              </a:rPr>
              <a:t>Geometry boxes, erasers, sharpeners, and other daily necessities for students and professionals.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2C69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9CD9"/>
                </a:solidFill>
                <a:latin typeface="Calibri"/>
              </a:rPr>
              <a:t>Diversified revenue streams with a focus on D2C growth and institutional partnerships.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120E25"/>
          </a:solidFill>
          <a:ln w="12700">
            <a:solidFill>
              <a:srgbClr val="282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Direct-to-Consumer (D2C) E-commerce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Calibri"/>
              </a:rPr>
              <a:t>High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9CD9"/>
                </a:solidFill>
                <a:latin typeface="Calibri"/>
              </a:rPr>
              <a:t>Online sales via our platform, offering convenience, wider selection, and personalized experiences.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120E25"/>
          </a:solidFill>
          <a:ln w="12700">
            <a:solidFill>
              <a:srgbClr val="282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Retail &amp; Distribution Network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C4899"/>
                </a:solidFill>
                <a:latin typeface="Calibri"/>
              </a:rPr>
              <a:t>Massive Reach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9CD9"/>
                </a:solidFill>
                <a:latin typeface="Calibri"/>
              </a:rPr>
              <a:t>Leveraging our existing extensive pan-India network of retailers and distributors for broad market penetration.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120E25"/>
          </a:solidFill>
          <a:ln w="12700">
            <a:solidFill>
              <a:srgbClr val="282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885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Institutional Sales &amp; Partnerships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8855C2"/>
                </a:solidFill>
                <a:latin typeface="Calibri"/>
              </a:rPr>
              <a:t>B2B Volume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9CD9"/>
                </a:solidFill>
                <a:latin typeface="Calibri"/>
              </a:rPr>
              <a:t>Supplying schools, colleges, and corporate clients with bulk orders and customized solutions.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120E25"/>
          </a:solidFill>
          <a:ln w="12700">
            <a:solidFill>
              <a:srgbClr val="282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5B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New Product Categories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48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8AF0"/>
                </a:solidFill>
                <a:latin typeface="Calibri"/>
              </a:rPr>
              <a:t>Future Expansion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48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9CD9"/>
                </a:solidFill>
                <a:latin typeface="Calibri"/>
              </a:rPr>
              <a:t>Exploring adjacent categories like educational toys, digital learning aids, and personalized stationery.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2C69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Traction &amp;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9CD9"/>
                </a:solidFill>
                <a:latin typeface="Calibri"/>
              </a:rPr>
              <a:t>Consistently delivering growth and capturing significant market share.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20E25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$150,000,000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9CD9"/>
                </a:solidFill>
                <a:latin typeface="Calibri"/>
              </a:rPr>
              <a:t>Annual Recurring Revenue (ARR)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2C69"/>
                </a:solidFill>
                <a:latin typeface="Calibri"/>
              </a:rPr>
              <a:t>As of today · Strong, consistent revenue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20E25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1,000,000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9CD9"/>
                </a:solidFill>
                <a:latin typeface="Calibri"/>
              </a:rPr>
              <a:t>Total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2C69"/>
                </a:solidFill>
                <a:latin typeface="Calibri"/>
              </a:rPr>
              <a:t>Across all channels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20E25"/>
          </a:solidFill>
          <a:ln w="19050">
            <a:solidFill>
              <a:srgbClr val="885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120,000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9CD9"/>
                </a:solidFill>
                <a:latin typeface="Calibri"/>
              </a:rPr>
              <a:t>Monthly Active Users (MAU)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2C69"/>
                </a:solidFill>
                <a:latin typeface="Calibri"/>
              </a:rPr>
              <a:t>Engaged online platform users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20E25"/>
          </a:solidFill>
          <a:ln w="19050">
            <a:solidFill>
              <a:srgbClr val="5B8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$1,000,000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9CD9"/>
                </a:solidFill>
                <a:latin typeface="Calibri"/>
              </a:rPr>
              <a:t>Monthly Recurring Revenue (MRR)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2C69"/>
                </a:solidFill>
                <a:latin typeface="Calibri"/>
              </a:rPr>
              <a:t>Consistent monthly 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9CD9"/>
                </a:solidFill>
                <a:latin typeface="Calibri"/>
              </a:rPr>
              <a:t>Classmate has consistently demonstrated strong market performance, customer acquisition, and brand loyalty. Our financial metrics reflect a healthy and rapidly expanding business.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9CD9"/>
                </a:solidFill>
                <a:latin typeface="Calibri"/>
              </a:rPr>
              <a:t>›  </a:t>
            </a:r>
            <a:r>
              <a:rPr sz="1300" b="1">
                <a:solidFill>
                  <a:srgbClr val="809CD9"/>
                </a:solidFill>
                <a:latin typeface="Calibri"/>
              </a:rPr>
              <a:t>Dominant Market Share:</a:t>
            </a:r>
            <a:r>
              <a:rPr sz="1300" b="0">
                <a:solidFill>
                  <a:srgbClr val="809CD9"/>
                </a:solidFill>
                <a:latin typeface="Calibri"/>
              </a:rPr>
              <a:t> Maintained leadership position in key stationery categories for over a decade.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9CD9"/>
                </a:solidFill>
                <a:latin typeface="Calibri"/>
              </a:rPr>
              <a:t>›  </a:t>
            </a:r>
            <a:r>
              <a:rPr sz="1300" b="1">
                <a:solidFill>
                  <a:srgbClr val="809CD9"/>
                </a:solidFill>
                <a:latin typeface="Calibri"/>
              </a:rPr>
              <a:t>Exponential Customer Growth:</a:t>
            </a:r>
            <a:r>
              <a:rPr sz="1300" b="0">
                <a:solidFill>
                  <a:srgbClr val="809CD9"/>
                </a:solidFill>
                <a:latin typeface="Calibri"/>
              </a:rPr>
              <a:t> Reached 1 million active customers, reflecting strong brand resonance.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9CD9"/>
                </a:solidFill>
                <a:latin typeface="Calibri"/>
              </a:rPr>
              <a:t>›  </a:t>
            </a:r>
            <a:r>
              <a:rPr sz="1300" b="1">
                <a:solidFill>
                  <a:srgbClr val="809CD9"/>
                </a:solidFill>
                <a:latin typeface="Calibri"/>
              </a:rPr>
              <a:t>Strategic Digital Adoption:</a:t>
            </a:r>
            <a:r>
              <a:rPr sz="1300" b="0">
                <a:solidFill>
                  <a:srgbClr val="809CD9"/>
                </a:solidFill>
                <a:latin typeface="Calibri"/>
              </a:rPr>
              <a:t> Successfully launched and scaled our e-commerce platform, driving D2C revenue.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2C69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9CD9"/>
                </a:solidFill>
                <a:latin typeface="Calibri"/>
              </a:rPr>
              <a:t>Differentiating through brand trust, product breadth, and integrated solutions.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20E25"/>
          </a:solidFill>
          <a:ln w="12700">
            <a:solidFill>
              <a:srgbClr val="282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Navneet Education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Calibri"/>
              </a:rPr>
              <a:t>$200M+ Rev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9CD9"/>
                </a:solidFill>
                <a:latin typeface="Calibri"/>
              </a:rPr>
              <a:t>Primarily focused on publishing and limited stationery range; lacks Classmate's integrated ecosystem.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20E25"/>
          </a:solidFill>
          <a:ln w="12700">
            <a:solidFill>
              <a:srgbClr val="282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Doms Industries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C4899"/>
                </a:solidFill>
                <a:latin typeface="Calibri"/>
              </a:rPr>
              <a:t>$150M+ Rev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9CD9"/>
                </a:solidFill>
                <a:latin typeface="Calibri"/>
              </a:rPr>
              <a:t>Strong in art supplies and pens, but smaller overall product portfolio and distribution footprint compared to Classmate.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20E25"/>
          </a:solidFill>
          <a:ln w="12700">
            <a:solidFill>
              <a:srgbClr val="282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885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Local Stationery Brands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8855C2"/>
                </a:solidFill>
                <a:latin typeface="Calibri"/>
              </a:rPr>
              <a:t>Fragmented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9CD9"/>
                </a:solidFill>
                <a:latin typeface="Calibri"/>
              </a:rPr>
              <a:t>Limited product range, inconsistent quality, and no national brand recognition or digital presence.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2C69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Our Leadership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9CD9"/>
                </a:solidFill>
                <a:latin typeface="Calibri"/>
              </a:rPr>
              <a:t>Experienced professionals driving innovation and growth.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3535527" y="1828800"/>
            <a:ext cx="5120640" cy="3474720"/>
          </a:xfrm>
          <a:prstGeom prst="rect">
            <a:avLst/>
          </a:prstGeom>
          <a:solidFill>
            <a:srgbClr val="120E25"/>
          </a:solidFill>
          <a:ln w="12700">
            <a:solidFill>
              <a:srgbClr val="282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35527" y="1828800"/>
            <a:ext cx="51206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18407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Founding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18407" y="2560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Calibri"/>
              </a:rPr>
              <a:t>Visionary Leadership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8407" y="306324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9CD9"/>
                </a:solidFill>
                <a:latin typeface="Calibri"/>
              </a:rPr>
              <a:t>Profiles available upon request. A blend of strategic vision, operational excellence, and market insight.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2C69"/>
                </a:solidFill>
                <a:latin typeface="Calibri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Market Sizing &amp; Financial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9CD9"/>
                </a:solidFill>
                <a:latin typeface="Calibri"/>
              </a:rPr>
              <a:t>Capturing a significant share of a rapidly expanding market.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554480"/>
            <a:ext cx="3840480" cy="3840480"/>
          </a:xfrm>
          <a:prstGeom prst="ellipse">
            <a:avLst/>
          </a:prstGeom>
          <a:solidFill>
            <a:srgbClr val="2563EB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920240"/>
            <a:ext cx="3108960" cy="3108960"/>
          </a:xfrm>
          <a:prstGeom prst="ellipse">
            <a:avLst/>
          </a:prstGeom>
          <a:solidFill>
            <a:srgbClr val="EC489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25880" y="2331720"/>
            <a:ext cx="2240280" cy="2240280"/>
          </a:xfrm>
          <a:prstGeom prst="ellipse">
            <a:avLst/>
          </a:prstGeom>
          <a:solidFill>
            <a:srgbClr val="8855C2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8346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02C69"/>
                </a:solidFill>
                <a:latin typeface="Calibri"/>
              </a:rPr>
              <a:t>CAGR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1546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B8AF0"/>
                </a:solidFill>
                <a:latin typeface="Calibri"/>
              </a:rPr>
              <a:t>10.5%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737360"/>
            <a:ext cx="6675120" cy="914400"/>
          </a:xfrm>
          <a:prstGeom prst="rect">
            <a:avLst/>
          </a:prstGeom>
          <a:solidFill>
            <a:srgbClr val="120E25"/>
          </a:solidFill>
          <a:ln w="12700">
            <a:solidFill>
              <a:srgbClr val="282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46320" y="1737360"/>
            <a:ext cx="64008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828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2C69"/>
                </a:solidFill>
                <a:latin typeface="Calibri"/>
              </a:rPr>
              <a:t>TAM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8105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563EB"/>
                </a:solidFill>
                <a:latin typeface="Calibri"/>
              </a:rPr>
              <a:t>$10B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24028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09CD9"/>
                </a:solidFill>
                <a:latin typeface="Calibri"/>
              </a:rPr>
              <a:t>Indian EdTech Market 2025 · Source: RedSeer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788920"/>
            <a:ext cx="6675120" cy="914400"/>
          </a:xfrm>
          <a:prstGeom prst="rect">
            <a:avLst/>
          </a:prstGeom>
          <a:solidFill>
            <a:srgbClr val="120E25"/>
          </a:solidFill>
          <a:ln w="12700">
            <a:solidFill>
              <a:srgbClr val="282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2788920"/>
            <a:ext cx="64008" cy="914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880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2C69"/>
                </a:solidFill>
                <a:latin typeface="Calibri"/>
              </a:rPr>
              <a:t>SAM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8620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4899"/>
                </a:solidFill>
                <a:latin typeface="Calibri"/>
              </a:rPr>
              <a:t>$3B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2918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09CD9"/>
                </a:solidFill>
                <a:latin typeface="Calibri"/>
              </a:rPr>
              <a:t>Online Education Supplies &amp; Tools Segment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3840480"/>
            <a:ext cx="6675120" cy="914400"/>
          </a:xfrm>
          <a:prstGeom prst="rect">
            <a:avLst/>
          </a:prstGeom>
          <a:solidFill>
            <a:srgbClr val="120E25"/>
          </a:solidFill>
          <a:ln w="12700">
            <a:solidFill>
              <a:srgbClr val="282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46320" y="3840480"/>
            <a:ext cx="64008" cy="914400"/>
          </a:xfrm>
          <a:prstGeom prst="rect">
            <a:avLst/>
          </a:prstGeom>
          <a:solidFill>
            <a:srgbClr val="885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3931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2C69"/>
                </a:solidFill>
                <a:latin typeface="Calibri"/>
              </a:rPr>
              <a:t>SOM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39136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855C2"/>
                </a:solidFill>
                <a:latin typeface="Calibri"/>
              </a:rPr>
              <a:t>$300M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343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09CD9"/>
                </a:solidFill>
                <a:latin typeface="Calibri"/>
              </a:rPr>
              <a:t>~10% SAM capture · Target by 2028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760720"/>
            <a:ext cx="3657600" cy="685800"/>
          </a:xfrm>
          <a:prstGeom prst="rect">
            <a:avLst/>
          </a:prstGeom>
          <a:solidFill>
            <a:srgbClr val="120E25"/>
          </a:solidFill>
          <a:ln w="12700">
            <a:solidFill>
              <a:srgbClr val="282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09CD9"/>
                </a:solidFill>
                <a:latin typeface="Calibri"/>
              </a:rPr>
              <a:t/>
            </a:r>
            <a:r>
              <a:rPr sz="1200" b="1">
                <a:solidFill>
                  <a:srgbClr val="809CD9"/>
                </a:solidFill>
                <a:latin typeface="Calibri"/>
              </a:rPr>
              <a:t>FY2026:</a:t>
            </a:r>
            <a:r>
              <a:rPr sz="1200" b="0">
                <a:solidFill>
                  <a:srgbClr val="809CD9"/>
                </a:solidFill>
                <a:latin typeface="Calibri"/>
              </a:rPr>
              <a:t> $165M ARR · 1.2M customers · Expand D2C reach to 500 new towns.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5760720"/>
            <a:ext cx="3657600" cy="685800"/>
          </a:xfrm>
          <a:prstGeom prst="rect">
            <a:avLst/>
          </a:prstGeom>
          <a:solidFill>
            <a:srgbClr val="120E25"/>
          </a:solidFill>
          <a:ln w="12700">
            <a:solidFill>
              <a:srgbClr val="282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09CD9"/>
                </a:solidFill>
                <a:latin typeface="Calibri"/>
              </a:rPr>
              <a:t/>
            </a:r>
            <a:r>
              <a:rPr sz="1200" b="1">
                <a:solidFill>
                  <a:srgbClr val="809CD9"/>
                </a:solidFill>
                <a:latin typeface="Calibri"/>
              </a:rPr>
              <a:t>FY2027:</a:t>
            </a:r>
            <a:r>
              <a:rPr sz="1200" b="0">
                <a:solidFill>
                  <a:srgbClr val="809CD9"/>
                </a:solidFill>
                <a:latin typeface="Calibri"/>
              </a:rPr>
              <a:t> $180M ARR · 1.5M customers · Launch 3 new product categories and educational tools.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5760720"/>
            <a:ext cx="3657600" cy="685800"/>
          </a:xfrm>
          <a:prstGeom prst="rect">
            <a:avLst/>
          </a:prstGeom>
          <a:solidFill>
            <a:srgbClr val="120E25"/>
          </a:solidFill>
          <a:ln w="12700">
            <a:solidFill>
              <a:srgbClr val="282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09CD9"/>
                </a:solidFill>
                <a:latin typeface="Calibri"/>
              </a:rPr>
              <a:t/>
            </a:r>
            <a:r>
              <a:rPr sz="1200" b="1">
                <a:solidFill>
                  <a:srgbClr val="809CD9"/>
                </a:solidFill>
                <a:latin typeface="Calibri"/>
              </a:rPr>
              <a:t>FY2028:</a:t>
            </a:r>
            <a:r>
              <a:rPr sz="1200" b="0">
                <a:solidFill>
                  <a:srgbClr val="809CD9"/>
                </a:solidFill>
                <a:latin typeface="Calibri"/>
              </a:rPr>
              <a:t> $200M ARR · 2M customers · Achieve 15% market share in online education supplies.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2C69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9CD9"/>
                </a:solidFill>
                <a:latin typeface="Calibri"/>
              </a:rPr>
              <a:t>Raising $1.5M to accelerate our digital transformation and market expansion.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120E25"/>
          </a:solidFill>
          <a:ln w="12700">
            <a:solidFill>
              <a:srgbClr val="282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Platform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Calibri"/>
              </a:rP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9CD9"/>
                </a:solidFill>
                <a:latin typeface="Calibri"/>
              </a:rPr>
              <a:t>Enhance e-commerce platform, integrate AI for personalized recommendations, and develop mobile apps.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120E25"/>
          </a:solidFill>
          <a:ln w="12700">
            <a:solidFill>
              <a:srgbClr val="282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Marketing &amp; Brand Building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C4899"/>
                </a:solidFill>
                <a:latin typeface="Calibri"/>
              </a:rPr>
              <a:t>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9CD9"/>
                </a:solidFill>
                <a:latin typeface="Calibri"/>
              </a:rPr>
              <a:t>Launch targeted digital marketing campaigns, content creation, and influencer collaborations to boost D2C sales.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120E25"/>
          </a:solidFill>
          <a:ln w="12700">
            <a:solidFill>
              <a:srgbClr val="282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885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Product Innovation &amp; R&amp;D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8855C2"/>
                </a:solidFill>
                <a:latin typeface="Calibri"/>
              </a:rPr>
              <a:t>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9CD9"/>
                </a:solidFill>
                <a:latin typeface="Calibri"/>
              </a:rPr>
              <a:t>Invest in new product development, sustainable materials research, and integration with digital learning tools.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120E25"/>
          </a:solidFill>
          <a:ln w="12700">
            <a:solidFill>
              <a:srgbClr val="282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5B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Operational Expansion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48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8AF0"/>
                </a:solidFill>
                <a:latin typeface="Calibri"/>
              </a:rPr>
              <a:t>10%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48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9CD9"/>
                </a:solidFill>
                <a:latin typeface="Calibri"/>
              </a:rPr>
              <a:t>Strengthen logistics, warehousing, and customer support to handle increased demand.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Join Classmate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09CD9"/>
                </a:solidFill>
                <a:latin typeface="Calibri"/>
              </a:rPr>
              <a:t>Empowering every student's journey, shaping the future of education.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02C69"/>
                </a:solidFill>
                <a:latin typeface="Calibri"/>
              </a:rPr>
              <a:t>We invite you to partner with Classmate as we continue to build India's most trusted and innovative brand for learning essentials. Together, we can make quality education accessible to millions.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2C69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