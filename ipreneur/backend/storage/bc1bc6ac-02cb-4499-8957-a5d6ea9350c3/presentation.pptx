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6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90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890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Ipreneur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D73D1"/>
                </a:solidFill>
                <a:latin typeface="Calibri"/>
              </a:rPr>
              <a:t>Scale Your Startup. Accelerate Your Success.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3D0361"/>
                </a:solidFill>
                <a:latin typeface="Calibri"/>
              </a:rPr>
              <a:t>India's Premier Startup Accelerator &amp; Ecosystem Enabler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D0361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6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890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D0361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D73D1"/>
                </a:solidFill>
                <a:latin typeface="Calibri"/>
              </a:rPr>
              <a:t>Unlocking India's Trillion-Dollar Startup Potential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026767" y="2103120"/>
            <a:ext cx="2560320" cy="2194560"/>
          </a:xfrm>
          <a:prstGeom prst="rect">
            <a:avLst/>
          </a:prstGeom>
          <a:solidFill>
            <a:srgbClr val="130E22"/>
          </a:solidFill>
          <a:ln w="19050">
            <a:solidFill>
              <a:srgbClr val="890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39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$500K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39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D73D1"/>
                </a:solidFill>
                <a:latin typeface="Calibri"/>
              </a:rPr>
              <a:t>Annual Recurring Revenue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4815687" y="2103120"/>
            <a:ext cx="2560320" cy="2194560"/>
          </a:xfrm>
          <a:prstGeom prst="rect">
            <a:avLst/>
          </a:prstGeom>
          <a:solidFill>
            <a:srgbClr val="130E22"/>
          </a:solidFill>
          <a:ln w="19050">
            <a:solidFill>
              <a:srgbClr val="890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5284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150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284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D73D1"/>
                </a:solidFill>
                <a:latin typeface="Calibri"/>
              </a:rPr>
              <a:t>Total Portfolio Companies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04607" y="2103120"/>
            <a:ext cx="2560320" cy="2194560"/>
          </a:xfrm>
          <a:prstGeom prst="rect">
            <a:avLst/>
          </a:prstGeom>
          <a:solidFill>
            <a:srgbClr val="130E22"/>
          </a:solidFill>
          <a:ln w="19050">
            <a:solidFill>
              <a:srgbClr val="890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17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$850K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17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D73D1"/>
                </a:solidFill>
                <a:latin typeface="Calibri"/>
              </a:rPr>
              <a:t>Seeking to Scale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D73D1"/>
                </a:solidFill>
                <a:latin typeface="Calibri"/>
              </a:rPr>
              <a:t>Ipreneur is revolutionizing early-stage startup growth in India by providing unparalleled mentorship, strategic funding access, and a robust support ecosystem. Through specialized cohorts and a proven acceleration methodology, we transform high-potential ideas into scalable, investable businesses. Tapping into India's rapidly expanding early-stage startup ecosystem, projected to reach $1 Trillion by 2030, we leverage strong traction with $500K ARR and 150 portfolio companies, demonstrating clear equity value creation. We are raising $850K to expand our reach and deepen our impact.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6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890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D0361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A Trillion-Dollar Ecosystem Awaits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D73D1"/>
                </a:solidFill>
                <a:latin typeface="Calibri"/>
              </a:rPr>
              <a:t>India's startup landscape is booming, creating an unprecedented demand for structured acceleration and early-stage capital.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30E22"/>
          </a:solidFill>
          <a:ln w="19050">
            <a:solidFill>
              <a:srgbClr val="890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$330B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D73D1"/>
                </a:solidFill>
                <a:latin typeface="Calibri"/>
              </a:rPr>
              <a:t>Current Indian Startup Ecosystem Value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30E22"/>
          </a:solidFill>
          <a:ln w="19050">
            <a:solidFill>
              <a:srgbClr val="890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$1T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D73D1"/>
                </a:solidFill>
                <a:latin typeface="Calibri"/>
              </a:rPr>
              <a:t>Projected Indian Startup Ecosystem Value by 2030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30E22"/>
          </a:solidFill>
          <a:ln w="19050">
            <a:solidFill>
              <a:srgbClr val="890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17% CAGR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D73D1"/>
                </a:solidFill>
                <a:latin typeface="Calibri"/>
              </a:rPr>
              <a:t>Ecosystem Growth Rate (2023-2030)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30E22"/>
          </a:solidFill>
          <a:ln w="19050">
            <a:solidFill>
              <a:srgbClr val="A64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$2.5B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D73D1"/>
                </a:solidFill>
                <a:latin typeface="Calibri"/>
              </a:rPr>
              <a:t>Annual Early-Stage VC Funding in India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D73D1"/>
                </a:solidFill>
                <a:latin typeface="Calibri"/>
              </a:rPr>
              <a:t>›  </a:t>
            </a:r>
            <a:r>
              <a:rPr sz="1300" b="1">
                <a:solidFill>
                  <a:srgbClr val="AD73D1"/>
                </a:solidFill>
                <a:latin typeface="Calibri"/>
              </a:rPr>
              <a:t>Digital India:</a:t>
            </a:r>
            <a:r>
              <a:rPr sz="1300" b="0">
                <a:solidFill>
                  <a:srgbClr val="AD73D1"/>
                </a:solidFill>
                <a:latin typeface="Calibri"/>
              </a:rPr>
              <a:t> Rapid tech adoption and increasing internet penetration fuels innovation across diverse sectors.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663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D73D1"/>
                </a:solidFill>
                <a:latin typeface="Calibri"/>
              </a:rPr>
              <a:t>›  </a:t>
            </a:r>
            <a:r>
              <a:rPr sz="1300" b="1">
                <a:solidFill>
                  <a:srgbClr val="AD73D1"/>
                </a:solidFill>
                <a:latin typeface="Calibri"/>
              </a:rPr>
              <a:t>Government Push:</a:t>
            </a:r>
            <a:r>
              <a:rPr sz="1300" b="0">
                <a:solidFill>
                  <a:srgbClr val="AD73D1"/>
                </a:solidFill>
                <a:latin typeface="Calibri"/>
              </a:rPr>
              <a:t> 'Startup India' and 'Make in India' initiatives provide significant policy and financial support, nurturing a vibrant entrepreneurial environment.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D73D1"/>
                </a:solidFill>
                <a:latin typeface="Calibri"/>
              </a:rPr>
              <a:t>›  </a:t>
            </a:r>
            <a:r>
              <a:rPr sz="1300" b="1">
                <a:solidFill>
                  <a:srgbClr val="AD73D1"/>
                </a:solidFill>
                <a:latin typeface="Calibri"/>
              </a:rPr>
              <a:t>Emerging Sectors:</a:t>
            </a:r>
            <a:r>
              <a:rPr sz="1300" b="0">
                <a:solidFill>
                  <a:srgbClr val="AD73D1"/>
                </a:solidFill>
                <a:latin typeface="Calibri"/>
              </a:rPr>
              <a:t> Explosive growth observed in niche areas like Agritech, AI, Deep Tech, and impact-driven ventures.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6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890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D0361"/>
                </a:solidFill>
                <a:latin typeface="Calibr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Startup Growth Chasm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D73D1"/>
                </a:solidFill>
                <a:latin typeface="Calibri"/>
              </a:rPr>
              <a:t>Early-stage startups in India face critical bottlenecks hindering their ability to scale and secure follow-on funding.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048256"/>
            <a:ext cx="109728" cy="109728"/>
          </a:xfrm>
          <a:prstGeom prst="ellipse">
            <a:avLst/>
          </a:prstGeom>
          <a:solidFill>
            <a:srgbClr val="890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D73D1"/>
                </a:solidFill>
                <a:latin typeface="Calibri"/>
              </a:rPr>
              <a:t/>
            </a:r>
            <a:r>
              <a:rPr sz="1400" b="1">
                <a:solidFill>
                  <a:srgbClr val="AD73D1"/>
                </a:solidFill>
                <a:latin typeface="Calibri"/>
              </a:rPr>
              <a:t>Funding Gap:</a:t>
            </a:r>
            <a:r>
              <a:rPr sz="1400" b="0">
                <a:solidFill>
                  <a:srgbClr val="AD73D1"/>
                </a:solidFill>
                <a:latin typeface="Calibri"/>
              </a:rPr>
              <a:t> </a:t>
            </a:r>
            <a:r>
              <a:rPr sz="1400" b="1">
                <a:solidFill>
                  <a:srgbClr val="AD73D1"/>
                </a:solidFill>
                <a:latin typeface="Calibri"/>
              </a:rPr>
              <a:t>Scarcity of Accessible Early-Stage Capital:</a:t>
            </a:r>
            <a:r>
              <a:rPr sz="1400" b="0">
                <a:solidFill>
                  <a:srgbClr val="AD73D1"/>
                </a:solidFill>
                <a:latin typeface="Calibri"/>
              </a:rPr>
              <a:t> Promising startups struggle to secure initial investments beyond friends &amp; family, despite viable business models and market potential.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15184"/>
            <a:ext cx="109728" cy="109728"/>
          </a:xfrm>
          <a:prstGeom prst="ellipse">
            <a:avLst/>
          </a:prstGeom>
          <a:solidFill>
            <a:srgbClr val="890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D73D1"/>
                </a:solidFill>
                <a:latin typeface="Calibri"/>
              </a:rPr>
              <a:t/>
            </a:r>
            <a:r>
              <a:rPr sz="1400" b="1">
                <a:solidFill>
                  <a:srgbClr val="AD73D1"/>
                </a:solidFill>
                <a:latin typeface="Calibri"/>
              </a:rPr>
              <a:t>Mentorship Void:</a:t>
            </a:r>
            <a:r>
              <a:rPr sz="1400" b="0">
                <a:solidFill>
                  <a:srgbClr val="AD73D1"/>
                </a:solidFill>
                <a:latin typeface="Calibri"/>
              </a:rPr>
              <a:t> </a:t>
            </a:r>
            <a:r>
              <a:rPr sz="1400" b="1">
                <a:solidFill>
                  <a:srgbClr val="AD73D1"/>
                </a:solidFill>
                <a:latin typeface="Calibri"/>
              </a:rPr>
              <a:t>Lack of Experienced, Actionable Guidance:</a:t>
            </a:r>
            <a:r>
              <a:rPr sz="1400" b="0">
                <a:solidFill>
                  <a:srgbClr val="AD73D1"/>
                </a:solidFill>
                <a:latin typeface="Calibri"/>
              </a:rPr>
              <a:t> Founders often lack access to seasoned mentors with deep industry and scaling expertise, leading to suboptimal strategic decisions.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182112"/>
            <a:ext cx="109728" cy="109728"/>
          </a:xfrm>
          <a:prstGeom prst="ellipse">
            <a:avLst/>
          </a:prstGeom>
          <a:solidFill>
            <a:srgbClr val="890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054096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D73D1"/>
                </a:solidFill>
                <a:latin typeface="Calibri"/>
              </a:rPr>
              <a:t/>
            </a:r>
            <a:r>
              <a:rPr sz="1400" b="1">
                <a:solidFill>
                  <a:srgbClr val="AD73D1"/>
                </a:solidFill>
                <a:latin typeface="Calibri"/>
              </a:rPr>
              <a:t>Network Barriers:</a:t>
            </a:r>
            <a:r>
              <a:rPr sz="1400" b="0">
                <a:solidFill>
                  <a:srgbClr val="AD73D1"/>
                </a:solidFill>
                <a:latin typeface="Calibri"/>
              </a:rPr>
              <a:t> </a:t>
            </a:r>
            <a:r>
              <a:rPr sz="1400" b="1">
                <a:solidFill>
                  <a:srgbClr val="AD73D1"/>
                </a:solidFill>
                <a:latin typeface="Calibri"/>
              </a:rPr>
              <a:t>Limited Access to Critical Ecosystem:</a:t>
            </a:r>
            <a:r>
              <a:rPr sz="1400" b="0">
                <a:solidFill>
                  <a:srgbClr val="AD73D1"/>
                </a:solidFill>
                <a:latin typeface="Calibri"/>
              </a:rPr>
              <a:t> Difficulty connecting with relevant investors, strategic partners, talent pools, and market entry channels.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2048256"/>
            <a:ext cx="109728" cy="109728"/>
          </a:xfrm>
          <a:prstGeom prst="ellipse">
            <a:avLst/>
          </a:prstGeom>
          <a:solidFill>
            <a:srgbClr val="890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D73D1"/>
                </a:solidFill>
                <a:latin typeface="Calibri"/>
              </a:rPr>
              <a:t/>
            </a:r>
            <a:r>
              <a:rPr sz="1400" b="1">
                <a:solidFill>
                  <a:srgbClr val="AD73D1"/>
                </a:solidFill>
                <a:latin typeface="Calibri"/>
              </a:rPr>
              <a:t>Scaling Complexity:</a:t>
            </a:r>
            <a:r>
              <a:rPr sz="1400" b="0">
                <a:solidFill>
                  <a:srgbClr val="AD73D1"/>
                </a:solidFill>
                <a:latin typeface="Calibri"/>
              </a:rPr>
              <a:t> </a:t>
            </a:r>
            <a:r>
              <a:rPr sz="1400" b="1">
                <a:solidFill>
                  <a:srgbClr val="AD73D1"/>
                </a:solidFill>
                <a:latin typeface="Calibri"/>
              </a:rPr>
              <a:t>Operational &amp; Market Entry Hurdles:</a:t>
            </a:r>
            <a:r>
              <a:rPr sz="1400" b="0">
                <a:solidFill>
                  <a:srgbClr val="AD73D1"/>
                </a:solidFill>
                <a:latin typeface="Calibri"/>
              </a:rPr>
              <a:t> Navigating complex regulatory landscapes, building scalable operations, and achieving exponential growth proves challenging without structured support.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2615184"/>
            <a:ext cx="109728" cy="109728"/>
          </a:xfrm>
          <a:prstGeom prst="ellipse">
            <a:avLst/>
          </a:prstGeom>
          <a:solidFill>
            <a:srgbClr val="890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D73D1"/>
                </a:solidFill>
                <a:latin typeface="Calibri"/>
              </a:rPr>
              <a:t/>
            </a:r>
            <a:r>
              <a:rPr sz="1400" b="1">
                <a:solidFill>
                  <a:srgbClr val="AD73D1"/>
                </a:solidFill>
                <a:latin typeface="Calibri"/>
              </a:rPr>
              <a:t>High Failure Rate:</a:t>
            </a:r>
            <a:r>
              <a:rPr sz="1400" b="0">
                <a:solidFill>
                  <a:srgbClr val="AD73D1"/>
                </a:solidFill>
                <a:latin typeface="Calibri"/>
              </a:rPr>
              <a:t> </a:t>
            </a:r>
            <a:r>
              <a:rPr sz="1400" b="1">
                <a:solidFill>
                  <a:srgbClr val="AD73D1"/>
                </a:solidFill>
                <a:latin typeface="Calibri"/>
              </a:rPr>
              <a:t>Unvalidated Business Models &amp; Execution:</a:t>
            </a:r>
            <a:r>
              <a:rPr sz="1400" b="0">
                <a:solidFill>
                  <a:srgbClr val="AD73D1"/>
                </a:solidFill>
                <a:latin typeface="Calibri"/>
              </a:rPr>
              <a:t> Many promising ventures fail due to unrefined strategies, poor product-market fit, and a lack of structured development processes.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6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890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D0361"/>
                </a:solidFill>
                <a:latin typeface="Calibri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Ipreneur: Bridging the Gap to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D73D1"/>
                </a:solidFill>
                <a:latin typeface="Calibri"/>
              </a:rPr>
              <a:t>We provide a comprehensive, structured acceleration program designed to transform early-stage startups into investment-ready, growth-focused enterprises.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30E22"/>
          </a:solidFill>
          <a:ln w="12700">
            <a:solidFill>
              <a:srgbClr val="2B2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890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Tailored Acceleration Programs</a:t>
            </a:r>
          </a:p>
        </p:txBody>
      </p:sp>
      <p:sp>
        <p:nvSpPr>
          <p:cNvPr id="9" name="Rectangle 8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30E22"/>
          </a:solidFill>
          <a:ln w="12700">
            <a:solidFill>
              <a:srgbClr val="2B2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890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Strategic Capital Access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30E22"/>
          </a:solidFill>
          <a:ln w="12700">
            <a:solidFill>
              <a:srgbClr val="2B2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890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Ecosystem &amp; Network Power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6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890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D0361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Our Acceleration Platform: Features &amp;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D73D1"/>
                </a:solidFill>
                <a:latin typeface="Calibri"/>
              </a:rPr>
              <a:t>Ipreneur delivers a holistic product experience designed to build robust, scalable startups from the ground up.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30E22"/>
          </a:solidFill>
          <a:ln w="12700">
            <a:solidFill>
              <a:srgbClr val="2B2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890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Growth Framework Playbooks</a:t>
            </a:r>
          </a:p>
        </p:txBody>
      </p:sp>
      <p:sp>
        <p:nvSpPr>
          <p:cNvPr id="9" name="Rectangle 8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30E22"/>
          </a:solidFill>
          <a:ln w="12700">
            <a:solidFill>
              <a:srgbClr val="2B2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890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Personalized Mentor Matching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30E22"/>
          </a:solidFill>
          <a:ln w="12700">
            <a:solidFill>
              <a:srgbClr val="2B2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890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Investor Connect Portal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6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890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D0361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Sustainable Growth, Aligned Incentives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D73D1"/>
                </a:solidFill>
                <a:latin typeface="Calibri"/>
              </a:rPr>
              <a:t>Ipreneur's model is built on shared success, leveraging equity upside from high-growth startups and strategic partnerships.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30E22"/>
          </a:solidFill>
          <a:ln w="12700">
            <a:solidFill>
              <a:srgbClr val="2B2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890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Equity Stakes in Portfolio</a:t>
            </a:r>
          </a:p>
        </p:txBody>
      </p:sp>
      <p:sp>
        <p:nvSpPr>
          <p:cNvPr id="9" name="Rectangle 8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30E22"/>
          </a:solidFill>
          <a:ln w="12700">
            <a:solidFill>
              <a:srgbClr val="2B2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890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Premium Program Fees (Selective)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30E22"/>
          </a:solidFill>
          <a:ln w="12700">
            <a:solidFill>
              <a:srgbClr val="2B2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890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Investor Sourcing &amp; Success Fees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6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890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D0361"/>
                </a:solidFill>
                <a:latin typeface="Calibr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Proven Impact, Rapid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D73D1"/>
                </a:solidFill>
                <a:latin typeface="Calibri"/>
              </a:rPr>
              <a:t>Ipreneur is demonstrating significant momentum and value creation within the Indian startup ecosystem.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30E22"/>
          </a:solidFill>
          <a:ln w="19050">
            <a:solidFill>
              <a:srgbClr val="890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$500,000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D73D1"/>
                </a:solidFill>
                <a:latin typeface="Calibri"/>
              </a:rPr>
              <a:t>Annual Recurring Revenue (ARR)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30E22"/>
          </a:solidFill>
          <a:ln w="19050">
            <a:solidFill>
              <a:srgbClr val="890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$100,000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D73D1"/>
                </a:solidFill>
                <a:latin typeface="Calibri"/>
              </a:rPr>
              <a:t>Monthly Recurring Revenue (MRR)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30E22"/>
          </a:solidFill>
          <a:ln w="19050">
            <a:solidFill>
              <a:srgbClr val="890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150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D73D1"/>
                </a:solidFill>
                <a:latin typeface="Calibri"/>
              </a:rPr>
              <a:t>Total Portfolio Companies (Customers)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30E22"/>
          </a:solidFill>
          <a:ln w="19050">
            <a:solidFill>
              <a:srgbClr val="A64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D73D1"/>
                </a:solidFill>
                <a:latin typeface="Calibri"/>
              </a:rPr>
              <a:t>Monthly Engaged Startups (Monthly Active Users)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D73D1"/>
                </a:solidFill>
                <a:latin typeface="Calibri"/>
              </a:rPr>
              <a:t>›  </a:t>
            </a:r>
            <a:r>
              <a:rPr sz="1300" b="1">
                <a:solidFill>
                  <a:srgbClr val="AD73D1"/>
                </a:solidFill>
                <a:latin typeface="Calibri"/>
              </a:rPr>
              <a:t>Consistent Growth:</a:t>
            </a:r>
            <a:r>
              <a:rPr sz="1300" b="0">
                <a:solidFill>
                  <a:srgbClr val="AD73D1"/>
                </a:solidFill>
                <a:latin typeface="Calibri"/>
              </a:rPr>
              <a:t> </a:t>
            </a:r>
            <a:r>
              <a:rPr sz="1300" b="1">
                <a:solidFill>
                  <a:srgbClr val="AD73D1"/>
                </a:solidFill>
                <a:latin typeface="Calibri"/>
              </a:rPr>
              <a:t>Achieved $500K ARR</a:t>
            </a:r>
            <a:r>
              <a:rPr sz="1300" b="0">
                <a:solidFill>
                  <a:srgbClr val="AD73D1"/>
                </a:solidFill>
                <a:latin typeface="Calibri"/>
              </a:rPr>
              <a:t>, demonstrating strong market validation and program effectiveness.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663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D73D1"/>
                </a:solidFill>
                <a:latin typeface="Calibri"/>
              </a:rPr>
              <a:t>›  </a:t>
            </a:r>
            <a:r>
              <a:rPr sz="1300" b="1">
                <a:solidFill>
                  <a:srgbClr val="AD73D1"/>
                </a:solidFill>
                <a:latin typeface="Calibri"/>
              </a:rPr>
              <a:t>Extensive Portfolio:</a:t>
            </a:r>
            <a:r>
              <a:rPr sz="1300" b="0">
                <a:solidFill>
                  <a:srgbClr val="AD73D1"/>
                </a:solidFill>
                <a:latin typeface="Calibri"/>
              </a:rPr>
              <a:t> </a:t>
            </a:r>
            <a:r>
              <a:rPr sz="1300" b="1">
                <a:solidFill>
                  <a:srgbClr val="AD73D1"/>
                </a:solidFill>
                <a:latin typeface="Calibri"/>
              </a:rPr>
              <a:t>Supported 150 unique portfolio companies</a:t>
            </a:r>
            <a:r>
              <a:rPr sz="1300" b="0">
                <a:solidFill>
                  <a:srgbClr val="AD73D1"/>
                </a:solidFill>
                <a:latin typeface="Calibri"/>
              </a:rPr>
              <a:t>, building a strong foundation for future equity value.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D73D1"/>
                </a:solidFill>
                <a:latin typeface="Calibri"/>
              </a:rPr>
              <a:t>›  </a:t>
            </a:r>
            <a:r>
              <a:rPr sz="1300" b="1">
                <a:solidFill>
                  <a:srgbClr val="AD73D1"/>
                </a:solidFill>
                <a:latin typeface="Calibri"/>
              </a:rPr>
              <a:t>Active Engagement:</a:t>
            </a:r>
            <a:r>
              <a:rPr sz="1300" b="0">
                <a:solidFill>
                  <a:srgbClr val="AD73D1"/>
                </a:solidFill>
                <a:latin typeface="Calibri"/>
              </a:rPr>
              <a:t> </a:t>
            </a:r>
            <a:r>
              <a:rPr sz="1300" b="1">
                <a:solidFill>
                  <a:srgbClr val="AD73D1"/>
                </a:solidFill>
                <a:latin typeface="Calibri"/>
              </a:rPr>
              <a:t>27 monthly engaged startups</a:t>
            </a:r>
            <a:r>
              <a:rPr sz="1300" b="0">
                <a:solidFill>
                  <a:srgbClr val="AD73D1"/>
                </a:solidFill>
                <a:latin typeface="Calibri"/>
              </a:rPr>
              <a:t> (Monthly Active Users), reflecting consistent participation and value delivery within our programs.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6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890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D0361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Differentiated in a Growing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D73D1"/>
                </a:solidFill>
                <a:latin typeface="Calibri"/>
              </a:rPr>
              <a:t>While the Indian ecosystem has many players, Ipreneur stands out through its specialized focus, deep mentorship, and founder-centric approach.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30E22"/>
          </a:solidFill>
          <a:ln w="12700">
            <a:solidFill>
              <a:srgbClr val="2B2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890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Axilor Ventures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30E22"/>
          </a:solidFill>
          <a:ln w="12700">
            <a:solidFill>
              <a:srgbClr val="2B2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890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9Unicorns Accelerator Fund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30E22"/>
          </a:solidFill>
          <a:ln w="12700">
            <a:solidFill>
              <a:srgbClr val="2B2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890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NASSCOM 10,000 Startups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6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890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D0361"/>
                </a:solidFill>
                <a:latin typeface="Calibr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Experienced Leaders Driving Entrepreneurial Success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D73D1"/>
                </a:solidFill>
                <a:latin typeface="Calibri"/>
              </a:rPr>
              <a:t>Our diverse team brings together deep operational expertise, investment acumen, and a passion for building the next generation of Indian startups.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30E22"/>
          </a:solidFill>
          <a:ln w="12700">
            <a:solidFill>
              <a:srgbClr val="2B2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890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Founding Team &amp; Strategic Vision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30E22"/>
          </a:solidFill>
          <a:ln w="12700">
            <a:solidFill>
              <a:srgbClr val="2B2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890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Program Management &amp; Mentorship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30E22"/>
          </a:solidFill>
          <a:ln w="12700">
            <a:solidFill>
              <a:srgbClr val="2B2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890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Investment &amp; Partnerships Lead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6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890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D0361"/>
                </a:solidFill>
                <a:latin typeface="Calibri"/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Clear Path to Exponential Returns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D73D1"/>
                </a:solidFill>
                <a:latin typeface="Calibri"/>
              </a:rPr>
              <a:t>Our model, driven by portfolio growth and successful exits, projects significant revenue expansion and increasing gross margins.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30E22"/>
          </a:solidFill>
          <a:ln w="19050">
            <a:solidFill>
              <a:srgbClr val="890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$500,000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D73D1"/>
                </a:solidFill>
                <a:latin typeface="Calibri"/>
              </a:rPr>
              <a:t>2023 ARR (Actual)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30E22"/>
          </a:solidFill>
          <a:ln w="19050">
            <a:solidFill>
              <a:srgbClr val="890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$1,200,000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D73D1"/>
                </a:solidFill>
                <a:latin typeface="Calibri"/>
              </a:rPr>
              <a:t>2024 ARR (Projected)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30E22"/>
          </a:solidFill>
          <a:ln w="19050">
            <a:solidFill>
              <a:srgbClr val="890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$3,000,000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D73D1"/>
                </a:solidFill>
                <a:latin typeface="Calibri"/>
              </a:rPr>
              <a:t>2025 ARR (Projected)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30E22"/>
          </a:solidFill>
          <a:ln w="19050">
            <a:solidFill>
              <a:srgbClr val="A64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$7,500,000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D73D1"/>
                </a:solidFill>
                <a:latin typeface="Calibri"/>
              </a:rPr>
              <a:t>2026 ARR (Projected)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D73D1"/>
                </a:solidFill>
                <a:latin typeface="Calibri"/>
              </a:rPr>
              <a:t>›  </a:t>
            </a:r>
            <a:r>
              <a:rPr sz="1300" b="1">
                <a:solidFill>
                  <a:srgbClr val="AD73D1"/>
                </a:solidFill>
                <a:latin typeface="Calibri"/>
              </a:rPr>
              <a:t>Scaling Portfolio:</a:t>
            </a:r>
            <a:r>
              <a:rPr sz="1300" b="0">
                <a:solidFill>
                  <a:srgbClr val="AD73D1"/>
                </a:solidFill>
                <a:latin typeface="Calibri"/>
              </a:rPr>
              <a:t> </a:t>
            </a:r>
            <a:r>
              <a:rPr sz="1300" b="1">
                <a:solidFill>
                  <a:srgbClr val="AD73D1"/>
                </a:solidFill>
                <a:latin typeface="Calibri"/>
              </a:rPr>
              <a:t>Aggressive expansion</a:t>
            </a:r>
            <a:r>
              <a:rPr sz="1300" b="0">
                <a:solidFill>
                  <a:srgbClr val="AD73D1"/>
                </a:solidFill>
                <a:latin typeface="Calibri"/>
              </a:rPr>
              <a:t> of cohort sizes and number of programs, targeting 200+ startups annually by 2026.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663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D73D1"/>
                </a:solidFill>
                <a:latin typeface="Calibri"/>
              </a:rPr>
              <a:t>›  </a:t>
            </a:r>
            <a:r>
              <a:rPr sz="1300" b="1">
                <a:solidFill>
                  <a:srgbClr val="AD73D1"/>
                </a:solidFill>
                <a:latin typeface="Calibri"/>
              </a:rPr>
              <a:t>Exit Strategy:</a:t>
            </a:r>
            <a:r>
              <a:rPr sz="1300" b="0">
                <a:solidFill>
                  <a:srgbClr val="AD73D1"/>
                </a:solidFill>
                <a:latin typeface="Calibri"/>
              </a:rPr>
              <a:t> </a:t>
            </a:r>
            <a:r>
              <a:rPr sz="1300" b="1">
                <a:solidFill>
                  <a:srgbClr val="AD73D1"/>
                </a:solidFill>
                <a:latin typeface="Calibri"/>
              </a:rPr>
              <a:t>Focus on early-stage value creation</a:t>
            </a:r>
            <a:r>
              <a:rPr sz="1300" b="0">
                <a:solidFill>
                  <a:srgbClr val="AD73D1"/>
                </a:solidFill>
                <a:latin typeface="Calibri"/>
              </a:rPr>
              <a:t> to drive successful follow-on rounds and eventual exits, generating outsized returns from equity stakes.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D73D1"/>
                </a:solidFill>
                <a:latin typeface="Calibri"/>
              </a:rPr>
              <a:t>›  </a:t>
            </a:r>
            <a:r>
              <a:rPr sz="1300" b="1">
                <a:solidFill>
                  <a:srgbClr val="AD73D1"/>
                </a:solidFill>
                <a:latin typeface="Calibri"/>
              </a:rPr>
              <a:t>Operational Efficiency:</a:t>
            </a:r>
            <a:r>
              <a:rPr sz="1300" b="0">
                <a:solidFill>
                  <a:srgbClr val="AD73D1"/>
                </a:solidFill>
                <a:latin typeface="Calibri"/>
              </a:rPr>
              <a:t> </a:t>
            </a:r>
            <a:r>
              <a:rPr sz="1300" b="1">
                <a:solidFill>
                  <a:srgbClr val="AD73D1"/>
                </a:solidFill>
                <a:latin typeface="Calibri"/>
              </a:rPr>
              <a:t>Leveraging technology</a:t>
            </a:r>
            <a:r>
              <a:rPr sz="1300" b="0">
                <a:solidFill>
                  <a:srgbClr val="AD73D1"/>
                </a:solidFill>
                <a:latin typeface="Calibri"/>
              </a:rPr>
              <a:t> for streamlined program delivery, mentor management, and portfolio tracking to maintain high gross margins.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6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890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D0361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Invest in India's Entrepreneurial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D73D1"/>
                </a:solidFill>
                <a:latin typeface="Calibri"/>
              </a:rPr>
              <a:t>We are raising $850,000 to accelerate our growth, expand our reach, and deepen our impact across India's startup ecosystem.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130E22"/>
          </a:solidFill>
          <a:ln w="12700">
            <a:solidFill>
              <a:srgbClr val="2B2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890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Total Raise: $850,000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130E22"/>
          </a:solidFill>
          <a:ln w="12700">
            <a:solidFill>
              <a:srgbClr val="2B2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890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Program Expansion &amp; Tech (40%)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130E22"/>
          </a:solidFill>
          <a:ln w="12700">
            <a:solidFill>
              <a:srgbClr val="2B2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890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Talent &amp; Operations (40%)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130E22"/>
          </a:solidFill>
          <a:ln w="12700">
            <a:solidFill>
              <a:srgbClr val="2B2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A64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Direct Startup Investments (20%)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6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90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890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Ipreneur: Fueling India's Startup Revolution.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D73D1"/>
                </a:solidFill>
                <a:latin typeface="Calibri"/>
              </a:rPr>
              <a:t>Join us in building the next generation of industry-defining companies, driving economic growth, and shaping India's entrepreneurial future.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D0361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