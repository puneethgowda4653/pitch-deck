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0C0C1"/>
                </a:solidFill>
                <a:latin typeface="Calibri"/>
              </a:rPr>
              <a:t>The crypto super app for trading, predicting, and 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$400M+ in funding and growing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C1"/>
                </a:solidFill>
                <a:latin typeface="Calibri"/>
              </a:rPr>
              <a:t>Gemini is a well-funded and rapidly growing company with a strong track record of innovation and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$1.4B TAM and 30% 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C1"/>
                </a:solidFill>
                <a:latin typeface="Calibri"/>
              </a:rPr>
              <a:t>The global cryptocurrency market is a rapidly growing and highly lucrative space, with a total addressable market of $1.4B and a compound annual growth rate of 30%.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Solving the needs of cryptocurrency traders and investors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9151E"/>
          </a:solidFill>
          <a:ln w="19050">
            <a:solidFill>
              <a:srgbClr val="B3B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3B3B4"/>
                </a:solidFill>
                <a:latin typeface="Calibri"/>
              </a:rPr>
              <a:t>Limited access to cryptocurrency markets and high fees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•  </a:t>
            </a:r>
            <a:r>
              <a:rPr sz="1300" b="1">
                <a:solidFill>
                  <a:srgbClr val="C0C0C1"/>
                </a:solidFill>
                <a:latin typeface="Calibri"/>
              </a:rPr>
              <a:t>Limited access:</a:t>
            </a:r>
            <a:r>
              <a:rPr sz="1300" b="0">
                <a:solidFill>
                  <a:srgbClr val="C0C0C1"/>
                </a:solidFill>
                <a:latin typeface="Calibri"/>
              </a:rPr>
              <a:t> Many cryptocurrency exchanges are difficult to use and have limited functionality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•  </a:t>
            </a:r>
            <a:r>
              <a:rPr sz="1300" b="1">
                <a:solidFill>
                  <a:srgbClr val="C0C0C1"/>
                </a:solidFill>
                <a:latin typeface="Calibri"/>
              </a:rPr>
              <a:t>High fees:</a:t>
            </a:r>
            <a:r>
              <a:rPr sz="1300" b="0">
                <a:solidFill>
                  <a:srgbClr val="C0C0C1"/>
                </a:solidFill>
                <a:latin typeface="Calibri"/>
              </a:rPr>
              <a:t> Trading fees can be high, eating into investors' profits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•  </a:t>
            </a:r>
            <a:r>
              <a:rPr sz="1300" b="1">
                <a:solidFill>
                  <a:srgbClr val="C0C0C1"/>
                </a:solidFill>
                <a:latin typeface="Calibri"/>
              </a:rPr>
              <a:t>Security risks:</a:t>
            </a:r>
            <a:r>
              <a:rPr sz="1300" b="0">
                <a:solidFill>
                  <a:srgbClr val="C0C0C1"/>
                </a:solidFill>
                <a:latin typeface="Calibri"/>
              </a:rPr>
              <a:t> Investors face significant security risks when trading and storing cryptocurrencies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9151E"/>
          </a:solidFill>
          <a:ln w="19050">
            <a:solidFill>
              <a:srgbClr val="B3B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3B3B4"/>
                </a:solidFill>
                <a:latin typeface="Calibri"/>
              </a:rPr>
              <a:t>Gemini's secure, intuitive, and accessible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•  </a:t>
            </a:r>
            <a:r>
              <a:rPr sz="1300" b="1">
                <a:solidFill>
                  <a:srgbClr val="C0C0C1"/>
                </a:solidFill>
                <a:latin typeface="Calibri"/>
              </a:rPr>
              <a:t>Secure:</a:t>
            </a:r>
            <a:r>
              <a:rPr sz="1300" b="0">
                <a:solidFill>
                  <a:srgbClr val="C0C0C1"/>
                </a:solidFill>
                <a:latin typeface="Calibri"/>
              </a:rPr>
              <a:t> Gemini's platform is highly secure, with advanced security measures to protect users'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•  </a:t>
            </a:r>
            <a:r>
              <a:rPr sz="1300" b="1">
                <a:solidFill>
                  <a:srgbClr val="C0C0C1"/>
                </a:solidFill>
                <a:latin typeface="Calibri"/>
              </a:rPr>
              <a:t>Intuitive:</a:t>
            </a:r>
            <a:r>
              <a:rPr sz="1300" b="0">
                <a:solidFill>
                  <a:srgbClr val="C0C0C1"/>
                </a:solidFill>
                <a:latin typeface="Calibri"/>
              </a:rPr>
              <a:t> Gemini's platform is easy to use, with a simple and intuitive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•  </a:t>
            </a:r>
            <a:r>
              <a:rPr sz="1300" b="1">
                <a:solidFill>
                  <a:srgbClr val="C0C0C1"/>
                </a:solidFill>
                <a:latin typeface="Calibri"/>
              </a:rPr>
              <a:t>Accessible:</a:t>
            </a:r>
            <a:r>
              <a:rPr sz="1300" b="0">
                <a:solidFill>
                  <a:srgbClr val="C0C0C1"/>
                </a:solidFill>
                <a:latin typeface="Calibri"/>
              </a:rPr>
              <a:t> Gemini's platform is accessible to all, with low fees and a wide range of cryptocurrency offerings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392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Gemini's suite of cryptocurrency and financial services products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Gemini Exchange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90+ cryptocurrencies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Gemini's cryptocurrency exchange allows users to buy, sell, and trade a wide range of cryptocurrencies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Gemini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Make predictions and earn interest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Gemini's prediction market allows users to make predictions on various events and earn interest on their holdings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Gemini Credit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Up to 4%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Gemini's credit card allows users to earn up to 4% back on their purchases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Gemini's revenue streams and growth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Commission-based trading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 Fees on trades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Gemini earns fees on trades made on its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Interest-bearing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Interest on holdings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Gemini earns interest on users' holdings, which are lent out to other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Prediction market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Fees on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Gemini earns fees on predictions made on its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$400M+ in funding and hundreds of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C1"/>
                </a:solidFill>
                <a:latin typeface="Calibri"/>
              </a:rPr>
              <a:t>Gemini has significant traction, with over $400M in funding and hundreds of employees.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Gemini's position in the cryptocurrency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Coinbase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$500M+ in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Higher fees compared to Gemini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Not applicable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Regulatory challenges in various jurisdictions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Kraken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$100M+ in 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Less user-friendly interface for beginners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Gemini's founding team and their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Cameron Winklevoss — Co-founder and President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Well-known for their role in the early days of Facebook and their crypto ventures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Harvard University, Oxford University, background in finance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Tyler Winklevoss — Co-founder and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Well-known for their role in the early days of Facebook and their crypto ventures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Harvard University, Oxford University, background in finance and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Gemini's market sizing and financial projections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B3B3B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B3B3B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B3B3B4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05051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6C6C6"/>
                </a:solidFill>
                <a:latin typeface="Calibri"/>
              </a:rPr>
              <a:t>Increased institutional investment, regulatory clarity, technological advancements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3B3B4"/>
                </a:solidFill>
                <a:latin typeface="Calibri"/>
              </a:rPr>
              <a:t>$1.4B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1"/>
                </a:solidFill>
                <a:latin typeface="Calibri"/>
              </a:rPr>
              <a:t>Global cryptocurrency 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3B3B4"/>
                </a:solidFill>
                <a:latin typeface="Calibri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1"/>
                </a:solidFill>
                <a:latin typeface="Calibri"/>
              </a:rPr>
              <a:t>2024-2028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3B3B4"/>
                </a:solidFill>
                <a:latin typeface="Calibri"/>
              </a:rPr>
              <a:t>Not specified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1"/>
                </a:solidFill>
                <a:latin typeface="Calibri"/>
              </a:rPr>
              <a:t>Not specified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1"/>
                </a:solidFill>
                <a:latin typeface="Calibri"/>
              </a:rPr>
              <a:t/>
            </a:r>
            <a:r>
              <a:rPr sz="1200" b="1">
                <a:solidFill>
                  <a:srgbClr val="C0C0C1"/>
                </a:solidFill>
                <a:latin typeface="Calibri"/>
              </a:rPr>
              <a:t>FY2026:</a:t>
            </a:r>
            <a:r>
              <a:rPr sz="1200" b="0">
                <a:solidFill>
                  <a:srgbClr val="C0C0C1"/>
                </a:solidFill>
                <a:latin typeface="Calibri"/>
              </a:rPr>
              <a:t> $X ARR · N customers · Expand to 5 new cities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1"/>
                </a:solidFill>
                <a:latin typeface="Calibri"/>
              </a:rPr>
              <a:t/>
            </a:r>
            <a:r>
              <a:rPr sz="1200" b="1">
                <a:solidFill>
                  <a:srgbClr val="C0C0C1"/>
                </a:solidFill>
                <a:latin typeface="Calibri"/>
              </a:rPr>
              <a:t>FY2027:</a:t>
            </a:r>
            <a:r>
              <a:rPr sz="1200" b="0">
                <a:solidFill>
                  <a:srgbClr val="C0C0C1"/>
                </a:solidFill>
                <a:latin typeface="Calibri"/>
              </a:rPr>
              <a:t> $X ARR · N customers · Series B raise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1"/>
                </a:solidFill>
                <a:latin typeface="Calibri"/>
              </a:rPr>
              <a:t/>
            </a:r>
            <a:r>
              <a:rPr sz="1200" b="1">
                <a:solidFill>
                  <a:srgbClr val="C0C0C1"/>
                </a:solidFill>
                <a:latin typeface="Calibri"/>
              </a:rPr>
              <a:t>FY2028:</a:t>
            </a:r>
            <a:r>
              <a:rPr sz="1200" b="0">
                <a:solidFill>
                  <a:srgbClr val="C0C0C1"/>
                </a:solidFill>
                <a:latin typeface="Calibri"/>
              </a:rPr>
              <a:t> $X ARR · N customers · 40% gross margin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05051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1"/>
                </a:solidFill>
                <a:latin typeface="Calibri"/>
              </a:rPr>
              <a:t>Gemini's funding request and proposed use of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9151E"/>
          </a:solidFill>
          <a:ln w="12700">
            <a:solidFill>
              <a:srgbClr val="392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Funding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3B3B4"/>
                </a:solidFill>
                <a:latin typeface="Calibri"/>
              </a:rPr>
              <a:t>Not specified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1"/>
                </a:solidFill>
                <a:latin typeface="Calibri"/>
              </a:rPr>
              <a:t>Gemini is seeking funding to further develop its platform and expand its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3B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0C0C1"/>
                </a:solidFill>
                <a:latin typeface="Calibri"/>
              </a:rPr>
              <a:t>Gemini is a leading cryptocurrency exchange and financial services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05051"/>
                </a:solidFill>
                <a:latin typeface="Calibri"/>
              </a:rPr>
              <a:t>Thank you for considering Gemini's investment opportunity. We believe that our platform and team have the potential to drive significant growth and returns on investment.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