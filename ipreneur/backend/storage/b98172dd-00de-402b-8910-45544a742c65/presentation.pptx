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0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274320"/>
            <a:ext cx="182880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IBSFINtech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C7EE2"/>
                </a:solidFill>
                <a:latin typeface="Calibri"/>
              </a:rPr>
              <a:t>Digitizing Global Treasury Operations for Real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C0D72"/>
                </a:solidFill>
                <a:latin typeface="Calibri"/>
              </a:rPr>
              <a:t>The leading Enterprise Treasury &amp; Risk Management SaaS platform driving efficiency and strategic financial decisions for corporations worldwide.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Unlocking unparalleled efficiency in global treasury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3F1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7EE2"/>
                </a:solidFill>
                <a:latin typeface="Calibri"/>
              </a:rP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Strong growth in enterprise SaaS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FF0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7EE2"/>
                </a:solidFill>
                <a:latin typeface="Calibri"/>
              </a:rP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Trusted by global corporations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7EE2"/>
                </a:solidFill>
                <a:latin typeface="Calibri"/>
              </a:rPr>
              <a:t>IBSFINtech delivers a comprehensive SaaS platform that automates and optimizes complex treasury, risk, and trade finance functions for enterprises. Our solution drives significant productivity gains, improves accuracy, and optimizes fund utilization, trusted by a growing base of global corporations.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Market Leader:</a:t>
            </a:r>
            <a:r>
              <a:rPr sz="1300" b="0">
                <a:solidFill>
                  <a:srgbClr val="8C7EE2"/>
                </a:solidFill>
                <a:latin typeface="Calibri"/>
              </a:rPr>
              <a:t> Recognized as a 'Leader' in IDC MarketScape for AI-enabled embedded trade financing applications.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Proven Traction:</a:t>
            </a:r>
            <a:r>
              <a:rPr sz="1300" b="0">
                <a:solidFill>
                  <a:srgbClr val="8C7EE2"/>
                </a:solidFill>
                <a:latin typeface="Calibri"/>
              </a:rPr>
              <a:t> Serving 2,000 customers globally, driving $150,000 ARR.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Comprehensive Solution:</a:t>
            </a:r>
            <a:r>
              <a:rPr sz="1300" b="0">
                <a:solidFill>
                  <a:srgbClr val="8C7EE2"/>
                </a:solidFill>
                <a:latin typeface="Calibri"/>
              </a:rPr>
              <a:t> End-to-end digitization across cashflow, FX risk, investments, and trade finance.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The burgeoning need for advanced Treasury &amp; Risk Management solutions.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3F1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$4.5B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7EE2"/>
                </a:solidFill>
                <a:latin typeface="Calibri"/>
              </a:rPr>
              <a:t>Global TMS 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Expected by 2028 · Source: Mordor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FF0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7EE2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2023-2028 · Significant growth trajectory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7EE2"/>
                </a:solidFill>
                <a:latin typeface="Calibri"/>
              </a:rPr>
              <a:t>The global Treasury Management System (TMS) market is experiencing rapid growth, driven by increasing financial complexity, regulatory demands, and the imperative for real-time visibility and automation. Corporations are shifting from manual processes to integrated SaaS platforms to manage liquidity, mitigate risk, and optimize working capital.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Digital Transformation:</a:t>
            </a:r>
            <a:r>
              <a:rPr sz="1300" b="0">
                <a:solidFill>
                  <a:srgbClr val="8C7EE2"/>
                </a:solidFill>
                <a:latin typeface="Calibri"/>
              </a:rPr>
              <a:t> Enterprises are aggressively digitizing finance operations, with treasury as a key focus 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Risk Mitigation:</a:t>
            </a:r>
            <a:r>
              <a:rPr sz="1300" b="0">
                <a:solidFill>
                  <a:srgbClr val="8C7EE2"/>
                </a:solidFill>
                <a:latin typeface="Calibri"/>
              </a:rPr>
              <a:t> Volatile global markets demand sophisticated tools for FX, commodity, and liquidity risk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Operational Efficiency:</a:t>
            </a:r>
            <a:r>
              <a:rPr sz="1300" b="0">
                <a:solidFill>
                  <a:srgbClr val="8C7EE2"/>
                </a:solidFill>
                <a:latin typeface="Calibri"/>
              </a:rPr>
              <a:t> Pressure to reduce manual effort, improve accuracy, and optimize fund utilization.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Transforming fragmented treasury operations into a unified, intelligent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28"/>
          </a:solidFill>
          <a:ln w="19050">
            <a:solidFill>
              <a:srgbClr val="3F1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1FFF"/>
                </a:solidFill>
                <a:latin typeface="Calibri"/>
              </a:rPr>
              <a:t>Manual, fragmented, and risky.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•  </a:t>
            </a:r>
            <a:r>
              <a:rPr sz="1300" b="1">
                <a:solidFill>
                  <a:srgbClr val="8C7EE2"/>
                </a:solidFill>
                <a:latin typeface="Calibri"/>
              </a:rPr>
              <a:t>Operational Inefficiency:</a:t>
            </a:r>
            <a:r>
              <a:rPr sz="1300" b="0">
                <a:solidFill>
                  <a:srgbClr val="8C7EE2"/>
                </a:solidFill>
                <a:latin typeface="Calibri"/>
              </a:rPr>
              <a:t> Manual treasury processes lead to </a:t>
            </a:r>
            <a:r>
              <a:rPr sz="1300" b="1">
                <a:solidFill>
                  <a:srgbClr val="8C7EE2"/>
                </a:solidFill>
                <a:latin typeface="Calibri"/>
              </a:rPr>
              <a:t>40% lower productivity</a:t>
            </a:r>
            <a:r>
              <a:rPr sz="1300" b="0">
                <a:solidFill>
                  <a:srgbClr val="8C7EE2"/>
                </a:solidFill>
                <a:latin typeface="Calibri"/>
              </a:rPr>
              <a:t> and higher error 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•  </a:t>
            </a:r>
            <a:r>
              <a:rPr sz="1300" b="1">
                <a:solidFill>
                  <a:srgbClr val="8C7EE2"/>
                </a:solidFill>
                <a:latin typeface="Calibri"/>
              </a:rPr>
              <a:t>Limited Visibility:</a:t>
            </a:r>
            <a:r>
              <a:rPr sz="1300" b="0">
                <a:solidFill>
                  <a:srgbClr val="8C7EE2"/>
                </a:solidFill>
                <a:latin typeface="Calibri"/>
              </a:rPr>
              <a:t> Lack of real-time cashflow and liquidity insights results in </a:t>
            </a:r>
            <a:r>
              <a:rPr sz="1300" b="1">
                <a:solidFill>
                  <a:srgbClr val="8C7EE2"/>
                </a:solidFill>
                <a:latin typeface="Calibri"/>
              </a:rPr>
              <a:t>suboptimal fund utilization</a:t>
            </a:r>
            <a:r>
              <a:rPr sz="1300" b="0">
                <a:solidFill>
                  <a:srgbClr val="8C7EE2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•  </a:t>
            </a:r>
            <a:r>
              <a:rPr sz="1300" b="1">
                <a:solidFill>
                  <a:srgbClr val="8C7EE2"/>
                </a:solidFill>
                <a:latin typeface="Calibri"/>
              </a:rPr>
              <a:t>Unmanaged Risk:</a:t>
            </a:r>
            <a:r>
              <a:rPr sz="1300" b="0">
                <a:solidFill>
                  <a:srgbClr val="8C7EE2"/>
                </a:solidFill>
                <a:latin typeface="Calibri"/>
              </a:rPr>
              <a:t> Inadequate tools for FX, commodity, and debt management expose companies to </a:t>
            </a:r>
            <a:r>
              <a:rPr sz="1300" b="1">
                <a:solidFill>
                  <a:srgbClr val="8C7EE2"/>
                </a:solidFill>
                <a:latin typeface="Calibri"/>
              </a:rPr>
              <a:t>significant financial risk</a:t>
            </a:r>
            <a:r>
              <a:rPr sz="1300" b="0">
                <a:solidFill>
                  <a:srgbClr val="8C7EE2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•  </a:t>
            </a:r>
            <a:r>
              <a:rPr sz="1300" b="1">
                <a:solidFill>
                  <a:srgbClr val="8C7EE2"/>
                </a:solidFill>
                <a:latin typeface="Calibri"/>
              </a:rPr>
              <a:t>Compliance Burden:</a:t>
            </a:r>
            <a:r>
              <a:rPr sz="1300" b="0">
                <a:solidFill>
                  <a:srgbClr val="8C7EE2"/>
                </a:solidFill>
                <a:latin typeface="Calibri"/>
              </a:rPr>
              <a:t> Fragmented systems make it challenging to ensure </a:t>
            </a:r>
            <a:r>
              <a:rPr sz="1300" b="1">
                <a:solidFill>
                  <a:srgbClr val="8C7EE2"/>
                </a:solidFill>
                <a:latin typeface="Calibri"/>
              </a:rPr>
              <a:t>global regulatory compliance</a:t>
            </a:r>
            <a:r>
              <a:rPr sz="1300" b="0">
                <a:solidFill>
                  <a:srgbClr val="8C7EE2"/>
                </a:solidFill>
                <a:latin typeface="Calibri"/>
              </a:rPr>
              <a:t> and audit readiness.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28"/>
          </a:solidFill>
          <a:ln w="19050">
            <a:solidFill>
              <a:srgbClr val="FF0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FF0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073A"/>
                </a:solidFill>
                <a:latin typeface="Calibri"/>
              </a:rPr>
              <a:t>Unified, automated, intelligent TreasuryTech.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•  </a:t>
            </a:r>
            <a:r>
              <a:rPr sz="1300" b="1">
                <a:solidFill>
                  <a:srgbClr val="8C7EE2"/>
                </a:solidFill>
                <a:latin typeface="Calibri"/>
              </a:rPr>
              <a:t>End-to-End Automation:</a:t>
            </a:r>
            <a:r>
              <a:rPr sz="1300" b="0">
                <a:solidFill>
                  <a:srgbClr val="8C7EE2"/>
                </a:solidFill>
                <a:latin typeface="Calibri"/>
              </a:rPr>
              <a:t> Digitize the entire treasury lifecycle, from front to back office, reducing manual effort by </a:t>
            </a:r>
            <a:r>
              <a:rPr sz="1300" b="1">
                <a:solidFill>
                  <a:srgbClr val="8C7EE2"/>
                </a:solidFill>
                <a:latin typeface="Calibri"/>
              </a:rPr>
              <a:t>up to 70%</a:t>
            </a:r>
            <a:r>
              <a:rPr sz="1300" b="0">
                <a:solidFill>
                  <a:srgbClr val="8C7EE2"/>
                </a:solidFill>
                <a:latin typeface="Calibr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•  </a:t>
            </a:r>
            <a:r>
              <a:rPr sz="1300" b="1">
                <a:solidFill>
                  <a:srgbClr val="8C7EE2"/>
                </a:solidFill>
                <a:latin typeface="Calibri"/>
              </a:rPr>
              <a:t>Real-time Insights:</a:t>
            </a:r>
            <a:r>
              <a:rPr sz="1300" b="0">
                <a:solidFill>
                  <a:srgbClr val="8C7EE2"/>
                </a:solidFill>
                <a:latin typeface="Calibri"/>
              </a:rPr>
              <a:t> Gain a unified view of cashflow and liquidity across multi-entity, multi-currency operations for </a:t>
            </a:r>
            <a:r>
              <a:rPr sz="1300" b="1">
                <a:solidFill>
                  <a:srgbClr val="8C7EE2"/>
                </a:solidFill>
                <a:latin typeface="Calibri"/>
              </a:rPr>
              <a:t>optimized fund deployment</a:t>
            </a:r>
            <a:r>
              <a:rPr sz="1300" b="0">
                <a:solidFill>
                  <a:srgbClr val="8C7EE2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•  </a:t>
            </a:r>
            <a:r>
              <a:rPr sz="1300" b="1">
                <a:solidFill>
                  <a:srgbClr val="8C7EE2"/>
                </a:solidFill>
                <a:latin typeface="Calibri"/>
              </a:rPr>
              <a:t>Proactive Risk Management:</a:t>
            </a:r>
            <a:r>
              <a:rPr sz="1300" b="0">
                <a:solidFill>
                  <a:srgbClr val="8C7EE2"/>
                </a:solidFill>
                <a:latin typeface="Calibri"/>
              </a:rPr>
              <a:t> Advanced modules for FX, money market, and commodity risk provide </a:t>
            </a:r>
            <a:r>
              <a:rPr sz="1300" b="1">
                <a:solidFill>
                  <a:srgbClr val="8C7EE2"/>
                </a:solidFill>
                <a:latin typeface="Calibri"/>
              </a:rPr>
              <a:t>comprehensive hedging and analytics</a:t>
            </a:r>
            <a:r>
              <a:rPr sz="1300" b="0">
                <a:solidFill>
                  <a:srgbClr val="8C7EE2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•  </a:t>
            </a:r>
            <a:r>
              <a:rPr sz="1300" b="1">
                <a:solidFill>
                  <a:srgbClr val="8C7EE2"/>
                </a:solidFill>
                <a:latin typeface="Calibri"/>
              </a:rPr>
              <a:t>Integrated Compliance:</a:t>
            </a:r>
            <a:r>
              <a:rPr sz="1300" b="0">
                <a:solidFill>
                  <a:srgbClr val="8C7EE2"/>
                </a:solidFill>
                <a:latin typeface="Calibri"/>
              </a:rPr>
              <a:t> Ensure seamless adherence to global regulations with robust audit trails and </a:t>
            </a:r>
            <a:r>
              <a:rPr sz="1300" b="1">
                <a:solidFill>
                  <a:srgbClr val="8C7EE2"/>
                </a:solidFill>
                <a:latin typeface="Calibri"/>
              </a:rPr>
              <a:t>automated reporting capabilities</a:t>
            </a:r>
            <a:r>
              <a:rPr sz="1300" b="0">
                <a:solidFill>
                  <a:srgbClr val="8C7EE2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Product: InTReaX™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Innovate. Automate. Accelerate. Your complete Treasury Management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Cashflow &amp; 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1FFF"/>
                </a:solidFill>
                <a:latin typeface="Calibri"/>
              </a:rPr>
              <a:t>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Unified visibility across global accounts, intelligent forecasting, and automated reconciliation for optimal liquidity management.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F0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FX &amp; Commodity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73A"/>
                </a:solidFill>
                <a:latin typeface="Calibri"/>
              </a:rPr>
              <a:t>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Comprehensive tools for managing currency and commodity exposures, hedging strategies, and market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F1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Investments &amp; Debt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F139C"/>
                </a:solidFill>
                <a:latin typeface="Calibri"/>
              </a:rPr>
              <a:t>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Manage money market investments, debt portfolios, and inter-company loans with integrated analytics and reporting.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6F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Trade &amp; Supply Chain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F57FF"/>
                </a:solidFill>
                <a:latin typeface="Calibri"/>
              </a:rPr>
              <a:t>Digitization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Automate and streamline trade finance operations, supply chain finance, and guarantee management.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Scalable SaaS subscriptions driving predictable recurring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SaaS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1FFF"/>
                </a:solidFill>
                <a:latin typeface="Calibri"/>
              </a:rPr>
              <a:t>Annual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Core revenue generated through recurring annual licenses based on modules, users, and transaction volume.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F0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Value-Added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73A"/>
                </a:solidFill>
                <a:latin typeface="Calibri"/>
              </a:rPr>
              <a:t>Implementation &amp;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Revenue from professional services for implementation, customization, training, and ongoing premium support.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F1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Strategic Partnerships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F139C"/>
                </a:solidFill>
                <a:latin typeface="Calibri"/>
              </a:rPr>
              <a:t>Ecosystem 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Collaborations with partners like Infosys and Happiest Minds expand market reach and integration capabilities.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6F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Scalable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F57FF"/>
                </a:solidFill>
                <a:latin typeface="Calibri"/>
              </a:rPr>
              <a:t>Tailored 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Pricing designed to serve diverse clients, from InnoTreasury™ for SMEs to full InTReaX™ for large enterprises.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Consistent growth and industry recognition.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3F1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7EE2"/>
                </a:solidFill>
                <a:latin typeface="Calibri"/>
              </a:rP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As of today, with strong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FF0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7EE2"/>
                </a:solidFill>
                <a:latin typeface="Calibri"/>
              </a:rPr>
              <a:t>Monthly Recurring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Solid foundation for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9F1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7EE2"/>
                </a:solidFill>
                <a:latin typeface="Calibri"/>
              </a:rPr>
              <a:t>Total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Diverse client portfolio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6F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7EE2"/>
                </a:solidFill>
                <a:latin typeface="Calibri"/>
              </a:rPr>
              <a:t>Monthly Active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Consistent platform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7EE2"/>
                </a:solidFill>
                <a:latin typeface="Calibri"/>
              </a:rPr>
              <a:t>IBSFINtech has demonstrated strong market adoption and achieved significant milestones, validating our product-market fit and execution capabilities. Our growth is fueled by increasing customer acquisition and expansion within existing accounts.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Revenue Growth:</a:t>
            </a:r>
            <a:r>
              <a:rPr sz="1300" b="0">
                <a:solidFill>
                  <a:srgbClr val="8C7EE2"/>
                </a:solidFill>
                <a:latin typeface="Calibri"/>
              </a:rPr>
              <a:t> Achieved $150,000 ARR with strong month-over-month increases.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Customer Base:</a:t>
            </a:r>
            <a:r>
              <a:rPr sz="1300" b="0">
                <a:solidFill>
                  <a:srgbClr val="8C7EE2"/>
                </a:solidFill>
                <a:latin typeface="Calibri"/>
              </a:rPr>
              <a:t> Serving 2,000 customers globally, including multinational conglomerates.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›  </a:t>
            </a:r>
            <a:r>
              <a:rPr sz="1300" b="1">
                <a:solidFill>
                  <a:srgbClr val="8C7EE2"/>
                </a:solidFill>
                <a:latin typeface="Calibri"/>
              </a:rPr>
              <a:t>User Engagement:</a:t>
            </a:r>
            <a:r>
              <a:rPr sz="1300" b="0">
                <a:solidFill>
                  <a:srgbClr val="8C7EE2"/>
                </a:solidFill>
                <a:latin typeface="Calibri"/>
              </a:rPr>
              <a:t> 500 Monthly Active Users leveraging the platform for critical treasury operations.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Differentiated by comprehensive functionality and AI-driven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Kyriba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1FFF"/>
                </a:solidFill>
                <a:latin typeface="Calibri"/>
              </a:rPr>
              <a:t>Funding: $375M+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Strong in cash management, but often requires extensive customization for specific trade finance or complex risk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F0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FIS (Integrity)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73A"/>
                </a:solidFill>
                <a:latin typeface="Calibri"/>
              </a:rPr>
              <a:t>Revenue: $14B+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Broad financial services provider; TMS can be part of a larger, less agile ecosystem, lacking specialized focus.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F1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SAP Treasury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F139C"/>
                </a:solidFill>
                <a:latin typeface="Calibri"/>
              </a:rPr>
              <a:t>Revenue: $30B+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Powerful for existing SAP users, but often complex to implement standalone and less flexible for non-SAP environments.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6F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Coupa Treasury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F57FF"/>
                </a:solidFill>
                <a:latin typeface="Calibri"/>
              </a:rPr>
              <a:t>Valuation: $8B+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Strong in spend management, but their treasury offering may not be as deeply integrated across all risk and trade finance areas as dedicated TMS.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Leadership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Visionary leaders with deep domain expertise.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1FFF"/>
                </a:solidFill>
                <a:latin typeface="Calibri"/>
              </a:rPr>
              <a:t>Experienced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Team details available on request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Significant market opportunity with strong growth trajectory.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3F1F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FF073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9F139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0D72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F57FF"/>
                </a:solidFill>
                <a:latin typeface="Calibri"/>
              </a:rPr>
              <a:t>8.5%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F1FFF"/>
                </a:solidFill>
                <a:latin typeface="Calibri"/>
              </a:rPr>
              <a:t>$4.5B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7EE2"/>
                </a:solidFill>
                <a:latin typeface="Calibri"/>
              </a:rPr>
              <a:t>Global TMS Market by 2028 · Source: Mordor Intelligence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FF0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73A"/>
                </a:solidFill>
                <a:latin typeface="Calibri"/>
              </a:rPr>
              <a:t>$1.5B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7EE2"/>
                </a:solidFill>
                <a:latin typeface="Calibri"/>
              </a:rPr>
              <a:t>APAC &amp; India Enterprise TMS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9F1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F139C"/>
                </a:solidFill>
                <a:latin typeface="Calibri"/>
              </a:rPr>
              <a:t>$150M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7EE2"/>
                </a:solidFill>
                <a:latin typeface="Calibri"/>
              </a:rPr>
              <a:t>~10% SAM capture · Target by 2029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7EE2"/>
                </a:solidFill>
                <a:latin typeface="Calibri"/>
              </a:rPr>
              <a:t/>
            </a:r>
            <a:r>
              <a:rPr sz="1200" b="1">
                <a:solidFill>
                  <a:srgbClr val="8C7EE2"/>
                </a:solidFill>
                <a:latin typeface="Calibri"/>
              </a:rPr>
              <a:t>FY2026:</a:t>
            </a:r>
            <a:r>
              <a:rPr sz="1200" b="0">
                <a:solidFill>
                  <a:srgbClr val="8C7EE2"/>
                </a:solidFill>
                <a:latin typeface="Calibri"/>
              </a:rPr>
              <a:t> $600K ARR · 3,000 customers · Expand APAC market presence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7EE2"/>
                </a:solidFill>
                <a:latin typeface="Calibri"/>
              </a:rPr>
              <a:t/>
            </a:r>
            <a:r>
              <a:rPr sz="1200" b="1">
                <a:solidFill>
                  <a:srgbClr val="8C7EE2"/>
                </a:solidFill>
                <a:latin typeface="Calibri"/>
              </a:rPr>
              <a:t>FY2027:</a:t>
            </a:r>
            <a:r>
              <a:rPr sz="1200" b="0">
                <a:solidFill>
                  <a:srgbClr val="8C7EE2"/>
                </a:solidFill>
                <a:latin typeface="Calibri"/>
              </a:rPr>
              <a:t> $2.4M ARR · 5,000 customers · Introduce AI-powered predictive analytics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7EE2"/>
                </a:solidFill>
                <a:latin typeface="Calibri"/>
              </a:rPr>
              <a:t/>
            </a:r>
            <a:r>
              <a:rPr sz="1200" b="1">
                <a:solidFill>
                  <a:srgbClr val="8C7EE2"/>
                </a:solidFill>
                <a:latin typeface="Calibri"/>
              </a:rPr>
              <a:t>FY2028:</a:t>
            </a:r>
            <a:r>
              <a:rPr sz="1200" b="0">
                <a:solidFill>
                  <a:srgbClr val="8C7EE2"/>
                </a:solidFill>
                <a:latin typeface="Calibri"/>
              </a:rPr>
              <a:t> $9.6M ARR · 10,000 customers · Achieve market leadership in niche segments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0D72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7EE2"/>
                </a:solidFill>
                <a:latin typeface="Calibri"/>
              </a:rPr>
              <a:t>Raising $150,000 to fuel our next phase of growth.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1FFF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Enhance AI/ML capabilities, expand module functionality (e.g., ESG treasury), and improve UI/UX.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F0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Market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73A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Strengthen sales and marketing efforts in APAC, enter new strategic markets, and build out channel partnerships.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F1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Talent 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F139C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Grow our engineering, sales, and customer success teams to support scaling operations.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6F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Operational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F57FF"/>
                </a:solidFill>
                <a:latin typeface="Calibr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7EE2"/>
                </a:solidFill>
                <a:latin typeface="Calibri"/>
              </a:rPr>
              <a:t>Invest in cloud infrastructure, security enhancements, and compliance certifications.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0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Let's Digitize the Future of Finance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C7EE2"/>
                </a:solidFill>
                <a:latin typeface="Calibri"/>
              </a:rPr>
              <a:t>IBSFINtech: Your partner in Treasury Transformation.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C0D72"/>
                </a:solidFill>
                <a:latin typeface="Calibri"/>
              </a:rPr>
              <a:t>Join us in revolutionizing how enterprises manage their global treasury, driving unprecedented efficiency, mitigating risk, and enabling strategic financial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C0D72"/>
                </a:solidFill>
                <a:latin typeface="Calibri"/>
              </a:rPr>
              <a:t>Investor Presentation  •  Confidential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