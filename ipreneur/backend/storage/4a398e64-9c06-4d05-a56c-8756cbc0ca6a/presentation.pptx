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F3FF"/>
                </a:solidFill>
                <a:latin typeface="Calibri"/>
              </a:rPr>
              <a:t>Company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Investor Presentation  •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The only solution built for Technology in a Large and growing Technology market market growing at Strong double-digit CAGR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30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254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4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Large 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TAM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Total Technology market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254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Strong double-digit CAGR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CAGR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Projected 2024–2030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254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Early traction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Customers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Design partners signed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906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254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62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Seed / Series 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62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Stage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05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Raising now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The Technology market is undergoing rapid transformation driven by digital adoption and AI integration. Companies in this space face mounting pressure to modernize legacy workflows, creating significant demand for purpose-built solutions. Company is positioned at the center of this shift.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Product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Core capabilities that win customers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Core Feature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Purpose-built capability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Feature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71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Designed for ease of use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Feature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89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Built for fast adoption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The Technology market is at an inflection point — Large and growing Technology market opportunity growing at Strong double-digit CAGR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30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254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4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Large 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TAM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Total Technology market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254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Significant SAM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SAM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Serviceable addressable market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254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Achievable SOM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SOM (Y3)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3-year capture target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906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254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62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Strong double-digit CAGR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62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CAGR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05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Market growth rate 2024–2030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The Technology market is undergoing rapid transformation driven by digital adoption and AI integration. Companies in this space face mounting pressure to modernize legacy workflows, creating significant demand for purpose-built solutions. Company is positioned at the center of this shift. The convergence of affordable AI infrastructure and widespread cloud adoption has created a window for Company to displace entrenched legacy vendors in the Technology market — a transition that was cost-prohibitive just 3 years ago.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›  Digital transformation accelerating across Technology — 70%+ of enterprises increasing tech spend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›  AI and automation unlocking new efficiency gains previously unavailable to this sector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›  Shift from fragmented point solutions to integrated platforms reducing total cost of ownership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How we generate and grow revenue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Subscription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540B5"/>
                </a:solidFill>
                <a:latin typeface="Calibri"/>
              </a:rPr>
              <a:t>Primary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53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Technology services / SaaS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71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Secondary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71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Implementation and professional services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Expansion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89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Growth motion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89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Land-and-expand within accounts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GO TO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Go-to-Market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How we acquire, expand, and retain customers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048256"/>
            <a:ext cx="109728" cy="109728"/>
          </a:xfrm>
          <a:prstGeom prst="ellipse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20240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Direct outbound targeting VP-level buyers in key verticals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615184"/>
            <a:ext cx="109728" cy="109728"/>
          </a:xfrm>
          <a:prstGeom prst="ellipse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487168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Content marketing and SEO to capture inbound demand</a:t>
            </a:r>
          </a:p>
        </p:txBody>
      </p:sp>
      <p:sp>
        <p:nvSpPr>
          <p:cNvPr id="10" name="Oval 9"/>
          <p:cNvSpPr/>
          <p:nvPr/>
        </p:nvSpPr>
        <p:spPr>
          <a:xfrm>
            <a:off x="6400800" y="2048256"/>
            <a:ext cx="109728" cy="109728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1920240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Strategic partnerships with complementary tools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0" y="2615184"/>
            <a:ext cx="109728" cy="109728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2487168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Land-and-expand to grow within accounts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Competitive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Why we win against alternatives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5303520" cy="4114800"/>
          </a:xfrm>
          <a:prstGeom prst="rect">
            <a:avLst/>
          </a:prstGeom>
          <a:solidFill>
            <a:srgbClr val="1A1130"/>
          </a:solidFill>
          <a:ln w="19050">
            <a:solidFill>
              <a:srgbClr val="254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5303520" cy="64008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3FF"/>
                </a:solidFill>
                <a:latin typeface="Calibri"/>
              </a:rPr>
              <a:t>Company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540B5"/>
                </a:solidFill>
                <a:latin typeface="Calibri"/>
              </a:rPr>
              <a:t>Purpose-built &amp; modern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Company's purpose-built approach vs. horizontal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5643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Faster time-to-value with modern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95344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AI-native design vs. retrofitted legacy systems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737360"/>
            <a:ext cx="5303520" cy="4114800"/>
          </a:xfrm>
          <a:prstGeom prst="rect">
            <a:avLst/>
          </a:prstGeom>
          <a:solidFill>
            <a:srgbClr val="1A1130"/>
          </a:solidFill>
          <a:ln w="19050">
            <a:solidFill>
              <a:srgbClr val="7B2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737360"/>
            <a:ext cx="5303520" cy="64008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20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3FF"/>
                </a:solidFill>
                <a:latin typeface="Calibri"/>
              </a:rPr>
              <a:t>Existing Solutions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688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7B2CBF"/>
                </a:solidFill>
                <a:latin typeface="Calibri"/>
              </a:rPr>
              <a:t>Legacy &amp; fragmented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01752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Existing solutions: Slow and expensive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45643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Generic platforms: Not purpose-built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2011680"/>
            <a:ext cx="27432" cy="3566160"/>
          </a:xfrm>
          <a:prstGeom prst="rect">
            <a:avLst/>
          </a:prstGeom>
          <a:solidFill>
            <a:srgbClr val="2A1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The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Domain expertise meets execution track record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Founder &amp; CEO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Experienced founder with deep domain expertise in the industry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Head of Product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71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Product leader with a track record of shipping customer-loved software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Head of Sales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89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Enterprise sales leader with experience scaling ARR from 0 to $10M+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FINANCIALS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Financial Projections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Path to scale with clear milestones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02676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254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39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$500K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39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Conservative Y1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182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50 customers at $10K ACV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1568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254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5284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$2M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284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Base Y2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712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150 customers, expanding ACV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0460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254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417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$8M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417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Optimistic Y3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60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Enterprise expansion + new verticals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Assumptions: SaaS subscription model, land-and-expand motion, CAC payback &lt; 12 months.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Investment to reach the next milestone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540B5"/>
                </a:solidFill>
                <a:latin typeface="Calibri"/>
              </a:rPr>
              <a:t>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53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Expand engineering team, accelerate roadmap, build enterprise features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Go-to-Market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71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40%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71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Hire first sales reps, launch demand gen programs, close anchor customers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Operations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89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20%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89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Build customer success team, scale infrastructure, strengthen ops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F3FF"/>
                </a:solidFill>
                <a:latin typeface="Calibri"/>
              </a:rPr>
              <a:t>Company is building the leading platform for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9B8EC4"/>
                </a:solidFill>
                <a:latin typeface="Calibri"/>
              </a:rPr>
              <a:t>Join us in building the category leader.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0233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C4E7A"/>
                </a:solidFill>
                <a:latin typeface="Calibri"/>
              </a:rPr>
              <a:t>Contact us • Company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Investor Presentation  •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