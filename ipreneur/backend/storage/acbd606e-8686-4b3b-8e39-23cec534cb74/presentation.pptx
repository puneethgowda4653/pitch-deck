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Qutar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07DBE"/>
                </a:solidFill>
                <a:latin typeface="Calibri"/>
              </a:rPr>
              <a:t>Redefining Search for the Modern 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00D4E"/>
                </a:solidFill>
                <a:latin typeface="Calibri"/>
              </a:rPr>
              <a:t>Empowering users with advanced control and precision in information discovery.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Unlocking a New Era of Search Efficiency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6C1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7DBE"/>
                </a:solidFill>
                <a:latin typeface="Calibri"/>
              </a:rPr>
              <a:t>Current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Annual Recurring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7DBE"/>
                </a:solidFill>
                <a:latin typeface="Calibri"/>
              </a:rPr>
              <a:t>Qutar is an innovative search engine technology company providing users with advanced, highly customizable search capabilities. We address the growing need for precise information retrieval in an increasingly data-rich world, currently serving 50,000 customers and generating $1.2B in ARR.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Vision:</a:t>
            </a:r>
            <a:r>
              <a:rPr sz="1300" b="0">
                <a:solidFill>
                  <a:srgbClr val="A07DBE"/>
                </a:solidFill>
                <a:latin typeface="Calibri"/>
              </a:rPr>
              <a:t> To become the leading platform for highly precise and controlled information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Product:</a:t>
            </a:r>
            <a:r>
              <a:rPr sz="1300" b="0">
                <a:solidFill>
                  <a:srgbClr val="A07DBE"/>
                </a:solidFill>
                <a:latin typeface="Calibri"/>
              </a:rPr>
              <a:t> Advanced search engine with granular filtering by file type, language, region, and update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Traction:</a:t>
            </a:r>
            <a:r>
              <a:rPr sz="1300" b="0">
                <a:solidFill>
                  <a:srgbClr val="A07DBE"/>
                </a:solidFill>
                <a:latin typeface="Calibri"/>
              </a:rPr>
              <a:t> $1.2 Billion ARR, 50,000 total customers, and 10,000 monthly active users.</a:t>
            </a:r>
          </a:p>
        </p:txBody>
      </p:sp>
      <p:pic>
        <p:nvPicPr>
          <p:cNvPr id="14" name="Picture 1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The Untapped Demand for Intelligent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6C1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$250B+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7DBE"/>
                </a:solidFill>
                <a:latin typeface="Calibri"/>
              </a:rPr>
              <a:t>Global Search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Estimated by 2028 · Source: Statista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7DBE"/>
                </a:solidFill>
                <a:latin typeface="Calibri"/>
              </a:rPr>
              <a:t>The global search engine market is vast and continues to grow, but traditional solutions often fall short for users needing highly specific information. Qutar addresses this critical gap, offering a powerful alternative for precision-driven search.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Evolving User Needs:</a:t>
            </a:r>
            <a:r>
              <a:rPr sz="1300" b="0">
                <a:solidFill>
                  <a:srgbClr val="A07DBE"/>
                </a:solidFill>
                <a:latin typeface="Calibri"/>
              </a:rPr>
              <a:t> Users are increasingly frustrated by generic search results and demand more control over their queries.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Information Overload:</a:t>
            </a:r>
            <a:r>
              <a:rPr sz="1300" b="0">
                <a:solidFill>
                  <a:srgbClr val="A07DBE"/>
                </a:solidFill>
                <a:latin typeface="Calibri"/>
              </a:rPr>
              <a:t> The exponential growth of online data makes efficient and precise information retrieval more critical than ever.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Enterprise Demand:</a:t>
            </a:r>
            <a:r>
              <a:rPr sz="1300" b="0">
                <a:solidFill>
                  <a:srgbClr val="A07DBE"/>
                </a:solidFill>
                <a:latin typeface="Calibri"/>
              </a:rPr>
              <a:t> Businesses require advanced filtering and domain-specific search to extract valuable insights from vast datasets.</a:t>
            </a:r>
          </a:p>
        </p:txBody>
      </p:sp>
      <p:pic>
        <p:nvPicPr>
          <p:cNvPr id="14" name="Picture 13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From Generic Noise to Precise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6C1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C1EAE"/>
                </a:solidFill>
                <a:latin typeface="Calibri"/>
              </a:rPr>
              <a:t>90% of users struggle to find specific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Information Overload:</a:t>
            </a:r>
            <a:r>
              <a:rPr sz="1300" b="0">
                <a:solidFill>
                  <a:srgbClr val="A07DBE"/>
                </a:solidFill>
                <a:latin typeface="Calibri"/>
              </a:rPr>
              <a:t> Users are overwhelmed by irrelevant results, leading to lost time and frustration.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Lack of Granularity:</a:t>
            </a:r>
            <a:r>
              <a:rPr sz="1300" b="0">
                <a:solidFill>
                  <a:srgbClr val="A07DBE"/>
                </a:solidFill>
                <a:latin typeface="Calibri"/>
              </a:rPr>
              <a:t> Traditional search engines offer limited filtering options, making deep dives difficult.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Inefficient Research:</a:t>
            </a:r>
            <a:r>
              <a:rPr sz="1300" b="0">
                <a:solidFill>
                  <a:srgbClr val="A07DBE"/>
                </a:solidFill>
                <a:latin typeface="Calibri"/>
              </a:rPr>
              <a:t> Professionals and researchers waste hours sifting through broad results for specific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Data Silos:</a:t>
            </a:r>
            <a:r>
              <a:rPr sz="1300" b="0">
                <a:solidFill>
                  <a:srgbClr val="A07DBE"/>
                </a:solidFill>
                <a:latin typeface="Calibri"/>
              </a:rPr>
              <a:t> Important information is often buried across various file types and domains, inaccessible through standard queries.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20E1E"/>
          </a:solidFill>
          <a:ln w="19050">
            <a:solidFill>
              <a:srgbClr val="444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44746"/>
                </a:solidFill>
                <a:latin typeface="Calibri"/>
              </a:rPr>
              <a:t>Qutar delivers 5x faster, precise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Advanced Filtering:</a:t>
            </a:r>
            <a:r>
              <a:rPr sz="1300" b="0">
                <a:solidFill>
                  <a:srgbClr val="A07DBE"/>
                </a:solidFill>
                <a:latin typeface="Calibri"/>
              </a:rPr>
              <a:t> Granular control over file type, language, region, and last update for hyper-specific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Domain-Specific Search:</a:t>
            </a:r>
            <a:r>
              <a:rPr sz="1300" b="0">
                <a:solidFill>
                  <a:srgbClr val="A07DBE"/>
                </a:solidFill>
                <a:latin typeface="Calibri"/>
              </a:rPr>
              <a:t> Tailored algorithms to prioritize relevance within particular industries or research areas.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Intuitive Interface:</a:t>
            </a:r>
            <a:r>
              <a:rPr sz="1300" b="0">
                <a:solidFill>
                  <a:srgbClr val="A07DBE"/>
                </a:solidFill>
                <a:latin typeface="Calibri"/>
              </a:rPr>
              <a:t> A user-friendly design that makes complex search parameters easy to apply and manage.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•  </a:t>
            </a:r>
            <a:r>
              <a:rPr sz="1300" b="1">
                <a:solidFill>
                  <a:srgbClr val="A07DBE"/>
                </a:solidFill>
                <a:latin typeface="Calibri"/>
              </a:rPr>
              <a:t>Enhanced Productivity:</a:t>
            </a:r>
            <a:r>
              <a:rPr sz="1300" b="0">
                <a:solidFill>
                  <a:srgbClr val="A07DBE"/>
                </a:solidFill>
                <a:latin typeface="Calibri"/>
              </a:rPr>
              <a:t> Drastically reduces time spent on research, boosting efficiency for individuals and teams.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282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Precision Search, Unrivaled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Advanced Search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1EAE"/>
                </a:solidFill>
                <a:latin typeface="Calibri"/>
              </a:rPr>
              <a:t>Granular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Filter by file type (PDF, XLS, PPT, DOC, etc.), language, region, and last update time for pinpoint accuracy.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Exact Phrase &amp; Exclusion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4746"/>
                </a:solidFill>
                <a:latin typeface="Calibri"/>
              </a:rPr>
              <a:t>Boolean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Find exact phrases and exclude unwanted words to refine results precisely, eliminating irrelevant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8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Site/Domain Specificity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327A"/>
                </a:solidFill>
                <a:latin typeface="Calibri"/>
              </a:rPr>
              <a:t>Targeted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Limit your search to specific websites or domains, perfect for academic research or competitive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0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User-Friendly Interface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56C2"/>
                </a:solidFill>
                <a:latin typeface="Calibri"/>
              </a:rPr>
              <a:t>Intuitive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A clean, intuitive advanced search page makes complex queries simple and accessible for all users.</a:t>
            </a:r>
          </a:p>
        </p:txBody>
      </p:sp>
      <p:pic>
        <p:nvPicPr>
          <p:cNvPr id="26" name="Picture 2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Sustainable Growth Through Value-Driven Offerings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Freemium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1EAE"/>
                </a:solidFill>
                <a:latin typeface="Calibri"/>
              </a:rPr>
              <a:t>Broad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Basic advanced search features are free, attracting a large user base and demonstrating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Premium Subscriptions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4746"/>
                </a:solidFill>
                <a:latin typeface="Calibri"/>
              </a:rPr>
              <a:t>$1/month+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Unlock advanced analytics, deeper historical search, API access, and priority support for power users.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8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Enterprise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327A"/>
                </a:solidFill>
                <a:latin typeface="Calibri"/>
              </a:rPr>
              <a:t>Custom 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Tailored packages for businesses requiring custom integrations, dedicated support, and higher usage limits.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0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Data Insights (Opt-in)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56C2"/>
                </a:solidFill>
                <a:latin typeface="Calibri"/>
              </a:rPr>
              <a:t>Market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Aggregated, anonymized search trend data offered to market research firms (with user consent).</a:t>
            </a:r>
          </a:p>
        </p:txBody>
      </p:sp>
      <p:pic>
        <p:nvPicPr>
          <p:cNvPr id="26" name="Picture 2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Proven Growth and Strong Market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6C1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7DBE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As of Today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444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7DBE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Across all tiers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83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10,000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7DBE"/>
                </a:solidFill>
                <a:latin typeface="Calibri"/>
              </a:rP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Engaged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7DBE"/>
                </a:solidFill>
                <a:latin typeface="Calibri"/>
              </a:rPr>
              <a:t>Qutar has demonstrated significant market acceptance and rapid financial growth, validating our product-market fit and the strong demand for advanced search solutions.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Rapid Revenue Growth:</a:t>
            </a:r>
            <a:r>
              <a:rPr sz="1300" b="0">
                <a:solidFill>
                  <a:srgbClr val="A07DBE"/>
                </a:solidFill>
                <a:latin typeface="Calibri"/>
              </a:rPr>
              <a:t> Achieving $1.2 Billion in Annual Recurring Revenue (ARR) demonstrates strong market demand.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Expanding Customer Base:</a:t>
            </a:r>
            <a:r>
              <a:rPr sz="1300" b="0">
                <a:solidFill>
                  <a:srgbClr val="A07DBE"/>
                </a:solidFill>
                <a:latin typeface="Calibri"/>
              </a:rPr>
              <a:t> Serving 50,000 total customers, showcasing broad appeal across various user segments.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›  </a:t>
            </a:r>
            <a:r>
              <a:rPr sz="1300" b="1">
                <a:solidFill>
                  <a:srgbClr val="A07DBE"/>
                </a:solidFill>
                <a:latin typeface="Calibri"/>
              </a:rPr>
              <a:t>Engaged User Community:</a:t>
            </a:r>
            <a:r>
              <a:rPr sz="1300" b="0">
                <a:solidFill>
                  <a:srgbClr val="A07DBE"/>
                </a:solidFill>
                <a:latin typeface="Calibri"/>
              </a:rPr>
              <a:t> 10,000 Monthly Active Users highlight consistent platform engagement.</a:t>
            </a:r>
          </a:p>
        </p:txBody>
      </p:sp>
      <p:pic>
        <p:nvPicPr>
          <p:cNvPr id="22" name="Picture 21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Differentiating in a Crowded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1EAE"/>
                </a:solidFill>
                <a:latin typeface="Calibri"/>
              </a:rPr>
              <a:t>~$2.1T Market Cap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While powerful, Google's advanced search options are less intuitive and comprehensive for highly specific filtering needs.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Microsoft Bing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4746"/>
                </a:solidFill>
                <a:latin typeface="Calibri"/>
              </a:rPr>
              <a:t>~$3.1T Market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Bing also focuses on general search, with limited granular control for users requiring deep, precise information retrieval.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8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DuckDuckGo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327A"/>
                </a:solidFill>
                <a:latin typeface="Calibri"/>
              </a:rPr>
              <a:t>$13M+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Primarily focused on privacy, DuckDuckGo does not offer the extensive advanced filtering and customization Qutar provides.</a:t>
            </a:r>
          </a:p>
        </p:txBody>
      </p:sp>
      <p:pic>
        <p:nvPicPr>
          <p:cNvPr id="21" name="Picture 20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Our Visionary Leaders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1EAE"/>
                </a:solidFill>
                <a:latin typeface="Calibri"/>
              </a:rPr>
              <a:t>Visionary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Our founding team brings a wealth of experience in search technology, data science, and user experience design. Profiles available upon request.</a:t>
            </a:r>
          </a:p>
        </p:txBody>
      </p:sp>
      <p:pic>
        <p:nvPicPr>
          <p:cNvPr id="11" name="Picture 10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Significant Opportunity, Strong Growth Trajectory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6C1EAE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444746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58327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0D4E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056C2"/>
                </a:solidFill>
                <a:latin typeface="Calibri"/>
              </a:rPr>
              <a:t>12%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C1EAE"/>
                </a:solidFill>
                <a:latin typeface="Calibri"/>
              </a:rPr>
              <a:t>$250B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7DBE"/>
                </a:solidFill>
                <a:latin typeface="Calibri"/>
              </a:rPr>
              <a:t>Global Search Engine Market 2028 · Source: Statista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44746"/>
                </a:solidFill>
                <a:latin typeface="Calibri"/>
              </a:rPr>
              <a:t>$50B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7DBE"/>
                </a:solidFill>
                <a:latin typeface="Calibri"/>
              </a:rPr>
              <a:t>Advanced Search &amp; Enterprise Intelligence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58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8327A"/>
                </a:solidFill>
                <a:latin typeface="Calibri"/>
              </a:rPr>
              <a:t>$5B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7DBE"/>
                </a:solidFill>
                <a:latin typeface="Calibri"/>
              </a:rPr>
              <a:t>~10% SAM capture · Target by 2029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7DBE"/>
                </a:solidFill>
                <a:latin typeface="Calibri"/>
              </a:rPr>
              <a:t/>
            </a:r>
            <a:r>
              <a:rPr sz="1200" b="1">
                <a:solidFill>
                  <a:srgbClr val="A07DBE"/>
                </a:solidFill>
                <a:latin typeface="Calibri"/>
              </a:rPr>
              <a:t>FY2026:</a:t>
            </a:r>
            <a:r>
              <a:rPr sz="1200" b="0">
                <a:solidFill>
                  <a:srgbClr val="A07DBE"/>
                </a:solidFill>
                <a:latin typeface="Calibri"/>
              </a:rPr>
              <a:t> $1.8B ARR · 75,000 customers · Launch enterprise API suite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7DBE"/>
                </a:solidFill>
                <a:latin typeface="Calibri"/>
              </a:rPr>
              <a:t/>
            </a:r>
            <a:r>
              <a:rPr sz="1200" b="1">
                <a:solidFill>
                  <a:srgbClr val="A07DBE"/>
                </a:solidFill>
                <a:latin typeface="Calibri"/>
              </a:rPr>
              <a:t>FY2027:</a:t>
            </a:r>
            <a:r>
              <a:rPr sz="1200" b="0">
                <a:solidFill>
                  <a:srgbClr val="A07DBE"/>
                </a:solidFill>
                <a:latin typeface="Calibri"/>
              </a:rPr>
              <a:t> $2.7B ARR · 120,000 customers · Expand to 3 new continents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7DBE"/>
                </a:solidFill>
                <a:latin typeface="Calibri"/>
              </a:rPr>
              <a:t/>
            </a:r>
            <a:r>
              <a:rPr sz="1200" b="1">
                <a:solidFill>
                  <a:srgbClr val="A07DBE"/>
                </a:solidFill>
                <a:latin typeface="Calibri"/>
              </a:rPr>
              <a:t>FY2028:</a:t>
            </a:r>
            <a:r>
              <a:rPr sz="1200" b="0">
                <a:solidFill>
                  <a:srgbClr val="A07DBE"/>
                </a:solidFill>
                <a:latin typeface="Calibri"/>
              </a:rPr>
              <a:t> $4.0B ARR · 180,000 customers · Achieve 30% market share in SAM</a:t>
            </a:r>
          </a:p>
        </p:txBody>
      </p:sp>
      <p:pic>
        <p:nvPicPr>
          <p:cNvPr id="32" name="Picture 31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00D4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7DBE"/>
                </a:solidFill>
                <a:latin typeface="Calibri"/>
              </a:rPr>
              <a:t>Fueling Our Next Phase of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C1EAE"/>
                </a:solidFill>
                <a:latin typeface="Calibri"/>
              </a:rPr>
              <a:t>$6M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Enhance AI/ML capabilities, expand filter options, and develop mobile applications.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Talent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44746"/>
                </a:solidFill>
                <a:latin typeface="Calibri"/>
              </a:rPr>
              <a:t>$5M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Grow our engineering, sales, and marketing teams to support rapid expansion.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83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Market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8327A"/>
                </a:solidFill>
                <a:latin typeface="Calibri"/>
              </a:rPr>
              <a:t>$3M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Invest in targeted marketing campaigns and strategic partnerships in key global markets.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90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Operational Scalability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56C2"/>
                </a:solidFill>
                <a:latin typeface="Calibri"/>
              </a:rPr>
              <a:t>$1M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7DBE"/>
                </a:solidFill>
                <a:latin typeface="Calibri"/>
              </a:rPr>
              <a:t>Strengthen infrastructure and ensure robust, scalable operations to support user growth.</a:t>
            </a:r>
          </a:p>
        </p:txBody>
      </p:sp>
      <p:pic>
        <p:nvPicPr>
          <p:cNvPr id="26" name="Picture 25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C1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44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07DBE"/>
                </a:solidFill>
                <a:latin typeface="Calibri"/>
              </a:rPr>
              <a:t>Qutar: Precision Search, Limitless Possibilities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300D4E"/>
                </a:solidFill>
                <a:latin typeface="Calibri"/>
              </a:rPr>
              <a:t>Join us in redefining how the world finds information. We are building the future of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00D4E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