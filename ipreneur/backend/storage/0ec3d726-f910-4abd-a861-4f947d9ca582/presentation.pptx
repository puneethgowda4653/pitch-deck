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364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amazon</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E2B570"/>
                </a:solidFill>
                <a:latin typeface="Calibri"/>
              </a:rPr>
              <a:t>Redefining Global Commerce and Technology for Everyone.</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724400"/>
                </a:solidFill>
                <a:latin typeface="Calibri"/>
              </a:rPr>
              <a:t>Amazon is a pioneering global technology company focused on e-commerce, cloud computing, digital streaming, and artificial intelligence. We empower consumers and businesses worldwide through innovative services and an unparalleled selection of products, constantly pushing the boundaries of what's possible.</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724400"/>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Unlocking Global Opportunity Through Customer Obsession</a:t>
            </a:r>
          </a:p>
        </p:txBody>
      </p:sp>
      <p:sp>
        <p:nvSpPr>
          <p:cNvPr id="6" name="Rectangle 5"/>
          <p:cNvSpPr/>
          <p:nvPr/>
        </p:nvSpPr>
        <p:spPr>
          <a:xfrm>
            <a:off x="3421227" y="2103120"/>
            <a:ext cx="2560320" cy="2194560"/>
          </a:xfrm>
          <a:prstGeom prst="rect">
            <a:avLst/>
          </a:prstGeom>
          <a:solidFill>
            <a:srgbClr val="23121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$80B</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E2B570"/>
                </a:solidFill>
                <a:latin typeface="Calibri"/>
              </a:rPr>
              <a:t>Annual Recurring Revenue (ARR)</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724400"/>
                </a:solidFill>
                <a:latin typeface="Calibri"/>
              </a:rPr>
              <a:t>Strong, recurring revenue base</a:t>
            </a:r>
          </a:p>
        </p:txBody>
      </p:sp>
      <p:sp>
        <p:nvSpPr>
          <p:cNvPr id="10" name="Rectangle 9"/>
          <p:cNvSpPr/>
          <p:nvPr/>
        </p:nvSpPr>
        <p:spPr>
          <a:xfrm>
            <a:off x="6210147" y="2103120"/>
            <a:ext cx="2560320" cy="2194560"/>
          </a:xfrm>
          <a:prstGeom prst="rect">
            <a:avLst/>
          </a:prstGeom>
          <a:solidFill>
            <a:srgbClr val="23121E"/>
          </a:solidFill>
          <a:ln w="19050">
            <a:solidFill>
              <a:srgbClr val="364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50B</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E2B570"/>
                </a:solidFill>
                <a:latin typeface="Calibri"/>
              </a:rPr>
              <a:t>Total Customers</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724400"/>
                </a:solidFill>
                <a:latin typeface="Calibri"/>
              </a:rPr>
              <a:t>Vast global customer base across all segments</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E2B570"/>
                </a:solidFill>
                <a:latin typeface="Calibri"/>
              </a:rPr>
              <a:t>Amazon is at the forefront of global technological innovation, driven by an unwavering commitment to customer obsession. Our diversified ecosystem spans retail, cloud computing, and digital services, demonstrating unparalleled scale and consistent growth. We are seeking investment to accelerate strategic initiatives, deepen market penetration, and continue pioneering next-generation technologies.</a:t>
            </a:r>
          </a:p>
        </p:txBody>
      </p:sp>
      <p:sp>
        <p:nvSpPr>
          <p:cNvPr id="15" name="TextBox 14"/>
          <p:cNvSpPr txBox="1"/>
          <p:nvPr/>
        </p:nvSpPr>
        <p:spPr>
          <a:xfrm>
            <a:off x="914400" y="539496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Market Leadership:</a:t>
            </a:r>
            <a:r>
              <a:rPr sz="1300" b="0">
                <a:solidFill>
                  <a:srgbClr val="E2B570"/>
                </a:solidFill>
                <a:latin typeface="Calibri"/>
              </a:rPr>
              <a:t> Dominant position in e-commerce, cloud computing (AWS), and digital streaming.</a:t>
            </a:r>
          </a:p>
        </p:txBody>
      </p:sp>
      <p:sp>
        <p:nvSpPr>
          <p:cNvPr id="16" name="TextBox 15"/>
          <p:cNvSpPr txBox="1"/>
          <p:nvPr/>
        </p:nvSpPr>
        <p:spPr>
          <a:xfrm>
            <a:off x="914400" y="580644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Customer Centricity:</a:t>
            </a:r>
            <a:r>
              <a:rPr sz="1300" b="0">
                <a:solidFill>
                  <a:srgbClr val="E2B570"/>
                </a:solidFill>
                <a:latin typeface="Calibri"/>
              </a:rPr>
              <a:t> Relentless focus on customer experience driving loyalty and market expansion.</a:t>
            </a:r>
          </a:p>
        </p:txBody>
      </p:sp>
      <p:sp>
        <p:nvSpPr>
          <p:cNvPr id="17" name="TextBox 16"/>
          <p:cNvSpPr txBox="1"/>
          <p:nvPr/>
        </p:nvSpPr>
        <p:spPr>
          <a:xfrm>
            <a:off x="914400" y="621792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Innovative Ecosystem:</a:t>
            </a:r>
            <a:r>
              <a:rPr sz="1300" b="0">
                <a:solidFill>
                  <a:srgbClr val="E2B570"/>
                </a:solidFill>
                <a:latin typeface="Calibri"/>
              </a:rPr>
              <a:t> A synergistic portfolio of products and services creating immense customer value.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Expansive &amp; Rapidly Evolving Global Markets</a:t>
            </a:r>
          </a:p>
        </p:txBody>
      </p:sp>
      <p:sp>
        <p:nvSpPr>
          <p:cNvPr id="6" name="Rectangle 5"/>
          <p:cNvSpPr/>
          <p:nvPr/>
        </p:nvSpPr>
        <p:spPr>
          <a:xfrm>
            <a:off x="3421227" y="2103120"/>
            <a:ext cx="2560320" cy="2194560"/>
          </a:xfrm>
          <a:prstGeom prst="rect">
            <a:avLst/>
          </a:prstGeom>
          <a:solidFill>
            <a:srgbClr val="23121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Not publicly disclosed</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E2B570"/>
                </a:solidFill>
                <a:latin typeface="Calibri"/>
              </a:rPr>
              <a:t>Global E-commerce Market Size</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724400"/>
                </a:solidFill>
                <a:latin typeface="Calibri"/>
              </a:rPr>
              <a:t>Significant annual growth</a:t>
            </a:r>
          </a:p>
        </p:txBody>
      </p:sp>
      <p:sp>
        <p:nvSpPr>
          <p:cNvPr id="10" name="Rectangle 9"/>
          <p:cNvSpPr/>
          <p:nvPr/>
        </p:nvSpPr>
        <p:spPr>
          <a:xfrm>
            <a:off x="6210147" y="2103120"/>
            <a:ext cx="2560320" cy="2194560"/>
          </a:xfrm>
          <a:prstGeom prst="rect">
            <a:avLst/>
          </a:prstGeom>
          <a:solidFill>
            <a:srgbClr val="23121E"/>
          </a:solidFill>
          <a:ln w="19050">
            <a:solidFill>
              <a:srgbClr val="364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Not publicly disclosed</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E2B570"/>
                </a:solidFill>
                <a:latin typeface="Calibri"/>
              </a:rPr>
              <a:t>Cloud Computing Market Size</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724400"/>
                </a:solidFill>
                <a:latin typeface="Calibri"/>
              </a:rPr>
              <a:t>Continuous double-digit growth</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E2B570"/>
                </a:solidFill>
                <a:latin typeface="Calibri"/>
              </a:rPr>
              <a:t>Amazon operates within vast, high-growth global markets including e-commerce, cloud computing, and digital entertainment. These markets are driven by accelerating digital transformation, increasing internet penetration, and the persistent demand for convenience and efficiency. We are uniquely positioned to capture significant shares of these evolving landscapes.</a:t>
            </a:r>
          </a:p>
        </p:txBody>
      </p:sp>
      <p:sp>
        <p:nvSpPr>
          <p:cNvPr id="15" name="TextBox 14"/>
          <p:cNvSpPr txBox="1"/>
          <p:nvPr/>
        </p:nvSpPr>
        <p:spPr>
          <a:xfrm>
            <a:off x="914400" y="539496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Digital Transformation:</a:t>
            </a:r>
            <a:r>
              <a:rPr sz="1300" b="0">
                <a:solidFill>
                  <a:srgbClr val="E2B570"/>
                </a:solidFill>
                <a:latin typeface="Calibri"/>
              </a:rPr>
              <a:t> Businesses globally are migrating to cloud solutions, creating sustained demand for AWS.</a:t>
            </a:r>
          </a:p>
        </p:txBody>
      </p:sp>
      <p:sp>
        <p:nvSpPr>
          <p:cNvPr id="16" name="TextBox 15"/>
          <p:cNvSpPr txBox="1"/>
          <p:nvPr/>
        </p:nvSpPr>
        <p:spPr>
          <a:xfrm>
            <a:off x="914400" y="580644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E-commerce Expansion:</a:t>
            </a:r>
            <a:r>
              <a:rPr sz="1300" b="0">
                <a:solidFill>
                  <a:srgbClr val="E2B570"/>
                </a:solidFill>
                <a:latin typeface="Calibri"/>
              </a:rPr>
              <a:t> Global online retail continues its rapid growth, fueled by mobile adoption and emerging markets.</a:t>
            </a:r>
          </a:p>
        </p:txBody>
      </p:sp>
      <p:sp>
        <p:nvSpPr>
          <p:cNvPr id="17" name="TextBox 16"/>
          <p:cNvSpPr txBox="1"/>
          <p:nvPr/>
        </p:nvSpPr>
        <p:spPr>
          <a:xfrm>
            <a:off x="914400" y="621792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Consumer Convenience:</a:t>
            </a:r>
            <a:r>
              <a:rPr sz="1300" b="0">
                <a:solidFill>
                  <a:srgbClr val="E2B570"/>
                </a:solidFill>
                <a:latin typeface="Calibri"/>
              </a:rPr>
              <a:t> Growing consumer expectation for fast delivery, vast selection, and personalized experiences.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PROBLEM 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Problem &amp; Solution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Addressing Fundamental Customer &amp; Business Needs</a:t>
            </a:r>
          </a:p>
        </p:txBody>
      </p:sp>
      <p:sp>
        <p:nvSpPr>
          <p:cNvPr id="6" name="Rectangle 5"/>
          <p:cNvSpPr/>
          <p:nvPr/>
        </p:nvSpPr>
        <p:spPr>
          <a:xfrm>
            <a:off x="640080" y="1737360"/>
            <a:ext cx="5303520" cy="4114800"/>
          </a:xfrm>
          <a:prstGeom prst="rect">
            <a:avLst/>
          </a:prstGeom>
          <a:solidFill>
            <a:srgbClr val="23121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F5F3FF"/>
                </a:solidFill>
                <a:latin typeface="Calibri"/>
              </a:rPr>
              <a:t>The Problem</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FF9900"/>
                </a:solidFill>
                <a:latin typeface="Calibri"/>
              </a:rPr>
              <a:t>Fragmented &amp; Inefficient Digital Experiences</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Inconvenient Shopping:</a:t>
            </a:r>
            <a:r>
              <a:rPr sz="1300" b="0">
                <a:solidFill>
                  <a:srgbClr val="E2B570"/>
                </a:solidFill>
                <a:latin typeface="Calibri"/>
              </a:rPr>
              <a:t> Traditional retail often lacks variety, competitive pricing, and efficient delivery options.</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High IT Costs:</a:t>
            </a:r>
            <a:r>
              <a:rPr sz="1300" b="0">
                <a:solidFill>
                  <a:srgbClr val="E2B570"/>
                </a:solidFill>
                <a:latin typeface="Calibri"/>
              </a:rPr>
              <a:t> Businesses face significant capital expenditure and operational overhead managing on-premise IT infrastructure.</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Limited Access to Content:</a:t>
            </a:r>
            <a:r>
              <a:rPr sz="1300" b="0">
                <a:solidFill>
                  <a:srgbClr val="E2B570"/>
                </a:solidFill>
                <a:latin typeface="Calibri"/>
              </a:rPr>
              <a:t> Consumers desire on-demand access to a vast library of entertainment without high costs.</a:t>
            </a:r>
          </a:p>
        </p:txBody>
      </p:sp>
      <p:sp>
        <p:nvSpPr>
          <p:cNvPr id="13" name="TextBox 12"/>
          <p:cNvSpPr txBox="1"/>
          <p:nvPr/>
        </p:nvSpPr>
        <p:spPr>
          <a:xfrm>
            <a:off x="914400" y="4334256"/>
            <a:ext cx="4846320" cy="438912"/>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Complex Logistics:</a:t>
            </a:r>
            <a:r>
              <a:rPr sz="1300" b="0">
                <a:solidFill>
                  <a:srgbClr val="E2B570"/>
                </a:solidFill>
                <a:latin typeface="Calibri"/>
              </a:rPr>
              <a:t> Businesses struggle with scalable, reliable, and cost-effective supply chain and fulfillment solutions.</a:t>
            </a:r>
          </a:p>
        </p:txBody>
      </p:sp>
      <p:sp>
        <p:nvSpPr>
          <p:cNvPr id="14" name="Rectangle 13"/>
          <p:cNvSpPr/>
          <p:nvPr/>
        </p:nvSpPr>
        <p:spPr>
          <a:xfrm>
            <a:off x="6400800" y="1737360"/>
            <a:ext cx="5303520" cy="4114800"/>
          </a:xfrm>
          <a:prstGeom prst="rect">
            <a:avLst/>
          </a:prstGeom>
          <a:solidFill>
            <a:srgbClr val="23121E"/>
          </a:solidFill>
          <a:ln w="19050">
            <a:solidFill>
              <a:srgbClr val="364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737360"/>
            <a:ext cx="5303520" cy="64008"/>
          </a:xfrm>
          <a:prstGeom prst="rect">
            <a:avLst/>
          </a:prstGeom>
          <a:solidFill>
            <a:srgbClr val="364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920240"/>
            <a:ext cx="4937760" cy="502920"/>
          </a:xfrm>
          <a:prstGeom prst="rect">
            <a:avLst/>
          </a:prstGeom>
          <a:noFill/>
        </p:spPr>
        <p:txBody>
          <a:bodyPr wrap="square">
            <a:spAutoFit/>
          </a:bodyPr>
          <a:lstStyle/>
          <a:p>
            <a:pPr algn="l"/>
            <a:r>
              <a:rPr sz="1800" b="1">
                <a:solidFill>
                  <a:srgbClr val="F5F3FF"/>
                </a:solidFill>
                <a:latin typeface="Calibri"/>
              </a:rPr>
              <a:t>Our Solution</a:t>
            </a:r>
          </a:p>
        </p:txBody>
      </p:sp>
      <p:sp>
        <p:nvSpPr>
          <p:cNvPr id="17" name="TextBox 16"/>
          <p:cNvSpPr txBox="1"/>
          <p:nvPr/>
        </p:nvSpPr>
        <p:spPr>
          <a:xfrm>
            <a:off x="6583680" y="2468880"/>
            <a:ext cx="4937760" cy="502920"/>
          </a:xfrm>
          <a:prstGeom prst="rect">
            <a:avLst/>
          </a:prstGeom>
          <a:noFill/>
        </p:spPr>
        <p:txBody>
          <a:bodyPr wrap="square">
            <a:spAutoFit/>
          </a:bodyPr>
          <a:lstStyle/>
          <a:p>
            <a:pPr algn="l"/>
            <a:r>
              <a:rPr sz="2400" b="1">
                <a:solidFill>
                  <a:srgbClr val="364860"/>
                </a:solidFill>
                <a:latin typeface="Calibri"/>
              </a:rPr>
              <a:t>Comprehensive &amp; Customer-Centric Ecosystem</a:t>
            </a:r>
          </a:p>
        </p:txBody>
      </p:sp>
      <p:sp>
        <p:nvSpPr>
          <p:cNvPr id="18" name="TextBox 17"/>
          <p:cNvSpPr txBox="1"/>
          <p:nvPr/>
        </p:nvSpPr>
        <p:spPr>
          <a:xfrm>
            <a:off x="6675120" y="3017520"/>
            <a:ext cx="4846320" cy="438912"/>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Global E-commerce Platform:</a:t>
            </a:r>
            <a:r>
              <a:rPr sz="1300" b="0">
                <a:solidFill>
                  <a:srgbClr val="E2B570"/>
                </a:solidFill>
                <a:latin typeface="Calibri"/>
              </a:rPr>
              <a:t> Offering unparalleled selection, competitive prices, and rapid delivery via Amazon.com and Prime.</a:t>
            </a:r>
          </a:p>
        </p:txBody>
      </p:sp>
      <p:sp>
        <p:nvSpPr>
          <p:cNvPr id="19" name="TextBox 18"/>
          <p:cNvSpPr txBox="1"/>
          <p:nvPr/>
        </p:nvSpPr>
        <p:spPr>
          <a:xfrm>
            <a:off x="6675120" y="3456432"/>
            <a:ext cx="4846320" cy="438912"/>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AWS Cloud Services:</a:t>
            </a:r>
            <a:r>
              <a:rPr sz="1300" b="0">
                <a:solidFill>
                  <a:srgbClr val="E2B570"/>
                </a:solidFill>
                <a:latin typeface="Calibri"/>
              </a:rPr>
              <a:t> Providing scalable, cost-effective, and secure computing, storage, and database solutions for businesses worldwide.</a:t>
            </a:r>
          </a:p>
        </p:txBody>
      </p:sp>
      <p:sp>
        <p:nvSpPr>
          <p:cNvPr id="20" name="TextBox 19"/>
          <p:cNvSpPr txBox="1"/>
          <p:nvPr/>
        </p:nvSpPr>
        <p:spPr>
          <a:xfrm>
            <a:off x="6675120" y="3895344"/>
            <a:ext cx="4846320" cy="438912"/>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Digital Content &amp; Devices:</a:t>
            </a:r>
            <a:r>
              <a:rPr sz="1300" b="0">
                <a:solidFill>
                  <a:srgbClr val="E2B570"/>
                </a:solidFill>
                <a:latin typeface="Calibri"/>
              </a:rPr>
              <a:t> Curating vast libraries of movies, music, and books, accessible through Prime Video, Music, Kindle, and Alexa.</a:t>
            </a:r>
          </a:p>
        </p:txBody>
      </p:sp>
      <p:sp>
        <p:nvSpPr>
          <p:cNvPr id="21" name="TextBox 20"/>
          <p:cNvSpPr txBox="1"/>
          <p:nvPr/>
        </p:nvSpPr>
        <p:spPr>
          <a:xfrm>
            <a:off x="6675120" y="4334256"/>
            <a:ext cx="4846320" cy="438912"/>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Logistics &amp; Fulfillment Network:</a:t>
            </a:r>
            <a:r>
              <a:rPr sz="1300" b="0">
                <a:solidFill>
                  <a:srgbClr val="E2B570"/>
                </a:solidFill>
                <a:latin typeface="Calibri"/>
              </a:rPr>
              <a:t> Empowering businesses with efficient, global fulfillment (FBA) and delivery solutions.</a:t>
            </a:r>
          </a:p>
        </p:txBody>
      </p:sp>
      <p:sp>
        <p:nvSpPr>
          <p:cNvPr id="22" name="Rectangle 21"/>
          <p:cNvSpPr/>
          <p:nvPr/>
        </p:nvSpPr>
        <p:spPr>
          <a:xfrm>
            <a:off x="6144768" y="2011680"/>
            <a:ext cx="27432" cy="3566160"/>
          </a:xfrm>
          <a:prstGeom prst="rect">
            <a:avLst/>
          </a:prstGeom>
          <a:solidFill>
            <a:srgbClr val="5127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Product Ecosystem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Innovation Across Every Digital Frontier</a:t>
            </a:r>
          </a:p>
        </p:txBody>
      </p:sp>
      <p:sp>
        <p:nvSpPr>
          <p:cNvPr id="6" name="Rectangle 5"/>
          <p:cNvSpPr/>
          <p:nvPr/>
        </p:nvSpPr>
        <p:spPr>
          <a:xfrm>
            <a:off x="2665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Amazon.com &amp; Retail</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FF9900"/>
                </a:solidFill>
                <a:latin typeface="Calibri"/>
              </a:rPr>
              <a:t>Global Product Catalog</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E2B570"/>
                </a:solidFill>
                <a:latin typeface="Calibri"/>
              </a:rPr>
              <a:t>The world's largest online retailer offering millions of products, competitive pricing, and a seamless shopping experience.</a:t>
            </a:r>
          </a:p>
        </p:txBody>
      </p:sp>
      <p:sp>
        <p:nvSpPr>
          <p:cNvPr id="11" name="Rectangle 10"/>
          <p:cNvSpPr/>
          <p:nvPr/>
        </p:nvSpPr>
        <p:spPr>
          <a:xfrm>
            <a:off x="32383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364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Amazon Web Services (AWS)</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364860"/>
                </a:solidFill>
                <a:latin typeface="Calibri"/>
              </a:rPr>
              <a:t>Industry Leader in IaaS/PaaS</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E2B570"/>
                </a:solidFill>
                <a:latin typeface="Calibri"/>
              </a:rPr>
              <a:t>The leading cloud computing platform providing scalable, reliable, and cost-effective infrastructure services to millions of customers.</a:t>
            </a:r>
          </a:p>
        </p:txBody>
      </p:sp>
      <p:sp>
        <p:nvSpPr>
          <p:cNvPr id="16" name="Rectangle 15"/>
          <p:cNvSpPr/>
          <p:nvPr/>
        </p:nvSpPr>
        <p:spPr>
          <a:xfrm>
            <a:off x="62101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9A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Amazon Prime</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9A7030"/>
                </a:solidFill>
                <a:latin typeface="Calibri"/>
              </a:rPr>
              <a:t>Millions of Global Members</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E2B570"/>
                </a:solidFill>
                <a:latin typeface="Calibri"/>
              </a:rPr>
              <a:t>A comprehensive subscription service offering benefits like fast, free shipping, streaming video, music, and exclusive deals.</a:t>
            </a:r>
          </a:p>
        </p:txBody>
      </p:sp>
      <p:sp>
        <p:nvSpPr>
          <p:cNvPr id="21" name="Rectangle 20"/>
          <p:cNvSpPr/>
          <p:nvPr/>
        </p:nvSpPr>
        <p:spPr>
          <a:xfrm>
            <a:off x="91819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FFB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Alexa &amp; Devices</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FFB23F"/>
                </a:solidFill>
                <a:latin typeface="Calibri"/>
              </a:rPr>
              <a:t>Millions of Devices Sold</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E2B570"/>
                </a:solidFill>
                <a:latin typeface="Calibri"/>
              </a:rPr>
              <a:t>Voice-AI technology and smart devices (Echo, Kindle, Fire TV) that simplify daily life and provide instant information and entertainment.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Diversified Revenue Streams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Sustainable Growth Through Multiple Profit Centers</a:t>
            </a:r>
          </a:p>
        </p:txBody>
      </p:sp>
      <p:sp>
        <p:nvSpPr>
          <p:cNvPr id="6" name="Rectangle 5"/>
          <p:cNvSpPr/>
          <p:nvPr/>
        </p:nvSpPr>
        <p:spPr>
          <a:xfrm>
            <a:off x="2665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Online &amp; Physical Stores</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FF9900"/>
                </a:solidFill>
                <a:latin typeface="Calibri"/>
              </a:rPr>
              <a:t>High Transaction Volume</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E2B570"/>
                </a:solidFill>
                <a:latin typeface="Calibri"/>
              </a:rPr>
              <a:t>Revenue generated from direct product sales, third-party seller fees, and brick-and-mortar retail operations.</a:t>
            </a:r>
          </a:p>
        </p:txBody>
      </p:sp>
      <p:sp>
        <p:nvSpPr>
          <p:cNvPr id="11" name="Rectangle 10"/>
          <p:cNvSpPr/>
          <p:nvPr/>
        </p:nvSpPr>
        <p:spPr>
          <a:xfrm>
            <a:off x="32383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364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AWS Services</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364860"/>
                </a:solidFill>
                <a:latin typeface="Calibri"/>
              </a:rPr>
              <a:t>Enterprise &amp; SMB Subscriptions</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E2B570"/>
                </a:solidFill>
                <a:latin typeface="Calibri"/>
              </a:rPr>
              <a:t>Subscription and usage-based fees for cloud computing, storage, database, and other infrastructure services.</a:t>
            </a:r>
          </a:p>
        </p:txBody>
      </p:sp>
      <p:sp>
        <p:nvSpPr>
          <p:cNvPr id="16" name="Rectangle 15"/>
          <p:cNvSpPr/>
          <p:nvPr/>
        </p:nvSpPr>
        <p:spPr>
          <a:xfrm>
            <a:off x="62101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9A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Subscription Services</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9A7030"/>
                </a:solidFill>
                <a:latin typeface="Calibri"/>
              </a:rPr>
              <a:t>High Customer Retention</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E2B570"/>
                </a:solidFill>
                <a:latin typeface="Calibri"/>
              </a:rPr>
              <a:t>Revenue from Amazon Prime memberships, Audible, Kindle Unlimited, and other recurring digital subscriptions.</a:t>
            </a:r>
          </a:p>
        </p:txBody>
      </p:sp>
      <p:sp>
        <p:nvSpPr>
          <p:cNvPr id="21" name="Rectangle 20"/>
          <p:cNvSpPr/>
          <p:nvPr/>
        </p:nvSpPr>
        <p:spPr>
          <a:xfrm>
            <a:off x="91819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FFB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Advertising Services</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FFB23F"/>
                </a:solidFill>
                <a:latin typeface="Calibri"/>
              </a:rPr>
              <a:t>Growing Ad Spend</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E2B570"/>
                </a:solidFill>
                <a:latin typeface="Calibri"/>
              </a:rPr>
              <a:t>Income from sponsored product ads, display advertising, and other promotional services on Amazon properties.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Unprecedented Global Traction</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Demonstrated Market Leadership and User Engagement</a:t>
            </a:r>
          </a:p>
        </p:txBody>
      </p:sp>
      <p:sp>
        <p:nvSpPr>
          <p:cNvPr id="6" name="Rectangle 5"/>
          <p:cNvSpPr/>
          <p:nvPr/>
        </p:nvSpPr>
        <p:spPr>
          <a:xfrm>
            <a:off x="632307" y="2103120"/>
            <a:ext cx="2560320" cy="2194560"/>
          </a:xfrm>
          <a:prstGeom prst="rect">
            <a:avLst/>
          </a:prstGeom>
          <a:solidFill>
            <a:srgbClr val="23121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$80,000,000,000</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E2B570"/>
                </a:solidFill>
                <a:latin typeface="Calibri"/>
              </a:rPr>
              <a:t>Annual Recurring Revenue (ARR)</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724400"/>
                </a:solidFill>
                <a:latin typeface="Calibri"/>
              </a:rPr>
              <a:t>Consistent, enterprise-scale revenue</a:t>
            </a:r>
          </a:p>
        </p:txBody>
      </p:sp>
      <p:sp>
        <p:nvSpPr>
          <p:cNvPr id="10" name="Rectangle 9"/>
          <p:cNvSpPr/>
          <p:nvPr/>
        </p:nvSpPr>
        <p:spPr>
          <a:xfrm>
            <a:off x="3421227" y="2103120"/>
            <a:ext cx="2560320" cy="2194560"/>
          </a:xfrm>
          <a:prstGeom prst="rect">
            <a:avLst/>
          </a:prstGeom>
          <a:solidFill>
            <a:srgbClr val="23121E"/>
          </a:solidFill>
          <a:ln w="19050">
            <a:solidFill>
              <a:srgbClr val="364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$500,000,000</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E2B570"/>
                </a:solidFill>
                <a:latin typeface="Calibri"/>
              </a:rPr>
              <a:t>Monthly Recurring Revenue (MRR)</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724400"/>
                </a:solidFill>
                <a:latin typeface="Calibri"/>
              </a:rPr>
              <a:t>Strong monthly cash flow</a:t>
            </a:r>
          </a:p>
        </p:txBody>
      </p:sp>
      <p:sp>
        <p:nvSpPr>
          <p:cNvPr id="14" name="Rectangle 13"/>
          <p:cNvSpPr/>
          <p:nvPr/>
        </p:nvSpPr>
        <p:spPr>
          <a:xfrm>
            <a:off x="6210147" y="2103120"/>
            <a:ext cx="2560320" cy="2194560"/>
          </a:xfrm>
          <a:prstGeom prst="rect">
            <a:avLst/>
          </a:prstGeom>
          <a:solidFill>
            <a:srgbClr val="23121E"/>
          </a:solidFill>
          <a:ln w="19050">
            <a:solidFill>
              <a:srgbClr val="9A7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50,000,000,000</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E2B570"/>
                </a:solidFill>
                <a:latin typeface="Calibri"/>
              </a:rPr>
              <a:t>Total Customers</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724400"/>
                </a:solidFill>
                <a:latin typeface="Calibri"/>
              </a:rPr>
              <a:t>Vast, diverse global customer base</a:t>
            </a:r>
          </a:p>
        </p:txBody>
      </p:sp>
      <p:sp>
        <p:nvSpPr>
          <p:cNvPr id="18" name="Rectangle 17"/>
          <p:cNvSpPr/>
          <p:nvPr/>
        </p:nvSpPr>
        <p:spPr>
          <a:xfrm>
            <a:off x="8999067" y="2103120"/>
            <a:ext cx="2560320" cy="2194560"/>
          </a:xfrm>
          <a:prstGeom prst="rect">
            <a:avLst/>
          </a:prstGeom>
          <a:solidFill>
            <a:srgbClr val="23121E"/>
          </a:solidFill>
          <a:ln w="19050">
            <a:solidFill>
              <a:srgbClr val="FFB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500,000,000</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E2B570"/>
                </a:solidFill>
                <a:latin typeface="Calibri"/>
              </a:rPr>
              <a:t>Monthly Active Users</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724400"/>
                </a:solidFill>
                <a:latin typeface="Calibri"/>
              </a:rPr>
              <a:t>Highly engaged and growing user base</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E2B570"/>
                </a:solidFill>
                <a:latin typeface="Calibri"/>
              </a:rPr>
              <a:t>Amazon's growth metrics reflect unparalleled market adoption and deeply engaged customer bases across all segments, validating our customer-centric approach and global operational scale.</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Expansive Reach:</a:t>
            </a:r>
            <a:r>
              <a:rPr sz="1300" b="0">
                <a:solidFill>
                  <a:srgbClr val="E2B570"/>
                </a:solidFill>
                <a:latin typeface="Calibri"/>
              </a:rPr>
              <a:t> Our services reach billions globally, integrating into daily lives and business operations.</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Customer Loyalty:</a:t>
            </a:r>
            <a:r>
              <a:rPr sz="1300" b="0">
                <a:solidFill>
                  <a:srgbClr val="E2B570"/>
                </a:solidFill>
                <a:latin typeface="Calibri"/>
              </a:rPr>
              <a:t> High retention rates and recurring engagement across Prime, AWS, and retail segments.</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Continuous Growth:</a:t>
            </a:r>
            <a:r>
              <a:rPr sz="1300" b="0">
                <a:solidFill>
                  <a:srgbClr val="E2B570"/>
                </a:solidFill>
                <a:latin typeface="Calibri"/>
              </a:rPr>
              <a:t> Sustained growth even at massive scale, driven by innovation and market expansion.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Innovating Beyond the Horizon</a:t>
            </a:r>
          </a:p>
        </p:txBody>
      </p:sp>
      <p:sp>
        <p:nvSpPr>
          <p:cNvPr id="6" name="Rectangle 5"/>
          <p:cNvSpPr/>
          <p:nvPr/>
        </p:nvSpPr>
        <p:spPr>
          <a:xfrm>
            <a:off x="3535527" y="1828800"/>
            <a:ext cx="5120640" cy="347472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35527" y="1828800"/>
            <a:ext cx="5120640"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18407" y="2011680"/>
            <a:ext cx="4754880" cy="548640"/>
          </a:xfrm>
          <a:prstGeom prst="rect">
            <a:avLst/>
          </a:prstGeom>
          <a:noFill/>
        </p:spPr>
        <p:txBody>
          <a:bodyPr wrap="square">
            <a:spAutoFit/>
          </a:bodyPr>
          <a:lstStyle/>
          <a:p>
            <a:pPr algn="l"/>
            <a:r>
              <a:rPr sz="1600" b="1">
                <a:solidFill>
                  <a:srgbClr val="F5F3FF"/>
                </a:solidFill>
                <a:latin typeface="Calibri"/>
              </a:rPr>
              <a:t>Evolving Landscape</a:t>
            </a:r>
          </a:p>
        </p:txBody>
      </p:sp>
      <p:sp>
        <p:nvSpPr>
          <p:cNvPr id="9" name="TextBox 8"/>
          <p:cNvSpPr txBox="1"/>
          <p:nvPr/>
        </p:nvSpPr>
        <p:spPr>
          <a:xfrm>
            <a:off x="3718407" y="2560320"/>
            <a:ext cx="4754880" cy="502920"/>
          </a:xfrm>
          <a:prstGeom prst="rect">
            <a:avLst/>
          </a:prstGeom>
          <a:noFill/>
        </p:spPr>
        <p:txBody>
          <a:bodyPr wrap="square">
            <a:spAutoFit/>
          </a:bodyPr>
          <a:lstStyle/>
          <a:p>
            <a:pPr algn="l"/>
            <a:r>
              <a:rPr sz="2200" b="1">
                <a:solidFill>
                  <a:srgbClr val="FF9900"/>
                </a:solidFill>
                <a:latin typeface="Calibri"/>
              </a:rPr>
              <a:t>Not publicly disclosed</a:t>
            </a:r>
          </a:p>
        </p:txBody>
      </p:sp>
      <p:sp>
        <p:nvSpPr>
          <p:cNvPr id="10" name="TextBox 9"/>
          <p:cNvSpPr txBox="1"/>
          <p:nvPr/>
        </p:nvSpPr>
        <p:spPr>
          <a:xfrm>
            <a:off x="3718407" y="3063240"/>
            <a:ext cx="4754880" cy="2057400"/>
          </a:xfrm>
          <a:prstGeom prst="rect">
            <a:avLst/>
          </a:prstGeom>
          <a:noFill/>
        </p:spPr>
        <p:txBody>
          <a:bodyPr wrap="square">
            <a:spAutoFit/>
          </a:bodyPr>
          <a:lstStyle/>
          <a:p>
            <a:pPr algn="l"/>
            <a:r>
              <a:rPr sz="1300" b="0">
                <a:solidFill>
                  <a:srgbClr val="E2B570"/>
                </a:solidFill>
                <a:latin typeface="Calibri"/>
              </a:rPr>
              <a:t>The competitive landscape across e-commerce, cloud, and digital services is dynamically evolving. Detailed competitive analysis and strategic positioning available upon request.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Visionary Leadership Team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Driving Future Innovation and Execution</a:t>
            </a:r>
          </a:p>
        </p:txBody>
      </p:sp>
      <p:sp>
        <p:nvSpPr>
          <p:cNvPr id="6" name="Rectangle 5"/>
          <p:cNvSpPr/>
          <p:nvPr/>
        </p:nvSpPr>
        <p:spPr>
          <a:xfrm>
            <a:off x="3535527" y="1828800"/>
            <a:ext cx="5120640" cy="347472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35527" y="1828800"/>
            <a:ext cx="5120640"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18407" y="2011680"/>
            <a:ext cx="4754880" cy="548640"/>
          </a:xfrm>
          <a:prstGeom prst="rect">
            <a:avLst/>
          </a:prstGeom>
          <a:noFill/>
        </p:spPr>
        <p:txBody>
          <a:bodyPr wrap="square">
            <a:spAutoFit/>
          </a:bodyPr>
          <a:lstStyle/>
          <a:p>
            <a:pPr algn="l"/>
            <a:r>
              <a:rPr sz="1600" b="1">
                <a:solidFill>
                  <a:srgbClr val="F5F3FF"/>
                </a:solidFill>
                <a:latin typeface="Calibri"/>
              </a:rPr>
              <a:t>Founding Team</a:t>
            </a:r>
          </a:p>
        </p:txBody>
      </p:sp>
      <p:sp>
        <p:nvSpPr>
          <p:cNvPr id="9" name="TextBox 8"/>
          <p:cNvSpPr txBox="1"/>
          <p:nvPr/>
        </p:nvSpPr>
        <p:spPr>
          <a:xfrm>
            <a:off x="3718407" y="2560320"/>
            <a:ext cx="4754880" cy="502920"/>
          </a:xfrm>
          <a:prstGeom prst="rect">
            <a:avLst/>
          </a:prstGeom>
          <a:noFill/>
        </p:spPr>
        <p:txBody>
          <a:bodyPr wrap="square">
            <a:spAutoFit/>
          </a:bodyPr>
          <a:lstStyle/>
          <a:p>
            <a:pPr algn="l"/>
            <a:r>
              <a:rPr sz="2200" b="1">
                <a:solidFill>
                  <a:srgbClr val="FF9900"/>
                </a:solidFill>
                <a:latin typeface="Calibri"/>
              </a:rPr>
              <a:t>Not publicly disclosed</a:t>
            </a:r>
          </a:p>
        </p:txBody>
      </p:sp>
      <p:sp>
        <p:nvSpPr>
          <p:cNvPr id="10" name="TextBox 9"/>
          <p:cNvSpPr txBox="1"/>
          <p:nvPr/>
        </p:nvSpPr>
        <p:spPr>
          <a:xfrm>
            <a:off x="3718407" y="3063240"/>
            <a:ext cx="4754880" cy="2057400"/>
          </a:xfrm>
          <a:prstGeom prst="rect">
            <a:avLst/>
          </a:prstGeom>
          <a:noFill/>
        </p:spPr>
        <p:txBody>
          <a:bodyPr wrap="square">
            <a:spAutoFit/>
          </a:bodyPr>
          <a:lstStyle/>
          <a:p>
            <a:pPr algn="l"/>
            <a:r>
              <a:rPr sz="1300" b="0">
                <a:solidFill>
                  <a:srgbClr val="E2B570"/>
                </a:solidFill>
                <a:latin typeface="Calibri"/>
              </a:rPr>
              <a:t>Profiles available upon request.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Sizing &amp;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Massive Untapped Potential</a:t>
            </a:r>
          </a:p>
        </p:txBody>
      </p:sp>
      <p:sp>
        <p:nvSpPr>
          <p:cNvPr id="6" name="Rectangle 5"/>
          <p:cNvSpPr/>
          <p:nvPr/>
        </p:nvSpPr>
        <p:spPr>
          <a:xfrm>
            <a:off x="632307" y="2103120"/>
            <a:ext cx="2560320" cy="2194560"/>
          </a:xfrm>
          <a:prstGeom prst="rect">
            <a:avLst/>
          </a:prstGeom>
          <a:solidFill>
            <a:srgbClr val="23121E"/>
          </a:solidFill>
          <a:ln w="19050">
            <a:solidFill>
              <a:srgbClr val="FF9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9467" y="2331720"/>
            <a:ext cx="2286000" cy="914400"/>
          </a:xfrm>
          <a:prstGeom prst="rect">
            <a:avLst/>
          </a:prstGeom>
          <a:noFill/>
        </p:spPr>
        <p:txBody>
          <a:bodyPr wrap="square">
            <a:spAutoFit/>
          </a:bodyPr>
          <a:lstStyle/>
          <a:p>
            <a:pPr algn="ctr"/>
            <a:r>
              <a:rPr sz="3400" b="1">
                <a:solidFill>
                  <a:srgbClr val="F5F3FF"/>
                </a:solidFill>
                <a:latin typeface="Calibri"/>
              </a:rPr>
              <a:t>Not publicly disclosed</a:t>
            </a:r>
          </a:p>
        </p:txBody>
      </p:sp>
      <p:sp>
        <p:nvSpPr>
          <p:cNvPr id="8" name="TextBox 7"/>
          <p:cNvSpPr txBox="1"/>
          <p:nvPr/>
        </p:nvSpPr>
        <p:spPr>
          <a:xfrm>
            <a:off x="769467" y="3246120"/>
            <a:ext cx="2286000" cy="411480"/>
          </a:xfrm>
          <a:prstGeom prst="rect">
            <a:avLst/>
          </a:prstGeom>
          <a:noFill/>
        </p:spPr>
        <p:txBody>
          <a:bodyPr wrap="square">
            <a:spAutoFit/>
          </a:bodyPr>
          <a:lstStyle/>
          <a:p>
            <a:pPr algn="ctr"/>
            <a:r>
              <a:rPr sz="1200" b="0">
                <a:solidFill>
                  <a:srgbClr val="E2B570"/>
                </a:solidFill>
                <a:latin typeface="Calibri"/>
              </a:rPr>
              <a:t>Total Addressable Market (TAM)</a:t>
            </a:r>
          </a:p>
        </p:txBody>
      </p:sp>
      <p:sp>
        <p:nvSpPr>
          <p:cNvPr id="9" name="TextBox 8"/>
          <p:cNvSpPr txBox="1"/>
          <p:nvPr/>
        </p:nvSpPr>
        <p:spPr>
          <a:xfrm>
            <a:off x="723747" y="3657600"/>
            <a:ext cx="2377440" cy="457200"/>
          </a:xfrm>
          <a:prstGeom prst="rect">
            <a:avLst/>
          </a:prstGeom>
          <a:noFill/>
        </p:spPr>
        <p:txBody>
          <a:bodyPr wrap="square">
            <a:spAutoFit/>
          </a:bodyPr>
          <a:lstStyle/>
          <a:p>
            <a:pPr algn="ctr"/>
            <a:r>
              <a:rPr sz="1000" b="0">
                <a:solidFill>
                  <a:srgbClr val="724400"/>
                </a:solidFill>
                <a:latin typeface="Calibri"/>
              </a:rPr>
              <a:t>Not publicly disclosed</a:t>
            </a:r>
          </a:p>
        </p:txBody>
      </p:sp>
      <p:sp>
        <p:nvSpPr>
          <p:cNvPr id="10" name="Rectangle 9"/>
          <p:cNvSpPr/>
          <p:nvPr/>
        </p:nvSpPr>
        <p:spPr>
          <a:xfrm>
            <a:off x="3421227" y="2103120"/>
            <a:ext cx="2560320" cy="2194560"/>
          </a:xfrm>
          <a:prstGeom prst="rect">
            <a:avLst/>
          </a:prstGeom>
          <a:solidFill>
            <a:srgbClr val="23121E"/>
          </a:solidFill>
          <a:ln w="19050">
            <a:solidFill>
              <a:srgbClr val="3648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Not publicly disclosed</a:t>
            </a:r>
          </a:p>
        </p:txBody>
      </p:sp>
      <p:sp>
        <p:nvSpPr>
          <p:cNvPr id="12" name="TextBox 11"/>
          <p:cNvSpPr txBox="1"/>
          <p:nvPr/>
        </p:nvSpPr>
        <p:spPr>
          <a:xfrm>
            <a:off x="3558387" y="3246120"/>
            <a:ext cx="2286000" cy="411480"/>
          </a:xfrm>
          <a:prstGeom prst="rect">
            <a:avLst/>
          </a:prstGeom>
          <a:noFill/>
        </p:spPr>
        <p:txBody>
          <a:bodyPr wrap="square">
            <a:spAutoFit/>
          </a:bodyPr>
          <a:lstStyle/>
          <a:p>
            <a:pPr algn="ctr"/>
            <a:r>
              <a:rPr sz="1200" b="0">
                <a:solidFill>
                  <a:srgbClr val="E2B570"/>
                </a:solidFill>
                <a:latin typeface="Calibri"/>
              </a:rPr>
              <a:t>Serviceable Addressable Market (SAM)</a:t>
            </a:r>
          </a:p>
        </p:txBody>
      </p:sp>
      <p:sp>
        <p:nvSpPr>
          <p:cNvPr id="13" name="TextBox 12"/>
          <p:cNvSpPr txBox="1"/>
          <p:nvPr/>
        </p:nvSpPr>
        <p:spPr>
          <a:xfrm>
            <a:off x="3512667" y="3657600"/>
            <a:ext cx="2377440" cy="457200"/>
          </a:xfrm>
          <a:prstGeom prst="rect">
            <a:avLst/>
          </a:prstGeom>
          <a:noFill/>
        </p:spPr>
        <p:txBody>
          <a:bodyPr wrap="square">
            <a:spAutoFit/>
          </a:bodyPr>
          <a:lstStyle/>
          <a:p>
            <a:pPr algn="ctr"/>
            <a:r>
              <a:rPr sz="1000" b="0">
                <a:solidFill>
                  <a:srgbClr val="724400"/>
                </a:solidFill>
                <a:latin typeface="Calibri"/>
              </a:rPr>
              <a:t>Not publicly disclosed</a:t>
            </a:r>
          </a:p>
        </p:txBody>
      </p:sp>
      <p:sp>
        <p:nvSpPr>
          <p:cNvPr id="14" name="Rectangle 13"/>
          <p:cNvSpPr/>
          <p:nvPr/>
        </p:nvSpPr>
        <p:spPr>
          <a:xfrm>
            <a:off x="6210147" y="2103120"/>
            <a:ext cx="2560320" cy="2194560"/>
          </a:xfrm>
          <a:prstGeom prst="rect">
            <a:avLst/>
          </a:prstGeom>
          <a:solidFill>
            <a:srgbClr val="23121E"/>
          </a:solidFill>
          <a:ln w="19050">
            <a:solidFill>
              <a:srgbClr val="9A7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Not publicly disclosed</a:t>
            </a:r>
          </a:p>
        </p:txBody>
      </p:sp>
      <p:sp>
        <p:nvSpPr>
          <p:cNvPr id="16" name="TextBox 15"/>
          <p:cNvSpPr txBox="1"/>
          <p:nvPr/>
        </p:nvSpPr>
        <p:spPr>
          <a:xfrm>
            <a:off x="6347307" y="3246120"/>
            <a:ext cx="2286000" cy="411480"/>
          </a:xfrm>
          <a:prstGeom prst="rect">
            <a:avLst/>
          </a:prstGeom>
          <a:noFill/>
        </p:spPr>
        <p:txBody>
          <a:bodyPr wrap="square">
            <a:spAutoFit/>
          </a:bodyPr>
          <a:lstStyle/>
          <a:p>
            <a:pPr algn="ctr"/>
            <a:r>
              <a:rPr sz="1200" b="0">
                <a:solidFill>
                  <a:srgbClr val="E2B570"/>
                </a:solidFill>
                <a:latin typeface="Calibri"/>
              </a:rPr>
              <a:t>Serviceable Obtainable Market (SOM)</a:t>
            </a:r>
          </a:p>
        </p:txBody>
      </p:sp>
      <p:sp>
        <p:nvSpPr>
          <p:cNvPr id="17" name="TextBox 16"/>
          <p:cNvSpPr txBox="1"/>
          <p:nvPr/>
        </p:nvSpPr>
        <p:spPr>
          <a:xfrm>
            <a:off x="6301587" y="3657600"/>
            <a:ext cx="2377440" cy="457200"/>
          </a:xfrm>
          <a:prstGeom prst="rect">
            <a:avLst/>
          </a:prstGeom>
          <a:noFill/>
        </p:spPr>
        <p:txBody>
          <a:bodyPr wrap="square">
            <a:spAutoFit/>
          </a:bodyPr>
          <a:lstStyle/>
          <a:p>
            <a:pPr algn="ctr"/>
            <a:r>
              <a:rPr sz="1000" b="0">
                <a:solidFill>
                  <a:srgbClr val="724400"/>
                </a:solidFill>
                <a:latin typeface="Calibri"/>
              </a:rPr>
              <a:t>Not publicly disclosed</a:t>
            </a:r>
          </a:p>
        </p:txBody>
      </p:sp>
      <p:sp>
        <p:nvSpPr>
          <p:cNvPr id="18" name="Rectangle 17"/>
          <p:cNvSpPr/>
          <p:nvPr/>
        </p:nvSpPr>
        <p:spPr>
          <a:xfrm>
            <a:off x="8999067" y="2103120"/>
            <a:ext cx="2560320" cy="2194560"/>
          </a:xfrm>
          <a:prstGeom prst="rect">
            <a:avLst/>
          </a:prstGeom>
          <a:solidFill>
            <a:srgbClr val="23121E"/>
          </a:solidFill>
          <a:ln w="19050">
            <a:solidFill>
              <a:srgbClr val="FFB2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36227" y="2331720"/>
            <a:ext cx="2286000" cy="914400"/>
          </a:xfrm>
          <a:prstGeom prst="rect">
            <a:avLst/>
          </a:prstGeom>
          <a:noFill/>
        </p:spPr>
        <p:txBody>
          <a:bodyPr wrap="square">
            <a:spAutoFit/>
          </a:bodyPr>
          <a:lstStyle/>
          <a:p>
            <a:pPr algn="ctr"/>
            <a:r>
              <a:rPr sz="3400" b="1">
                <a:solidFill>
                  <a:srgbClr val="F5F3FF"/>
                </a:solidFill>
                <a:latin typeface="Calibri"/>
              </a:rPr>
              <a:t>Not publicly disclosed</a:t>
            </a:r>
          </a:p>
        </p:txBody>
      </p:sp>
      <p:sp>
        <p:nvSpPr>
          <p:cNvPr id="20" name="TextBox 19"/>
          <p:cNvSpPr txBox="1"/>
          <p:nvPr/>
        </p:nvSpPr>
        <p:spPr>
          <a:xfrm>
            <a:off x="9136227" y="3246120"/>
            <a:ext cx="2286000" cy="411480"/>
          </a:xfrm>
          <a:prstGeom prst="rect">
            <a:avLst/>
          </a:prstGeom>
          <a:noFill/>
        </p:spPr>
        <p:txBody>
          <a:bodyPr wrap="square">
            <a:spAutoFit/>
          </a:bodyPr>
          <a:lstStyle/>
          <a:p>
            <a:pPr algn="ctr"/>
            <a:r>
              <a:rPr sz="1200" b="0">
                <a:solidFill>
                  <a:srgbClr val="E2B570"/>
                </a:solidFill>
                <a:latin typeface="Calibri"/>
              </a:rPr>
              <a:t>Market CAGR</a:t>
            </a:r>
          </a:p>
        </p:txBody>
      </p:sp>
      <p:sp>
        <p:nvSpPr>
          <p:cNvPr id="21" name="TextBox 20"/>
          <p:cNvSpPr txBox="1"/>
          <p:nvPr/>
        </p:nvSpPr>
        <p:spPr>
          <a:xfrm>
            <a:off x="9090507" y="3657600"/>
            <a:ext cx="2377440" cy="457200"/>
          </a:xfrm>
          <a:prstGeom prst="rect">
            <a:avLst/>
          </a:prstGeom>
          <a:noFill/>
        </p:spPr>
        <p:txBody>
          <a:bodyPr wrap="square">
            <a:spAutoFit/>
          </a:bodyPr>
          <a:lstStyle/>
          <a:p>
            <a:pPr algn="ctr"/>
            <a:r>
              <a:rPr sz="1000" b="0">
                <a:solidFill>
                  <a:srgbClr val="724400"/>
                </a:solidFill>
                <a:latin typeface="Calibri"/>
              </a:rPr>
              <a:t>Not publicly disclosed</a:t>
            </a:r>
          </a:p>
        </p:txBody>
      </p:sp>
      <p:sp>
        <p:nvSpPr>
          <p:cNvPr id="22" name="TextBox 21"/>
          <p:cNvSpPr txBox="1"/>
          <p:nvPr/>
        </p:nvSpPr>
        <p:spPr>
          <a:xfrm>
            <a:off x="731520" y="4572000"/>
            <a:ext cx="10698480" cy="822960"/>
          </a:xfrm>
          <a:prstGeom prst="rect">
            <a:avLst/>
          </a:prstGeom>
          <a:noFill/>
        </p:spPr>
        <p:txBody>
          <a:bodyPr wrap="square">
            <a:spAutoFit/>
          </a:bodyPr>
          <a:lstStyle/>
          <a:p>
            <a:pPr algn="l"/>
            <a:r>
              <a:rPr sz="1400" b="0">
                <a:solidFill>
                  <a:srgbClr val="E2B570"/>
                </a:solidFill>
                <a:latin typeface="Calibri"/>
              </a:rPr>
              <a:t>The addressable markets for Amazon's diverse portfolio of services represent multi-trillion dollar opportunities. Our strategic focus is on expanding our share within these growing markets while simultaneously creating new ones through continuous innovation.</a:t>
            </a:r>
          </a:p>
        </p:txBody>
      </p:sp>
      <p:sp>
        <p:nvSpPr>
          <p:cNvPr id="23" name="TextBox 22"/>
          <p:cNvSpPr txBox="1"/>
          <p:nvPr/>
        </p:nvSpPr>
        <p:spPr>
          <a:xfrm>
            <a:off x="914400" y="539496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Strategic Expansion:</a:t>
            </a:r>
            <a:r>
              <a:rPr sz="1300" b="0">
                <a:solidFill>
                  <a:srgbClr val="E2B570"/>
                </a:solidFill>
                <a:latin typeface="Calibri"/>
              </a:rPr>
              <a:t> Continuously identifying and entering new market segments with high growth potential.</a:t>
            </a:r>
          </a:p>
        </p:txBody>
      </p:sp>
      <p:sp>
        <p:nvSpPr>
          <p:cNvPr id="24" name="TextBox 23"/>
          <p:cNvSpPr txBox="1"/>
          <p:nvPr/>
        </p:nvSpPr>
        <p:spPr>
          <a:xfrm>
            <a:off x="914400" y="580644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Operational Leverage:</a:t>
            </a:r>
            <a:r>
              <a:rPr sz="1300" b="0">
                <a:solidFill>
                  <a:srgbClr val="E2B570"/>
                </a:solidFill>
                <a:latin typeface="Calibri"/>
              </a:rPr>
              <a:t> Maximizing efficiency and scale to optimize profitability across all business units.</a:t>
            </a:r>
          </a:p>
        </p:txBody>
      </p:sp>
      <p:sp>
        <p:nvSpPr>
          <p:cNvPr id="25" name="TextBox 24"/>
          <p:cNvSpPr txBox="1"/>
          <p:nvPr/>
        </p:nvSpPr>
        <p:spPr>
          <a:xfrm>
            <a:off x="914400" y="6217920"/>
            <a:ext cx="10332720" cy="365760"/>
          </a:xfrm>
          <a:prstGeom prst="rect">
            <a:avLst/>
          </a:prstGeom>
          <a:noFill/>
        </p:spPr>
        <p:txBody>
          <a:bodyPr wrap="square">
            <a:spAutoFit/>
          </a:bodyPr>
          <a:lstStyle/>
          <a:p>
            <a:pPr algn="l"/>
            <a:r>
              <a:rPr sz="1300" b="0">
                <a:solidFill>
                  <a:srgbClr val="E2B570"/>
                </a:solidFill>
                <a:latin typeface="Calibri"/>
              </a:rPr>
              <a:t>›  </a:t>
            </a:r>
            <a:r>
              <a:rPr sz="1300" b="1">
                <a:solidFill>
                  <a:srgbClr val="E2B570"/>
                </a:solidFill>
                <a:latin typeface="Calibri"/>
              </a:rPr>
              <a:t>Innovation Investment:</a:t>
            </a:r>
            <a:r>
              <a:rPr sz="1300" b="0">
                <a:solidFill>
                  <a:srgbClr val="E2B570"/>
                </a:solidFill>
                <a:latin typeface="Calibri"/>
              </a:rPr>
              <a:t> Reinvesting in R&amp;D to maintain technological leadership and competitive advantage.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64008" cy="685800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724400"/>
                </a:solidFill>
                <a:latin typeface="Calibri"/>
              </a:rPr>
              <a:t>THE 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E2B570"/>
                </a:solidFill>
                <a:latin typeface="Calibri"/>
              </a:rPr>
              <a:t>Fueling Our Next Chapter of Growth</a:t>
            </a:r>
          </a:p>
        </p:txBody>
      </p:sp>
      <p:sp>
        <p:nvSpPr>
          <p:cNvPr id="6" name="Rectangle 5"/>
          <p:cNvSpPr/>
          <p:nvPr/>
        </p:nvSpPr>
        <p:spPr>
          <a:xfrm>
            <a:off x="2665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Technology &amp; R&amp;D</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FF9900"/>
                </a:solidFill>
                <a:latin typeface="Calibri"/>
              </a:rPr>
              <a:t>Driving Innovation</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E2B570"/>
                </a:solidFill>
                <a:latin typeface="Calibri"/>
              </a:rPr>
              <a:t>Investing in cutting-edge AI, machine learning, robotics, and cloud infrastructure to maintain our competitive edge.</a:t>
            </a:r>
          </a:p>
        </p:txBody>
      </p:sp>
      <p:sp>
        <p:nvSpPr>
          <p:cNvPr id="11" name="Rectangle 10"/>
          <p:cNvSpPr/>
          <p:nvPr/>
        </p:nvSpPr>
        <p:spPr>
          <a:xfrm>
            <a:off x="32383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364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Global Expansion</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364860"/>
                </a:solidFill>
                <a:latin typeface="Calibri"/>
              </a:rPr>
              <a:t>New Market Access</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E2B570"/>
                </a:solidFill>
                <a:latin typeface="Calibri"/>
              </a:rPr>
              <a:t>Penetrating new geographic markets and expanding our logistics and fulfillment network worldwide.</a:t>
            </a:r>
          </a:p>
        </p:txBody>
      </p:sp>
      <p:sp>
        <p:nvSpPr>
          <p:cNvPr id="16" name="Rectangle 15"/>
          <p:cNvSpPr/>
          <p:nvPr/>
        </p:nvSpPr>
        <p:spPr>
          <a:xfrm>
            <a:off x="62101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9A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Strategic Acquisitions</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9A7030"/>
                </a:solidFill>
                <a:latin typeface="Calibri"/>
              </a:rPr>
              <a:t>Portfolio Diversification</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E2B570"/>
                </a:solidFill>
                <a:latin typeface="Calibri"/>
              </a:rPr>
              <a:t>Identifying and acquiring synergistic businesses that enhance our ecosystem and accelerate market entry.</a:t>
            </a:r>
          </a:p>
        </p:txBody>
      </p:sp>
      <p:sp>
        <p:nvSpPr>
          <p:cNvPr id="21" name="Rectangle 20"/>
          <p:cNvSpPr/>
          <p:nvPr/>
        </p:nvSpPr>
        <p:spPr>
          <a:xfrm>
            <a:off x="9181947" y="1920240"/>
            <a:ext cx="2743200" cy="3291840"/>
          </a:xfrm>
          <a:prstGeom prst="rect">
            <a:avLst/>
          </a:prstGeom>
          <a:solidFill>
            <a:srgbClr val="23121E"/>
          </a:solidFill>
          <a:ln w="12700">
            <a:solidFill>
              <a:srgbClr val="51274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FFB2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Talent Acquisition</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FFB23F"/>
                </a:solidFill>
                <a:latin typeface="Calibri"/>
              </a:rPr>
              <a:t>Human Capital</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E2B570"/>
                </a:solidFill>
                <a:latin typeface="Calibri"/>
              </a:rPr>
              <a:t>Attracting and retaining the world's best engineers, scientists, and business leaders.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09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3648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Thank You</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E2B570"/>
                </a:solidFill>
                <a:latin typeface="Calibri"/>
              </a:rPr>
              <a:t>Join Us in Shaping the Future of Commerce and Technology</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724400"/>
                </a:solidFill>
                <a:latin typeface="Calibri"/>
              </a:rPr>
              <a:t>Amazon continues to lead with innovation, customer obsession, and a vision for a future where technology empowers everyone. We invite you to be a part of our journey.</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724400"/>
                </a:solidFill>
                <a:latin typeface="Calibri"/>
              </a:rPr>
              <a:t>Investor Presentation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