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7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40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5F3FF"/>
                </a:solidFill>
                <a:latin typeface="Calibri"/>
              </a:rPr>
              <a:t>Company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630936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C4E7A"/>
                </a:solidFill>
                <a:latin typeface="Calibri"/>
              </a:rPr>
              <a:t>Investor Presentation  • 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7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40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C4E7A"/>
                </a:solidFill>
                <a:latin typeface="Calibri"/>
              </a:rPr>
              <a:t>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B8EC4"/>
                </a:solidFill>
                <a:latin typeface="Calibri"/>
              </a:rPr>
              <a:t>The Technology industry is broken</a:t>
            </a:r>
          </a:p>
        </p:txBody>
      </p:sp>
      <p:sp>
        <p:nvSpPr>
          <p:cNvPr id="6" name="Rectangle 5"/>
          <p:cNvSpPr/>
          <p:nvPr/>
        </p:nvSpPr>
        <p:spPr>
          <a:xfrm>
            <a:off x="1752447" y="1920240"/>
            <a:ext cx="2743200" cy="3291840"/>
          </a:xfrm>
          <a:prstGeom prst="rect">
            <a:avLst/>
          </a:prstGeom>
          <a:solidFill>
            <a:srgbClr val="1A1130"/>
          </a:solidFill>
          <a:ln w="12700">
            <a:solidFill>
              <a:srgbClr val="2A1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752447" y="1920240"/>
            <a:ext cx="2743200" cy="54864"/>
          </a:xfrm>
          <a:prstGeom prst="rect">
            <a:avLst/>
          </a:prstGeom>
          <a:solidFill>
            <a:srgbClr val="2540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353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Pain Point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35327" y="2697480"/>
            <a:ext cx="237744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High costs of existing solutions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24247" y="1920240"/>
            <a:ext cx="2743200" cy="3291840"/>
          </a:xfrm>
          <a:prstGeom prst="rect">
            <a:avLst/>
          </a:prstGeom>
          <a:solidFill>
            <a:srgbClr val="1A1130"/>
          </a:solidFill>
          <a:ln w="12700">
            <a:solidFill>
              <a:srgbClr val="2A1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24247" y="1920240"/>
            <a:ext cx="2743200" cy="54864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071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Pain Point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07127" y="2697480"/>
            <a:ext cx="237744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Time-consuming manual processes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96047" y="1920240"/>
            <a:ext cx="2743200" cy="3291840"/>
          </a:xfrm>
          <a:prstGeom prst="rect">
            <a:avLst/>
          </a:prstGeom>
          <a:solidFill>
            <a:srgbClr val="1A1130"/>
          </a:solidFill>
          <a:ln w="12700">
            <a:solidFill>
              <a:srgbClr val="2A1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696047" y="1920240"/>
            <a:ext cx="2743200" cy="54864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789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Pain Point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78927" y="2697480"/>
            <a:ext cx="237744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Lack of real-time insights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7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40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C4E7A"/>
                </a:solidFill>
                <a:latin typeface="Calibri"/>
              </a:rPr>
              <a:t>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Our Solution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2048256"/>
            <a:ext cx="109728" cy="109728"/>
          </a:xfrm>
          <a:prstGeom prst="ellipse">
            <a:avLst/>
          </a:prstGeom>
          <a:solidFill>
            <a:srgbClr val="2540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920240"/>
            <a:ext cx="501091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B8EC4"/>
                </a:solidFill>
                <a:latin typeface="Calibri"/>
              </a:rPr>
              <a:t>Company's unique technology approach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2615184"/>
            <a:ext cx="109728" cy="109728"/>
          </a:xfrm>
          <a:prstGeom prst="ellipse">
            <a:avLst/>
          </a:prstGeom>
          <a:solidFill>
            <a:srgbClr val="2540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487168"/>
            <a:ext cx="501091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B8EC4"/>
                </a:solidFill>
                <a:latin typeface="Calibri"/>
              </a:rPr>
              <a:t>Faster time-to-value</a:t>
            </a:r>
          </a:p>
        </p:txBody>
      </p:sp>
      <p:sp>
        <p:nvSpPr>
          <p:cNvPr id="9" name="Oval 8"/>
          <p:cNvSpPr/>
          <p:nvPr/>
        </p:nvSpPr>
        <p:spPr>
          <a:xfrm>
            <a:off x="6400800" y="2048256"/>
            <a:ext cx="109728" cy="109728"/>
          </a:xfrm>
          <a:prstGeom prst="ellipse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1968" y="1920240"/>
            <a:ext cx="501091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B8EC4"/>
                </a:solidFill>
                <a:latin typeface="Calibri"/>
              </a:rPr>
              <a:t>Modern architecture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7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40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C4E7A"/>
                </a:solidFill>
                <a:latin typeface="Calibri"/>
              </a:rPr>
              <a:t>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Market Opportunity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B8EC4"/>
                </a:solidFill>
                <a:latin typeface="Calibri"/>
              </a:rPr>
              <a:t>Large and growing market</a:t>
            </a:r>
          </a:p>
        </p:txBody>
      </p:sp>
      <p:sp>
        <p:nvSpPr>
          <p:cNvPr id="6" name="Rectangle 5"/>
          <p:cNvSpPr/>
          <p:nvPr/>
        </p:nvSpPr>
        <p:spPr>
          <a:xfrm>
            <a:off x="3421227" y="2103120"/>
            <a:ext cx="2560320" cy="2194560"/>
          </a:xfrm>
          <a:prstGeom prst="rect">
            <a:avLst/>
          </a:prstGeom>
          <a:solidFill>
            <a:srgbClr val="1A1130"/>
          </a:solidFill>
          <a:ln w="19050">
            <a:solidFill>
              <a:srgbClr val="2540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5838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Large and growing market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5838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B8EC4"/>
                </a:solidFill>
                <a:latin typeface="Calibri"/>
              </a:rPr>
              <a:t>TAM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0147" y="2103120"/>
            <a:ext cx="2560320" cy="2194560"/>
          </a:xfrm>
          <a:prstGeom prst="rect">
            <a:avLst/>
          </a:prstGeom>
          <a:solidFill>
            <a:srgbClr val="1A1130"/>
          </a:solidFill>
          <a:ln w="19050">
            <a:solidFill>
              <a:srgbClr val="2540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4730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Growing fast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4730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B8EC4"/>
                </a:solidFill>
                <a:latin typeface="Calibri"/>
              </a:rPr>
              <a:t>Growth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7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40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5F3FF"/>
                </a:solidFill>
                <a:latin typeface="Calibri"/>
              </a:rPr>
              <a:t>Let's Build Together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402336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5C4E7A"/>
                </a:solidFill>
                <a:latin typeface="Calibri"/>
              </a:rPr>
              <a:t>Contact: Company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630936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C4E7A"/>
                </a:solidFill>
                <a:latin typeface="Calibri"/>
              </a:rPr>
              <a:t>Investor Presentation  • 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