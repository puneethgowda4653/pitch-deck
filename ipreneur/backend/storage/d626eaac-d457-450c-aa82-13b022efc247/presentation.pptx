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2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EAF0FF"/>
                </a:solidFill>
                <a:latin typeface="Calibri"/>
              </a:rPr>
              <a:t>hunter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DB0D6"/>
                </a:solidFill>
                <a:latin typeface="Calibri"/>
              </a:rPr>
              <a:t>Your Smart Guardian Against Forgotten Subscriptions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27396"/>
                </a:solidFill>
                <a:latin typeface="Calibri"/>
              </a:rPr>
              <a:t>Empowering credit card owners to reclaim control over their recurring payments and save money.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27396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AF0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B0D6"/>
                </a:solidFill>
                <a:latin typeface="Calibri"/>
              </a:rPr>
              <a:t>Unlocking significant savings for credit card users in a rapidly growing digital economy.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102350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AF0FF"/>
                </a:solidFill>
                <a:latin typeface="Calibri"/>
              </a:rPr>
              <a:t>$642.9B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DB0D6"/>
                </a:solidFill>
                <a:latin typeface="Calibri"/>
              </a:rPr>
              <a:t>India Fintech Market (TAM)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712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27396"/>
                </a:solidFill>
                <a:latin typeface="Calibri"/>
              </a:rPr>
              <a:t>Projected by 2034 · Source: IMARC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DB0D6"/>
                </a:solidFill>
                <a:latin typeface="Calibri"/>
              </a:rPr>
              <a:t>hunter addresses the pervasive problem of forgotten credit card subscriptions, which leads to significant financial waste for consumers. Our platform provides a smart, centralized solution for tracking, managing, and optimizing all recurring payments. With India's Fintech market projected to reach $642.9B by 2034, hunter is uniquely positioned to capture a substantial share by empowering users with financial control and driving smart savings.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›  </a:t>
            </a:r>
            <a:r>
              <a:rPr sz="1300" b="1">
                <a:solidFill>
                  <a:srgbClr val="9DB0D6"/>
                </a:solidFill>
                <a:latin typeface="Calibri"/>
              </a:rPr>
              <a:t>Problem:</a:t>
            </a:r>
            <a:r>
              <a:rPr sz="1300" b="0">
                <a:solidFill>
                  <a:srgbClr val="9DB0D6"/>
                </a:solidFill>
                <a:latin typeface="Calibri"/>
              </a:rPr>
              <a:t> Credit card users lose money on forgotten subscriptions.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›  </a:t>
            </a:r>
            <a:r>
              <a:rPr sz="1300" b="1">
                <a:solidFill>
                  <a:srgbClr val="9DB0D6"/>
                </a:solidFill>
                <a:latin typeface="Calibri"/>
              </a:rPr>
              <a:t>Solution:</a:t>
            </a:r>
            <a:r>
              <a:rPr sz="1300" b="0">
                <a:solidFill>
                  <a:srgbClr val="9DB0D6"/>
                </a:solidFill>
                <a:latin typeface="Calibri"/>
              </a:rPr>
              <a:t> A smart platform to track, manage, and optimize all recurring payments.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›  </a:t>
            </a:r>
            <a:r>
              <a:rPr sz="1300" b="1">
                <a:solidFill>
                  <a:srgbClr val="9DB0D6"/>
                </a:solidFill>
                <a:latin typeface="Calibri"/>
              </a:rPr>
              <a:t>Market:</a:t>
            </a:r>
            <a:r>
              <a:rPr sz="1300" b="0">
                <a:solidFill>
                  <a:srgbClr val="9DB0D6"/>
                </a:solidFill>
                <a:latin typeface="Calibri"/>
              </a:rPr>
              <a:t> Targeting India's $723.22M Subscription &amp; Billing Management Market, within a $642.9B Fintech opportunity.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AF0FF"/>
                </a:solidFill>
                <a:latin typeface="Calibri"/>
              </a:rPr>
              <a:t>Massive Fintech Opportunity in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B0D6"/>
                </a:solidFill>
                <a:latin typeface="Calibri"/>
              </a:rPr>
              <a:t>Rapid digital payments adoption fuels demand for smart financial management.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102350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AF0FF"/>
                </a:solidFill>
                <a:latin typeface="Calibri"/>
              </a:rPr>
              <a:t>16.70%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DB0D6"/>
                </a:solidFill>
                <a:latin typeface="Calibri"/>
              </a:rPr>
              <a:t>Market CAGR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712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27396"/>
                </a:solidFill>
                <a:latin typeface="Calibri"/>
              </a:rPr>
              <a:t>2026-2034 · Source: IMARC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DB0D6"/>
                </a:solidFill>
                <a:latin typeface="Calibri"/>
              </a:rPr>
              <a:t>The Indian Fintech market is experiencing exponential growth, driven by increasing digital literacy, smartphone penetration, and the widespread adoption of UPI. This surge creates a fertile ground for innovative solutions that help consumers manage their finances more effectively, especially concerning recurring payments linked to credit cards.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›  </a:t>
            </a:r>
            <a:r>
              <a:rPr sz="1300" b="1">
                <a:solidFill>
                  <a:srgbClr val="9DB0D6"/>
                </a:solidFill>
                <a:latin typeface="Calibri"/>
              </a:rPr>
              <a:t>TAM:</a:t>
            </a:r>
            <a:r>
              <a:rPr sz="1300" b="0">
                <a:solidFill>
                  <a:srgbClr val="9DB0D6"/>
                </a:solidFill>
                <a:latin typeface="Calibri"/>
              </a:rPr>
              <a:t> India Fintech Market Size projected to be </a:t>
            </a:r>
            <a:r>
              <a:rPr sz="1300" b="1">
                <a:solidFill>
                  <a:srgbClr val="9DB0D6"/>
                </a:solidFill>
                <a:latin typeface="Calibri"/>
              </a:rPr>
              <a:t>$642.9B by 2034</a:t>
            </a:r>
            <a:r>
              <a:rPr sz="1300" b="0">
                <a:solidFill>
                  <a:srgbClr val="9DB0D6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›  </a:t>
            </a:r>
            <a:r>
              <a:rPr sz="1300" b="1">
                <a:solidFill>
                  <a:srgbClr val="9DB0D6"/>
                </a:solidFill>
                <a:latin typeface="Calibri"/>
              </a:rPr>
              <a:t>SAM:</a:t>
            </a:r>
            <a:r>
              <a:rPr sz="1300" b="0">
                <a:solidFill>
                  <a:srgbClr val="9DB0D6"/>
                </a:solidFill>
                <a:latin typeface="Calibri"/>
              </a:rPr>
              <a:t> India Credit Card Market Size projected to be </a:t>
            </a:r>
            <a:r>
              <a:rPr sz="1300" b="1">
                <a:solidFill>
                  <a:srgbClr val="9DB0D6"/>
                </a:solidFill>
                <a:latin typeface="Calibri"/>
              </a:rPr>
              <a:t>$39.5B by 2034</a:t>
            </a:r>
            <a:r>
              <a:rPr sz="1300" b="0">
                <a:solidFill>
                  <a:srgbClr val="9DB0D6"/>
                </a:solidFill>
                <a:latin typeface="Calibri"/>
              </a:rPr>
              <a:t>, directly relevant to credit card subscription management.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›  </a:t>
            </a:r>
            <a:r>
              <a:rPr sz="1300" b="1">
                <a:solidFill>
                  <a:srgbClr val="9DB0D6"/>
                </a:solidFill>
                <a:latin typeface="Calibri"/>
              </a:rPr>
              <a:t>SOM:</a:t>
            </a:r>
            <a:r>
              <a:rPr sz="1300" b="0">
                <a:solidFill>
                  <a:srgbClr val="9DB0D6"/>
                </a:solidFill>
                <a:latin typeface="Calibri"/>
              </a:rPr>
              <a:t> India Subscription and Billing Management Market Size projected to be </a:t>
            </a:r>
            <a:r>
              <a:rPr sz="1300" b="1">
                <a:solidFill>
                  <a:srgbClr val="9DB0D6"/>
                </a:solidFill>
                <a:latin typeface="Calibri"/>
              </a:rPr>
              <a:t>$723.22M by 2034</a:t>
            </a:r>
            <a:r>
              <a:rPr sz="1300" b="0">
                <a:solidFill>
                  <a:srgbClr val="9DB0D6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PROBLEM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AF0FF"/>
                </a:solidFill>
                <a:latin typeface="Calibri"/>
              </a:rPr>
              <a:t>Solving the Forgotten Subscription Dilemma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B0D6"/>
                </a:solidFill>
                <a:latin typeface="Calibri"/>
              </a:rPr>
              <a:t>Transforming financial oversight into proactive savings.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102350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AF0F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5B8DEF"/>
                </a:solidFill>
                <a:latin typeface="Calibri"/>
              </a:rPr>
              <a:t>₹ Billions Wasted Annually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•  </a:t>
            </a:r>
            <a:r>
              <a:rPr sz="1300" b="1">
                <a:solidFill>
                  <a:srgbClr val="9DB0D6"/>
                </a:solidFill>
                <a:latin typeface="Calibri"/>
              </a:rPr>
              <a:t>Hidden Costs:</a:t>
            </a:r>
            <a:r>
              <a:rPr sz="1300" b="0">
                <a:solidFill>
                  <a:srgbClr val="9DB0D6"/>
                </a:solidFill>
                <a:latin typeface="Calibri"/>
              </a:rPr>
              <a:t> Millions of credit card users unknowingly pay for forgotten or unused subscriptions.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•  </a:t>
            </a:r>
            <a:r>
              <a:rPr sz="1300" b="1">
                <a:solidFill>
                  <a:srgbClr val="9DB0D6"/>
                </a:solidFill>
                <a:latin typeface="Calibri"/>
              </a:rPr>
              <a:t>Lack of Oversight:</a:t>
            </a:r>
            <a:r>
              <a:rPr sz="1300" b="0">
                <a:solidFill>
                  <a:srgbClr val="9DB0D6"/>
                </a:solidFill>
                <a:latin typeface="Calibri"/>
              </a:rPr>
              <a:t> Fragmented billing statements and auto-renewals make tracking subscriptions nearly impossible.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•  </a:t>
            </a:r>
            <a:r>
              <a:rPr sz="1300" b="1">
                <a:solidFill>
                  <a:srgbClr val="9DB0D6"/>
                </a:solidFill>
                <a:latin typeface="Calibri"/>
              </a:rPr>
              <a:t>Financial Drain:</a:t>
            </a:r>
            <a:r>
              <a:rPr sz="1300" b="0">
                <a:solidFill>
                  <a:srgbClr val="9DB0D6"/>
                </a:solidFill>
                <a:latin typeface="Calibri"/>
              </a:rPr>
              <a:t> Small, recurring charges accumulate, leading to significant, avoidable financial waste.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•  </a:t>
            </a:r>
            <a:r>
              <a:rPr sz="1300" b="1">
                <a:solidFill>
                  <a:srgbClr val="9DB0D6"/>
                </a:solidFill>
                <a:latin typeface="Calibri"/>
              </a:rPr>
              <a:t>Stress &amp; Frustration:</a:t>
            </a:r>
            <a:r>
              <a:rPr sz="1300" b="0">
                <a:solidFill>
                  <a:srgbClr val="9DB0D6"/>
                </a:solidFill>
                <a:latin typeface="Calibri"/>
              </a:rPr>
              <a:t> Consumers feel helpless and frustrated by the lack of control over their recurring expenses.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102350"/>
          </a:solidFill>
          <a:ln w="19050">
            <a:solidFill>
              <a:srgbClr val="62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62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AF0FF"/>
                </a:solidFill>
                <a:latin typeface="Calibri"/>
              </a:rPr>
              <a:t>Our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62D6C4"/>
                </a:solidFill>
                <a:latin typeface="Calibri"/>
              </a:rPr>
              <a:t>Smart Savings &amp;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•  </a:t>
            </a:r>
            <a:r>
              <a:rPr sz="1300" b="1">
                <a:solidFill>
                  <a:srgbClr val="9DB0D6"/>
                </a:solidFill>
                <a:latin typeface="Calibri"/>
              </a:rPr>
              <a:t>Centralized Dashboard:</a:t>
            </a:r>
            <a:r>
              <a:rPr sz="1300" b="0">
                <a:solidFill>
                  <a:srgbClr val="9DB0D6"/>
                </a:solidFill>
                <a:latin typeface="Calibri"/>
              </a:rPr>
              <a:t> A single, intuitive platform to view and manage all credit card subscriptions.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•  </a:t>
            </a:r>
            <a:r>
              <a:rPr sz="1300" b="1">
                <a:solidFill>
                  <a:srgbClr val="9DB0D6"/>
                </a:solidFill>
                <a:latin typeface="Calibri"/>
              </a:rPr>
              <a:t>Smart Alerts:</a:t>
            </a:r>
            <a:r>
              <a:rPr sz="1300" b="0">
                <a:solidFill>
                  <a:srgbClr val="9DB0D6"/>
                </a:solidFill>
                <a:latin typeface="Calibri"/>
              </a:rPr>
              <a:t> Timely notifications for upcoming renewals, price changes, and usage patterns.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•  </a:t>
            </a:r>
            <a:r>
              <a:rPr sz="1300" b="1">
                <a:solidFill>
                  <a:srgbClr val="9DB0D6"/>
                </a:solidFill>
                <a:latin typeface="Calibri"/>
              </a:rPr>
              <a:t>Easy Management:</a:t>
            </a:r>
            <a:r>
              <a:rPr sz="1300" b="0">
                <a:solidFill>
                  <a:srgbClr val="9DB0D6"/>
                </a:solidFill>
                <a:latin typeface="Calibri"/>
              </a:rPr>
              <a:t> Seamlessly pause, cancel, or review subscriptions directly from the app.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•  </a:t>
            </a:r>
            <a:r>
              <a:rPr sz="1300" b="1">
                <a:solidFill>
                  <a:srgbClr val="9DB0D6"/>
                </a:solidFill>
                <a:latin typeface="Calibri"/>
              </a:rPr>
              <a:t>Personalized Insights:</a:t>
            </a:r>
            <a:r>
              <a:rPr sz="1300" b="0">
                <a:solidFill>
                  <a:srgbClr val="9DB0D6"/>
                </a:solidFill>
                <a:latin typeface="Calibri"/>
              </a:rPr>
              <a:t> Data-driven recommendations to optimize spending and identify savings opportunities.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3B4C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AF0FF"/>
                </a:solidFill>
                <a:latin typeface="Calibri"/>
              </a:rPr>
              <a:t>Introducing hunter: Your Smart Subscription Guardian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B0D6"/>
                </a:solidFill>
                <a:latin typeface="Calibri"/>
              </a:rPr>
              <a:t>Seamlessly manage, track, and save on recurring payments.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All Subscriptions, One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8DEF"/>
                </a:solidFill>
                <a:latin typeface="Calibri"/>
              </a:rPr>
              <a:t>Unified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Connect your credit cards and instantly see all recurring charges in a clear, organized dashboard.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62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Never Miss a Renewal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2D6C4"/>
                </a:solidFill>
                <a:latin typeface="Calibri"/>
              </a:rPr>
              <a:t>Smart Notifications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Receive timely alerts before renewals, allowing you to decide whether to keep or cancel.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5EB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Optimize &amp; Save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EB1D9"/>
                </a:solidFill>
                <a:latin typeface="Calibri"/>
              </a:rPr>
              <a:t>Actionable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Identify unused subscriptions, track spending patterns, and get recommendations for better deals.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7EA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Effortless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EA5F3"/>
                </a:solidFill>
                <a:latin typeface="Calibri"/>
              </a:rPr>
              <a:t>One-Click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Easily pause, cancel, or modify subscriptions directly through the hunter platform.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AF0FF"/>
                </a:solidFill>
                <a:latin typeface="Calibri"/>
              </a:rPr>
              <a:t>Clear Path to Monetization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B0D6"/>
                </a:solidFill>
                <a:latin typeface="Calibri"/>
              </a:rPr>
              <a:t>Value-driven pricing for sustained growth and user benefit.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Freemium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8DEF"/>
                </a:solidFill>
                <a:latin typeface="Calibri"/>
              </a:rPr>
              <a:t>Broad Adoption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A robust free tier offering basic subscription tracking and essential alerts to attract a large user base.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62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Premium Subscription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2D6C4"/>
                </a:solidFill>
                <a:latin typeface="Calibri"/>
              </a:rPr>
              <a:t>Enhanced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Monthly or annual subscription for advanced analytics, personalized savings recommendations, and priority support.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EB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Affiliate Partnerships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EB1D9"/>
                </a:solidFill>
                <a:latin typeface="Calibri"/>
              </a:rPr>
              <a:t>Value-Added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Opportunities for partnerships with service providers to offer exclusive deals on subscriptions, generating referral revenue.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AF0FF"/>
                </a:solidFill>
                <a:latin typeface="Calibri"/>
              </a:rPr>
              <a:t>Early Milestones &amp; Future Trajectory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B0D6"/>
                </a:solidFill>
                <a:latin typeface="Calibri"/>
              </a:rPr>
              <a:t>Building towards significant user adoption and market impact.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102350"/>
          </a:solidFill>
          <a:ln w="19050">
            <a:solidFill>
              <a:srgbClr val="5B8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EAF0FF"/>
                </a:solidFill>
                <a:latin typeface="Calibri"/>
              </a:rPr>
              <a:t>Idea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DB0D6"/>
                </a:solidFill>
                <a:latin typeface="Calibri"/>
              </a:rPr>
              <a:t>Current 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712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27396"/>
                </a:solidFill>
                <a:latin typeface="Calibri"/>
              </a:rPr>
              <a:t>Pre-launch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DB0D6"/>
                </a:solidFill>
                <a:latin typeface="Calibri"/>
              </a:rPr>
              <a:t>None yet — pre-launch/idea-stage company. While we are currently in the idea stage, our focus is on robust product development and strategic market entry. We are leveraging deep market insights to build a solution that resonates strongly with our target audience.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›  </a:t>
            </a:r>
            <a:r>
              <a:rPr sz="1300" b="1">
                <a:solidFill>
                  <a:srgbClr val="9DB0D6"/>
                </a:solidFill>
                <a:latin typeface="Calibri"/>
              </a:rPr>
              <a:t>Q3 2024:</a:t>
            </a:r>
            <a:r>
              <a:rPr sz="1300" b="0">
                <a:solidFill>
                  <a:srgbClr val="9DB0D6"/>
                </a:solidFill>
                <a:latin typeface="Calibri"/>
              </a:rPr>
              <a:t> Finalize product roadmap and secure initial seed funding.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›  </a:t>
            </a:r>
            <a:r>
              <a:rPr sz="1300" b="1">
                <a:solidFill>
                  <a:srgbClr val="9DB0D6"/>
                </a:solidFill>
                <a:latin typeface="Calibri"/>
              </a:rPr>
              <a:t>Q4 2024:</a:t>
            </a:r>
            <a:r>
              <a:rPr sz="1300" b="0">
                <a:solidFill>
                  <a:srgbClr val="9DB0D6"/>
                </a:solidFill>
                <a:latin typeface="Calibri"/>
              </a:rPr>
              <a:t> Commence development of core platform features.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›  </a:t>
            </a:r>
            <a:r>
              <a:rPr sz="1300" b="1">
                <a:solidFill>
                  <a:srgbClr val="9DB0D6"/>
                </a:solidFill>
                <a:latin typeface="Calibri"/>
              </a:rPr>
              <a:t>Q1 2025:</a:t>
            </a:r>
            <a:r>
              <a:rPr sz="1300" b="0">
                <a:solidFill>
                  <a:srgbClr val="9DB0D6"/>
                </a:solidFill>
                <a:latin typeface="Calibri"/>
              </a:rPr>
              <a:t> Conduct closed beta testing with early adopters.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AF0FF"/>
                </a:solidFill>
                <a:latin typeface="Calibri"/>
              </a:rPr>
              <a:t>Differentiated in a Growing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B0D6"/>
                </a:solidFill>
                <a:latin typeface="Calibri"/>
              </a:rPr>
              <a:t>Focusing purely on comprehensive subscription management, unlike broad fintech players.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CRED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8DEF"/>
                </a:solidFill>
                <a:latin typeface="Calibri"/>
              </a:rPr>
              <a:t>$1.48B Funding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Primarily focused on credit card bill payments and rewards, rather than dedicated comprehensive subscription management.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62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Simpl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2D6C4"/>
                </a:solidFill>
                <a:latin typeface="Calibri"/>
              </a:rPr>
              <a:t>$83M Funding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Mainly a 'Buy Now Pay Later' (BNPL) and payment network, with subscription management as a secondary feature ('Bill Box').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EB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Slice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EB1D9"/>
                </a:solidFill>
                <a:latin typeface="Calibri"/>
              </a:rPr>
              <a:t>$342M+ Funding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Primarily a digital banking platform with a focus on credit, rather than a dedicated subscription management tool.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AF0FF"/>
                </a:solidFill>
                <a:latin typeface="Calibri"/>
              </a:rPr>
              <a:t>Experienced Leadership to Execute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B0D6"/>
                </a:solidFill>
                <a:latin typeface="Calibri"/>
              </a:rPr>
              <a:t>Building on a foundation of operational excellence and strategic vision.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5527" y="1828800"/>
            <a:ext cx="5120640" cy="347472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35527" y="1828800"/>
            <a:ext cx="5120640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84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puneeth —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84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8DEF"/>
                </a:solidFill>
                <a:latin typeface="Calibri"/>
              </a:rPr>
              <a:t>Operational Excellence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84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Prior experience in operations and building successful ventures, driving efficiency and execution.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AF0FF"/>
                </a:solidFill>
                <a:latin typeface="Calibri"/>
              </a:rPr>
              <a:t>Market Sizing &amp; 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B0D6"/>
                </a:solidFill>
                <a:latin typeface="Calibri"/>
              </a:rPr>
              <a:t>Massive market opportunity with strong growth potential.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554480"/>
            <a:ext cx="3840480" cy="3840480"/>
          </a:xfrm>
          <a:prstGeom prst="ellipse">
            <a:avLst/>
          </a:prstGeom>
          <a:solidFill>
            <a:srgbClr val="5B8DE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920240"/>
            <a:ext cx="3108960" cy="3108960"/>
          </a:xfrm>
          <a:prstGeom prst="ellipse">
            <a:avLst/>
          </a:prstGeom>
          <a:solidFill>
            <a:srgbClr val="62D6C4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2331720"/>
            <a:ext cx="2240280" cy="2240280"/>
          </a:xfrm>
          <a:prstGeom prst="ellipse">
            <a:avLst/>
          </a:prstGeom>
          <a:solidFill>
            <a:srgbClr val="5EB1D9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834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27396"/>
                </a:solidFill>
                <a:latin typeface="Calibri"/>
              </a:rPr>
              <a:t>CAGR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546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7EA5F3"/>
                </a:solidFill>
                <a:latin typeface="Calibri"/>
              </a:rPr>
              <a:t>16.70%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37360"/>
            <a:ext cx="6675120" cy="91440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1737360"/>
            <a:ext cx="64008" cy="9144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TAM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105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B8DEF"/>
                </a:solidFill>
                <a:latin typeface="Calibri"/>
              </a:rPr>
              <a:t>$642.9B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402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DB0D6"/>
                </a:solidFill>
                <a:latin typeface="Calibri"/>
              </a:rPr>
              <a:t>India Fintech Market Size by 2034 · Source: IMARC Group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788920"/>
            <a:ext cx="6675120" cy="91440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788920"/>
            <a:ext cx="64008" cy="914400"/>
          </a:xfrm>
          <a:prstGeom prst="rect">
            <a:avLst/>
          </a:prstGeom>
          <a:solidFill>
            <a:srgbClr val="62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SAM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8620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2D6C4"/>
                </a:solidFill>
                <a:latin typeface="Calibri"/>
              </a:rPr>
              <a:t>$39.5B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91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DB0D6"/>
                </a:solidFill>
                <a:latin typeface="Calibri"/>
              </a:rPr>
              <a:t>India Credit Card Market Size by 2034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840480"/>
            <a:ext cx="6675120" cy="91440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0" y="3840480"/>
            <a:ext cx="64008" cy="914400"/>
          </a:xfrm>
          <a:prstGeom prst="rect">
            <a:avLst/>
          </a:prstGeom>
          <a:solidFill>
            <a:srgbClr val="5EB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931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SOM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913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EB1D9"/>
                </a:solidFill>
                <a:latin typeface="Calibri"/>
              </a:rPr>
              <a:t>$723.22M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343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DB0D6"/>
                </a:solidFill>
                <a:latin typeface="Calibri"/>
              </a:rPr>
              <a:t>India Subscription and Billing Management Market by 2034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3657600" cy="68580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DB0D6"/>
                </a:solidFill>
                <a:latin typeface="Calibri"/>
              </a:rPr>
              <a:t/>
            </a:r>
            <a:r>
              <a:rPr sz="1200" b="1">
                <a:solidFill>
                  <a:srgbClr val="9DB0D6"/>
                </a:solidFill>
                <a:latin typeface="Calibri"/>
              </a:rPr>
              <a:t>FY2026:</a:t>
            </a:r>
            <a:r>
              <a:rPr sz="1200" b="0">
                <a:solidFill>
                  <a:srgbClr val="9DB0D6"/>
                </a:solidFill>
                <a:latin typeface="Calibri"/>
              </a:rPr>
              <a:t> $0.5M ARR · 50,000 active users · Achieve product-market fit and initial growth.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760720"/>
            <a:ext cx="3657600" cy="68580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DB0D6"/>
                </a:solidFill>
                <a:latin typeface="Calibri"/>
              </a:rPr>
              <a:t/>
            </a:r>
            <a:r>
              <a:rPr sz="1200" b="1">
                <a:solidFill>
                  <a:srgbClr val="9DB0D6"/>
                </a:solidFill>
                <a:latin typeface="Calibri"/>
              </a:rPr>
              <a:t>FY2027:</a:t>
            </a:r>
            <a:r>
              <a:rPr sz="1200" b="0">
                <a:solidFill>
                  <a:srgbClr val="9DB0D6"/>
                </a:solidFill>
                <a:latin typeface="Calibri"/>
              </a:rPr>
              <a:t> $2.5M ARR · 250,000 active users · Expand feature set and user acquisition.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5760720"/>
            <a:ext cx="3657600" cy="68580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DB0D6"/>
                </a:solidFill>
                <a:latin typeface="Calibri"/>
              </a:rPr>
              <a:t/>
            </a:r>
            <a:r>
              <a:rPr sz="1200" b="1">
                <a:solidFill>
                  <a:srgbClr val="9DB0D6"/>
                </a:solidFill>
                <a:latin typeface="Calibri"/>
              </a:rPr>
              <a:t>FY2028:</a:t>
            </a:r>
            <a:r>
              <a:rPr sz="1200" b="0">
                <a:solidFill>
                  <a:srgbClr val="9DB0D6"/>
                </a:solidFill>
                <a:latin typeface="Calibri"/>
              </a:rPr>
              <a:t> $10M ARR · 1,000,000 active users · Establish market leadership and explore new revenue streams.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27396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AF0FF"/>
                </a:solidFill>
                <a:latin typeface="Calibri"/>
              </a:rPr>
              <a:t>The Ask: Fueling Our Growth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DB0D6"/>
                </a:solidFill>
                <a:latin typeface="Calibri"/>
              </a:rPr>
              <a:t>Seeking seed funding to build, launch, and scale hunter.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Funding 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B8DEF"/>
                </a:solidFill>
                <a:latin typeface="Calibri"/>
              </a:rPr>
              <a:t>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Early-stage investment to bring our vision to life.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62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Investment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2D6C4"/>
                </a:solidFill>
                <a:latin typeface="Calibri"/>
              </a:rPr>
              <a:t>Product &amp;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Primarily for engineering, marketing, and initial operational expenses.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102350"/>
          </a:solidFill>
          <a:ln w="12700">
            <a:solidFill>
              <a:srgbClr val="3B4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5EB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F0FF"/>
                </a:solidFill>
                <a:latin typeface="Calibri"/>
              </a:rPr>
              <a:t>Key Milestones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EB1D9"/>
                </a:solidFill>
                <a:latin typeface="Calibri"/>
              </a:rPr>
              <a:t>Q2 2025 Launch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DB0D6"/>
                </a:solidFill>
                <a:latin typeface="Calibri"/>
              </a:rPr>
              <a:t>Achieve public launch, secure initial user base, and demonstrate early traction.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8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62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EAF0FF"/>
                </a:solidFill>
                <a:latin typeface="Calibri"/>
              </a:rPr>
              <a:t>Join Us in Empowering Financial Freedom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DB0D6"/>
                </a:solidFill>
                <a:latin typeface="Calibri"/>
              </a:rPr>
              <a:t>Let's build the future of smart subscription management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27396"/>
                </a:solidFill>
                <a:latin typeface="Calibri"/>
              </a:rPr>
              <a:t>hunter is not just an app; it's a movement towards smarter personal finance. We invite you to be a part of this exciting journey, transforming how millions manage their money and reclaim control over their financial lives.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27396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