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zepto</a:t>
            </a:r>
          </a:p>
        </p:txBody>
      </p:sp>
      <p:sp>
        <p:nvSpPr>
          <p:cNvPr id="5" name="TextBox 4"/>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zepto is a ecommerce platform that helps businesses achieve their goals — in a Large and growing quickcommerce market market growing at Strong double-digit CAGR.</a:t>
            </a:r>
          </a:p>
        </p:txBody>
      </p:sp>
      <p:sp>
        <p:nvSpPr>
          <p:cNvPr id="6" name="Rectangle 5"/>
          <p:cNvSpPr/>
          <p:nvPr/>
        </p:nvSpPr>
        <p:spPr>
          <a:xfrm>
            <a:off x="63230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quickcommerce market</a:t>
            </a:r>
          </a:p>
        </p:txBody>
      </p:sp>
      <p:sp>
        <p:nvSpPr>
          <p:cNvPr id="10" name="Rectangle 9"/>
          <p:cNvSpPr/>
          <p:nvPr/>
        </p:nvSpPr>
        <p:spPr>
          <a:xfrm>
            <a:off x="342122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Projected 2024–2030</a:t>
            </a:r>
          </a:p>
        </p:txBody>
      </p:sp>
      <p:sp>
        <p:nvSpPr>
          <p:cNvPr id="14" name="Rectangle 13"/>
          <p:cNvSpPr/>
          <p:nvPr/>
        </p:nvSpPr>
        <p:spPr>
          <a:xfrm>
            <a:off x="621014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Early traction</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Design partners signed</a:t>
            </a:r>
          </a:p>
        </p:txBody>
      </p:sp>
      <p:sp>
        <p:nvSpPr>
          <p:cNvPr id="18" name="Rectangle 17"/>
          <p:cNvSpPr/>
          <p:nvPr/>
        </p:nvSpPr>
        <p:spPr>
          <a:xfrm>
            <a:off x="899906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Seed / Series A</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Stage</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Raising now</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zepto builds purpose-built software for quickcommerce. The quickcommerce market is undergoing rapid transformation driven by digital adoption and AI integration. Companies in this space face mounting pressure to modernize legacy workflows, creating significant demand for purpose-built solutions. zepto is positioned at the center of this shift. The convergence of affordable AI infrastructure and widespread cloud adoption has created a window for zepto to displace entrenched legacy vendors in the quickcommerce market — a transition that was cost-prohibitive just 3 years ago.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Product Highlights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Core capabilities that win customers</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Core Feature</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Purpose-built capability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Feature 2</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Designed for ease of use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Feature 3</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Built for fast adoption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quickcommerce market is at an inflection point — Large and growing quickcommerce market opportunity growing at Strong double-digit CAGR</a:t>
            </a:r>
          </a:p>
        </p:txBody>
      </p:sp>
      <p:sp>
        <p:nvSpPr>
          <p:cNvPr id="6" name="Rectangle 5"/>
          <p:cNvSpPr/>
          <p:nvPr/>
        </p:nvSpPr>
        <p:spPr>
          <a:xfrm>
            <a:off x="63230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quickcommerce market</a:t>
            </a:r>
          </a:p>
        </p:txBody>
      </p:sp>
      <p:sp>
        <p:nvSpPr>
          <p:cNvPr id="10" name="Rectangle 9"/>
          <p:cNvSpPr/>
          <p:nvPr/>
        </p:nvSpPr>
        <p:spPr>
          <a:xfrm>
            <a:off x="342122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Significant SAM</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Serviceable addressable market</a:t>
            </a:r>
          </a:p>
        </p:txBody>
      </p:sp>
      <p:sp>
        <p:nvSpPr>
          <p:cNvPr id="14" name="Rectangle 13"/>
          <p:cNvSpPr/>
          <p:nvPr/>
        </p:nvSpPr>
        <p:spPr>
          <a:xfrm>
            <a:off x="621014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Achievable SOM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3-year capture target</a:t>
            </a:r>
          </a:p>
        </p:txBody>
      </p:sp>
      <p:sp>
        <p:nvSpPr>
          <p:cNvPr id="18" name="Rectangle 17"/>
          <p:cNvSpPr/>
          <p:nvPr/>
        </p:nvSpPr>
        <p:spPr>
          <a:xfrm>
            <a:off x="899906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Market growth rate 2024–2030</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The quickcommerce market is undergoing rapid transformation driven by digital adoption and AI integration. Companies in this space face mounting pressure to modernize legacy workflows, creating significant demand for purpose-built solutions. zepto is positioned at the center of this shift. The convergence of affordable AI infrastructure and widespread cloud adoption has created a window for zepto to displace entrenched legacy vendors in the quickcommerce market — a transition that was cost-prohibitive just 3 years ago.</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9B8EC4"/>
                </a:solidFill>
                <a:latin typeface="Calibri"/>
              </a:rPr>
              <a:t>›  Digital transformation accelerating across quickcommerce — 70%+ of enterprises increasing tech spend</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9B8EC4"/>
                </a:solidFill>
                <a:latin typeface="Calibri"/>
              </a:rPr>
              <a:t>›  AI and automation unlocking new efficiency gains previously unavailable to this sector</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9B8EC4"/>
                </a:solidFill>
                <a:latin typeface="Calibri"/>
              </a:rPr>
              <a:t>›  Shift from fragmented point solutions to integrated platforms reducing total cost of ownership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generate and grow revenue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Subscription</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5"/>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Technology services / SaaS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Implementation and professional services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Expansion</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Growth motion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Land-and-expand within accounts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GO TO 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Go-to-Market Strategy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acquire, expand, and retain customers</a:t>
            </a:r>
          </a:p>
        </p:txBody>
      </p:sp>
      <p:sp>
        <p:nvSpPr>
          <p:cNvPr id="6" name="Oval 5"/>
          <p:cNvSpPr/>
          <p:nvPr/>
        </p:nvSpPr>
        <p:spPr>
          <a:xfrm>
            <a:off x="731520" y="2048256"/>
            <a:ext cx="109728" cy="109728"/>
          </a:xfrm>
          <a:prstGeom prst="ellipse">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Direct outbound targeting VP-level buyers in key verticals</a:t>
            </a:r>
          </a:p>
        </p:txBody>
      </p:sp>
      <p:sp>
        <p:nvSpPr>
          <p:cNvPr id="8" name="Oval 7"/>
          <p:cNvSpPr/>
          <p:nvPr/>
        </p:nvSpPr>
        <p:spPr>
          <a:xfrm>
            <a:off x="731520" y="2615184"/>
            <a:ext cx="109728" cy="109728"/>
          </a:xfrm>
          <a:prstGeom prst="ellipse">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Content marketing and SEO to capture inbound demand</a:t>
            </a:r>
          </a:p>
        </p:txBody>
      </p:sp>
      <p:sp>
        <p:nvSpPr>
          <p:cNvPr id="10" name="Oval 9"/>
          <p:cNvSpPr/>
          <p:nvPr/>
        </p:nvSpPr>
        <p:spPr>
          <a:xfrm>
            <a:off x="6400800" y="2048256"/>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Strategic partnerships with complementary tools</a:t>
            </a:r>
          </a:p>
        </p:txBody>
      </p:sp>
      <p:sp>
        <p:nvSpPr>
          <p:cNvPr id="12" name="Oval 11"/>
          <p:cNvSpPr/>
          <p:nvPr/>
        </p:nvSpPr>
        <p:spPr>
          <a:xfrm>
            <a:off x="6400800" y="2615184"/>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Land-and-expand to grow within accounts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Why we win against alternatives</a:t>
            </a:r>
          </a:p>
        </p:txBody>
      </p:sp>
      <p:sp>
        <p:nvSpPr>
          <p:cNvPr id="6" name="Rectangle 5"/>
          <p:cNvSpPr/>
          <p:nvPr/>
        </p:nvSpPr>
        <p:spPr>
          <a:xfrm>
            <a:off x="640080" y="1737360"/>
            <a:ext cx="5303520" cy="411480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zepto</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2540B5"/>
                </a:solidFill>
                <a:latin typeface="Calibri"/>
              </a:rPr>
              <a:t>Purpose-built &amp; modern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9B8EC4"/>
                </a:solidFill>
                <a:latin typeface="Calibri"/>
              </a:rPr>
              <a:t>•  zepto's purpose-built approach vs. horizontal tools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9B8EC4"/>
                </a:solidFill>
                <a:latin typeface="Calibri"/>
              </a:rPr>
              <a:t>•  Faster time-to-value with modern architecture</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9B8EC4"/>
                </a:solidFill>
                <a:latin typeface="Calibri"/>
              </a:rPr>
              <a:t>•  AI-native design vs. retrofitted legacy systems</a:t>
            </a:r>
          </a:p>
        </p:txBody>
      </p:sp>
      <p:sp>
        <p:nvSpPr>
          <p:cNvPr id="13" name="Rectangle 12"/>
          <p:cNvSpPr/>
          <p:nvPr/>
        </p:nvSpPr>
        <p:spPr>
          <a:xfrm>
            <a:off x="6400800" y="1737360"/>
            <a:ext cx="5303520" cy="4114800"/>
          </a:xfrm>
          <a:prstGeom prst="rect">
            <a:avLst/>
          </a:prstGeom>
          <a:solidFill>
            <a:srgbClr val="1A1130"/>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5303520" cy="64008"/>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Existing Solutions</a:t>
            </a:r>
          </a:p>
        </p:txBody>
      </p:sp>
      <p:sp>
        <p:nvSpPr>
          <p:cNvPr id="16" name="TextBox 15"/>
          <p:cNvSpPr txBox="1"/>
          <p:nvPr/>
        </p:nvSpPr>
        <p:spPr>
          <a:xfrm>
            <a:off x="6583680" y="2468880"/>
            <a:ext cx="4937760" cy="502920"/>
          </a:xfrm>
          <a:prstGeom prst="rect">
            <a:avLst/>
          </a:prstGeom>
          <a:noFill/>
        </p:spPr>
        <p:txBody>
          <a:bodyPr wrap="square">
            <a:spAutoFit/>
          </a:bodyPr>
          <a:lstStyle/>
          <a:p>
            <a:pPr algn="l"/>
            <a:r>
              <a:rPr sz="2400" b="1">
                <a:solidFill>
                  <a:srgbClr val="7B2CBF"/>
                </a:solidFill>
                <a:latin typeface="Calibri"/>
              </a:rPr>
              <a:t>Legacy &amp; fragmented</a:t>
            </a:r>
          </a:p>
        </p:txBody>
      </p:sp>
      <p:sp>
        <p:nvSpPr>
          <p:cNvPr id="17" name="TextBox 16"/>
          <p:cNvSpPr txBox="1"/>
          <p:nvPr/>
        </p:nvSpPr>
        <p:spPr>
          <a:xfrm>
            <a:off x="6675120" y="3017520"/>
            <a:ext cx="4846320" cy="438912"/>
          </a:xfrm>
          <a:prstGeom prst="rect">
            <a:avLst/>
          </a:prstGeom>
          <a:noFill/>
        </p:spPr>
        <p:txBody>
          <a:bodyPr wrap="square">
            <a:spAutoFit/>
          </a:bodyPr>
          <a:lstStyle/>
          <a:p>
            <a:pPr algn="l"/>
            <a:r>
              <a:rPr sz="1300" b="0">
                <a:solidFill>
                  <a:srgbClr val="9B8EC4"/>
                </a:solidFill>
                <a:latin typeface="Calibri"/>
              </a:rPr>
              <a:t>•  Existing solutions: Slow and expensive</a:t>
            </a:r>
          </a:p>
        </p:txBody>
      </p:sp>
      <p:sp>
        <p:nvSpPr>
          <p:cNvPr id="18" name="TextBox 17"/>
          <p:cNvSpPr txBox="1"/>
          <p:nvPr/>
        </p:nvSpPr>
        <p:spPr>
          <a:xfrm>
            <a:off x="6675120" y="3456432"/>
            <a:ext cx="4846320" cy="438912"/>
          </a:xfrm>
          <a:prstGeom prst="rect">
            <a:avLst/>
          </a:prstGeom>
          <a:noFill/>
        </p:spPr>
        <p:txBody>
          <a:bodyPr wrap="square">
            <a:spAutoFit/>
          </a:bodyPr>
          <a:lstStyle/>
          <a:p>
            <a:pPr algn="l"/>
            <a:r>
              <a:rPr sz="1300" b="0">
                <a:solidFill>
                  <a:srgbClr val="9B8EC4"/>
                </a:solidFill>
                <a:latin typeface="Calibri"/>
              </a:rPr>
              <a:t>•  Generic platforms: Not purpose-built</a:t>
            </a:r>
          </a:p>
        </p:txBody>
      </p:sp>
      <p:sp>
        <p:nvSpPr>
          <p:cNvPr id="19" name="Rectangle 18"/>
          <p:cNvSpPr/>
          <p:nvPr/>
        </p:nvSpPr>
        <p:spPr>
          <a:xfrm>
            <a:off x="6144768" y="2011680"/>
            <a:ext cx="27432" cy="3566160"/>
          </a:xfrm>
          <a:prstGeom prst="rect">
            <a:avLst/>
          </a:prstGeom>
          <a:solidFill>
            <a:srgbClr val="2A1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Domain expertise meets execution track record</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Founder &amp; CEO</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Experienced founder with deep domain expertise in the industry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Head of Product</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Product leader with a track record of shipping customer-loved software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Head of Sales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Enterprise sales leader with experience scaling ARR from 0 to $10M+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Path to scale with clear milestones</a:t>
            </a:r>
          </a:p>
        </p:txBody>
      </p:sp>
      <p:sp>
        <p:nvSpPr>
          <p:cNvPr id="6" name="Rectangle 5"/>
          <p:cNvSpPr/>
          <p:nvPr/>
        </p:nvSpPr>
        <p:spPr>
          <a:xfrm>
            <a:off x="202676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9B8EC4"/>
                </a:solidFill>
                <a:latin typeface="Calibri"/>
              </a:rPr>
              <a:t>Conservative Y1</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5C4E7A"/>
                </a:solidFill>
                <a:latin typeface="Calibri"/>
              </a:rPr>
              <a:t>50 customers at $10K ACV</a:t>
            </a:r>
          </a:p>
        </p:txBody>
      </p:sp>
      <p:sp>
        <p:nvSpPr>
          <p:cNvPr id="10" name="Rectangle 9"/>
          <p:cNvSpPr/>
          <p:nvPr/>
        </p:nvSpPr>
        <p:spPr>
          <a:xfrm>
            <a:off x="481568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$2M</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9B8EC4"/>
                </a:solidFill>
                <a:latin typeface="Calibri"/>
              </a:rPr>
              <a:t>Base Y2</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5C4E7A"/>
                </a:solidFill>
                <a:latin typeface="Calibri"/>
              </a:rPr>
              <a:t>150 customers, expanding ACV</a:t>
            </a:r>
          </a:p>
        </p:txBody>
      </p:sp>
      <p:sp>
        <p:nvSpPr>
          <p:cNvPr id="14" name="Rectangle 13"/>
          <p:cNvSpPr/>
          <p:nvPr/>
        </p:nvSpPr>
        <p:spPr>
          <a:xfrm>
            <a:off x="7604607" y="2103120"/>
            <a:ext cx="2560320" cy="2194560"/>
          </a:xfrm>
          <a:prstGeom prst="rect">
            <a:avLst/>
          </a:prstGeom>
          <a:solidFill>
            <a:srgbClr val="1A1130"/>
          </a:solidFill>
          <a:ln w="19050">
            <a:solidFill>
              <a:srgbClr val="254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$8M</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9B8EC4"/>
                </a:solidFill>
                <a:latin typeface="Calibri"/>
              </a:rPr>
              <a:t>Optimistic Y3</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5C4E7A"/>
                </a:solidFill>
                <a:latin typeface="Calibri"/>
              </a:rPr>
              <a:t>Enterprise expansion + new verticals</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Assumptions: SaaS subscription model, land-and-expand motion, CAC payback &lt; 12 months.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Investment to reach the next milestone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5"/>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Expand engineering team, accelerate roadmap, build enterprise features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Hire first sales reps, launch demand gen programs, close anchor customers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Build customer success team, scale infrastructure, strengthen ops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40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zepto is building the leading platform for quickcommerce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Join us in building the category leader.</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Contact us • zepto</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