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swiggy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C9583"/>
                </a:solidFill>
                <a:latin typeface="Calibri"/>
              </a:rPr>
              <a:t>India's Leading On-Demand Convenience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C2413"/>
                </a:solidFill>
                <a:latin typeface="Calibri"/>
              </a:rPr>
              <a:t>Order food online from your favourite restaurants, cafes and takeaways in your 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C2413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C2413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9583"/>
                </a:solidFill>
                <a:latin typeface="Calibri"/>
              </a:rPr>
              <a:t>Leading India's Online Convenience Revolution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210E1E"/>
          </a:solidFill>
          <a:ln w="19050">
            <a:solidFill>
              <a:srgbClr val="F05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$530M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9583"/>
                </a:solidFill>
                <a:latin typeface="Calibri"/>
              </a:rPr>
              <a:t>Annual Recurring Revenue (ARR)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210E1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410M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9583"/>
                </a:solidFill>
                <a:latin typeface="Calibri"/>
              </a:rPr>
              <a:t>Total Customers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210E1E"/>
          </a:solidFill>
          <a:ln w="19050">
            <a:solidFill>
              <a:srgbClr val="F7A8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$4.998M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9583"/>
                </a:solidFill>
                <a:latin typeface="Calibri"/>
              </a:rPr>
              <a:t>Capital Being Raised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9583"/>
                </a:solidFill>
                <a:latin typeface="Calibri"/>
              </a:rPr>
              <a:t>Swiggy is India's pre-eminent online food and grocery delivery platform, leveraging a robust hyperlocal logistics network and advanced technology to provide unparalleled convenience. We operate in a rapidly expanding market, demonstrating significant revenue traction and a vast customer base.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>›  </a:t>
            </a:r>
            <a:r>
              <a:rPr sz="1300" b="1">
                <a:solidFill>
                  <a:srgbClr val="DC9583"/>
                </a:solidFill>
                <a:latin typeface="Calibri"/>
              </a:rPr>
              <a:t>What We Do:</a:t>
            </a:r>
            <a:r>
              <a:rPr sz="1300" b="0">
                <a:solidFill>
                  <a:srgbClr val="DC9583"/>
                </a:solidFill>
                <a:latin typeface="Calibri"/>
              </a:rPr>
              <a:t> India's largest food &amp; grocery delivery platform, pioneering quick commerce and hyperlocal convenience.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>›  </a:t>
            </a:r>
            <a:r>
              <a:rPr sz="1300" b="1">
                <a:solidFill>
                  <a:srgbClr val="DC9583"/>
                </a:solidFill>
                <a:latin typeface="Calibri"/>
              </a:rPr>
              <a:t>How We Do It:</a:t>
            </a:r>
            <a:r>
              <a:rPr sz="1300" b="0">
                <a:solidFill>
                  <a:srgbClr val="DC9583"/>
                </a:solidFill>
                <a:latin typeface="Calibri"/>
              </a:rPr>
              <a:t> Proprietary technology, an extensive network of delivery partners, and a vast merchant ecosystem ensure rapid and reliable service.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>›  </a:t>
            </a:r>
            <a:r>
              <a:rPr sz="1300" b="1">
                <a:solidFill>
                  <a:srgbClr val="DC9583"/>
                </a:solidFill>
                <a:latin typeface="Calibri"/>
              </a:rPr>
              <a:t>Market Opportunity:</a:t>
            </a:r>
            <a:r>
              <a:rPr sz="1300" b="0">
                <a:solidFill>
                  <a:srgbClr val="DC9583"/>
                </a:solidFill>
                <a:latin typeface="Calibri"/>
              </a:rPr>
              <a:t> Tapping into India's exploding digital economy, fueled by urbanization, rising incomes, and a demand for instant gratification.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C2413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Massive &amp; Growing 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9583"/>
                </a:solidFill>
                <a:latin typeface="Calibri"/>
              </a:rPr>
              <a:t>The Trillion-Dollar Indian Consumer Market Going Digital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210E1E"/>
          </a:solidFill>
          <a:ln w="19050">
            <a:solidFill>
              <a:srgbClr val="F05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$80B+ by 2028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9583"/>
                </a:solidFill>
                <a:latin typeface="Calibri"/>
              </a:rPr>
              <a:t>Total Addressable Market (TAM)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210E1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$70B+ by 2028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9583"/>
                </a:solidFill>
                <a:latin typeface="Calibri"/>
              </a:rPr>
              <a:t>Serviceable Available Market (SAM)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210E1E"/>
          </a:solidFill>
          <a:ln w="19050">
            <a:solidFill>
              <a:srgbClr val="F7A8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28% (2023-2028)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9583"/>
                </a:solidFill>
                <a:latin typeface="Calibri"/>
              </a:rPr>
              <a:t>Market Growth (CAGR)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9583"/>
                </a:solidFill>
                <a:latin typeface="Calibri"/>
              </a:rPr>
              <a:t>India's online food and grocery delivery market is experiencing exponential growth, driven by digital adoption, urbanization, and a young, convenience-seeking population. Swiggy is strategically positioned to capture a significant share of this evolving landscape.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>›  </a:t>
            </a:r>
            <a:r>
              <a:rPr sz="1300" b="1">
                <a:solidFill>
                  <a:srgbClr val="DC9583"/>
                </a:solidFill>
                <a:latin typeface="Calibri"/>
              </a:rPr>
              <a:t>Digital Penetration:</a:t>
            </a:r>
            <a:r>
              <a:rPr sz="1300" b="0">
                <a:solidFill>
                  <a:srgbClr val="DC9583"/>
                </a:solidFill>
                <a:latin typeface="Calibri"/>
              </a:rPr>
              <a:t> Rapid increase in smartphone and internet users fueling online consumption habits.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>›  </a:t>
            </a:r>
            <a:r>
              <a:rPr sz="1300" b="1">
                <a:solidFill>
                  <a:srgbClr val="DC9583"/>
                </a:solidFill>
                <a:latin typeface="Calibri"/>
              </a:rPr>
              <a:t>Urbanization:</a:t>
            </a:r>
            <a:r>
              <a:rPr sz="1300" b="0">
                <a:solidFill>
                  <a:srgbClr val="DC9583"/>
                </a:solidFill>
                <a:latin typeface="Calibri"/>
              </a:rPr>
              <a:t> Growing population in Tier 1 and Tier 2 cities driving demand for convenient services.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>›  </a:t>
            </a:r>
            <a:r>
              <a:rPr sz="1300" b="1">
                <a:solidFill>
                  <a:srgbClr val="DC9583"/>
                </a:solidFill>
                <a:latin typeface="Calibri"/>
              </a:rPr>
              <a:t>Disposable Income:</a:t>
            </a:r>
            <a:r>
              <a:rPr sz="1300" b="0">
                <a:solidFill>
                  <a:srgbClr val="DC9583"/>
                </a:solidFill>
                <a:latin typeface="Calibri"/>
              </a:rPr>
              <a:t> Rising middle class with higher purchasing power willing to pay for convenience.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C2413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Daily Grind: Urban Convenience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9583"/>
                </a:solidFill>
                <a:latin typeface="Calibri"/>
              </a:rPr>
              <a:t>Consumers face significant hurdles in accessing daily essentials and quality food.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9583"/>
                </a:solidFill>
                <a:latin typeface="Calibri"/>
              </a:rPr>
              <a:t/>
            </a:r>
            <a:r>
              <a:rPr sz="1400" b="1">
                <a:solidFill>
                  <a:srgbClr val="DC9583"/>
                </a:solidFill>
                <a:latin typeface="Calibri"/>
              </a:rPr>
              <a:t>Time Scarcity &amp; Hectic Lifestyles:</a:t>
            </a:r>
            <a:r>
              <a:rPr sz="1400" b="0">
                <a:solidFill>
                  <a:srgbClr val="DC9583"/>
                </a:solidFill>
                <a:latin typeface="Calibri"/>
              </a:rPr>
              <a:t> Urban dwellers, especially working professionals and young families, have limited time for cooking, grocery shopping, or dining out due to demanding schedules.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9583"/>
                </a:solidFill>
                <a:latin typeface="Calibri"/>
              </a:rPr>
              <a:t/>
            </a:r>
            <a:r>
              <a:rPr sz="1400" b="1">
                <a:solidFill>
                  <a:srgbClr val="DC9583"/>
                </a:solidFill>
                <a:latin typeface="Calibri"/>
              </a:rPr>
              <a:t>Limited Access to Diverse Options:</a:t>
            </a:r>
            <a:r>
              <a:rPr sz="1400" b="0">
                <a:solidFill>
                  <a:srgbClr val="DC9583"/>
                </a:solidFill>
                <a:latin typeface="Calibri"/>
              </a:rPr>
              <a:t> Local neighborhoods often lack variety in food cuisines or quick access to a comprehensive range of grocery items, forcing compromises.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9583"/>
                </a:solidFill>
                <a:latin typeface="Calibri"/>
              </a:rPr>
              <a:t/>
            </a:r>
            <a:r>
              <a:rPr sz="1400" b="1">
                <a:solidFill>
                  <a:srgbClr val="DC9583"/>
                </a:solidFill>
                <a:latin typeface="Calibri"/>
              </a:rPr>
              <a:t>Logistical Hurdles &amp; Traffic Congestion:</a:t>
            </a:r>
            <a:r>
              <a:rPr sz="1400" b="0">
                <a:solidFill>
                  <a:srgbClr val="DC9583"/>
                </a:solidFill>
                <a:latin typeface="Calibri"/>
              </a:rPr>
              <a:t> Navigating city traffic for errands is frustrating and time-consuming, while many local businesses struggle with efficient last-mile delivery.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9583"/>
                </a:solidFill>
                <a:latin typeface="Calibri"/>
              </a:rPr>
              <a:t/>
            </a:r>
            <a:r>
              <a:rPr sz="1400" b="1">
                <a:solidFill>
                  <a:srgbClr val="DC9583"/>
                </a:solidFill>
                <a:latin typeface="Calibri"/>
              </a:rPr>
              <a:t>Inconsistent Quality &amp; Reliability:</a:t>
            </a:r>
            <a:r>
              <a:rPr sz="1400" b="0">
                <a:solidFill>
                  <a:srgbClr val="DC9583"/>
                </a:solidFill>
                <a:latin typeface="Calibri"/>
              </a:rPr>
              <a:t> Finding consistent quality and reliable delivery from traditional local vendors or less sophisticated services remains a significant challenge for consumers.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C2413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Swiggy: Your On-Demand Urban Navigator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9583"/>
                </a:solidFill>
                <a:latin typeface="Calibri"/>
              </a:rPr>
              <a:t>A comprehensive platform solving daily convenience needs.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210E1E"/>
          </a:solidFill>
          <a:ln w="12700">
            <a:solidFill>
              <a:srgbClr val="4C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Hyperlocal Delivery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/>
            </a:r>
            <a:r>
              <a:rPr sz="1300" b="1">
                <a:solidFill>
                  <a:srgbClr val="DC9583"/>
                </a:solidFill>
                <a:latin typeface="Calibri"/>
              </a:rPr>
              <a:t>Efficient Last-Mile:</a:t>
            </a:r>
            <a:r>
              <a:rPr sz="1300" b="0">
                <a:solidFill>
                  <a:srgbClr val="DC9583"/>
                </a:solidFill>
                <a:latin typeface="Calibri"/>
              </a:rPr>
              <a:t> Optimized logistics and a vast fleet of delivery partners ensure rapid and reliable deliveries across 500+ cities.
</a:t>
            </a:r>
            <a:r>
              <a:rPr sz="1300" b="1">
                <a:solidFill>
                  <a:srgbClr val="DC9583"/>
                </a:solidFill>
                <a:latin typeface="Calibri"/>
              </a:rPr>
              <a:t>Real-time Tracking:</a:t>
            </a:r>
            <a:r>
              <a:rPr sz="1300" b="0">
                <a:solidFill>
                  <a:srgbClr val="DC9583"/>
                </a:solidFill>
                <a:latin typeface="Calibri"/>
              </a:rPr>
              <a:t> Customers receive live updates, enhancing transparency and trust.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210E1E"/>
          </a:solidFill>
          <a:ln w="12700">
            <a:solidFill>
              <a:srgbClr val="4C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Vast Merchant Ecosystem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/>
            </a:r>
            <a:r>
              <a:rPr sz="1300" b="1">
                <a:solidFill>
                  <a:srgbClr val="DC9583"/>
                </a:solidFill>
                <a:latin typeface="Calibri"/>
              </a:rPr>
              <a:t>Diverse Choices:</a:t>
            </a:r>
            <a:r>
              <a:rPr sz="1300" b="0">
                <a:solidFill>
                  <a:srgbClr val="DC9583"/>
                </a:solidFill>
                <a:latin typeface="Calibri"/>
              </a:rPr>
              <a:t> Access to thousands of restaurants, cafes, and grocery stores, offering unparalleled variety.
</a:t>
            </a:r>
            <a:r>
              <a:rPr sz="1300" b="1">
                <a:solidFill>
                  <a:srgbClr val="DC9583"/>
                </a:solidFill>
                <a:latin typeface="Calibri"/>
              </a:rPr>
              <a:t>Partner Empowerment:</a:t>
            </a:r>
            <a:r>
              <a:rPr sz="1300" b="0">
                <a:solidFill>
                  <a:srgbClr val="DC9583"/>
                </a:solidFill>
                <a:latin typeface="Calibri"/>
              </a:rPr>
              <a:t> Digital infrastructure enables local businesses to reach a wider customer base.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210E1E"/>
          </a:solidFill>
          <a:ln w="12700">
            <a:solidFill>
              <a:srgbClr val="4C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F7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Personalized User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/>
            </a:r>
            <a:r>
              <a:rPr sz="1300" b="1">
                <a:solidFill>
                  <a:srgbClr val="DC9583"/>
                </a:solidFill>
                <a:latin typeface="Calibri"/>
              </a:rPr>
              <a:t>Intuitive App:</a:t>
            </a:r>
            <a:r>
              <a:rPr sz="1300" b="0">
                <a:solidFill>
                  <a:srgbClr val="DC9583"/>
                </a:solidFill>
                <a:latin typeface="Calibri"/>
              </a:rPr>
              <a:t> Seamless ordering with personalized recommendations based on past preferences and location.
</a:t>
            </a:r>
            <a:r>
              <a:rPr sz="1300" b="1">
                <a:solidFill>
                  <a:srgbClr val="DC9583"/>
                </a:solidFill>
                <a:latin typeface="Calibri"/>
              </a:rPr>
              <a:t>Customer Support:</a:t>
            </a:r>
            <a:r>
              <a:rPr sz="1300" b="0">
                <a:solidFill>
                  <a:srgbClr val="DC9583"/>
                </a:solidFill>
                <a:latin typeface="Calibri"/>
              </a:rPr>
              <a:t> Dedicated support ensures a smooth experience from order to delivery resolution.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C2413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Integrated Product Offerings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9583"/>
                </a:solidFill>
                <a:latin typeface="Calibri"/>
              </a:rPr>
              <a:t>From Hot Meals to Instant Groceries, All in One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210E1E"/>
          </a:solidFill>
          <a:ln w="12700">
            <a:solidFill>
              <a:srgbClr val="4C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Food Delivery (Swiggy Food)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/>
            </a:r>
            <a:r>
              <a:rPr sz="1300" b="1">
                <a:solidFill>
                  <a:srgbClr val="DC9583"/>
                </a:solidFill>
                <a:latin typeface="Calibri"/>
              </a:rPr>
              <a:t>Extensive Restaurant Selection:</a:t>
            </a:r>
            <a:r>
              <a:rPr sz="1300" b="0">
                <a:solidFill>
                  <a:srgbClr val="DC9583"/>
                </a:solidFill>
                <a:latin typeface="Calibri"/>
              </a:rPr>
              <a:t> Access thousands of restaurants from fine dining to local favorites.
</a:t>
            </a:r>
            <a:r>
              <a:rPr sz="1300" b="1">
                <a:solidFill>
                  <a:srgbClr val="DC9583"/>
                </a:solidFill>
                <a:latin typeface="Calibri"/>
              </a:rPr>
              <a:t>Fast &amp; Fresh Delivery:</a:t>
            </a:r>
            <a:r>
              <a:rPr sz="1300" b="0">
                <a:solidFill>
                  <a:srgbClr val="DC9583"/>
                </a:solidFill>
                <a:latin typeface="Calibri"/>
              </a:rPr>
              <a:t> Hot meals delivered quickly, maintaining quality and taste.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210E1E"/>
          </a:solidFill>
          <a:ln w="12700">
            <a:solidFill>
              <a:srgbClr val="4C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Quick Commerce (Instamart)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/>
            </a:r>
            <a:r>
              <a:rPr sz="1300" b="1">
                <a:solidFill>
                  <a:srgbClr val="DC9583"/>
                </a:solidFill>
                <a:latin typeface="Calibri"/>
              </a:rPr>
              <a:t>Groceries in Minutes:</a:t>
            </a:r>
            <a:r>
              <a:rPr sz="1300" b="0">
                <a:solidFill>
                  <a:srgbClr val="DC9583"/>
                </a:solidFill>
                <a:latin typeface="Calibri"/>
              </a:rPr>
              <a:t> Order daily essentials, fresh produce, and household items for ultra-fast delivery.
</a:t>
            </a:r>
            <a:r>
              <a:rPr sz="1300" b="1">
                <a:solidFill>
                  <a:srgbClr val="DC9583"/>
                </a:solidFill>
                <a:latin typeface="Calibri"/>
              </a:rPr>
              <a:t>Wide Product Range:</a:t>
            </a:r>
            <a:r>
              <a:rPr sz="1300" b="0">
                <a:solidFill>
                  <a:srgbClr val="DC9583"/>
                </a:solidFill>
                <a:latin typeface="Calibri"/>
              </a:rPr>
              <a:t> A curated selection of popular and niche grocery items available on demand.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210E1E"/>
          </a:solidFill>
          <a:ln w="12700">
            <a:solidFill>
              <a:srgbClr val="4C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F7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Subscription Program (Swiggy One)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/>
            </a:r>
            <a:r>
              <a:rPr sz="1300" b="1">
                <a:solidFill>
                  <a:srgbClr val="DC9583"/>
                </a:solidFill>
                <a:latin typeface="Calibri"/>
              </a:rPr>
              <a:t>Exclusive Benefits:</a:t>
            </a:r>
            <a:r>
              <a:rPr sz="1300" b="0">
                <a:solidFill>
                  <a:srgbClr val="DC9583"/>
                </a:solidFill>
                <a:latin typeface="Calibri"/>
              </a:rPr>
              <a:t> Unlimited free deliveries, priority access, and special discounts across all Swiggy services.
</a:t>
            </a:r>
            <a:r>
              <a:rPr sz="1300" b="1">
                <a:solidFill>
                  <a:srgbClr val="DC9583"/>
                </a:solidFill>
                <a:latin typeface="Calibri"/>
              </a:rPr>
              <a:t>Enhanced Loyalty:</a:t>
            </a:r>
            <a:r>
              <a:rPr sz="1300" b="0">
                <a:solidFill>
                  <a:srgbClr val="DC9583"/>
                </a:solidFill>
                <a:latin typeface="Calibri"/>
              </a:rPr>
              <a:t> Drives retention and increases customer lifetime value through bundled offerings.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C2413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Robust &amp; Diversified Revenue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9583"/>
                </a:solidFill>
                <a:latin typeface="Calibri"/>
              </a:rPr>
              <a:t>Multiple avenues for sustainable growth and profitability.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210E1E"/>
          </a:solidFill>
          <a:ln w="12700">
            <a:solidFill>
              <a:srgbClr val="4C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Commission from Merchants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/>
            </a:r>
            <a:r>
              <a:rPr sz="1300" b="1">
                <a:solidFill>
                  <a:srgbClr val="DC9583"/>
                </a:solidFill>
                <a:latin typeface="Calibri"/>
              </a:rPr>
              <a:t>Percentage of Order Value:</a:t>
            </a:r>
            <a:r>
              <a:rPr sz="1300" b="0">
                <a:solidFill>
                  <a:srgbClr val="DC9583"/>
                </a:solidFill>
                <a:latin typeface="Calibri"/>
              </a:rPr>
              <a:t> We charge restaurants and grocery stores a commission on every order placed through our platform.
</a:t>
            </a:r>
            <a:r>
              <a:rPr sz="1300" b="1">
                <a:solidFill>
                  <a:srgbClr val="DC9583"/>
                </a:solidFill>
                <a:latin typeface="Calibri"/>
              </a:rPr>
              <a:t>Value Proposition:</a:t>
            </a:r>
            <a:r>
              <a:rPr sz="1300" b="0">
                <a:solidFill>
                  <a:srgbClr val="DC9583"/>
                </a:solidFill>
                <a:latin typeface="Calibri"/>
              </a:rPr>
              <a:t> Merchants gain access to a wider customer base, delivery logistics, and marketing support.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210E1E"/>
          </a:solidFill>
          <a:ln w="12700">
            <a:solidFill>
              <a:srgbClr val="4C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Delivery Fees (Customer Facing)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/>
            </a:r>
            <a:r>
              <a:rPr sz="1300" b="1">
                <a:solidFill>
                  <a:srgbClr val="DC9583"/>
                </a:solidFill>
                <a:latin typeface="Calibri"/>
              </a:rPr>
              <a:t>Convenience Charge:</a:t>
            </a:r>
            <a:r>
              <a:rPr sz="1300" b="0">
                <a:solidFill>
                  <a:srgbClr val="DC9583"/>
                </a:solidFill>
                <a:latin typeface="Calibri"/>
              </a:rPr>
              <a:t> Customers pay a nominal delivery fee for the speed and convenience of doorstep service.
</a:t>
            </a:r>
            <a:r>
              <a:rPr sz="1300" b="1">
                <a:solidFill>
                  <a:srgbClr val="DC9583"/>
                </a:solidFill>
                <a:latin typeface="Calibri"/>
              </a:rPr>
              <a:t>Dynamic Pricing:</a:t>
            </a:r>
            <a:r>
              <a:rPr sz="1300" b="0">
                <a:solidFill>
                  <a:srgbClr val="DC9583"/>
                </a:solidFill>
                <a:latin typeface="Calibri"/>
              </a:rPr>
              <a:t> Fees can vary based on distance, demand, and order value, optimizing delivery economics.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210E1E"/>
          </a:solidFill>
          <a:ln w="12700">
            <a:solidFill>
              <a:srgbClr val="4C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F7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Subscription &amp; Advertising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/>
            </a:r>
            <a:r>
              <a:rPr sz="1300" b="1">
                <a:solidFill>
                  <a:srgbClr val="DC9583"/>
                </a:solidFill>
                <a:latin typeface="Calibri"/>
              </a:rPr>
              <a:t>Swiggy One Membership:</a:t>
            </a:r>
            <a:r>
              <a:rPr sz="1300" b="0">
                <a:solidFill>
                  <a:srgbClr val="DC9583"/>
                </a:solidFill>
                <a:latin typeface="Calibri"/>
              </a:rPr>
              <a:t> Recurring revenue from our premium subscription program offering exclusive benefits.
</a:t>
            </a:r>
            <a:r>
              <a:rPr sz="1300" b="1">
                <a:solidFill>
                  <a:srgbClr val="DC9583"/>
                </a:solidFill>
                <a:latin typeface="Calibri"/>
              </a:rPr>
              <a:t>Platform Advertising:</a:t>
            </a:r>
            <a:r>
              <a:rPr sz="1300" b="0">
                <a:solidFill>
                  <a:srgbClr val="DC9583"/>
                </a:solidFill>
                <a:latin typeface="Calibri"/>
              </a:rPr>
              <a:t> Restaurants and brands pay for promoted listings and targeted advertising within the app, leveraging our vast user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C2413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Strong Financial &amp; User 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9583"/>
                </a:solidFill>
                <a:latin typeface="Calibri"/>
              </a:rPr>
              <a:t>Demonstrated Market Leadership and Growth.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210E1E"/>
          </a:solidFill>
          <a:ln w="19050">
            <a:solidFill>
              <a:srgbClr val="F05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$530,000,000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9583"/>
                </a:solidFill>
                <a:latin typeface="Calibri"/>
              </a:rPr>
              <a:t>Annual Recurring Revenue (ARR)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210E1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$562,000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9583"/>
                </a:solidFill>
                <a:latin typeface="Calibri"/>
              </a:rPr>
              <a:t>Monthly Recurring Revenue (MRR)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210E1E"/>
          </a:solidFill>
          <a:ln w="19050">
            <a:solidFill>
              <a:srgbClr val="F7A8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410,000,000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9583"/>
                </a:solidFill>
                <a:latin typeface="Calibri"/>
              </a:rPr>
              <a:t>Total Customers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210E1E"/>
          </a:solidFill>
          <a:ln w="19050">
            <a:solidFill>
              <a:srgbClr val="F37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141,997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9583"/>
                </a:solidFill>
                <a:latin typeface="Calibri"/>
              </a:rPr>
              <a:t>Monthly Active Users (MAU)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9583"/>
                </a:solidFill>
                <a:latin typeface="Calibri"/>
              </a:rPr>
              <a:t>Swiggy has achieved significant milestones, showcasing robust financial performance and widespread customer adoption, reaffirming our position as a market leader.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>›  </a:t>
            </a:r>
            <a:r>
              <a:rPr sz="1300" b="1">
                <a:solidFill>
                  <a:srgbClr val="DC9583"/>
                </a:solidFill>
                <a:latin typeface="Calibri"/>
              </a:rPr>
              <a:t>Revenue Scale:</a:t>
            </a:r>
            <a:r>
              <a:rPr sz="1300" b="0">
                <a:solidFill>
                  <a:srgbClr val="DC9583"/>
                </a:solidFill>
                <a:latin typeface="Calibri"/>
              </a:rPr>
              <a:t> A substantial Annual Recurring Revenue reflects our market penetration and operational scale.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>›  </a:t>
            </a:r>
            <a:r>
              <a:rPr sz="1300" b="1">
                <a:solidFill>
                  <a:srgbClr val="DC9583"/>
                </a:solidFill>
                <a:latin typeface="Calibri"/>
              </a:rPr>
              <a:t>Customer Base:</a:t>
            </a:r>
            <a:r>
              <a:rPr sz="1300" b="0">
                <a:solidFill>
                  <a:srgbClr val="DC9583"/>
                </a:solidFill>
                <a:latin typeface="Calibri"/>
              </a:rPr>
              <a:t> Our extensive customer count highlights widespread brand recognition and trust across India.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>›  </a:t>
            </a:r>
            <a:r>
              <a:rPr sz="1300" b="1">
                <a:solidFill>
                  <a:srgbClr val="DC9583"/>
                </a:solidFill>
                <a:latin typeface="Calibri"/>
              </a:rPr>
              <a:t>Active Engagement:</a:t>
            </a:r>
            <a:r>
              <a:rPr sz="1300" b="0">
                <a:solidFill>
                  <a:srgbClr val="DC9583"/>
                </a:solidFill>
                <a:latin typeface="Calibri"/>
              </a:rPr>
              <a:t> A dedicated base of Monthly Active Users who rely on Swiggy for their daily needs.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C2413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9583"/>
                </a:solidFill>
                <a:latin typeface="Calibri"/>
              </a:rPr>
              <a:t>Navigating a Dynamic &amp; Expanding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210E1E"/>
          </a:solidFill>
          <a:ln w="12700">
            <a:solidFill>
              <a:srgbClr val="4C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Zomato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/>
            </a:r>
            <a:r>
              <a:rPr sz="1300" b="1">
                <a:solidFill>
                  <a:srgbClr val="DC9583"/>
                </a:solidFill>
                <a:latin typeface="Calibri"/>
              </a:rPr>
              <a:t>Key Rival:</a:t>
            </a:r>
            <a:r>
              <a:rPr sz="1300" b="0">
                <a:solidFill>
                  <a:srgbClr val="DC9583"/>
                </a:solidFill>
                <a:latin typeface="Calibri"/>
              </a:rPr>
              <a:t> Direct competitor in food delivery with strong market share.
</a:t>
            </a:r>
            <a:r>
              <a:rPr sz="1300" b="1">
                <a:solidFill>
                  <a:srgbClr val="DC9583"/>
                </a:solidFill>
                <a:latin typeface="Calibri"/>
              </a:rPr>
              <a:t>Strategic Acquisitions:</a:t>
            </a:r>
            <a:r>
              <a:rPr sz="1300" b="0">
                <a:solidFill>
                  <a:srgbClr val="DC9583"/>
                </a:solidFill>
                <a:latin typeface="Calibri"/>
              </a:rPr>
              <a:t> Owns Blinkit, strengthening its quick commerce presence.
</a:t>
            </a:r>
            <a:r>
              <a:rPr sz="1300" b="1">
                <a:solidFill>
                  <a:srgbClr val="DC9583"/>
                </a:solidFill>
                <a:latin typeface="Calibri"/>
              </a:rPr>
              <a:t>Differentiation:</a:t>
            </a:r>
            <a:r>
              <a:rPr sz="1300" b="0">
                <a:solidFill>
                  <a:srgbClr val="DC9583"/>
                </a:solidFill>
                <a:latin typeface="Calibri"/>
              </a:rPr>
              <a:t> Focus on restaurant discovery and dining out, alongside delivery.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210E1E"/>
          </a:solidFill>
          <a:ln w="12700">
            <a:solidFill>
              <a:srgbClr val="4C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Blinkit (by Zomato)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/>
            </a:r>
            <a:r>
              <a:rPr sz="1300" b="1">
                <a:solidFill>
                  <a:srgbClr val="DC9583"/>
                </a:solidFill>
                <a:latin typeface="Calibri"/>
              </a:rPr>
              <a:t>Quick Commerce Specialist:</a:t>
            </a:r>
            <a:r>
              <a:rPr sz="1300" b="0">
                <a:solidFill>
                  <a:srgbClr val="DC9583"/>
                </a:solidFill>
                <a:latin typeface="Calibri"/>
              </a:rPr>
              <a:t> Rapidly growing competitor in 10-minute grocery delivery.
</a:t>
            </a:r>
            <a:r>
              <a:rPr sz="1300" b="1">
                <a:solidFill>
                  <a:srgbClr val="DC9583"/>
                </a:solidFill>
                <a:latin typeface="Calibri"/>
              </a:rPr>
              <a:t>Parent Company Synergy:</a:t>
            </a:r>
            <a:r>
              <a:rPr sz="1300" b="0">
                <a:solidFill>
                  <a:srgbClr val="DC9583"/>
                </a:solidFill>
                <a:latin typeface="Calibri"/>
              </a:rPr>
              <a:t> Leverages Zomato's extensive user base and logistical expertise.
</a:t>
            </a:r>
            <a:r>
              <a:rPr sz="1300" b="1">
                <a:solidFill>
                  <a:srgbClr val="DC9583"/>
                </a:solidFill>
                <a:latin typeface="Calibri"/>
              </a:rPr>
              <a:t>Differentiation:</a:t>
            </a:r>
            <a:r>
              <a:rPr sz="1300" b="0">
                <a:solidFill>
                  <a:srgbClr val="DC9583"/>
                </a:solidFill>
                <a:latin typeface="Calibri"/>
              </a:rPr>
              <a:t> Exclusively focused on ultra-fast grocery and essential item delivery.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210E1E"/>
          </a:solidFill>
          <a:ln w="12700">
            <a:solidFill>
              <a:srgbClr val="4C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F7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Zepto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/>
            </a:r>
            <a:r>
              <a:rPr sz="1300" b="1">
                <a:solidFill>
                  <a:srgbClr val="DC9583"/>
                </a:solidFill>
                <a:latin typeface="Calibri"/>
              </a:rPr>
              <a:t>Emerging Player:</a:t>
            </a:r>
            <a:r>
              <a:rPr sz="1300" b="0">
                <a:solidFill>
                  <a:srgbClr val="DC9583"/>
                </a:solidFill>
                <a:latin typeface="Calibri"/>
              </a:rPr>
              <a:t> Well-funded startup focused solely on quick grocery delivery.
</a:t>
            </a:r>
            <a:r>
              <a:rPr sz="1300" b="1">
                <a:solidFill>
                  <a:srgbClr val="DC9583"/>
                </a:solidFill>
                <a:latin typeface="Calibri"/>
              </a:rPr>
              <a:t>Innovation:</a:t>
            </a:r>
            <a:r>
              <a:rPr sz="1300" b="0">
                <a:solidFill>
                  <a:srgbClr val="DC9583"/>
                </a:solidFill>
                <a:latin typeface="Calibri"/>
              </a:rPr>
              <a:t> Known for aggressive expansion and technological efficiency in micro-warehousing.
</a:t>
            </a:r>
            <a:r>
              <a:rPr sz="1300" b="1">
                <a:solidFill>
                  <a:srgbClr val="DC9583"/>
                </a:solidFill>
                <a:latin typeface="Calibri"/>
              </a:rPr>
              <a:t>Differentiation:</a:t>
            </a:r>
            <a:r>
              <a:rPr sz="1300" b="0">
                <a:solidFill>
                  <a:srgbClr val="DC9583"/>
                </a:solidFill>
                <a:latin typeface="Calibri"/>
              </a:rPr>
              <a:t> Pure-play quick commerce, often targeting speed leadership in specific zones.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C2413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Visionary Leadership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9583"/>
                </a:solidFill>
                <a:latin typeface="Calibri"/>
              </a:rPr>
              <a:t>Experience, Execution, and Deep Market Understanding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210E1E"/>
          </a:solidFill>
          <a:ln w="12700">
            <a:solidFill>
              <a:srgbClr val="4C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Sriharsha Majety — Co-founder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/>
            </a:r>
            <a:r>
              <a:rPr sz="1300" b="1">
                <a:solidFill>
                  <a:srgbClr val="DC9583"/>
                </a:solidFill>
                <a:latin typeface="Calibri"/>
              </a:rPr>
              <a:t>Visionary Leader:</a:t>
            </a:r>
            <a:r>
              <a:rPr sz="1300" b="0">
                <a:solidFill>
                  <a:srgbClr val="DC9583"/>
                </a:solidFill>
                <a:latin typeface="Calibri"/>
              </a:rPr>
              <a:t> Driving Swiggy's strategic direction, growth, and expansion into new verticals.
</a:t>
            </a:r>
            <a:r>
              <a:rPr sz="1300" b="1">
                <a:solidFill>
                  <a:srgbClr val="DC9583"/>
                </a:solidFill>
                <a:latin typeface="Calibri"/>
              </a:rPr>
              <a:t>Background:</a:t>
            </a:r>
            <a:r>
              <a:rPr sz="1300" b="0">
                <a:solidFill>
                  <a:srgbClr val="DC9583"/>
                </a:solidFill>
                <a:latin typeface="Calibri"/>
              </a:rPr>
              <a:t> Ex-Myntra, IIM Calcutta MBA. Proven track record in scaling e-commerce and logistics operations.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210E1E"/>
          </a:solidFill>
          <a:ln w="12700">
            <a:solidFill>
              <a:srgbClr val="4C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Nandan Reddy — Co-founder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/>
            </a:r>
            <a:r>
              <a:rPr sz="1300" b="1">
                <a:solidFill>
                  <a:srgbClr val="DC9583"/>
                </a:solidFill>
                <a:latin typeface="Calibri"/>
              </a:rPr>
              <a:t>Operational Excellence:</a:t>
            </a:r>
            <a:r>
              <a:rPr sz="1300" b="0">
                <a:solidFill>
                  <a:srgbClr val="DC9583"/>
                </a:solidFill>
                <a:latin typeface="Calibri"/>
              </a:rPr>
              <a:t> Overseeing critical aspects of logistics, supply chain, and delivery partner network management.
</a:t>
            </a:r>
            <a:r>
              <a:rPr sz="1300" b="1">
                <a:solidFill>
                  <a:srgbClr val="DC9583"/>
                </a:solidFill>
                <a:latin typeface="Calibri"/>
              </a:rPr>
              <a:t>Background:</a:t>
            </a:r>
            <a:r>
              <a:rPr sz="1300" b="0">
                <a:solidFill>
                  <a:srgbClr val="DC9583"/>
                </a:solidFill>
                <a:latin typeface="Calibri"/>
              </a:rPr>
              <a:t> Ex-Myntra. Instrumental in building efficient and scalable operational frameworks from the ground up.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210E1E"/>
          </a:solidFill>
          <a:ln w="12700">
            <a:solidFill>
              <a:srgbClr val="4C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F7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Anuj Rathi — Senior VP, Revenue &amp;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/>
            </a:r>
            <a:r>
              <a:rPr sz="1300" b="1">
                <a:solidFill>
                  <a:srgbClr val="DC9583"/>
                </a:solidFill>
                <a:latin typeface="Calibri"/>
              </a:rPr>
              <a:t>Growth Strategist:</a:t>
            </a:r>
            <a:r>
              <a:rPr sz="1300" b="0">
                <a:solidFill>
                  <a:srgbClr val="DC9583"/>
                </a:solidFill>
                <a:latin typeface="Calibri"/>
              </a:rPr>
              <a:t> Leads revenue generation, marketing, and user acquisition initiatives across all platforms.
</a:t>
            </a:r>
            <a:r>
              <a:rPr sz="1300" b="1">
                <a:solidFill>
                  <a:srgbClr val="DC9583"/>
                </a:solidFill>
                <a:latin typeface="Calibri"/>
              </a:rPr>
              <a:t>Background:</a:t>
            </a:r>
            <a:r>
              <a:rPr sz="1300" b="0">
                <a:solidFill>
                  <a:srgbClr val="DC9583"/>
                </a:solidFill>
                <a:latin typeface="Calibri"/>
              </a:rPr>
              <a:t> Former VP of Products at Swiggy, strong consumer tech and product leadership experience.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C2413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Projected Financial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9583"/>
                </a:solidFill>
                <a:latin typeface="Calibri"/>
              </a:rPr>
              <a:t>Sustained Revenue Acceleration &amp; Margin Expansion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210E1E"/>
          </a:solidFill>
          <a:ln w="19050">
            <a:solidFill>
              <a:srgbClr val="F05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$530M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9583"/>
                </a:solidFill>
                <a:latin typeface="Calibri"/>
              </a:rPr>
              <a:t>Current ARR (FY2024)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210E1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$715M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9583"/>
                </a:solidFill>
                <a:latin typeface="Calibri"/>
              </a:rPr>
              <a:t>Projected ARR (FY2025)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210E1E"/>
          </a:solidFill>
          <a:ln w="19050">
            <a:solidFill>
              <a:srgbClr val="F7A8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$966M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9583"/>
                </a:solidFill>
                <a:latin typeface="Calibri"/>
              </a:rPr>
              <a:t>Projected ARR (FY2026)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210E1E"/>
          </a:solidFill>
          <a:ln w="19050">
            <a:solidFill>
              <a:srgbClr val="F37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25%+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9583"/>
                </a:solidFill>
                <a:latin typeface="Calibri"/>
              </a:rPr>
              <a:t>Projected Gross 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9583"/>
                </a:solidFill>
                <a:latin typeface="Calibri"/>
              </a:rPr>
              <a:t>Swiggy is on a strong growth trajectory, driven by market expansion, increased customer engagement, and operational efficiencies. Our projections indicate continued revenue acceleration and improving gross margins.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>›  </a:t>
            </a:r>
            <a:r>
              <a:rPr sz="1300" b="1">
                <a:solidFill>
                  <a:srgbClr val="DC9583"/>
                </a:solidFill>
                <a:latin typeface="Calibri"/>
              </a:rPr>
              <a:t>Market Penetration:</a:t>
            </a:r>
            <a:r>
              <a:rPr sz="1300" b="0">
                <a:solidFill>
                  <a:srgbClr val="DC9583"/>
                </a:solidFill>
                <a:latin typeface="Calibri"/>
              </a:rPr>
              <a:t> Expanding into new cities and deepening presence in existing markets drives incremental revenue.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>›  </a:t>
            </a:r>
            <a:r>
              <a:rPr sz="1300" b="1">
                <a:solidFill>
                  <a:srgbClr val="DC9583"/>
                </a:solidFill>
                <a:latin typeface="Calibri"/>
              </a:rPr>
              <a:t>Service Diversification:</a:t>
            </a:r>
            <a:r>
              <a:rPr sz="1300" b="0">
                <a:solidFill>
                  <a:srgbClr val="DC9583"/>
                </a:solidFill>
                <a:latin typeface="Calibri"/>
              </a:rPr>
              <a:t> Growth in quick commerce (Instamart) and Swiggy One subscriptions contributes significantly.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>›  </a:t>
            </a:r>
            <a:r>
              <a:rPr sz="1300" b="1">
                <a:solidFill>
                  <a:srgbClr val="DC9583"/>
                </a:solidFill>
                <a:latin typeface="Calibri"/>
              </a:rPr>
              <a:t>Operational Leverage:</a:t>
            </a:r>
            <a:r>
              <a:rPr sz="1300" b="0">
                <a:solidFill>
                  <a:srgbClr val="DC9583"/>
                </a:solidFill>
                <a:latin typeface="Calibri"/>
              </a:rPr>
              <a:t> Improving delivery density and tech optimization lead to enhanced gross margins.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C2413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Ask: Fueling Our Next Phase of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9583"/>
                </a:solidFill>
                <a:latin typeface="Calibri"/>
              </a:rPr>
              <a:t>Seeking $4,998,000 to Accelerate Market Leadership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210E1E"/>
          </a:solidFill>
          <a:ln w="12700">
            <a:solidFill>
              <a:srgbClr val="4C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40% Product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/>
            </a:r>
            <a:r>
              <a:rPr sz="1300" b="1">
                <a:solidFill>
                  <a:srgbClr val="DC9583"/>
                </a:solidFill>
                <a:latin typeface="Calibri"/>
              </a:rPr>
              <a:t>AI &amp; Personalization:</a:t>
            </a:r>
            <a:r>
              <a:rPr sz="1300" b="0">
                <a:solidFill>
                  <a:srgbClr val="DC9583"/>
                </a:solidFill>
                <a:latin typeface="Calibri"/>
              </a:rPr>
              <a:t> Enhance recommendation engines and predictive analytics for a superior user experience.
</a:t>
            </a:r>
            <a:r>
              <a:rPr sz="1300" b="1">
                <a:solidFill>
                  <a:srgbClr val="DC9583"/>
                </a:solidFill>
                <a:latin typeface="Calibri"/>
              </a:rPr>
              <a:t>New Service Offerings:</a:t>
            </a:r>
            <a:r>
              <a:rPr sz="1300" b="0">
                <a:solidFill>
                  <a:srgbClr val="DC9583"/>
                </a:solidFill>
                <a:latin typeface="Calibri"/>
              </a:rPr>
              <a:t> Explore and develop adjacent convenience services to expand our ecosystem.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210E1E"/>
          </a:solidFill>
          <a:ln w="12700">
            <a:solidFill>
              <a:srgbClr val="4C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40% Market 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/>
            </a:r>
            <a:r>
              <a:rPr sz="1300" b="1">
                <a:solidFill>
                  <a:srgbClr val="DC9583"/>
                </a:solidFill>
                <a:latin typeface="Calibri"/>
              </a:rPr>
              <a:t>Deepen City Penetration:</a:t>
            </a:r>
            <a:r>
              <a:rPr sz="1300" b="0">
                <a:solidFill>
                  <a:srgbClr val="DC9583"/>
                </a:solidFill>
                <a:latin typeface="Calibri"/>
              </a:rPr>
              <a:t> Increase density in existing high-potential cities to reduce delivery times and costs.
</a:t>
            </a:r>
            <a:r>
              <a:rPr sz="1300" b="1">
                <a:solidFill>
                  <a:srgbClr val="DC9583"/>
                </a:solidFill>
                <a:latin typeface="Calibri"/>
              </a:rPr>
              <a:t>Strategic Market Entry:</a:t>
            </a:r>
            <a:r>
              <a:rPr sz="1300" b="0">
                <a:solidFill>
                  <a:srgbClr val="DC9583"/>
                </a:solidFill>
                <a:latin typeface="Calibri"/>
              </a:rPr>
              <a:t> Expand into new Tier 2 and Tier 3 cities with high growth potential.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210E1E"/>
          </a:solidFill>
          <a:ln w="12700">
            <a:solidFill>
              <a:srgbClr val="4C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F7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20% Operational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9583"/>
                </a:solidFill>
                <a:latin typeface="Calibri"/>
              </a:rPr>
              <a:t/>
            </a:r>
            <a:r>
              <a:rPr sz="1300" b="1">
                <a:solidFill>
                  <a:srgbClr val="DC9583"/>
                </a:solidFill>
                <a:latin typeface="Calibri"/>
              </a:rPr>
              <a:t>Logistics Optimization:</a:t>
            </a:r>
            <a:r>
              <a:rPr sz="1300" b="0">
                <a:solidFill>
                  <a:srgbClr val="DC9583"/>
                </a:solidFill>
                <a:latin typeface="Calibri"/>
              </a:rPr>
              <a:t> Invest in advanced routing algorithms and fleet management technologies.
</a:t>
            </a:r>
            <a:r>
              <a:rPr sz="1300" b="1">
                <a:solidFill>
                  <a:srgbClr val="DC9583"/>
                </a:solidFill>
                <a:latin typeface="Calibri"/>
              </a:rPr>
              <a:t>Delivery Partner Programs:</a:t>
            </a:r>
            <a:r>
              <a:rPr sz="1300" b="0">
                <a:solidFill>
                  <a:srgbClr val="DC9583"/>
                </a:solidFill>
                <a:latin typeface="Calibri"/>
              </a:rPr>
              <a:t> Enhance training, incentives, and support for our delivery fleet to improve service quality.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C9583"/>
                </a:solidFill>
                <a:latin typeface="Calibri"/>
              </a:rPr>
              <a:t>Join us in shaping the future of convenience in India.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C2413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