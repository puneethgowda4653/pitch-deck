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3F3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32720" cy="1463040"/>
          </a:xfrm>
          <a:prstGeom prst="rect">
            <a:avLst/>
          </a:prstGeom>
          <a:noFill/>
        </p:spPr>
        <p:txBody>
          <a:bodyPr wrap="square">
            <a:spAutoFit/>
          </a:bodyPr>
          <a:lstStyle/>
          <a:p>
            <a:pPr algn="ctr"/>
            <a:r>
              <a:rPr sz="4800" b="1">
                <a:solidFill>
                  <a:srgbClr val="F5F3FF"/>
                </a:solidFill>
                <a:latin typeface="Calibri"/>
              </a:rPr>
              <a:t>Linear</a:t>
            </a:r>
          </a:p>
        </p:txBody>
      </p:sp>
      <p:sp>
        <p:nvSpPr>
          <p:cNvPr id="5" name="TextBox 4"/>
          <p:cNvSpPr txBox="1"/>
          <p:nvPr/>
        </p:nvSpPr>
        <p:spPr>
          <a:xfrm>
            <a:off x="1371600" y="3200400"/>
            <a:ext cx="9418320" cy="731520"/>
          </a:xfrm>
          <a:prstGeom prst="rect">
            <a:avLst/>
          </a:prstGeom>
          <a:noFill/>
        </p:spPr>
        <p:txBody>
          <a:bodyPr wrap="square">
            <a:spAutoFit/>
          </a:bodyPr>
          <a:lstStyle/>
          <a:p>
            <a:pPr algn="ctr"/>
            <a:r>
              <a:rPr sz="2200" b="0">
                <a:solidFill>
                  <a:srgbClr val="9B8EC4"/>
                </a:solidFill>
                <a:latin typeface="Calibri"/>
              </a:rPr>
              <a:t>The product development system for teams and agents</a:t>
            </a:r>
          </a:p>
        </p:txBody>
      </p:sp>
      <p:sp>
        <p:nvSpPr>
          <p:cNvPr id="6" name="TextBox 5"/>
          <p:cNvSpPr txBox="1"/>
          <p:nvPr/>
        </p:nvSpPr>
        <p:spPr>
          <a:xfrm>
            <a:off x="1828800" y="4023360"/>
            <a:ext cx="8503920" cy="731520"/>
          </a:xfrm>
          <a:prstGeom prst="rect">
            <a:avLst/>
          </a:prstGeom>
          <a:noFill/>
        </p:spPr>
        <p:txBody>
          <a:bodyPr wrap="square">
            <a:spAutoFit/>
          </a:bodyPr>
          <a:lstStyle/>
          <a:p>
            <a:pPr algn="ctr"/>
            <a:r>
              <a:rPr sz="1500" b="0">
                <a:solidFill>
                  <a:srgbClr val="5C4E7A"/>
                </a:solidFill>
                <a:latin typeface="Calibri"/>
              </a:rPr>
              <a:t>Linear is a product development system purpose-built for modern teams and AI agents. It sets a new standard for planning and building products by integrating AI workflows at its core. It empowers teams to define product direction, automate operations, move work forward, and understand progress at scale.</a:t>
            </a:r>
          </a:p>
        </p:txBody>
      </p:sp>
      <p:sp>
        <p:nvSpPr>
          <p:cNvPr id="7" name="TextBox 6"/>
          <p:cNvSpPr txBox="1"/>
          <p:nvPr/>
        </p:nvSpPr>
        <p:spPr>
          <a:xfrm>
            <a:off x="3200400" y="6309360"/>
            <a:ext cx="5760720" cy="365760"/>
          </a:xfrm>
          <a:prstGeom prst="rect">
            <a:avLst/>
          </a:prstGeom>
          <a:noFill/>
        </p:spPr>
        <p:txBody>
          <a:bodyPr wrap="square">
            <a:spAutoFit/>
          </a:bodyPr>
          <a:lstStyle/>
          <a:p>
            <a:pPr algn="ctr"/>
            <a:r>
              <a:rPr sz="1000" b="0">
                <a:solidFill>
                  <a:srgbClr val="5C4E7A"/>
                </a:solidFill>
                <a:latin typeface="Calibri"/>
              </a:rPr>
              <a:t>Investor Presentation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8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EXECUTIVE SUMMARY</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Executive Summary</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The only solution built for Modern product teams, World-class product teams, Developers, Product Managers in a $12.5B global SaaS, Product Development Software market (2024, est. based on broader project management software trends) market growing at 21.5% CAGR 2024–2030 (est.)</a:t>
            </a:r>
          </a:p>
        </p:txBody>
      </p:sp>
      <p:sp>
        <p:nvSpPr>
          <p:cNvPr id="6" name="Rectangle 5"/>
          <p:cNvSpPr/>
          <p:nvPr/>
        </p:nvSpPr>
        <p:spPr>
          <a:xfrm>
            <a:off x="632307" y="2103120"/>
            <a:ext cx="2560320" cy="2194560"/>
          </a:xfrm>
          <a:prstGeom prst="rect">
            <a:avLst/>
          </a:prstGeom>
          <a:solidFill>
            <a:srgbClr val="1A1130"/>
          </a:solidFill>
          <a:ln w="19050">
            <a:solidFill>
              <a:srgbClr val="0809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9467" y="2331720"/>
            <a:ext cx="2286000" cy="914400"/>
          </a:xfrm>
          <a:prstGeom prst="rect">
            <a:avLst/>
          </a:prstGeom>
          <a:noFill/>
        </p:spPr>
        <p:txBody>
          <a:bodyPr wrap="square">
            <a:spAutoFit/>
          </a:bodyPr>
          <a:lstStyle/>
          <a:p>
            <a:pPr algn="ctr"/>
            <a:r>
              <a:rPr sz="3400" b="1">
                <a:solidFill>
                  <a:srgbClr val="F5F3FF"/>
                </a:solidFill>
                <a:latin typeface="Calibri"/>
              </a:rPr>
              <a:t>$12.5B</a:t>
            </a:r>
          </a:p>
        </p:txBody>
      </p:sp>
      <p:sp>
        <p:nvSpPr>
          <p:cNvPr id="8" name="TextBox 7"/>
          <p:cNvSpPr txBox="1"/>
          <p:nvPr/>
        </p:nvSpPr>
        <p:spPr>
          <a:xfrm>
            <a:off x="769467" y="3246120"/>
            <a:ext cx="2286000" cy="411480"/>
          </a:xfrm>
          <a:prstGeom prst="rect">
            <a:avLst/>
          </a:prstGeom>
          <a:noFill/>
        </p:spPr>
        <p:txBody>
          <a:bodyPr wrap="square">
            <a:spAutoFit/>
          </a:bodyPr>
          <a:lstStyle/>
          <a:p>
            <a:pPr algn="ctr"/>
            <a:r>
              <a:rPr sz="1200" b="0">
                <a:solidFill>
                  <a:srgbClr val="9B8EC4"/>
                </a:solidFill>
                <a:latin typeface="Calibri"/>
              </a:rPr>
              <a:t>TAM</a:t>
            </a:r>
          </a:p>
        </p:txBody>
      </p:sp>
      <p:sp>
        <p:nvSpPr>
          <p:cNvPr id="9" name="TextBox 8"/>
          <p:cNvSpPr txBox="1"/>
          <p:nvPr/>
        </p:nvSpPr>
        <p:spPr>
          <a:xfrm>
            <a:off x="723747" y="3657600"/>
            <a:ext cx="2377440" cy="457200"/>
          </a:xfrm>
          <a:prstGeom prst="rect">
            <a:avLst/>
          </a:prstGeom>
          <a:noFill/>
        </p:spPr>
        <p:txBody>
          <a:bodyPr wrap="square">
            <a:spAutoFit/>
          </a:bodyPr>
          <a:lstStyle/>
          <a:p>
            <a:pPr algn="ctr"/>
            <a:r>
              <a:rPr sz="1000" b="0">
                <a:solidFill>
                  <a:srgbClr val="5C4E7A"/>
                </a:solidFill>
                <a:latin typeface="Calibri"/>
              </a:rPr>
              <a:t>Total global SaaS, Product Development Software market (2024, est.)</a:t>
            </a:r>
          </a:p>
        </p:txBody>
      </p:sp>
      <p:sp>
        <p:nvSpPr>
          <p:cNvPr id="10" name="Rectangle 9"/>
          <p:cNvSpPr/>
          <p:nvPr/>
        </p:nvSpPr>
        <p:spPr>
          <a:xfrm>
            <a:off x="3421227" y="2103120"/>
            <a:ext cx="2560320" cy="2194560"/>
          </a:xfrm>
          <a:prstGeom prst="rect">
            <a:avLst/>
          </a:prstGeom>
          <a:solidFill>
            <a:srgbClr val="1A1130"/>
          </a:solidFill>
          <a:ln w="19050">
            <a:solidFill>
              <a:srgbClr val="0809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58387" y="2331720"/>
            <a:ext cx="2286000" cy="914400"/>
          </a:xfrm>
          <a:prstGeom prst="rect">
            <a:avLst/>
          </a:prstGeom>
          <a:noFill/>
        </p:spPr>
        <p:txBody>
          <a:bodyPr wrap="square">
            <a:spAutoFit/>
          </a:bodyPr>
          <a:lstStyle/>
          <a:p>
            <a:pPr algn="ctr"/>
            <a:r>
              <a:rPr sz="3400" b="1">
                <a:solidFill>
                  <a:srgbClr val="F5F3FF"/>
                </a:solidFill>
                <a:latin typeface="Calibri"/>
              </a:rPr>
              <a:t>21.5% CAGR 2024–2030 (est.)</a:t>
            </a:r>
          </a:p>
        </p:txBody>
      </p:sp>
      <p:sp>
        <p:nvSpPr>
          <p:cNvPr id="12" name="TextBox 11"/>
          <p:cNvSpPr txBox="1"/>
          <p:nvPr/>
        </p:nvSpPr>
        <p:spPr>
          <a:xfrm>
            <a:off x="3558387" y="3246120"/>
            <a:ext cx="2286000" cy="411480"/>
          </a:xfrm>
          <a:prstGeom prst="rect">
            <a:avLst/>
          </a:prstGeom>
          <a:noFill/>
        </p:spPr>
        <p:txBody>
          <a:bodyPr wrap="square">
            <a:spAutoFit/>
          </a:bodyPr>
          <a:lstStyle/>
          <a:p>
            <a:pPr algn="ctr"/>
            <a:r>
              <a:rPr sz="1200" b="0">
                <a:solidFill>
                  <a:srgbClr val="9B8EC4"/>
                </a:solidFill>
                <a:latin typeface="Calibri"/>
              </a:rPr>
              <a:t>CAGR</a:t>
            </a:r>
          </a:p>
        </p:txBody>
      </p:sp>
      <p:sp>
        <p:nvSpPr>
          <p:cNvPr id="13" name="TextBox 12"/>
          <p:cNvSpPr txBox="1"/>
          <p:nvPr/>
        </p:nvSpPr>
        <p:spPr>
          <a:xfrm>
            <a:off x="3512667" y="3657600"/>
            <a:ext cx="2377440" cy="457200"/>
          </a:xfrm>
          <a:prstGeom prst="rect">
            <a:avLst/>
          </a:prstGeom>
          <a:noFill/>
        </p:spPr>
        <p:txBody>
          <a:bodyPr wrap="square">
            <a:spAutoFit/>
          </a:bodyPr>
          <a:lstStyle/>
          <a:p>
            <a:pPr algn="ctr"/>
            <a:r>
              <a:rPr sz="1000" b="0">
                <a:solidFill>
                  <a:srgbClr val="5C4E7A"/>
                </a:solidFill>
                <a:latin typeface="Calibri"/>
              </a:rPr>
              <a:t>Projected 2024–2030</a:t>
            </a:r>
          </a:p>
        </p:txBody>
      </p:sp>
      <p:sp>
        <p:nvSpPr>
          <p:cNvPr id="14" name="Rectangle 13"/>
          <p:cNvSpPr/>
          <p:nvPr/>
        </p:nvSpPr>
        <p:spPr>
          <a:xfrm>
            <a:off x="6210147" y="2103120"/>
            <a:ext cx="2560320" cy="2194560"/>
          </a:xfrm>
          <a:prstGeom prst="rect">
            <a:avLst/>
          </a:prstGeom>
          <a:solidFill>
            <a:srgbClr val="1A1130"/>
          </a:solidFill>
          <a:ln w="19050">
            <a:solidFill>
              <a:srgbClr val="0809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7307" y="2331720"/>
            <a:ext cx="2286000" cy="914400"/>
          </a:xfrm>
          <a:prstGeom prst="rect">
            <a:avLst/>
          </a:prstGeom>
          <a:noFill/>
        </p:spPr>
        <p:txBody>
          <a:bodyPr wrap="square">
            <a:spAutoFit/>
          </a:bodyPr>
          <a:lstStyle/>
          <a:p>
            <a:pPr algn="ctr"/>
            <a:r>
              <a:rPr sz="3400" b="1">
                <a:solidFill>
                  <a:srgbClr val="F5F3FF"/>
                </a:solidFill>
                <a:latin typeface="Calibri"/>
              </a:rPr>
              <a:t>Early traction</a:t>
            </a:r>
          </a:p>
        </p:txBody>
      </p:sp>
      <p:sp>
        <p:nvSpPr>
          <p:cNvPr id="16" name="TextBox 15"/>
          <p:cNvSpPr txBox="1"/>
          <p:nvPr/>
        </p:nvSpPr>
        <p:spPr>
          <a:xfrm>
            <a:off x="6347307" y="3246120"/>
            <a:ext cx="2286000" cy="411480"/>
          </a:xfrm>
          <a:prstGeom prst="rect">
            <a:avLst/>
          </a:prstGeom>
          <a:noFill/>
        </p:spPr>
        <p:txBody>
          <a:bodyPr wrap="square">
            <a:spAutoFit/>
          </a:bodyPr>
          <a:lstStyle/>
          <a:p>
            <a:pPr algn="ctr"/>
            <a:r>
              <a:rPr sz="1200" b="0">
                <a:solidFill>
                  <a:srgbClr val="9B8EC4"/>
                </a:solidFill>
                <a:latin typeface="Calibri"/>
              </a:rPr>
              <a:t>Customers</a:t>
            </a:r>
          </a:p>
        </p:txBody>
      </p:sp>
      <p:sp>
        <p:nvSpPr>
          <p:cNvPr id="17" name="TextBox 16"/>
          <p:cNvSpPr txBox="1"/>
          <p:nvPr/>
        </p:nvSpPr>
        <p:spPr>
          <a:xfrm>
            <a:off x="6301587" y="3657600"/>
            <a:ext cx="2377440" cy="457200"/>
          </a:xfrm>
          <a:prstGeom prst="rect">
            <a:avLst/>
          </a:prstGeom>
          <a:noFill/>
        </p:spPr>
        <p:txBody>
          <a:bodyPr wrap="square">
            <a:spAutoFit/>
          </a:bodyPr>
          <a:lstStyle/>
          <a:p>
            <a:pPr algn="ctr"/>
            <a:r>
              <a:rPr sz="1000" b="0">
                <a:solidFill>
                  <a:srgbClr val="5C4E7A"/>
                </a:solidFill>
                <a:latin typeface="Calibri"/>
              </a:rPr>
              <a:t>Design partners signed</a:t>
            </a:r>
          </a:p>
        </p:txBody>
      </p:sp>
      <p:sp>
        <p:nvSpPr>
          <p:cNvPr id="18" name="Rectangle 17"/>
          <p:cNvSpPr/>
          <p:nvPr/>
        </p:nvSpPr>
        <p:spPr>
          <a:xfrm>
            <a:off x="8999067" y="2103120"/>
            <a:ext cx="2560320" cy="2194560"/>
          </a:xfrm>
          <a:prstGeom prst="rect">
            <a:avLst/>
          </a:prstGeom>
          <a:solidFill>
            <a:srgbClr val="1A1130"/>
          </a:solidFill>
          <a:ln w="19050">
            <a:solidFill>
              <a:srgbClr val="0809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36227" y="2331720"/>
            <a:ext cx="2286000" cy="914400"/>
          </a:xfrm>
          <a:prstGeom prst="rect">
            <a:avLst/>
          </a:prstGeom>
          <a:noFill/>
        </p:spPr>
        <p:txBody>
          <a:bodyPr wrap="square">
            <a:spAutoFit/>
          </a:bodyPr>
          <a:lstStyle/>
          <a:p>
            <a:pPr algn="ctr"/>
            <a:r>
              <a:rPr sz="3400" b="1">
                <a:solidFill>
                  <a:srgbClr val="F5F3FF"/>
                </a:solidFill>
                <a:latin typeface="Calibri"/>
              </a:rPr>
              <a:t>Seed / Series A</a:t>
            </a:r>
          </a:p>
        </p:txBody>
      </p:sp>
      <p:sp>
        <p:nvSpPr>
          <p:cNvPr id="20" name="TextBox 19"/>
          <p:cNvSpPr txBox="1"/>
          <p:nvPr/>
        </p:nvSpPr>
        <p:spPr>
          <a:xfrm>
            <a:off x="9136227" y="3246120"/>
            <a:ext cx="2286000" cy="411480"/>
          </a:xfrm>
          <a:prstGeom prst="rect">
            <a:avLst/>
          </a:prstGeom>
          <a:noFill/>
        </p:spPr>
        <p:txBody>
          <a:bodyPr wrap="square">
            <a:spAutoFit/>
          </a:bodyPr>
          <a:lstStyle/>
          <a:p>
            <a:pPr algn="ctr"/>
            <a:r>
              <a:rPr sz="1200" b="0">
                <a:solidFill>
                  <a:srgbClr val="9B8EC4"/>
                </a:solidFill>
                <a:latin typeface="Calibri"/>
              </a:rPr>
              <a:t>Stage</a:t>
            </a:r>
          </a:p>
        </p:txBody>
      </p:sp>
      <p:sp>
        <p:nvSpPr>
          <p:cNvPr id="21" name="TextBox 20"/>
          <p:cNvSpPr txBox="1"/>
          <p:nvPr/>
        </p:nvSpPr>
        <p:spPr>
          <a:xfrm>
            <a:off x="9090507" y="3657600"/>
            <a:ext cx="2377440" cy="457200"/>
          </a:xfrm>
          <a:prstGeom prst="rect">
            <a:avLst/>
          </a:prstGeom>
          <a:noFill/>
        </p:spPr>
        <p:txBody>
          <a:bodyPr wrap="square">
            <a:spAutoFit/>
          </a:bodyPr>
          <a:lstStyle/>
          <a:p>
            <a:pPr algn="ctr"/>
            <a:r>
              <a:rPr sz="1000" b="0">
                <a:solidFill>
                  <a:srgbClr val="5C4E7A"/>
                </a:solidFill>
                <a:latin typeface="Calibri"/>
              </a:rPr>
              <a:t>Raising now</a:t>
            </a:r>
          </a:p>
        </p:txBody>
      </p:sp>
      <p:sp>
        <p:nvSpPr>
          <p:cNvPr id="22" name="TextBox 21"/>
          <p:cNvSpPr txBox="1"/>
          <p:nvPr/>
        </p:nvSpPr>
        <p:spPr>
          <a:xfrm>
            <a:off x="731520" y="4572000"/>
            <a:ext cx="10698480" cy="822960"/>
          </a:xfrm>
          <a:prstGeom prst="rect">
            <a:avLst/>
          </a:prstGeom>
          <a:noFill/>
        </p:spPr>
        <p:txBody>
          <a:bodyPr wrap="square">
            <a:spAutoFit/>
          </a:bodyPr>
          <a:lstStyle/>
          <a:p>
            <a:pPr algn="l"/>
            <a:r>
              <a:rPr sz="1400" b="0">
                <a:solidFill>
                  <a:srgbClr val="9B8EC4"/>
                </a:solidFill>
                <a:latin typeface="Calibri"/>
              </a:rPr>
              <a:t>The SaaS Product Development Software market, estimated at $12.5B in 2024 and growing at a robust 21.5% CAGR, is undergoing a profound transformation. Driven by the imperative for developer efficiency and the integration of AI, this sector is critical for enterprises seeking to accelerate product velocity and innovation. Linear is exceptionally positioned to capture this opportunity by offering an AI-native solution that directly addresses the limitations of legacy systems.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8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PROBLEM</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The Problem</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Pain points costing customers time and money</a:t>
            </a:r>
          </a:p>
        </p:txBody>
      </p:sp>
      <p:sp>
        <p:nvSpPr>
          <p:cNvPr id="6" name="Rectangle 5"/>
          <p:cNvSpPr/>
          <p:nvPr/>
        </p:nvSpPr>
        <p:spPr>
          <a:xfrm>
            <a:off x="17524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08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Pain Point 1</a:t>
            </a:r>
          </a:p>
        </p:txBody>
      </p:sp>
      <p:sp>
        <p:nvSpPr>
          <p:cNvPr id="9" name="TextBox 8"/>
          <p:cNvSpPr txBox="1"/>
          <p:nvPr/>
        </p:nvSpPr>
        <p:spPr>
          <a:xfrm>
            <a:off x="1935327" y="2651760"/>
            <a:ext cx="2377440" cy="502920"/>
          </a:xfrm>
          <a:prstGeom prst="rect">
            <a:avLst/>
          </a:prstGeom>
          <a:noFill/>
        </p:spPr>
        <p:txBody>
          <a:bodyPr wrap="square">
            <a:spAutoFit/>
          </a:bodyPr>
          <a:lstStyle/>
          <a:p>
            <a:pPr algn="l"/>
            <a:r>
              <a:rPr sz="2200" b="1">
                <a:solidFill>
                  <a:srgbClr val="08090A"/>
                </a:solidFill>
                <a:latin typeface="Calibri"/>
              </a:rPr>
              <a:t>High cost</a:t>
            </a:r>
          </a:p>
        </p:txBody>
      </p:sp>
      <p:sp>
        <p:nvSpPr>
          <p:cNvPr id="10" name="TextBox 9"/>
          <p:cNvSpPr txBox="1"/>
          <p:nvPr/>
        </p:nvSpPr>
        <p:spPr>
          <a:xfrm>
            <a:off x="1935327" y="3154680"/>
            <a:ext cx="2377440" cy="1874520"/>
          </a:xfrm>
          <a:prstGeom prst="rect">
            <a:avLst/>
          </a:prstGeom>
          <a:noFill/>
        </p:spPr>
        <p:txBody>
          <a:bodyPr wrap="square">
            <a:spAutoFit/>
          </a:bodyPr>
          <a:lstStyle/>
          <a:p>
            <a:pPr algn="l"/>
            <a:r>
              <a:rPr sz="1300" b="0">
                <a:solidFill>
                  <a:srgbClr val="9B8EC4"/>
                </a:solidFill>
                <a:latin typeface="Calibri"/>
              </a:rPr>
              <a:t>Developer burnout and inefficiency: Fragmented workflows and context switching lead to an estimated 20-30% loss in developer productivity (est.).</a:t>
            </a:r>
          </a:p>
        </p:txBody>
      </p:sp>
      <p:sp>
        <p:nvSpPr>
          <p:cNvPr id="11" name="Rectangle 10"/>
          <p:cNvSpPr/>
          <p:nvPr/>
        </p:nvSpPr>
        <p:spPr>
          <a:xfrm>
            <a:off x="47242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24247" y="1920240"/>
            <a:ext cx="2743200" cy="54864"/>
          </a:xfrm>
          <a:prstGeom prst="rect">
            <a:avLst/>
          </a:prstGeom>
          <a:solidFill>
            <a:srgbClr val="3F3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Pain Point 2</a:t>
            </a:r>
          </a:p>
        </p:txBody>
      </p:sp>
      <p:sp>
        <p:nvSpPr>
          <p:cNvPr id="14" name="TextBox 13"/>
          <p:cNvSpPr txBox="1"/>
          <p:nvPr/>
        </p:nvSpPr>
        <p:spPr>
          <a:xfrm>
            <a:off x="4907127" y="2651760"/>
            <a:ext cx="2377440" cy="502920"/>
          </a:xfrm>
          <a:prstGeom prst="rect">
            <a:avLst/>
          </a:prstGeom>
          <a:noFill/>
        </p:spPr>
        <p:txBody>
          <a:bodyPr wrap="square">
            <a:spAutoFit/>
          </a:bodyPr>
          <a:lstStyle/>
          <a:p>
            <a:pPr algn="l"/>
            <a:r>
              <a:rPr sz="2200" b="1">
                <a:solidFill>
                  <a:srgbClr val="3F3F3F"/>
                </a:solidFill>
                <a:latin typeface="Calibri"/>
              </a:rPr>
              <a:t>Lost time</a:t>
            </a:r>
          </a:p>
        </p:txBody>
      </p:sp>
      <p:sp>
        <p:nvSpPr>
          <p:cNvPr id="15" name="TextBox 14"/>
          <p:cNvSpPr txBox="1"/>
          <p:nvPr/>
        </p:nvSpPr>
        <p:spPr>
          <a:xfrm>
            <a:off x="4907127" y="3154680"/>
            <a:ext cx="2377440" cy="1874520"/>
          </a:xfrm>
          <a:prstGeom prst="rect">
            <a:avLst/>
          </a:prstGeom>
          <a:noFill/>
        </p:spPr>
        <p:txBody>
          <a:bodyPr wrap="square">
            <a:spAutoFit/>
          </a:bodyPr>
          <a:lstStyle/>
          <a:p>
            <a:pPr algn="l"/>
            <a:r>
              <a:rPr sz="1300" b="0">
                <a:solidFill>
                  <a:srgbClr val="9B8EC4"/>
                </a:solidFill>
                <a:latin typeface="Calibri"/>
              </a:rPr>
              <a:t>Lack of integrated AI/automation: Manual tasks like issue triage and sprint planning consume 15-20% of product team time, ripe for AI-driven automation (est.).</a:t>
            </a:r>
          </a:p>
        </p:txBody>
      </p:sp>
      <p:sp>
        <p:nvSpPr>
          <p:cNvPr id="16" name="Rectangle 15"/>
          <p:cNvSpPr/>
          <p:nvPr/>
        </p:nvSpPr>
        <p:spPr>
          <a:xfrm>
            <a:off x="76960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96047" y="1920240"/>
            <a:ext cx="2743200"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Pain Point 3</a:t>
            </a:r>
          </a:p>
        </p:txBody>
      </p:sp>
      <p:sp>
        <p:nvSpPr>
          <p:cNvPr id="19" name="TextBox 18"/>
          <p:cNvSpPr txBox="1"/>
          <p:nvPr/>
        </p:nvSpPr>
        <p:spPr>
          <a:xfrm>
            <a:off x="7878927" y="2651760"/>
            <a:ext cx="2377440" cy="502920"/>
          </a:xfrm>
          <a:prstGeom prst="rect">
            <a:avLst/>
          </a:prstGeom>
          <a:noFill/>
        </p:spPr>
        <p:txBody>
          <a:bodyPr wrap="square">
            <a:spAutoFit/>
          </a:bodyPr>
          <a:lstStyle/>
          <a:p>
            <a:pPr algn="l"/>
            <a:r>
              <a:rPr sz="2200" b="1">
                <a:solidFill>
                  <a:srgbClr val="7B2CBF"/>
                </a:solidFill>
                <a:latin typeface="Calibri"/>
              </a:rPr>
              <a:t>Poor outcomes</a:t>
            </a:r>
          </a:p>
        </p:txBody>
      </p:sp>
      <p:sp>
        <p:nvSpPr>
          <p:cNvPr id="20" name="TextBox 19"/>
          <p:cNvSpPr txBox="1"/>
          <p:nvPr/>
        </p:nvSpPr>
        <p:spPr>
          <a:xfrm>
            <a:off x="7878927" y="3154680"/>
            <a:ext cx="2377440" cy="1874520"/>
          </a:xfrm>
          <a:prstGeom prst="rect">
            <a:avLst/>
          </a:prstGeom>
          <a:noFill/>
        </p:spPr>
        <p:txBody>
          <a:bodyPr wrap="square">
            <a:spAutoFit/>
          </a:bodyPr>
          <a:lstStyle/>
          <a:p>
            <a:pPr algn="l"/>
            <a:r>
              <a:rPr sz="1300" b="0">
                <a:solidFill>
                  <a:srgbClr val="9B8EC4"/>
                </a:solidFill>
                <a:latin typeface="Calibri"/>
              </a:rPr>
              <a:t>Outdated legacy tools: Slow, complex, and un-intuitive systems are cited by 60% of dev teams as major barriers to agility and adoption (est.).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8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SOLUTION</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The Linear Solution</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Linear is a product development system purpose-built for modern teams and AI agents. It sets a new standard for planning and building products by integrating AI workflows at its core. It empowers teams to define product direction, automate operations, move work forward, and understand progress at scale.</a:t>
            </a:r>
          </a:p>
        </p:txBody>
      </p:sp>
      <p:sp>
        <p:nvSpPr>
          <p:cNvPr id="6" name="Oval 5"/>
          <p:cNvSpPr/>
          <p:nvPr/>
        </p:nvSpPr>
        <p:spPr>
          <a:xfrm>
            <a:off x="731520" y="2048256"/>
            <a:ext cx="109728" cy="109728"/>
          </a:xfrm>
          <a:prstGeom prst="ellipse">
            <a:avLst/>
          </a:prstGeom>
          <a:solidFill>
            <a:srgbClr val="08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920240"/>
            <a:ext cx="5010912" cy="512064"/>
          </a:xfrm>
          <a:prstGeom prst="rect">
            <a:avLst/>
          </a:prstGeom>
          <a:noFill/>
        </p:spPr>
        <p:txBody>
          <a:bodyPr wrap="square">
            <a:spAutoFit/>
          </a:bodyPr>
          <a:lstStyle/>
          <a:p>
            <a:pPr algn="l"/>
            <a:r>
              <a:rPr sz="1400" b="0">
                <a:solidFill>
                  <a:srgbClr val="9B8EC4"/>
                </a:solidFill>
                <a:latin typeface="Calibri"/>
              </a:rPr>
              <a:t>AI-native integration at its core, automating issue triage, feedback summarization, and sprint planning.</a:t>
            </a:r>
          </a:p>
        </p:txBody>
      </p:sp>
      <p:sp>
        <p:nvSpPr>
          <p:cNvPr id="8" name="Oval 7"/>
          <p:cNvSpPr/>
          <p:nvPr/>
        </p:nvSpPr>
        <p:spPr>
          <a:xfrm>
            <a:off x="731520" y="2615184"/>
            <a:ext cx="109728" cy="109728"/>
          </a:xfrm>
          <a:prstGeom prst="ellipse">
            <a:avLst/>
          </a:prstGeom>
          <a:solidFill>
            <a:srgbClr val="08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487168"/>
            <a:ext cx="5010912" cy="512064"/>
          </a:xfrm>
          <a:prstGeom prst="rect">
            <a:avLst/>
          </a:prstGeom>
          <a:noFill/>
        </p:spPr>
        <p:txBody>
          <a:bodyPr wrap="square">
            <a:spAutoFit/>
          </a:bodyPr>
          <a:lstStyle/>
          <a:p>
            <a:pPr algn="l"/>
            <a:r>
              <a:rPr sz="1400" b="0">
                <a:solidFill>
                  <a:srgbClr val="9B8EC4"/>
                </a:solidFill>
                <a:latin typeface="Calibri"/>
              </a:rPr>
              <a:t>Modern, fast, and intuitive UI/UX purpose-built to address developer frustrations and optimize for high-performance teams.</a:t>
            </a:r>
          </a:p>
        </p:txBody>
      </p:sp>
      <p:sp>
        <p:nvSpPr>
          <p:cNvPr id="10" name="Oval 9"/>
          <p:cNvSpPr/>
          <p:nvPr/>
        </p:nvSpPr>
        <p:spPr>
          <a:xfrm>
            <a:off x="6400800" y="2048256"/>
            <a:ext cx="109728" cy="109728"/>
          </a:xfrm>
          <a:prstGeom prst="ellipse">
            <a:avLst/>
          </a:prstGeom>
          <a:solidFill>
            <a:srgbClr val="3F3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1968" y="1920240"/>
            <a:ext cx="5010912" cy="512064"/>
          </a:xfrm>
          <a:prstGeom prst="rect">
            <a:avLst/>
          </a:prstGeom>
          <a:noFill/>
        </p:spPr>
        <p:txBody>
          <a:bodyPr wrap="square">
            <a:spAutoFit/>
          </a:bodyPr>
          <a:lstStyle/>
          <a:p>
            <a:pPr algn="l"/>
            <a:r>
              <a:rPr sz="1400" b="0">
                <a:solidFill>
                  <a:srgbClr val="9B8EC4"/>
                </a:solidFill>
                <a:latin typeface="Calibri"/>
              </a:rPr>
              <a:t>Streamlined workflow automation designed to minimize friction and context-switching for product development.</a:t>
            </a:r>
          </a:p>
        </p:txBody>
      </p:sp>
      <p:sp>
        <p:nvSpPr>
          <p:cNvPr id="12" name="Oval 11"/>
          <p:cNvSpPr/>
          <p:nvPr/>
        </p:nvSpPr>
        <p:spPr>
          <a:xfrm>
            <a:off x="6400800" y="2615184"/>
            <a:ext cx="109728" cy="109728"/>
          </a:xfrm>
          <a:prstGeom prst="ellipse">
            <a:avLst/>
          </a:prstGeom>
          <a:solidFill>
            <a:srgbClr val="3F3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01968" y="2487168"/>
            <a:ext cx="5010912" cy="512064"/>
          </a:xfrm>
          <a:prstGeom prst="rect">
            <a:avLst/>
          </a:prstGeom>
          <a:noFill/>
        </p:spPr>
        <p:txBody>
          <a:bodyPr wrap="square">
            <a:spAutoFit/>
          </a:bodyPr>
          <a:lstStyle/>
          <a:p>
            <a:pPr algn="l"/>
            <a:r>
              <a:rPr sz="1400" b="0">
                <a:solidFill>
                  <a:srgbClr val="9B8EC4"/>
                </a:solidFill>
                <a:latin typeface="Calibri"/>
              </a:rPr>
              <a:t>Scalable system for defining product direction, moving work forward, and understanding progress at enterprise scale.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8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PRODUCT</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Product Highlights</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Core capabilities that win customers</a:t>
            </a:r>
          </a:p>
        </p:txBody>
      </p:sp>
      <p:sp>
        <p:nvSpPr>
          <p:cNvPr id="6" name="Rectangle 5"/>
          <p:cNvSpPr/>
          <p:nvPr/>
        </p:nvSpPr>
        <p:spPr>
          <a:xfrm>
            <a:off x="17524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08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AI workflows</a:t>
            </a:r>
          </a:p>
        </p:txBody>
      </p:sp>
      <p:sp>
        <p:nvSpPr>
          <p:cNvPr id="9" name="TextBox 8"/>
          <p:cNvSpPr txBox="1"/>
          <p:nvPr/>
        </p:nvSpPr>
        <p:spPr>
          <a:xfrm>
            <a:off x="1935327" y="2697480"/>
            <a:ext cx="2377440" cy="2331720"/>
          </a:xfrm>
          <a:prstGeom prst="rect">
            <a:avLst/>
          </a:prstGeom>
          <a:noFill/>
        </p:spPr>
        <p:txBody>
          <a:bodyPr wrap="square">
            <a:spAutoFit/>
          </a:bodyPr>
          <a:lstStyle/>
          <a:p>
            <a:pPr algn="l"/>
            <a:r>
              <a:rPr sz="1300" b="0">
                <a:solidFill>
                  <a:srgbClr val="9B8EC4"/>
                </a:solidFill>
                <a:latin typeface="Calibri"/>
              </a:rPr>
              <a:t>Purpose-built capability</a:t>
            </a:r>
          </a:p>
        </p:txBody>
      </p:sp>
      <p:sp>
        <p:nvSpPr>
          <p:cNvPr id="10" name="Rectangle 9"/>
          <p:cNvSpPr/>
          <p:nvPr/>
        </p:nvSpPr>
        <p:spPr>
          <a:xfrm>
            <a:off x="47242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24247" y="1920240"/>
            <a:ext cx="2743200" cy="54864"/>
          </a:xfrm>
          <a:prstGeom prst="rect">
            <a:avLst/>
          </a:prstGeom>
          <a:solidFill>
            <a:srgbClr val="3F3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Product operations automation</a:t>
            </a:r>
          </a:p>
        </p:txBody>
      </p:sp>
      <p:sp>
        <p:nvSpPr>
          <p:cNvPr id="13" name="TextBox 12"/>
          <p:cNvSpPr txBox="1"/>
          <p:nvPr/>
        </p:nvSpPr>
        <p:spPr>
          <a:xfrm>
            <a:off x="4907127" y="2697480"/>
            <a:ext cx="2377440" cy="2331720"/>
          </a:xfrm>
          <a:prstGeom prst="rect">
            <a:avLst/>
          </a:prstGeom>
          <a:noFill/>
        </p:spPr>
        <p:txBody>
          <a:bodyPr wrap="square">
            <a:spAutoFit/>
          </a:bodyPr>
          <a:lstStyle/>
          <a:p>
            <a:pPr algn="l"/>
            <a:r>
              <a:rPr sz="1300" b="0">
                <a:solidFill>
                  <a:srgbClr val="9B8EC4"/>
                </a:solidFill>
                <a:latin typeface="Calibri"/>
              </a:rPr>
              <a:t>Designed for ease of use</a:t>
            </a:r>
          </a:p>
        </p:txBody>
      </p:sp>
      <p:sp>
        <p:nvSpPr>
          <p:cNvPr id="14" name="Rectangle 13"/>
          <p:cNvSpPr/>
          <p:nvPr/>
        </p:nvSpPr>
        <p:spPr>
          <a:xfrm>
            <a:off x="76960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96047" y="1920240"/>
            <a:ext cx="2743200"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Product direction definition</a:t>
            </a:r>
          </a:p>
        </p:txBody>
      </p:sp>
      <p:sp>
        <p:nvSpPr>
          <p:cNvPr id="17" name="TextBox 16"/>
          <p:cNvSpPr txBox="1"/>
          <p:nvPr/>
        </p:nvSpPr>
        <p:spPr>
          <a:xfrm>
            <a:off x="7878927" y="2697480"/>
            <a:ext cx="2377440" cy="2331720"/>
          </a:xfrm>
          <a:prstGeom prst="rect">
            <a:avLst/>
          </a:prstGeom>
          <a:noFill/>
        </p:spPr>
        <p:txBody>
          <a:bodyPr wrap="square">
            <a:spAutoFit/>
          </a:bodyPr>
          <a:lstStyle/>
          <a:p>
            <a:pPr algn="l"/>
            <a:r>
              <a:rPr sz="1300" b="0">
                <a:solidFill>
                  <a:srgbClr val="9B8EC4"/>
                </a:solidFill>
                <a:latin typeface="Calibri"/>
              </a:rPr>
              <a:t>Built for fast adoption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8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MARKET OPPORTUNITY</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Market Opportunity</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The SaaS, Product Development Software market is at an inflection point — $12.5B global SaaS, Product Development Software market (2024, est. based on broader project management software trends) opportunity growing at 21.5% CAGR 2024–2030 (est.)</a:t>
            </a:r>
          </a:p>
        </p:txBody>
      </p:sp>
      <p:sp>
        <p:nvSpPr>
          <p:cNvPr id="6" name="Rectangle 5"/>
          <p:cNvSpPr/>
          <p:nvPr/>
        </p:nvSpPr>
        <p:spPr>
          <a:xfrm>
            <a:off x="632307" y="2103120"/>
            <a:ext cx="2560320" cy="2194560"/>
          </a:xfrm>
          <a:prstGeom prst="rect">
            <a:avLst/>
          </a:prstGeom>
          <a:solidFill>
            <a:srgbClr val="1A1130"/>
          </a:solidFill>
          <a:ln w="19050">
            <a:solidFill>
              <a:srgbClr val="0809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9467" y="2331720"/>
            <a:ext cx="2286000" cy="914400"/>
          </a:xfrm>
          <a:prstGeom prst="rect">
            <a:avLst/>
          </a:prstGeom>
          <a:noFill/>
        </p:spPr>
        <p:txBody>
          <a:bodyPr wrap="square">
            <a:spAutoFit/>
          </a:bodyPr>
          <a:lstStyle/>
          <a:p>
            <a:pPr algn="ctr"/>
            <a:r>
              <a:rPr sz="3400" b="1">
                <a:solidFill>
                  <a:srgbClr val="F5F3FF"/>
                </a:solidFill>
                <a:latin typeface="Calibri"/>
              </a:rPr>
              <a:t>$12.5B</a:t>
            </a:r>
          </a:p>
        </p:txBody>
      </p:sp>
      <p:sp>
        <p:nvSpPr>
          <p:cNvPr id="8" name="TextBox 7"/>
          <p:cNvSpPr txBox="1"/>
          <p:nvPr/>
        </p:nvSpPr>
        <p:spPr>
          <a:xfrm>
            <a:off x="769467" y="3246120"/>
            <a:ext cx="2286000" cy="411480"/>
          </a:xfrm>
          <a:prstGeom prst="rect">
            <a:avLst/>
          </a:prstGeom>
          <a:noFill/>
        </p:spPr>
        <p:txBody>
          <a:bodyPr wrap="square">
            <a:spAutoFit/>
          </a:bodyPr>
          <a:lstStyle/>
          <a:p>
            <a:pPr algn="ctr"/>
            <a:r>
              <a:rPr sz="1200" b="0">
                <a:solidFill>
                  <a:srgbClr val="9B8EC4"/>
                </a:solidFill>
                <a:latin typeface="Calibri"/>
              </a:rPr>
              <a:t>TAM</a:t>
            </a:r>
          </a:p>
        </p:txBody>
      </p:sp>
      <p:sp>
        <p:nvSpPr>
          <p:cNvPr id="9" name="TextBox 8"/>
          <p:cNvSpPr txBox="1"/>
          <p:nvPr/>
        </p:nvSpPr>
        <p:spPr>
          <a:xfrm>
            <a:off x="723747" y="3657600"/>
            <a:ext cx="2377440" cy="457200"/>
          </a:xfrm>
          <a:prstGeom prst="rect">
            <a:avLst/>
          </a:prstGeom>
          <a:noFill/>
        </p:spPr>
        <p:txBody>
          <a:bodyPr wrap="square">
            <a:spAutoFit/>
          </a:bodyPr>
          <a:lstStyle/>
          <a:p>
            <a:pPr algn="ctr"/>
            <a:r>
              <a:rPr sz="1000" b="0">
                <a:solidFill>
                  <a:srgbClr val="5C4E7A"/>
                </a:solidFill>
                <a:latin typeface="Calibri"/>
              </a:rPr>
              <a:t>Total global SaaS, Product Development Software market (2024, est.)</a:t>
            </a:r>
          </a:p>
        </p:txBody>
      </p:sp>
      <p:sp>
        <p:nvSpPr>
          <p:cNvPr id="10" name="Rectangle 9"/>
          <p:cNvSpPr/>
          <p:nvPr/>
        </p:nvSpPr>
        <p:spPr>
          <a:xfrm>
            <a:off x="3421227" y="2103120"/>
            <a:ext cx="2560320" cy="2194560"/>
          </a:xfrm>
          <a:prstGeom prst="rect">
            <a:avLst/>
          </a:prstGeom>
          <a:solidFill>
            <a:srgbClr val="1A1130"/>
          </a:solidFill>
          <a:ln w="19050">
            <a:solidFill>
              <a:srgbClr val="0809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58387" y="2331720"/>
            <a:ext cx="2286000" cy="914400"/>
          </a:xfrm>
          <a:prstGeom prst="rect">
            <a:avLst/>
          </a:prstGeom>
          <a:noFill/>
        </p:spPr>
        <p:txBody>
          <a:bodyPr wrap="square">
            <a:spAutoFit/>
          </a:bodyPr>
          <a:lstStyle/>
          <a:p>
            <a:pPr algn="ctr"/>
            <a:r>
              <a:rPr sz="3400" b="1">
                <a:solidFill>
                  <a:srgbClr val="F5F3FF"/>
                </a:solidFill>
                <a:latin typeface="Calibri"/>
              </a:rPr>
              <a:t>$5.0B</a:t>
            </a:r>
          </a:p>
        </p:txBody>
      </p:sp>
      <p:sp>
        <p:nvSpPr>
          <p:cNvPr id="12" name="TextBox 11"/>
          <p:cNvSpPr txBox="1"/>
          <p:nvPr/>
        </p:nvSpPr>
        <p:spPr>
          <a:xfrm>
            <a:off x="3558387" y="3246120"/>
            <a:ext cx="2286000" cy="411480"/>
          </a:xfrm>
          <a:prstGeom prst="rect">
            <a:avLst/>
          </a:prstGeom>
          <a:noFill/>
        </p:spPr>
        <p:txBody>
          <a:bodyPr wrap="square">
            <a:spAutoFit/>
          </a:bodyPr>
          <a:lstStyle/>
          <a:p>
            <a:pPr algn="ctr"/>
            <a:r>
              <a:rPr sz="1200" b="0">
                <a:solidFill>
                  <a:srgbClr val="9B8EC4"/>
                </a:solidFill>
                <a:latin typeface="Calibri"/>
              </a:rPr>
              <a:t>SAM</a:t>
            </a:r>
          </a:p>
        </p:txBody>
      </p:sp>
      <p:sp>
        <p:nvSpPr>
          <p:cNvPr id="13" name="TextBox 12"/>
          <p:cNvSpPr txBox="1"/>
          <p:nvPr/>
        </p:nvSpPr>
        <p:spPr>
          <a:xfrm>
            <a:off x="3512667" y="3657600"/>
            <a:ext cx="2377440" cy="457200"/>
          </a:xfrm>
          <a:prstGeom prst="rect">
            <a:avLst/>
          </a:prstGeom>
          <a:noFill/>
        </p:spPr>
        <p:txBody>
          <a:bodyPr wrap="square">
            <a:spAutoFit/>
          </a:bodyPr>
          <a:lstStyle/>
          <a:p>
            <a:pPr algn="ctr"/>
            <a:r>
              <a:rPr sz="1000" b="0">
                <a:solidFill>
                  <a:srgbClr val="5C4E7A"/>
                </a:solidFill>
                <a:latin typeface="Calibri"/>
              </a:rPr>
              <a:t>Serviceable market matching Linear's ICP (high-growth tech &amp; enterprise, est.)</a:t>
            </a:r>
          </a:p>
        </p:txBody>
      </p:sp>
      <p:sp>
        <p:nvSpPr>
          <p:cNvPr id="14" name="Rectangle 13"/>
          <p:cNvSpPr/>
          <p:nvPr/>
        </p:nvSpPr>
        <p:spPr>
          <a:xfrm>
            <a:off x="6210147" y="2103120"/>
            <a:ext cx="2560320" cy="2194560"/>
          </a:xfrm>
          <a:prstGeom prst="rect">
            <a:avLst/>
          </a:prstGeom>
          <a:solidFill>
            <a:srgbClr val="1A1130"/>
          </a:solidFill>
          <a:ln w="19050">
            <a:solidFill>
              <a:srgbClr val="0809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7307" y="2331720"/>
            <a:ext cx="2286000" cy="914400"/>
          </a:xfrm>
          <a:prstGeom prst="rect">
            <a:avLst/>
          </a:prstGeom>
          <a:noFill/>
        </p:spPr>
        <p:txBody>
          <a:bodyPr wrap="square">
            <a:spAutoFit/>
          </a:bodyPr>
          <a:lstStyle/>
          <a:p>
            <a:pPr algn="ctr"/>
            <a:r>
              <a:rPr sz="3400" b="1">
                <a:solidFill>
                  <a:srgbClr val="F5F3FF"/>
                </a:solidFill>
                <a:latin typeface="Calibri"/>
              </a:rPr>
              <a:t>$400M</a:t>
            </a:r>
          </a:p>
        </p:txBody>
      </p:sp>
      <p:sp>
        <p:nvSpPr>
          <p:cNvPr id="16" name="TextBox 15"/>
          <p:cNvSpPr txBox="1"/>
          <p:nvPr/>
        </p:nvSpPr>
        <p:spPr>
          <a:xfrm>
            <a:off x="6347307" y="3246120"/>
            <a:ext cx="2286000" cy="411480"/>
          </a:xfrm>
          <a:prstGeom prst="rect">
            <a:avLst/>
          </a:prstGeom>
          <a:noFill/>
        </p:spPr>
        <p:txBody>
          <a:bodyPr wrap="square">
            <a:spAutoFit/>
          </a:bodyPr>
          <a:lstStyle/>
          <a:p>
            <a:pPr algn="ctr"/>
            <a:r>
              <a:rPr sz="1200" b="0">
                <a:solidFill>
                  <a:srgbClr val="9B8EC4"/>
                </a:solidFill>
                <a:latin typeface="Calibri"/>
              </a:rPr>
              <a:t>SOM (Y3)</a:t>
            </a:r>
          </a:p>
        </p:txBody>
      </p:sp>
      <p:sp>
        <p:nvSpPr>
          <p:cNvPr id="17" name="TextBox 16"/>
          <p:cNvSpPr txBox="1"/>
          <p:nvPr/>
        </p:nvSpPr>
        <p:spPr>
          <a:xfrm>
            <a:off x="6301587" y="3657600"/>
            <a:ext cx="2377440" cy="457200"/>
          </a:xfrm>
          <a:prstGeom prst="rect">
            <a:avLst/>
          </a:prstGeom>
          <a:noFill/>
        </p:spPr>
        <p:txBody>
          <a:bodyPr wrap="square">
            <a:spAutoFit/>
          </a:bodyPr>
          <a:lstStyle/>
          <a:p>
            <a:pPr algn="ctr"/>
            <a:r>
              <a:rPr sz="1000" b="0">
                <a:solidFill>
                  <a:srgbClr val="5C4E7A"/>
                </a:solidFill>
                <a:latin typeface="Calibri"/>
              </a:rPr>
              <a:t>Realistic 3-year capture with current go-to-market strategy (by 2027-2028, est.)</a:t>
            </a:r>
          </a:p>
        </p:txBody>
      </p:sp>
      <p:sp>
        <p:nvSpPr>
          <p:cNvPr id="18" name="Rectangle 17"/>
          <p:cNvSpPr/>
          <p:nvPr/>
        </p:nvSpPr>
        <p:spPr>
          <a:xfrm>
            <a:off x="8999067" y="2103120"/>
            <a:ext cx="2560320" cy="2194560"/>
          </a:xfrm>
          <a:prstGeom prst="rect">
            <a:avLst/>
          </a:prstGeom>
          <a:solidFill>
            <a:srgbClr val="1A1130"/>
          </a:solidFill>
          <a:ln w="19050">
            <a:solidFill>
              <a:srgbClr val="0809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36227" y="2331720"/>
            <a:ext cx="2286000" cy="914400"/>
          </a:xfrm>
          <a:prstGeom prst="rect">
            <a:avLst/>
          </a:prstGeom>
          <a:noFill/>
        </p:spPr>
        <p:txBody>
          <a:bodyPr wrap="square">
            <a:spAutoFit/>
          </a:bodyPr>
          <a:lstStyle/>
          <a:p>
            <a:pPr algn="ctr"/>
            <a:r>
              <a:rPr sz="3400" b="1">
                <a:solidFill>
                  <a:srgbClr val="F5F3FF"/>
                </a:solidFill>
                <a:latin typeface="Calibri"/>
              </a:rPr>
              <a:t>21.5% CAGR 2024–2030 (est.)</a:t>
            </a:r>
          </a:p>
        </p:txBody>
      </p:sp>
      <p:sp>
        <p:nvSpPr>
          <p:cNvPr id="20" name="TextBox 19"/>
          <p:cNvSpPr txBox="1"/>
          <p:nvPr/>
        </p:nvSpPr>
        <p:spPr>
          <a:xfrm>
            <a:off x="9136227" y="3246120"/>
            <a:ext cx="2286000" cy="411480"/>
          </a:xfrm>
          <a:prstGeom prst="rect">
            <a:avLst/>
          </a:prstGeom>
          <a:noFill/>
        </p:spPr>
        <p:txBody>
          <a:bodyPr wrap="square">
            <a:spAutoFit/>
          </a:bodyPr>
          <a:lstStyle/>
          <a:p>
            <a:pPr algn="ctr"/>
            <a:r>
              <a:rPr sz="1200" b="0">
                <a:solidFill>
                  <a:srgbClr val="9B8EC4"/>
                </a:solidFill>
                <a:latin typeface="Calibri"/>
              </a:rPr>
              <a:t>CAGR</a:t>
            </a:r>
          </a:p>
        </p:txBody>
      </p:sp>
      <p:sp>
        <p:nvSpPr>
          <p:cNvPr id="21" name="TextBox 20"/>
          <p:cNvSpPr txBox="1"/>
          <p:nvPr/>
        </p:nvSpPr>
        <p:spPr>
          <a:xfrm>
            <a:off x="9090507" y="3657600"/>
            <a:ext cx="2377440" cy="457200"/>
          </a:xfrm>
          <a:prstGeom prst="rect">
            <a:avLst/>
          </a:prstGeom>
          <a:noFill/>
        </p:spPr>
        <p:txBody>
          <a:bodyPr wrap="square">
            <a:spAutoFit/>
          </a:bodyPr>
          <a:lstStyle/>
          <a:p>
            <a:pPr algn="ctr"/>
            <a:r>
              <a:rPr sz="1000" b="0">
                <a:solidFill>
                  <a:srgbClr val="5C4E7A"/>
                </a:solidFill>
                <a:latin typeface="Calibri"/>
              </a:rPr>
              <a:t>Market growth rate 2024–2030</a:t>
            </a:r>
          </a:p>
        </p:txBody>
      </p:sp>
      <p:sp>
        <p:nvSpPr>
          <p:cNvPr id="22" name="TextBox 21"/>
          <p:cNvSpPr txBox="1"/>
          <p:nvPr/>
        </p:nvSpPr>
        <p:spPr>
          <a:xfrm>
            <a:off x="731520" y="4572000"/>
            <a:ext cx="10698480" cy="822960"/>
          </a:xfrm>
          <a:prstGeom prst="rect">
            <a:avLst/>
          </a:prstGeom>
          <a:noFill/>
        </p:spPr>
        <p:txBody>
          <a:bodyPr wrap="square">
            <a:spAutoFit/>
          </a:bodyPr>
          <a:lstStyle/>
          <a:p>
            <a:pPr algn="l"/>
            <a:r>
              <a:rPr sz="1400" b="0">
                <a:solidFill>
                  <a:srgbClr val="9B8EC4"/>
                </a:solidFill>
                <a:latin typeface="Calibri"/>
              </a:rPr>
              <a:t>The SaaS Product Development Software market, estimated at $12.5B in 2024 and growing at a robust 21.5% CAGR, is undergoing a profound transformation. Driven by the imperative for developer efficiency and the integration of AI, this sector is critical for enterprises seeking to accelerate product velocity and innovation. Linear is exceptionally positioned to capture this opportunity by offering an AI-native solution that directly addresses the limitations of legacy systems. The last 12-24 months have seen a critical inflection point characterized by the maturation of generative AI technologies and widespread developer frustration with the inertia and technical debt of legacy product management platforms. This convergence, coupled with the ongoing demand for faster, more efficient product cycles in a competitive market, makes THIS the opportune moment for Linear to capitalize on its AI-native architecture and capture significant market share in the evolving SaaS Product Development Software landscape.</a:t>
            </a:r>
          </a:p>
        </p:txBody>
      </p:sp>
      <p:sp>
        <p:nvSpPr>
          <p:cNvPr id="23" name="TextBox 22"/>
          <p:cNvSpPr txBox="1"/>
          <p:nvPr/>
        </p:nvSpPr>
        <p:spPr>
          <a:xfrm>
            <a:off x="914400" y="5394960"/>
            <a:ext cx="10332720" cy="365760"/>
          </a:xfrm>
          <a:prstGeom prst="rect">
            <a:avLst/>
          </a:prstGeom>
          <a:noFill/>
        </p:spPr>
        <p:txBody>
          <a:bodyPr wrap="square">
            <a:spAutoFit/>
          </a:bodyPr>
          <a:lstStyle/>
          <a:p>
            <a:pPr algn="l"/>
            <a:r>
              <a:rPr sz="1300" b="0">
                <a:solidFill>
                  <a:srgbClr val="9B8EC4"/>
                </a:solidFill>
                <a:latin typeface="Calibri"/>
              </a:rPr>
              <a:t>›  </a:t>
            </a:r>
            <a:r>
              <a:rPr sz="1300" b="1">
                <a:solidFill>
                  <a:srgbClr val="9B8EC4"/>
                </a:solidFill>
                <a:latin typeface="Calibri"/>
              </a:rPr>
              <a:t>Increased demand for developer productivity tools:</a:t>
            </a:r>
            <a:r>
              <a:rPr sz="1300" b="0">
                <a:solidFill>
                  <a:srgbClr val="9B8EC4"/>
                </a:solidFill>
                <a:latin typeface="Calibri"/>
              </a:rPr>
              <a:t> An estimated 65% of CTOs prioritize developer experience and efficiency as a top strategic imperative (est.).</a:t>
            </a:r>
          </a:p>
        </p:txBody>
      </p:sp>
      <p:sp>
        <p:nvSpPr>
          <p:cNvPr id="24" name="TextBox 23"/>
          <p:cNvSpPr txBox="1"/>
          <p:nvPr/>
        </p:nvSpPr>
        <p:spPr>
          <a:xfrm>
            <a:off x="914400" y="5806440"/>
            <a:ext cx="10332720" cy="365760"/>
          </a:xfrm>
          <a:prstGeom prst="rect">
            <a:avLst/>
          </a:prstGeom>
          <a:noFill/>
        </p:spPr>
        <p:txBody>
          <a:bodyPr wrap="square">
            <a:spAutoFit/>
          </a:bodyPr>
          <a:lstStyle/>
          <a:p>
            <a:pPr algn="l"/>
            <a:r>
              <a:rPr sz="1300" b="0">
                <a:solidFill>
                  <a:srgbClr val="9B8EC4"/>
                </a:solidFill>
                <a:latin typeface="Calibri"/>
              </a:rPr>
              <a:t>›  </a:t>
            </a:r>
            <a:r>
              <a:rPr sz="1300" b="1">
                <a:solidFill>
                  <a:srgbClr val="9B8EC4"/>
                </a:solidFill>
                <a:latin typeface="Calibri"/>
              </a:rPr>
              <a:t>Rapid advancements in AI/ML:</a:t>
            </a:r>
            <a:r>
              <a:rPr sz="1300" b="0">
                <a:solidFill>
                  <a:srgbClr val="9B8EC4"/>
                </a:solidFill>
                <a:latin typeface="Calibri"/>
              </a:rPr>
              <a:t> Enabling new layers of automation and intelligence within product development workflows, from planning to deployment.</a:t>
            </a:r>
          </a:p>
        </p:txBody>
      </p:sp>
      <p:sp>
        <p:nvSpPr>
          <p:cNvPr id="25" name="TextBox 24"/>
          <p:cNvSpPr txBox="1"/>
          <p:nvPr/>
        </p:nvSpPr>
        <p:spPr>
          <a:xfrm>
            <a:off x="914400" y="6217920"/>
            <a:ext cx="10332720" cy="365760"/>
          </a:xfrm>
          <a:prstGeom prst="rect">
            <a:avLst/>
          </a:prstGeom>
          <a:noFill/>
        </p:spPr>
        <p:txBody>
          <a:bodyPr wrap="square">
            <a:spAutoFit/>
          </a:bodyPr>
          <a:lstStyle/>
          <a:p>
            <a:pPr algn="l"/>
            <a:r>
              <a:rPr sz="1300" b="0">
                <a:solidFill>
                  <a:srgbClr val="9B8EC4"/>
                </a:solidFill>
                <a:latin typeface="Calibri"/>
              </a:rPr>
              <a:t>›  </a:t>
            </a:r>
            <a:r>
              <a:rPr sz="1300" b="1">
                <a:solidFill>
                  <a:srgbClr val="9B8EC4"/>
                </a:solidFill>
                <a:latin typeface="Calibri"/>
              </a:rPr>
              <a:t>Prevalence of agile and remote development models:</a:t>
            </a:r>
            <a:r>
              <a:rPr sz="1300" b="0">
                <a:solidFill>
                  <a:srgbClr val="9B8EC4"/>
                </a:solidFill>
                <a:latin typeface="Calibri"/>
              </a:rPr>
              <a:t> Requiring seamless, high-performance collaboration tools that transcend geographical boundaries.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8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BUSINESS MODEL</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Business Model</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How we generate and grow revenue</a:t>
            </a:r>
          </a:p>
        </p:txBody>
      </p:sp>
      <p:sp>
        <p:nvSpPr>
          <p:cNvPr id="6" name="Rectangle 5"/>
          <p:cNvSpPr/>
          <p:nvPr/>
        </p:nvSpPr>
        <p:spPr>
          <a:xfrm>
            <a:off x="17524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08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Subscription</a:t>
            </a:r>
          </a:p>
        </p:txBody>
      </p:sp>
      <p:sp>
        <p:nvSpPr>
          <p:cNvPr id="9" name="TextBox 8"/>
          <p:cNvSpPr txBox="1"/>
          <p:nvPr/>
        </p:nvSpPr>
        <p:spPr>
          <a:xfrm>
            <a:off x="1935327" y="2651760"/>
            <a:ext cx="2377440" cy="502920"/>
          </a:xfrm>
          <a:prstGeom prst="rect">
            <a:avLst/>
          </a:prstGeom>
          <a:noFill/>
        </p:spPr>
        <p:txBody>
          <a:bodyPr wrap="square">
            <a:spAutoFit/>
          </a:bodyPr>
          <a:lstStyle/>
          <a:p>
            <a:pPr algn="l"/>
            <a:r>
              <a:rPr sz="2200" b="1">
                <a:solidFill>
                  <a:srgbClr val="08090A"/>
                </a:solidFill>
                <a:latin typeface="Calibri"/>
              </a:rPr>
              <a:t>Primary</a:t>
            </a:r>
          </a:p>
        </p:txBody>
      </p:sp>
      <p:sp>
        <p:nvSpPr>
          <p:cNvPr id="10" name="TextBox 9"/>
          <p:cNvSpPr txBox="1"/>
          <p:nvPr/>
        </p:nvSpPr>
        <p:spPr>
          <a:xfrm>
            <a:off x="1935327" y="3154680"/>
            <a:ext cx="2377440" cy="1874520"/>
          </a:xfrm>
          <a:prstGeom prst="rect">
            <a:avLst/>
          </a:prstGeom>
          <a:noFill/>
        </p:spPr>
        <p:txBody>
          <a:bodyPr wrap="square">
            <a:spAutoFit/>
          </a:bodyPr>
          <a:lstStyle/>
          <a:p>
            <a:pPr algn="l"/>
            <a:r>
              <a:rPr sz="1300" b="0">
                <a:solidFill>
                  <a:srgbClr val="9B8EC4"/>
                </a:solidFill>
                <a:latin typeface="Calibri"/>
              </a:rPr>
              <a:t>SaaS subscription ($15-$150/user/month est.) with usage-based enterprise tiers for larger organizations.</a:t>
            </a:r>
          </a:p>
        </p:txBody>
      </p:sp>
      <p:sp>
        <p:nvSpPr>
          <p:cNvPr id="11" name="Rectangle 10"/>
          <p:cNvSpPr/>
          <p:nvPr/>
        </p:nvSpPr>
        <p:spPr>
          <a:xfrm>
            <a:off x="47242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24247" y="1920240"/>
            <a:ext cx="2743200" cy="54864"/>
          </a:xfrm>
          <a:prstGeom prst="rect">
            <a:avLst/>
          </a:prstGeom>
          <a:solidFill>
            <a:srgbClr val="3F3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Services</a:t>
            </a:r>
          </a:p>
        </p:txBody>
      </p:sp>
      <p:sp>
        <p:nvSpPr>
          <p:cNvPr id="14" name="TextBox 13"/>
          <p:cNvSpPr txBox="1"/>
          <p:nvPr/>
        </p:nvSpPr>
        <p:spPr>
          <a:xfrm>
            <a:off x="4907127" y="2651760"/>
            <a:ext cx="2377440" cy="502920"/>
          </a:xfrm>
          <a:prstGeom prst="rect">
            <a:avLst/>
          </a:prstGeom>
          <a:noFill/>
        </p:spPr>
        <p:txBody>
          <a:bodyPr wrap="square">
            <a:spAutoFit/>
          </a:bodyPr>
          <a:lstStyle/>
          <a:p>
            <a:pPr algn="l"/>
            <a:r>
              <a:rPr sz="2200" b="1">
                <a:solidFill>
                  <a:srgbClr val="3F3F3F"/>
                </a:solidFill>
                <a:latin typeface="Calibri"/>
              </a:rPr>
              <a:t>Secondary</a:t>
            </a:r>
          </a:p>
        </p:txBody>
      </p:sp>
      <p:sp>
        <p:nvSpPr>
          <p:cNvPr id="15" name="TextBox 14"/>
          <p:cNvSpPr txBox="1"/>
          <p:nvPr/>
        </p:nvSpPr>
        <p:spPr>
          <a:xfrm>
            <a:off x="4907127" y="3154680"/>
            <a:ext cx="2377440" cy="1874520"/>
          </a:xfrm>
          <a:prstGeom prst="rect">
            <a:avLst/>
          </a:prstGeom>
          <a:noFill/>
        </p:spPr>
        <p:txBody>
          <a:bodyPr wrap="square">
            <a:spAutoFit/>
          </a:bodyPr>
          <a:lstStyle/>
          <a:p>
            <a:pPr algn="l"/>
            <a:r>
              <a:rPr sz="1300" b="0">
                <a:solidFill>
                  <a:srgbClr val="9B8EC4"/>
                </a:solidFill>
                <a:latin typeface="Calibri"/>
              </a:rPr>
              <a:t>Implementation and professional services</a:t>
            </a:r>
          </a:p>
        </p:txBody>
      </p:sp>
      <p:sp>
        <p:nvSpPr>
          <p:cNvPr id="16" name="Rectangle 15"/>
          <p:cNvSpPr/>
          <p:nvPr/>
        </p:nvSpPr>
        <p:spPr>
          <a:xfrm>
            <a:off x="76960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96047" y="1920240"/>
            <a:ext cx="2743200"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Expansion</a:t>
            </a:r>
          </a:p>
        </p:txBody>
      </p:sp>
      <p:sp>
        <p:nvSpPr>
          <p:cNvPr id="19" name="TextBox 18"/>
          <p:cNvSpPr txBox="1"/>
          <p:nvPr/>
        </p:nvSpPr>
        <p:spPr>
          <a:xfrm>
            <a:off x="7878927" y="2651760"/>
            <a:ext cx="2377440" cy="502920"/>
          </a:xfrm>
          <a:prstGeom prst="rect">
            <a:avLst/>
          </a:prstGeom>
          <a:noFill/>
        </p:spPr>
        <p:txBody>
          <a:bodyPr wrap="square">
            <a:spAutoFit/>
          </a:bodyPr>
          <a:lstStyle/>
          <a:p>
            <a:pPr algn="l"/>
            <a:r>
              <a:rPr sz="2200" b="1">
                <a:solidFill>
                  <a:srgbClr val="7B2CBF"/>
                </a:solidFill>
                <a:latin typeface="Calibri"/>
              </a:rPr>
              <a:t>Growth motion</a:t>
            </a:r>
          </a:p>
        </p:txBody>
      </p:sp>
      <p:sp>
        <p:nvSpPr>
          <p:cNvPr id="20" name="TextBox 19"/>
          <p:cNvSpPr txBox="1"/>
          <p:nvPr/>
        </p:nvSpPr>
        <p:spPr>
          <a:xfrm>
            <a:off x="7878927" y="3154680"/>
            <a:ext cx="2377440" cy="1874520"/>
          </a:xfrm>
          <a:prstGeom prst="rect">
            <a:avLst/>
          </a:prstGeom>
          <a:noFill/>
        </p:spPr>
        <p:txBody>
          <a:bodyPr wrap="square">
            <a:spAutoFit/>
          </a:bodyPr>
          <a:lstStyle/>
          <a:p>
            <a:pPr algn="l"/>
            <a:r>
              <a:rPr sz="1300" b="0">
                <a:solidFill>
                  <a:srgbClr val="9B8EC4"/>
                </a:solidFill>
                <a:latin typeface="Calibri"/>
              </a:rPr>
              <a:t>Land-and-expand within accounts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8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TRACTION</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Traction</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Early momentum and market validation</a:t>
            </a:r>
          </a:p>
        </p:txBody>
      </p:sp>
      <p:sp>
        <p:nvSpPr>
          <p:cNvPr id="6" name="Rectangle 5"/>
          <p:cNvSpPr/>
          <p:nvPr/>
        </p:nvSpPr>
        <p:spPr>
          <a:xfrm>
            <a:off x="3421227" y="2103120"/>
            <a:ext cx="2560320" cy="2194560"/>
          </a:xfrm>
          <a:prstGeom prst="rect">
            <a:avLst/>
          </a:prstGeom>
          <a:solidFill>
            <a:srgbClr val="1A1130"/>
          </a:solidFill>
          <a:ln w="19050">
            <a:solidFill>
              <a:srgbClr val="0809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58387" y="2331720"/>
            <a:ext cx="2286000" cy="914400"/>
          </a:xfrm>
          <a:prstGeom prst="rect">
            <a:avLst/>
          </a:prstGeom>
          <a:noFill/>
        </p:spPr>
        <p:txBody>
          <a:bodyPr wrap="square">
            <a:spAutoFit/>
          </a:bodyPr>
          <a:lstStyle/>
          <a:p>
            <a:pPr algn="ctr"/>
            <a:r>
              <a:rPr sz="3400" b="1">
                <a:solidFill>
                  <a:srgbClr val="F5F3FF"/>
                </a:solidFill>
                <a:latin typeface="Calibri"/>
              </a:rPr>
              <a:t>Growing</a:t>
            </a:r>
          </a:p>
        </p:txBody>
      </p:sp>
      <p:sp>
        <p:nvSpPr>
          <p:cNvPr id="8" name="TextBox 7"/>
          <p:cNvSpPr txBox="1"/>
          <p:nvPr/>
        </p:nvSpPr>
        <p:spPr>
          <a:xfrm>
            <a:off x="3558387" y="3246120"/>
            <a:ext cx="2286000" cy="411480"/>
          </a:xfrm>
          <a:prstGeom prst="rect">
            <a:avLst/>
          </a:prstGeom>
          <a:noFill/>
        </p:spPr>
        <p:txBody>
          <a:bodyPr wrap="square">
            <a:spAutoFit/>
          </a:bodyPr>
          <a:lstStyle/>
          <a:p>
            <a:pPr algn="ctr"/>
            <a:r>
              <a:rPr sz="1200" b="0">
                <a:solidFill>
                  <a:srgbClr val="9B8EC4"/>
                </a:solidFill>
                <a:latin typeface="Calibri"/>
              </a:rPr>
              <a:t>Momentum</a:t>
            </a:r>
          </a:p>
        </p:txBody>
      </p:sp>
      <p:sp>
        <p:nvSpPr>
          <p:cNvPr id="9" name="TextBox 8"/>
          <p:cNvSpPr txBox="1"/>
          <p:nvPr/>
        </p:nvSpPr>
        <p:spPr>
          <a:xfrm>
            <a:off x="3512667" y="3657600"/>
            <a:ext cx="2377440" cy="457200"/>
          </a:xfrm>
          <a:prstGeom prst="rect">
            <a:avLst/>
          </a:prstGeom>
          <a:noFill/>
        </p:spPr>
        <p:txBody>
          <a:bodyPr wrap="square">
            <a:spAutoFit/>
          </a:bodyPr>
          <a:lstStyle/>
          <a:p>
            <a:pPr algn="ctr"/>
            <a:r>
              <a:rPr sz="1000" b="0">
                <a:solidFill>
                  <a:srgbClr val="5C4E7A"/>
                </a:solidFill>
                <a:latin typeface="Calibri"/>
              </a:rPr>
              <a:t>Early customers engaged</a:t>
            </a:r>
          </a:p>
        </p:txBody>
      </p:sp>
      <p:sp>
        <p:nvSpPr>
          <p:cNvPr id="10" name="Rectangle 9"/>
          <p:cNvSpPr/>
          <p:nvPr/>
        </p:nvSpPr>
        <p:spPr>
          <a:xfrm>
            <a:off x="6210147" y="2103120"/>
            <a:ext cx="2560320" cy="2194560"/>
          </a:xfrm>
          <a:prstGeom prst="rect">
            <a:avLst/>
          </a:prstGeom>
          <a:solidFill>
            <a:srgbClr val="1A1130"/>
          </a:solidFill>
          <a:ln w="19050">
            <a:solidFill>
              <a:srgbClr val="0809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47307" y="2331720"/>
            <a:ext cx="2286000" cy="914400"/>
          </a:xfrm>
          <a:prstGeom prst="rect">
            <a:avLst/>
          </a:prstGeom>
          <a:noFill/>
        </p:spPr>
        <p:txBody>
          <a:bodyPr wrap="square">
            <a:spAutoFit/>
          </a:bodyPr>
          <a:lstStyle/>
          <a:p>
            <a:pPr algn="ctr"/>
            <a:r>
              <a:rPr sz="3400" b="1">
                <a:solidFill>
                  <a:srgbClr val="F5F3FF"/>
                </a:solidFill>
                <a:latin typeface="Calibri"/>
              </a:rPr>
              <a:t>21.5% CAGR 2024–2030 (est.)</a:t>
            </a:r>
          </a:p>
        </p:txBody>
      </p:sp>
      <p:sp>
        <p:nvSpPr>
          <p:cNvPr id="12" name="TextBox 11"/>
          <p:cNvSpPr txBox="1"/>
          <p:nvPr/>
        </p:nvSpPr>
        <p:spPr>
          <a:xfrm>
            <a:off x="6347307" y="3246120"/>
            <a:ext cx="2286000" cy="411480"/>
          </a:xfrm>
          <a:prstGeom prst="rect">
            <a:avLst/>
          </a:prstGeom>
          <a:noFill/>
        </p:spPr>
        <p:txBody>
          <a:bodyPr wrap="square">
            <a:spAutoFit/>
          </a:bodyPr>
          <a:lstStyle/>
          <a:p>
            <a:pPr algn="ctr"/>
            <a:r>
              <a:rPr sz="1200" b="0">
                <a:solidFill>
                  <a:srgbClr val="9B8EC4"/>
                </a:solidFill>
                <a:latin typeface="Calibri"/>
              </a:rPr>
              <a:t>Growth</a:t>
            </a:r>
          </a:p>
        </p:txBody>
      </p:sp>
      <p:sp>
        <p:nvSpPr>
          <p:cNvPr id="13" name="TextBox 12"/>
          <p:cNvSpPr txBox="1"/>
          <p:nvPr/>
        </p:nvSpPr>
        <p:spPr>
          <a:xfrm>
            <a:off x="6301587" y="3657600"/>
            <a:ext cx="2377440" cy="457200"/>
          </a:xfrm>
          <a:prstGeom prst="rect">
            <a:avLst/>
          </a:prstGeom>
          <a:noFill/>
        </p:spPr>
        <p:txBody>
          <a:bodyPr wrap="square">
            <a:spAutoFit/>
          </a:bodyPr>
          <a:lstStyle/>
          <a:p>
            <a:pPr algn="ctr"/>
            <a:r>
              <a:rPr sz="1000" b="0">
                <a:solidFill>
                  <a:srgbClr val="5C4E7A"/>
                </a:solidFill>
                <a:latin typeface="Calibri"/>
              </a:rPr>
              <a:t>Market tailwind</a:t>
            </a:r>
          </a:p>
        </p:txBody>
      </p:sp>
      <p:sp>
        <p:nvSpPr>
          <p:cNvPr id="14" name="TextBox 13"/>
          <p:cNvSpPr txBox="1"/>
          <p:nvPr/>
        </p:nvSpPr>
        <p:spPr>
          <a:xfrm>
            <a:off x="731520" y="4572000"/>
            <a:ext cx="10698480" cy="822960"/>
          </a:xfrm>
          <a:prstGeom prst="rect">
            <a:avLst/>
          </a:prstGeom>
          <a:noFill/>
        </p:spPr>
        <p:txBody>
          <a:bodyPr wrap="square">
            <a:spAutoFit/>
          </a:bodyPr>
          <a:lstStyle/>
          <a:p>
            <a:pPr algn="l"/>
            <a:r>
              <a:rPr sz="1400" b="0">
                <a:solidFill>
                  <a:srgbClr val="9B8EC4"/>
                </a:solidFill>
                <a:latin typeface="Calibri"/>
              </a:rPr>
              <a:t>First customers signed, design partners engaged, waitlist building.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8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GO TO MARKET</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Go-to-Market Strategy</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How we acquire, expand, and retain customers</a:t>
            </a:r>
          </a:p>
        </p:txBody>
      </p:sp>
      <p:sp>
        <p:nvSpPr>
          <p:cNvPr id="6" name="Oval 5"/>
          <p:cNvSpPr/>
          <p:nvPr/>
        </p:nvSpPr>
        <p:spPr>
          <a:xfrm>
            <a:off x="731520" y="2048256"/>
            <a:ext cx="109728" cy="109728"/>
          </a:xfrm>
          <a:prstGeom prst="ellipse">
            <a:avLst/>
          </a:prstGeom>
          <a:solidFill>
            <a:srgbClr val="08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920240"/>
            <a:ext cx="5010912" cy="512064"/>
          </a:xfrm>
          <a:prstGeom prst="rect">
            <a:avLst/>
          </a:prstGeom>
          <a:noFill/>
        </p:spPr>
        <p:txBody>
          <a:bodyPr wrap="square">
            <a:spAutoFit/>
          </a:bodyPr>
          <a:lstStyle/>
          <a:p>
            <a:pPr algn="l"/>
            <a:r>
              <a:rPr sz="1400" b="0">
                <a:solidFill>
                  <a:srgbClr val="9B8EC4"/>
                </a:solidFill>
                <a:latin typeface="Calibri"/>
              </a:rPr>
              <a:t>Product-Led Growth (PLG) &amp; Developer Community: Leverage an intuitive free/low-cost tier and strong developer experience to drive viral adoption and bottom-up expansion within engineering teams, fueled by direct engagement and integrations.</a:t>
            </a:r>
          </a:p>
        </p:txBody>
      </p:sp>
      <p:sp>
        <p:nvSpPr>
          <p:cNvPr id="8" name="Oval 7"/>
          <p:cNvSpPr/>
          <p:nvPr/>
        </p:nvSpPr>
        <p:spPr>
          <a:xfrm>
            <a:off x="731520" y="2615184"/>
            <a:ext cx="109728" cy="109728"/>
          </a:xfrm>
          <a:prstGeom prst="ellipse">
            <a:avLst/>
          </a:prstGeom>
          <a:solidFill>
            <a:srgbClr val="08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487168"/>
            <a:ext cx="5010912" cy="512064"/>
          </a:xfrm>
          <a:prstGeom prst="rect">
            <a:avLst/>
          </a:prstGeom>
          <a:noFill/>
        </p:spPr>
        <p:txBody>
          <a:bodyPr wrap="square">
            <a:spAutoFit/>
          </a:bodyPr>
          <a:lstStyle/>
          <a:p>
            <a:pPr algn="l"/>
            <a:r>
              <a:rPr sz="1400" b="0">
                <a:solidFill>
                  <a:srgbClr val="9B8EC4"/>
                </a:solidFill>
                <a:latin typeface="Calibri"/>
              </a:rPr>
              <a:t>Content Marketing &amp; Thought Leadership: Establish Linear as the definitive voice in AI-native product development through high-value content, case studies, and webinars, targeting engineering and product leadership seeking innovation.</a:t>
            </a:r>
          </a:p>
        </p:txBody>
      </p:sp>
      <p:sp>
        <p:nvSpPr>
          <p:cNvPr id="10" name="Oval 9"/>
          <p:cNvSpPr/>
          <p:nvPr/>
        </p:nvSpPr>
        <p:spPr>
          <a:xfrm>
            <a:off x="6400800" y="2048256"/>
            <a:ext cx="109728" cy="109728"/>
          </a:xfrm>
          <a:prstGeom prst="ellipse">
            <a:avLst/>
          </a:prstGeom>
          <a:solidFill>
            <a:srgbClr val="3F3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1968" y="1920240"/>
            <a:ext cx="5010912" cy="512064"/>
          </a:xfrm>
          <a:prstGeom prst="rect">
            <a:avLst/>
          </a:prstGeom>
          <a:noFill/>
        </p:spPr>
        <p:txBody>
          <a:bodyPr wrap="square">
            <a:spAutoFit/>
          </a:bodyPr>
          <a:lstStyle/>
          <a:p>
            <a:pPr algn="l"/>
            <a:r>
              <a:rPr sz="1400" b="0">
                <a:solidFill>
                  <a:srgbClr val="9B8EC4"/>
                </a:solidFill>
                <a:latin typeface="Calibri"/>
              </a:rPr>
              <a:t>Direct Sales &amp; Enterprise Account Management: Build out a specialized enterprise sales team to target mid-market to large enterprises, focusing on value-based selling, pain point resolution, and bespoke integration support for complex organizations.</a:t>
            </a:r>
          </a:p>
        </p:txBody>
      </p:sp>
      <p:sp>
        <p:nvSpPr>
          <p:cNvPr id="12" name="Oval 11"/>
          <p:cNvSpPr/>
          <p:nvPr/>
        </p:nvSpPr>
        <p:spPr>
          <a:xfrm>
            <a:off x="6400800" y="2615184"/>
            <a:ext cx="109728" cy="109728"/>
          </a:xfrm>
          <a:prstGeom prst="ellipse">
            <a:avLst/>
          </a:prstGeom>
          <a:solidFill>
            <a:srgbClr val="3F3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01968" y="2487168"/>
            <a:ext cx="5010912" cy="512064"/>
          </a:xfrm>
          <a:prstGeom prst="rect">
            <a:avLst/>
          </a:prstGeom>
          <a:noFill/>
        </p:spPr>
        <p:txBody>
          <a:bodyPr wrap="square">
            <a:spAutoFit/>
          </a:bodyPr>
          <a:lstStyle/>
          <a:p>
            <a:pPr algn="l"/>
            <a:r>
              <a:rPr sz="1400" b="0">
                <a:solidFill>
                  <a:srgbClr val="9B8EC4"/>
                </a:solidFill>
                <a:latin typeface="Calibri"/>
              </a:rPr>
              <a:t>Strategic Partnerships &amp; Ecosystem Development: Foster deep integrations with key developer tools (e.g., GitHub, GitLab) and AI model providers to enhance platform stickiness, expand reach, and create seamless, end-to-end AI-driven workflows.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8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COMPETITIVE LANDSCAPE</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Competitive Landscape</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Why we win against alternatives</a:t>
            </a:r>
          </a:p>
        </p:txBody>
      </p:sp>
      <p:sp>
        <p:nvSpPr>
          <p:cNvPr id="6" name="Rectangle 5"/>
          <p:cNvSpPr/>
          <p:nvPr/>
        </p:nvSpPr>
        <p:spPr>
          <a:xfrm>
            <a:off x="640080" y="1737360"/>
            <a:ext cx="5303520" cy="4114800"/>
          </a:xfrm>
          <a:prstGeom prst="rect">
            <a:avLst/>
          </a:prstGeom>
          <a:solidFill>
            <a:srgbClr val="1A1130"/>
          </a:solidFill>
          <a:ln w="19050">
            <a:solidFill>
              <a:srgbClr val="0809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737360"/>
            <a:ext cx="5303520" cy="64008"/>
          </a:xfrm>
          <a:prstGeom prst="rect">
            <a:avLst/>
          </a:prstGeom>
          <a:solidFill>
            <a:srgbClr val="08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20240"/>
            <a:ext cx="4937760" cy="502920"/>
          </a:xfrm>
          <a:prstGeom prst="rect">
            <a:avLst/>
          </a:prstGeom>
          <a:noFill/>
        </p:spPr>
        <p:txBody>
          <a:bodyPr wrap="square">
            <a:spAutoFit/>
          </a:bodyPr>
          <a:lstStyle/>
          <a:p>
            <a:pPr algn="l"/>
            <a:r>
              <a:rPr sz="1800" b="1">
                <a:solidFill>
                  <a:srgbClr val="F5F3FF"/>
                </a:solidFill>
                <a:latin typeface="Calibri"/>
              </a:rPr>
              <a:t>Linear</a:t>
            </a:r>
          </a:p>
        </p:txBody>
      </p:sp>
      <p:sp>
        <p:nvSpPr>
          <p:cNvPr id="9" name="TextBox 8"/>
          <p:cNvSpPr txBox="1"/>
          <p:nvPr/>
        </p:nvSpPr>
        <p:spPr>
          <a:xfrm>
            <a:off x="822960" y="2468880"/>
            <a:ext cx="4937760" cy="502920"/>
          </a:xfrm>
          <a:prstGeom prst="rect">
            <a:avLst/>
          </a:prstGeom>
          <a:noFill/>
        </p:spPr>
        <p:txBody>
          <a:bodyPr wrap="square">
            <a:spAutoFit/>
          </a:bodyPr>
          <a:lstStyle/>
          <a:p>
            <a:pPr algn="l"/>
            <a:r>
              <a:rPr sz="2400" b="1">
                <a:solidFill>
                  <a:srgbClr val="08090A"/>
                </a:solidFill>
                <a:latin typeface="Calibri"/>
              </a:rPr>
              <a:t>Purpose-built &amp; modern</a:t>
            </a:r>
          </a:p>
        </p:txBody>
      </p:sp>
      <p:sp>
        <p:nvSpPr>
          <p:cNvPr id="10" name="TextBox 9"/>
          <p:cNvSpPr txBox="1"/>
          <p:nvPr/>
        </p:nvSpPr>
        <p:spPr>
          <a:xfrm>
            <a:off x="914400" y="3017520"/>
            <a:ext cx="4846320" cy="438912"/>
          </a:xfrm>
          <a:prstGeom prst="rect">
            <a:avLst/>
          </a:prstGeom>
          <a:noFill/>
        </p:spPr>
        <p:txBody>
          <a:bodyPr wrap="square">
            <a:spAutoFit/>
          </a:bodyPr>
          <a:lstStyle/>
          <a:p>
            <a:pPr algn="l"/>
            <a:r>
              <a:rPr sz="1300" b="0">
                <a:solidFill>
                  <a:srgbClr val="9B8EC4"/>
                </a:solidFill>
                <a:latin typeface="Calibri"/>
              </a:rPr>
              <a:t>•  AI-native integration at its core, automating issue triage, feedback summarization, and sprint planning.</a:t>
            </a:r>
          </a:p>
        </p:txBody>
      </p:sp>
      <p:sp>
        <p:nvSpPr>
          <p:cNvPr id="11" name="TextBox 10"/>
          <p:cNvSpPr txBox="1"/>
          <p:nvPr/>
        </p:nvSpPr>
        <p:spPr>
          <a:xfrm>
            <a:off x="914400" y="3456432"/>
            <a:ext cx="4846320" cy="438912"/>
          </a:xfrm>
          <a:prstGeom prst="rect">
            <a:avLst/>
          </a:prstGeom>
          <a:noFill/>
        </p:spPr>
        <p:txBody>
          <a:bodyPr wrap="square">
            <a:spAutoFit/>
          </a:bodyPr>
          <a:lstStyle/>
          <a:p>
            <a:pPr algn="l"/>
            <a:r>
              <a:rPr sz="1300" b="0">
                <a:solidFill>
                  <a:srgbClr val="9B8EC4"/>
                </a:solidFill>
                <a:latin typeface="Calibri"/>
              </a:rPr>
              <a:t>•  Modern, fast, and intuitive UI/UX purpose-built to address developer frustrations and optimize for high-performance teams.</a:t>
            </a:r>
          </a:p>
        </p:txBody>
      </p:sp>
      <p:sp>
        <p:nvSpPr>
          <p:cNvPr id="12" name="TextBox 11"/>
          <p:cNvSpPr txBox="1"/>
          <p:nvPr/>
        </p:nvSpPr>
        <p:spPr>
          <a:xfrm>
            <a:off x="914400" y="3895344"/>
            <a:ext cx="4846320" cy="438912"/>
          </a:xfrm>
          <a:prstGeom prst="rect">
            <a:avLst/>
          </a:prstGeom>
          <a:noFill/>
        </p:spPr>
        <p:txBody>
          <a:bodyPr wrap="square">
            <a:spAutoFit/>
          </a:bodyPr>
          <a:lstStyle/>
          <a:p>
            <a:pPr algn="l"/>
            <a:r>
              <a:rPr sz="1300" b="0">
                <a:solidFill>
                  <a:srgbClr val="9B8EC4"/>
                </a:solidFill>
                <a:latin typeface="Calibri"/>
              </a:rPr>
              <a:t>•  Streamlined workflow automation designed to minimize friction and context-switching for product development.</a:t>
            </a:r>
          </a:p>
        </p:txBody>
      </p:sp>
      <p:sp>
        <p:nvSpPr>
          <p:cNvPr id="13" name="Rectangle 12"/>
          <p:cNvSpPr/>
          <p:nvPr/>
        </p:nvSpPr>
        <p:spPr>
          <a:xfrm>
            <a:off x="6400800" y="1737360"/>
            <a:ext cx="5303520" cy="4114800"/>
          </a:xfrm>
          <a:prstGeom prst="rect">
            <a:avLst/>
          </a:prstGeom>
          <a:solidFill>
            <a:srgbClr val="1A1130"/>
          </a:solidFill>
          <a:ln w="19050">
            <a:solidFill>
              <a:srgbClr val="3F3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1737360"/>
            <a:ext cx="5303520" cy="64008"/>
          </a:xfrm>
          <a:prstGeom prst="rect">
            <a:avLst/>
          </a:prstGeom>
          <a:solidFill>
            <a:srgbClr val="3F3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1920240"/>
            <a:ext cx="4937760" cy="502920"/>
          </a:xfrm>
          <a:prstGeom prst="rect">
            <a:avLst/>
          </a:prstGeom>
          <a:noFill/>
        </p:spPr>
        <p:txBody>
          <a:bodyPr wrap="square">
            <a:spAutoFit/>
          </a:bodyPr>
          <a:lstStyle/>
          <a:p>
            <a:pPr algn="l"/>
            <a:r>
              <a:rPr sz="1800" b="1">
                <a:solidFill>
                  <a:srgbClr val="F5F3FF"/>
                </a:solidFill>
                <a:latin typeface="Calibri"/>
              </a:rPr>
              <a:t>Existing Solutions</a:t>
            </a:r>
          </a:p>
        </p:txBody>
      </p:sp>
      <p:sp>
        <p:nvSpPr>
          <p:cNvPr id="16" name="TextBox 15"/>
          <p:cNvSpPr txBox="1"/>
          <p:nvPr/>
        </p:nvSpPr>
        <p:spPr>
          <a:xfrm>
            <a:off x="6583680" y="2468880"/>
            <a:ext cx="4937760" cy="502920"/>
          </a:xfrm>
          <a:prstGeom prst="rect">
            <a:avLst/>
          </a:prstGeom>
          <a:noFill/>
        </p:spPr>
        <p:txBody>
          <a:bodyPr wrap="square">
            <a:spAutoFit/>
          </a:bodyPr>
          <a:lstStyle/>
          <a:p>
            <a:pPr algn="l"/>
            <a:r>
              <a:rPr sz="2400" b="1">
                <a:solidFill>
                  <a:srgbClr val="3F3F3F"/>
                </a:solidFill>
                <a:latin typeface="Calibri"/>
              </a:rPr>
              <a:t>Legacy &amp; fragmented</a:t>
            </a:r>
          </a:p>
        </p:txBody>
      </p:sp>
      <p:sp>
        <p:nvSpPr>
          <p:cNvPr id="17" name="TextBox 16"/>
          <p:cNvSpPr txBox="1"/>
          <p:nvPr/>
        </p:nvSpPr>
        <p:spPr>
          <a:xfrm>
            <a:off x="6675120" y="3017520"/>
            <a:ext cx="4846320" cy="438912"/>
          </a:xfrm>
          <a:prstGeom prst="rect">
            <a:avLst/>
          </a:prstGeom>
          <a:noFill/>
        </p:spPr>
        <p:txBody>
          <a:bodyPr wrap="square">
            <a:spAutoFit/>
          </a:bodyPr>
          <a:lstStyle/>
          <a:p>
            <a:pPr algn="l"/>
            <a:r>
              <a:rPr sz="1300" b="0">
                <a:solidFill>
                  <a:srgbClr val="9B8EC4"/>
                </a:solidFill>
                <a:latin typeface="Calibri"/>
              </a:rPr>
              <a:t>•  Jira (Atlassian): Often perceived as complex, slow, and outdated UI/UX; high learning curve; not AI-native.</a:t>
            </a:r>
          </a:p>
        </p:txBody>
      </p:sp>
      <p:sp>
        <p:nvSpPr>
          <p:cNvPr id="18" name="TextBox 17"/>
          <p:cNvSpPr txBox="1"/>
          <p:nvPr/>
        </p:nvSpPr>
        <p:spPr>
          <a:xfrm>
            <a:off x="6675120" y="3456432"/>
            <a:ext cx="4846320" cy="438912"/>
          </a:xfrm>
          <a:prstGeom prst="rect">
            <a:avLst/>
          </a:prstGeom>
          <a:noFill/>
        </p:spPr>
        <p:txBody>
          <a:bodyPr wrap="square">
            <a:spAutoFit/>
          </a:bodyPr>
          <a:lstStyle/>
          <a:p>
            <a:pPr algn="l"/>
            <a:r>
              <a:rPr sz="1300" b="0">
                <a:solidFill>
                  <a:srgbClr val="9B8EC4"/>
                </a:solidFill>
                <a:latin typeface="Calibri"/>
              </a:rPr>
              <a:t>•  ClickUp: Can be overwhelming due to feature bloat, steep learning curve, less refined for highly specific developer workflows.</a:t>
            </a:r>
          </a:p>
        </p:txBody>
      </p:sp>
      <p:sp>
        <p:nvSpPr>
          <p:cNvPr id="19" name="TextBox 18"/>
          <p:cNvSpPr txBox="1"/>
          <p:nvPr/>
        </p:nvSpPr>
        <p:spPr>
          <a:xfrm>
            <a:off x="6675120" y="3895344"/>
            <a:ext cx="4846320" cy="438912"/>
          </a:xfrm>
          <a:prstGeom prst="rect">
            <a:avLst/>
          </a:prstGeom>
          <a:noFill/>
        </p:spPr>
        <p:txBody>
          <a:bodyPr wrap="square">
            <a:spAutoFit/>
          </a:bodyPr>
          <a:lstStyle/>
          <a:p>
            <a:pPr algn="l"/>
            <a:r>
              <a:rPr sz="1300" b="0">
                <a:solidFill>
                  <a:srgbClr val="9B8EC4"/>
                </a:solidFill>
                <a:latin typeface="Calibri"/>
              </a:rPr>
              <a:t>•  Asana: Less specialized for software development lifecycle (SDLC), lacks deep dev-centric features like code integration, not AI-native.</a:t>
            </a:r>
          </a:p>
        </p:txBody>
      </p:sp>
      <p:sp>
        <p:nvSpPr>
          <p:cNvPr id="20" name="Rectangle 19"/>
          <p:cNvSpPr/>
          <p:nvPr/>
        </p:nvSpPr>
        <p:spPr>
          <a:xfrm>
            <a:off x="6144768" y="2011680"/>
            <a:ext cx="27432" cy="3566160"/>
          </a:xfrm>
          <a:prstGeom prst="rect">
            <a:avLst/>
          </a:prstGeom>
          <a:solidFill>
            <a:srgbClr val="2A1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8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TEAM</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The Team</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Domain expertise meets execution track record</a:t>
            </a:r>
          </a:p>
        </p:txBody>
      </p:sp>
      <p:sp>
        <p:nvSpPr>
          <p:cNvPr id="6" name="Rectangle 5"/>
          <p:cNvSpPr/>
          <p:nvPr/>
        </p:nvSpPr>
        <p:spPr>
          <a:xfrm>
            <a:off x="17524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08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Founder &amp; CEO</a:t>
            </a:r>
          </a:p>
        </p:txBody>
      </p:sp>
      <p:sp>
        <p:nvSpPr>
          <p:cNvPr id="9" name="TextBox 8"/>
          <p:cNvSpPr txBox="1"/>
          <p:nvPr/>
        </p:nvSpPr>
        <p:spPr>
          <a:xfrm>
            <a:off x="1935327" y="2697480"/>
            <a:ext cx="2377440" cy="2331720"/>
          </a:xfrm>
          <a:prstGeom prst="rect">
            <a:avLst/>
          </a:prstGeom>
          <a:noFill/>
        </p:spPr>
        <p:txBody>
          <a:bodyPr wrap="square">
            <a:spAutoFit/>
          </a:bodyPr>
          <a:lstStyle/>
          <a:p>
            <a:pPr algn="l"/>
            <a:r>
              <a:rPr sz="1300" b="0">
                <a:solidFill>
                  <a:srgbClr val="9B8EC4"/>
                </a:solidFill>
                <a:latin typeface="Calibri"/>
              </a:rPr>
              <a:t>Experienced founder with deep domain expertise in the industry</a:t>
            </a:r>
          </a:p>
        </p:txBody>
      </p:sp>
      <p:sp>
        <p:nvSpPr>
          <p:cNvPr id="10" name="Rectangle 9"/>
          <p:cNvSpPr/>
          <p:nvPr/>
        </p:nvSpPr>
        <p:spPr>
          <a:xfrm>
            <a:off x="47242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24247" y="1920240"/>
            <a:ext cx="2743200" cy="54864"/>
          </a:xfrm>
          <a:prstGeom prst="rect">
            <a:avLst/>
          </a:prstGeom>
          <a:solidFill>
            <a:srgbClr val="3F3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Head of Product</a:t>
            </a:r>
          </a:p>
        </p:txBody>
      </p:sp>
      <p:sp>
        <p:nvSpPr>
          <p:cNvPr id="13" name="TextBox 12"/>
          <p:cNvSpPr txBox="1"/>
          <p:nvPr/>
        </p:nvSpPr>
        <p:spPr>
          <a:xfrm>
            <a:off x="4907127" y="2697480"/>
            <a:ext cx="2377440" cy="2331720"/>
          </a:xfrm>
          <a:prstGeom prst="rect">
            <a:avLst/>
          </a:prstGeom>
          <a:noFill/>
        </p:spPr>
        <p:txBody>
          <a:bodyPr wrap="square">
            <a:spAutoFit/>
          </a:bodyPr>
          <a:lstStyle/>
          <a:p>
            <a:pPr algn="l"/>
            <a:r>
              <a:rPr sz="1300" b="0">
                <a:solidFill>
                  <a:srgbClr val="9B8EC4"/>
                </a:solidFill>
                <a:latin typeface="Calibri"/>
              </a:rPr>
              <a:t>Product leader with a track record of shipping customer-loved software</a:t>
            </a:r>
          </a:p>
        </p:txBody>
      </p:sp>
      <p:sp>
        <p:nvSpPr>
          <p:cNvPr id="14" name="Rectangle 13"/>
          <p:cNvSpPr/>
          <p:nvPr/>
        </p:nvSpPr>
        <p:spPr>
          <a:xfrm>
            <a:off x="76960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96047" y="1920240"/>
            <a:ext cx="2743200"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Head of Sales</a:t>
            </a:r>
          </a:p>
        </p:txBody>
      </p:sp>
      <p:sp>
        <p:nvSpPr>
          <p:cNvPr id="17" name="TextBox 16"/>
          <p:cNvSpPr txBox="1"/>
          <p:nvPr/>
        </p:nvSpPr>
        <p:spPr>
          <a:xfrm>
            <a:off x="7878927" y="2697480"/>
            <a:ext cx="2377440" cy="2331720"/>
          </a:xfrm>
          <a:prstGeom prst="rect">
            <a:avLst/>
          </a:prstGeom>
          <a:noFill/>
        </p:spPr>
        <p:txBody>
          <a:bodyPr wrap="square">
            <a:spAutoFit/>
          </a:bodyPr>
          <a:lstStyle/>
          <a:p>
            <a:pPr algn="l"/>
            <a:r>
              <a:rPr sz="1300" b="0">
                <a:solidFill>
                  <a:srgbClr val="9B8EC4"/>
                </a:solidFill>
                <a:latin typeface="Calibri"/>
              </a:rPr>
              <a:t>Enterprise sales leader with experience scaling ARR from 0 to $10M+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8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FINANCIALS</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Financial Projections</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Path to scale with clear milestones</a:t>
            </a:r>
          </a:p>
        </p:txBody>
      </p:sp>
      <p:sp>
        <p:nvSpPr>
          <p:cNvPr id="6" name="Rectangle 5"/>
          <p:cNvSpPr/>
          <p:nvPr/>
        </p:nvSpPr>
        <p:spPr>
          <a:xfrm>
            <a:off x="2026767" y="2103120"/>
            <a:ext cx="2560320" cy="2194560"/>
          </a:xfrm>
          <a:prstGeom prst="rect">
            <a:avLst/>
          </a:prstGeom>
          <a:solidFill>
            <a:srgbClr val="1A1130"/>
          </a:solidFill>
          <a:ln w="19050">
            <a:solidFill>
              <a:srgbClr val="0809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63927" y="2331720"/>
            <a:ext cx="2286000" cy="914400"/>
          </a:xfrm>
          <a:prstGeom prst="rect">
            <a:avLst/>
          </a:prstGeom>
          <a:noFill/>
        </p:spPr>
        <p:txBody>
          <a:bodyPr wrap="square">
            <a:spAutoFit/>
          </a:bodyPr>
          <a:lstStyle/>
          <a:p>
            <a:pPr algn="ctr"/>
            <a:r>
              <a:rPr sz="3400" b="1">
                <a:solidFill>
                  <a:srgbClr val="F5F3FF"/>
                </a:solidFill>
                <a:latin typeface="Calibri"/>
              </a:rPr>
              <a:t>$150M-$200M</a:t>
            </a:r>
          </a:p>
        </p:txBody>
      </p:sp>
      <p:sp>
        <p:nvSpPr>
          <p:cNvPr id="8" name="TextBox 7"/>
          <p:cNvSpPr txBox="1"/>
          <p:nvPr/>
        </p:nvSpPr>
        <p:spPr>
          <a:xfrm>
            <a:off x="2163927" y="3246120"/>
            <a:ext cx="2286000" cy="411480"/>
          </a:xfrm>
          <a:prstGeom prst="rect">
            <a:avLst/>
          </a:prstGeom>
          <a:noFill/>
        </p:spPr>
        <p:txBody>
          <a:bodyPr wrap="square">
            <a:spAutoFit/>
          </a:bodyPr>
          <a:lstStyle/>
          <a:p>
            <a:pPr algn="ctr"/>
            <a:r>
              <a:rPr sz="1200" b="0">
                <a:solidFill>
                  <a:srgbClr val="9B8EC4"/>
                </a:solidFill>
                <a:latin typeface="Calibri"/>
              </a:rPr>
              <a:t>Conservative Y1</a:t>
            </a:r>
          </a:p>
        </p:txBody>
      </p:sp>
      <p:sp>
        <p:nvSpPr>
          <p:cNvPr id="9" name="TextBox 8"/>
          <p:cNvSpPr txBox="1"/>
          <p:nvPr/>
        </p:nvSpPr>
        <p:spPr>
          <a:xfrm>
            <a:off x="2118207" y="3657600"/>
            <a:ext cx="2377440" cy="457200"/>
          </a:xfrm>
          <a:prstGeom prst="rect">
            <a:avLst/>
          </a:prstGeom>
          <a:noFill/>
        </p:spPr>
        <p:txBody>
          <a:bodyPr wrap="square">
            <a:spAutoFit/>
          </a:bodyPr>
          <a:lstStyle/>
          <a:p>
            <a:pPr algn="ctr"/>
            <a:r>
              <a:rPr sz="1000" b="0">
                <a:solidFill>
                  <a:srgbClr val="5C4E7A"/>
                </a:solidFill>
                <a:latin typeface="Calibri"/>
              </a:rPr>
              <a:t>Continued high-velocity product iteration and expansion within current ICP; moderate enterprise wins, assuming current ARR is ~80M-100M post-Series C (est.).</a:t>
            </a:r>
          </a:p>
        </p:txBody>
      </p:sp>
      <p:sp>
        <p:nvSpPr>
          <p:cNvPr id="10" name="Rectangle 9"/>
          <p:cNvSpPr/>
          <p:nvPr/>
        </p:nvSpPr>
        <p:spPr>
          <a:xfrm>
            <a:off x="4815687" y="2103120"/>
            <a:ext cx="2560320" cy="2194560"/>
          </a:xfrm>
          <a:prstGeom prst="rect">
            <a:avLst/>
          </a:prstGeom>
          <a:solidFill>
            <a:srgbClr val="1A1130"/>
          </a:solidFill>
          <a:ln w="19050">
            <a:solidFill>
              <a:srgbClr val="0809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52847" y="2331720"/>
            <a:ext cx="2286000" cy="914400"/>
          </a:xfrm>
          <a:prstGeom prst="rect">
            <a:avLst/>
          </a:prstGeom>
          <a:noFill/>
        </p:spPr>
        <p:txBody>
          <a:bodyPr wrap="square">
            <a:spAutoFit/>
          </a:bodyPr>
          <a:lstStyle/>
          <a:p>
            <a:pPr algn="ctr"/>
            <a:r>
              <a:rPr sz="3400" b="1">
                <a:solidFill>
                  <a:srgbClr val="F5F3FF"/>
                </a:solidFill>
                <a:latin typeface="Calibri"/>
              </a:rPr>
              <a:t>$250M-$350M</a:t>
            </a:r>
          </a:p>
        </p:txBody>
      </p:sp>
      <p:sp>
        <p:nvSpPr>
          <p:cNvPr id="12" name="TextBox 11"/>
          <p:cNvSpPr txBox="1"/>
          <p:nvPr/>
        </p:nvSpPr>
        <p:spPr>
          <a:xfrm>
            <a:off x="4952847" y="3246120"/>
            <a:ext cx="2286000" cy="411480"/>
          </a:xfrm>
          <a:prstGeom prst="rect">
            <a:avLst/>
          </a:prstGeom>
          <a:noFill/>
        </p:spPr>
        <p:txBody>
          <a:bodyPr wrap="square">
            <a:spAutoFit/>
          </a:bodyPr>
          <a:lstStyle/>
          <a:p>
            <a:pPr algn="ctr"/>
            <a:r>
              <a:rPr sz="1200" b="0">
                <a:solidFill>
                  <a:srgbClr val="9B8EC4"/>
                </a:solidFill>
                <a:latin typeface="Calibri"/>
              </a:rPr>
              <a:t>Base Y2</a:t>
            </a:r>
          </a:p>
        </p:txBody>
      </p:sp>
      <p:sp>
        <p:nvSpPr>
          <p:cNvPr id="13" name="TextBox 12"/>
          <p:cNvSpPr txBox="1"/>
          <p:nvPr/>
        </p:nvSpPr>
        <p:spPr>
          <a:xfrm>
            <a:off x="4907127" y="3657600"/>
            <a:ext cx="2377440" cy="457200"/>
          </a:xfrm>
          <a:prstGeom prst="rect">
            <a:avLst/>
          </a:prstGeom>
          <a:noFill/>
        </p:spPr>
        <p:txBody>
          <a:bodyPr wrap="square">
            <a:spAutoFit/>
          </a:bodyPr>
          <a:lstStyle/>
          <a:p>
            <a:pPr algn="ctr"/>
            <a:r>
              <a:rPr sz="1000" b="0">
                <a:solidFill>
                  <a:srgbClr val="5C4E7A"/>
                </a:solidFill>
                <a:latin typeface="Calibri"/>
              </a:rPr>
              <a:t>Successful penetration into mid-market and enterprise segments; strong word-of-mouth and thought leadership solidifying market position as AI-native leader.</a:t>
            </a:r>
          </a:p>
        </p:txBody>
      </p:sp>
      <p:sp>
        <p:nvSpPr>
          <p:cNvPr id="14" name="Rectangle 13"/>
          <p:cNvSpPr/>
          <p:nvPr/>
        </p:nvSpPr>
        <p:spPr>
          <a:xfrm>
            <a:off x="7604607" y="2103120"/>
            <a:ext cx="2560320" cy="2194560"/>
          </a:xfrm>
          <a:prstGeom prst="rect">
            <a:avLst/>
          </a:prstGeom>
          <a:solidFill>
            <a:srgbClr val="1A1130"/>
          </a:solidFill>
          <a:ln w="19050">
            <a:solidFill>
              <a:srgbClr val="0809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41767" y="2331720"/>
            <a:ext cx="2286000" cy="914400"/>
          </a:xfrm>
          <a:prstGeom prst="rect">
            <a:avLst/>
          </a:prstGeom>
          <a:noFill/>
        </p:spPr>
        <p:txBody>
          <a:bodyPr wrap="square">
            <a:spAutoFit/>
          </a:bodyPr>
          <a:lstStyle/>
          <a:p>
            <a:pPr algn="ctr"/>
            <a:r>
              <a:rPr sz="3400" b="1">
                <a:solidFill>
                  <a:srgbClr val="F5F3FF"/>
                </a:solidFill>
                <a:latin typeface="Calibri"/>
              </a:rPr>
              <a:t>$400M+</a:t>
            </a:r>
          </a:p>
        </p:txBody>
      </p:sp>
      <p:sp>
        <p:nvSpPr>
          <p:cNvPr id="16" name="TextBox 15"/>
          <p:cNvSpPr txBox="1"/>
          <p:nvPr/>
        </p:nvSpPr>
        <p:spPr>
          <a:xfrm>
            <a:off x="7741767" y="3246120"/>
            <a:ext cx="2286000" cy="411480"/>
          </a:xfrm>
          <a:prstGeom prst="rect">
            <a:avLst/>
          </a:prstGeom>
          <a:noFill/>
        </p:spPr>
        <p:txBody>
          <a:bodyPr wrap="square">
            <a:spAutoFit/>
          </a:bodyPr>
          <a:lstStyle/>
          <a:p>
            <a:pPr algn="ctr"/>
            <a:r>
              <a:rPr sz="1200" b="0">
                <a:solidFill>
                  <a:srgbClr val="9B8EC4"/>
                </a:solidFill>
                <a:latin typeface="Calibri"/>
              </a:rPr>
              <a:t>Optimistic Y3</a:t>
            </a:r>
          </a:p>
        </p:txBody>
      </p:sp>
      <p:sp>
        <p:nvSpPr>
          <p:cNvPr id="17" name="TextBox 16"/>
          <p:cNvSpPr txBox="1"/>
          <p:nvPr/>
        </p:nvSpPr>
        <p:spPr>
          <a:xfrm>
            <a:off x="7696047" y="3657600"/>
            <a:ext cx="2377440" cy="457200"/>
          </a:xfrm>
          <a:prstGeom prst="rect">
            <a:avLst/>
          </a:prstGeom>
          <a:noFill/>
        </p:spPr>
        <p:txBody>
          <a:bodyPr wrap="square">
            <a:spAutoFit/>
          </a:bodyPr>
          <a:lstStyle/>
          <a:p>
            <a:pPr algn="ctr"/>
            <a:r>
              <a:rPr sz="1000" b="0">
                <a:solidFill>
                  <a:srgbClr val="5C4E7A"/>
                </a:solidFill>
                <a:latin typeface="Calibri"/>
              </a:rPr>
              <a:t>Achieving and potentially exceeding the $400M SOM target, driven by successful adjacent market expansion, new category creation, and dominant market share in AI-native product development.</a:t>
            </a:r>
          </a:p>
        </p:txBody>
      </p:sp>
      <p:sp>
        <p:nvSpPr>
          <p:cNvPr id="18" name="TextBox 17"/>
          <p:cNvSpPr txBox="1"/>
          <p:nvPr/>
        </p:nvSpPr>
        <p:spPr>
          <a:xfrm>
            <a:off x="731520" y="4572000"/>
            <a:ext cx="10698480" cy="822960"/>
          </a:xfrm>
          <a:prstGeom prst="rect">
            <a:avLst/>
          </a:prstGeom>
          <a:noFill/>
        </p:spPr>
        <p:txBody>
          <a:bodyPr wrap="square">
            <a:spAutoFit/>
          </a:bodyPr>
          <a:lstStyle/>
          <a:p>
            <a:pPr algn="l"/>
            <a:r>
              <a:rPr sz="1400" b="0">
                <a:solidFill>
                  <a:srgbClr val="9B8EC4"/>
                </a:solidFill>
                <a:latin typeface="Calibri"/>
              </a:rPr>
              <a:t>Assumptions: SaaS subscription model, land-and-expand motion, CAC payback &lt; 12 months.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8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5C4E7A"/>
                </a:solidFill>
                <a:latin typeface="Calibri"/>
              </a:rPr>
              <a:t>ASK</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The Ask</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9B8EC4"/>
                </a:solidFill>
                <a:latin typeface="Calibri"/>
              </a:rPr>
              <a:t>Investment to reach the next milestone</a:t>
            </a:r>
          </a:p>
        </p:txBody>
      </p:sp>
      <p:sp>
        <p:nvSpPr>
          <p:cNvPr id="6" name="Rectangle 5"/>
          <p:cNvSpPr/>
          <p:nvPr/>
        </p:nvSpPr>
        <p:spPr>
          <a:xfrm>
            <a:off x="17524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08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Product</a:t>
            </a:r>
          </a:p>
        </p:txBody>
      </p:sp>
      <p:sp>
        <p:nvSpPr>
          <p:cNvPr id="9" name="TextBox 8"/>
          <p:cNvSpPr txBox="1"/>
          <p:nvPr/>
        </p:nvSpPr>
        <p:spPr>
          <a:xfrm>
            <a:off x="1935327" y="2651760"/>
            <a:ext cx="2377440" cy="502920"/>
          </a:xfrm>
          <a:prstGeom prst="rect">
            <a:avLst/>
          </a:prstGeom>
          <a:noFill/>
        </p:spPr>
        <p:txBody>
          <a:bodyPr wrap="square">
            <a:spAutoFit/>
          </a:bodyPr>
          <a:lstStyle/>
          <a:p>
            <a:pPr algn="l"/>
            <a:r>
              <a:rPr sz="2200" b="1">
                <a:solidFill>
                  <a:srgbClr val="08090A"/>
                </a:solidFill>
                <a:latin typeface="Calibri"/>
              </a:rPr>
              <a:t>40%</a:t>
            </a:r>
          </a:p>
        </p:txBody>
      </p:sp>
      <p:sp>
        <p:nvSpPr>
          <p:cNvPr id="10" name="TextBox 9"/>
          <p:cNvSpPr txBox="1"/>
          <p:nvPr/>
        </p:nvSpPr>
        <p:spPr>
          <a:xfrm>
            <a:off x="1935327" y="3154680"/>
            <a:ext cx="2377440" cy="1874520"/>
          </a:xfrm>
          <a:prstGeom prst="rect">
            <a:avLst/>
          </a:prstGeom>
          <a:noFill/>
        </p:spPr>
        <p:txBody>
          <a:bodyPr wrap="square">
            <a:spAutoFit/>
          </a:bodyPr>
          <a:lstStyle/>
          <a:p>
            <a:pPr algn="l"/>
            <a:r>
              <a:rPr sz="1300" b="0">
                <a:solidFill>
                  <a:srgbClr val="9B8EC4"/>
                </a:solidFill>
                <a:latin typeface="Calibri"/>
              </a:rPr>
              <a:t>Expand engineering team, accelerate roadmap, build enterprise features</a:t>
            </a:r>
          </a:p>
        </p:txBody>
      </p:sp>
      <p:sp>
        <p:nvSpPr>
          <p:cNvPr id="11" name="Rectangle 10"/>
          <p:cNvSpPr/>
          <p:nvPr/>
        </p:nvSpPr>
        <p:spPr>
          <a:xfrm>
            <a:off x="47242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24247" y="1920240"/>
            <a:ext cx="2743200" cy="54864"/>
          </a:xfrm>
          <a:prstGeom prst="rect">
            <a:avLst/>
          </a:prstGeom>
          <a:solidFill>
            <a:srgbClr val="3F3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Go-to-Market</a:t>
            </a:r>
          </a:p>
        </p:txBody>
      </p:sp>
      <p:sp>
        <p:nvSpPr>
          <p:cNvPr id="14" name="TextBox 13"/>
          <p:cNvSpPr txBox="1"/>
          <p:nvPr/>
        </p:nvSpPr>
        <p:spPr>
          <a:xfrm>
            <a:off x="4907127" y="2651760"/>
            <a:ext cx="2377440" cy="502920"/>
          </a:xfrm>
          <a:prstGeom prst="rect">
            <a:avLst/>
          </a:prstGeom>
          <a:noFill/>
        </p:spPr>
        <p:txBody>
          <a:bodyPr wrap="square">
            <a:spAutoFit/>
          </a:bodyPr>
          <a:lstStyle/>
          <a:p>
            <a:pPr algn="l"/>
            <a:r>
              <a:rPr sz="2200" b="1">
                <a:solidFill>
                  <a:srgbClr val="3F3F3F"/>
                </a:solidFill>
                <a:latin typeface="Calibri"/>
              </a:rPr>
              <a:t>40%</a:t>
            </a:r>
          </a:p>
        </p:txBody>
      </p:sp>
      <p:sp>
        <p:nvSpPr>
          <p:cNvPr id="15" name="TextBox 14"/>
          <p:cNvSpPr txBox="1"/>
          <p:nvPr/>
        </p:nvSpPr>
        <p:spPr>
          <a:xfrm>
            <a:off x="4907127" y="3154680"/>
            <a:ext cx="2377440" cy="1874520"/>
          </a:xfrm>
          <a:prstGeom prst="rect">
            <a:avLst/>
          </a:prstGeom>
          <a:noFill/>
        </p:spPr>
        <p:txBody>
          <a:bodyPr wrap="square">
            <a:spAutoFit/>
          </a:bodyPr>
          <a:lstStyle/>
          <a:p>
            <a:pPr algn="l"/>
            <a:r>
              <a:rPr sz="1300" b="0">
                <a:solidFill>
                  <a:srgbClr val="9B8EC4"/>
                </a:solidFill>
                <a:latin typeface="Calibri"/>
              </a:rPr>
              <a:t>Hire first sales reps, launch demand gen programs, close anchor customers</a:t>
            </a:r>
          </a:p>
        </p:txBody>
      </p:sp>
      <p:sp>
        <p:nvSpPr>
          <p:cNvPr id="16" name="Rectangle 15"/>
          <p:cNvSpPr/>
          <p:nvPr/>
        </p:nvSpPr>
        <p:spPr>
          <a:xfrm>
            <a:off x="7696047" y="1920240"/>
            <a:ext cx="2743200" cy="3291840"/>
          </a:xfrm>
          <a:prstGeom prst="rect">
            <a:avLst/>
          </a:prstGeom>
          <a:solidFill>
            <a:srgbClr val="1A1130"/>
          </a:solidFill>
          <a:ln w="12700">
            <a:solidFill>
              <a:srgbClr val="2A1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96047" y="1920240"/>
            <a:ext cx="2743200" cy="54864"/>
          </a:xfrm>
          <a:prstGeom prst="rect">
            <a:avLst/>
          </a:prstGeom>
          <a:solidFill>
            <a:srgbClr val="7B2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Operations</a:t>
            </a:r>
          </a:p>
        </p:txBody>
      </p:sp>
      <p:sp>
        <p:nvSpPr>
          <p:cNvPr id="19" name="TextBox 18"/>
          <p:cNvSpPr txBox="1"/>
          <p:nvPr/>
        </p:nvSpPr>
        <p:spPr>
          <a:xfrm>
            <a:off x="7878927" y="2651760"/>
            <a:ext cx="2377440" cy="502920"/>
          </a:xfrm>
          <a:prstGeom prst="rect">
            <a:avLst/>
          </a:prstGeom>
          <a:noFill/>
        </p:spPr>
        <p:txBody>
          <a:bodyPr wrap="square">
            <a:spAutoFit/>
          </a:bodyPr>
          <a:lstStyle/>
          <a:p>
            <a:pPr algn="l"/>
            <a:r>
              <a:rPr sz="2200" b="1">
                <a:solidFill>
                  <a:srgbClr val="7B2CBF"/>
                </a:solidFill>
                <a:latin typeface="Calibri"/>
              </a:rPr>
              <a:t>20%</a:t>
            </a:r>
          </a:p>
        </p:txBody>
      </p:sp>
      <p:sp>
        <p:nvSpPr>
          <p:cNvPr id="20" name="TextBox 19"/>
          <p:cNvSpPr txBox="1"/>
          <p:nvPr/>
        </p:nvSpPr>
        <p:spPr>
          <a:xfrm>
            <a:off x="7878927" y="3154680"/>
            <a:ext cx="2377440" cy="1874520"/>
          </a:xfrm>
          <a:prstGeom prst="rect">
            <a:avLst/>
          </a:prstGeom>
          <a:noFill/>
        </p:spPr>
        <p:txBody>
          <a:bodyPr wrap="square">
            <a:spAutoFit/>
          </a:bodyPr>
          <a:lstStyle/>
          <a:p>
            <a:pPr algn="l"/>
            <a:r>
              <a:rPr sz="1300" b="0">
                <a:solidFill>
                  <a:srgbClr val="9B8EC4"/>
                </a:solidFill>
                <a:latin typeface="Calibri"/>
              </a:rPr>
              <a:t>Build customer success team, scale infrastructure, strengthen ops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716"/>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809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3F3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32720" cy="1463040"/>
          </a:xfrm>
          <a:prstGeom prst="rect">
            <a:avLst/>
          </a:prstGeom>
          <a:noFill/>
        </p:spPr>
        <p:txBody>
          <a:bodyPr wrap="square">
            <a:spAutoFit/>
          </a:bodyPr>
          <a:lstStyle/>
          <a:p>
            <a:pPr algn="ctr"/>
            <a:r>
              <a:rPr sz="4800" b="1">
                <a:solidFill>
                  <a:srgbClr val="F5F3FF"/>
                </a:solidFill>
                <a:latin typeface="Calibri"/>
              </a:rPr>
              <a:t>Linear is the AI-native product development system for world-class engineering and product teams that deeply integrates AI workflows and intelligent agents into core operations, unlike legacy incumbents like Jira which are complex, slow, and lack modern AI capabilities.</a:t>
            </a:r>
          </a:p>
        </p:txBody>
      </p:sp>
      <p:sp>
        <p:nvSpPr>
          <p:cNvPr id="5" name="TextBox 4"/>
          <p:cNvSpPr txBox="1"/>
          <p:nvPr/>
        </p:nvSpPr>
        <p:spPr>
          <a:xfrm>
            <a:off x="1371600" y="3200400"/>
            <a:ext cx="9418320" cy="731520"/>
          </a:xfrm>
          <a:prstGeom prst="rect">
            <a:avLst/>
          </a:prstGeom>
          <a:noFill/>
        </p:spPr>
        <p:txBody>
          <a:bodyPr wrap="square">
            <a:spAutoFit/>
          </a:bodyPr>
          <a:lstStyle/>
          <a:p>
            <a:pPr algn="ctr"/>
            <a:r>
              <a:rPr sz="2200" b="0">
                <a:solidFill>
                  <a:srgbClr val="9B8EC4"/>
                </a:solidFill>
                <a:latin typeface="Calibri"/>
              </a:rPr>
              <a:t>Join us in building the category leader.</a:t>
            </a:r>
          </a:p>
        </p:txBody>
      </p:sp>
      <p:sp>
        <p:nvSpPr>
          <p:cNvPr id="6" name="TextBox 5"/>
          <p:cNvSpPr txBox="1"/>
          <p:nvPr/>
        </p:nvSpPr>
        <p:spPr>
          <a:xfrm>
            <a:off x="1828800" y="4023360"/>
            <a:ext cx="8503920" cy="731520"/>
          </a:xfrm>
          <a:prstGeom prst="rect">
            <a:avLst/>
          </a:prstGeom>
          <a:noFill/>
        </p:spPr>
        <p:txBody>
          <a:bodyPr wrap="square">
            <a:spAutoFit/>
          </a:bodyPr>
          <a:lstStyle/>
          <a:p>
            <a:pPr algn="ctr"/>
            <a:r>
              <a:rPr sz="1500" b="0">
                <a:solidFill>
                  <a:srgbClr val="5C4E7A"/>
                </a:solidFill>
                <a:latin typeface="Calibri"/>
              </a:rPr>
              <a:t>Contact us • Linear</a:t>
            </a:r>
          </a:p>
        </p:txBody>
      </p:sp>
      <p:sp>
        <p:nvSpPr>
          <p:cNvPr id="7" name="TextBox 6"/>
          <p:cNvSpPr txBox="1"/>
          <p:nvPr/>
        </p:nvSpPr>
        <p:spPr>
          <a:xfrm>
            <a:off x="3200400" y="6309360"/>
            <a:ext cx="5760720" cy="365760"/>
          </a:xfrm>
          <a:prstGeom prst="rect">
            <a:avLst/>
          </a:prstGeom>
          <a:noFill/>
        </p:spPr>
        <p:txBody>
          <a:bodyPr wrap="square">
            <a:spAutoFit/>
          </a:bodyPr>
          <a:lstStyle/>
          <a:p>
            <a:pPr algn="ctr"/>
            <a:r>
              <a:rPr sz="1000" b="0">
                <a:solidFill>
                  <a:srgbClr val="5C4E7A"/>
                </a:solidFill>
                <a:latin typeface="Calibri"/>
              </a:rPr>
              <a:t>Investor Presentation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