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463040"/>
          </a:xfrm>
          <a:prstGeom prst="rect">
            <a:avLst/>
          </a:prstGeom>
          <a:noFill/>
        </p:spPr>
        <p:txBody>
          <a:bodyPr wrap="square">
            <a:spAutoFit/>
          </a:bodyPr>
          <a:lstStyle/>
          <a:p>
            <a:pPr algn="ctr"/>
            <a:r>
              <a:rPr sz="4800" b="1">
                <a:solidFill>
                  <a:srgbClr val="F5F3FF"/>
                </a:solidFill>
                <a:latin typeface="Calibri"/>
              </a:rPr>
              <a:t>Stripe</a:t>
            </a:r>
          </a:p>
        </p:txBody>
      </p:sp>
      <p:sp>
        <p:nvSpPr>
          <p:cNvPr id="5" name="TextBox 4"/>
          <p:cNvSpPr txBox="1"/>
          <p:nvPr/>
        </p:nvSpPr>
        <p:spPr>
          <a:xfrm>
            <a:off x="1371600" y="3200400"/>
            <a:ext cx="9418320" cy="731520"/>
          </a:xfrm>
          <a:prstGeom prst="rect">
            <a:avLst/>
          </a:prstGeom>
          <a:noFill/>
        </p:spPr>
        <p:txBody>
          <a:bodyPr wrap="square">
            <a:spAutoFit/>
          </a:bodyPr>
          <a:lstStyle/>
          <a:p>
            <a:pPr algn="ctr"/>
            <a:r>
              <a:rPr sz="2200" b="0">
                <a:solidFill>
                  <a:srgbClr val="9B8EC4"/>
                </a:solidFill>
                <a:latin typeface="Calibri"/>
              </a:rPr>
              <a:t>Financial Infrastructure to Grow Your Revenue</a:t>
            </a:r>
          </a:p>
        </p:txBody>
      </p:sp>
      <p:sp>
        <p:nvSpPr>
          <p:cNvPr id="6" name="TextBox 5"/>
          <p:cNvSpPr txBox="1"/>
          <p:nvPr/>
        </p:nvSpPr>
        <p:spPr>
          <a:xfrm>
            <a:off x="1828800" y="4023360"/>
            <a:ext cx="8503920" cy="731520"/>
          </a:xfrm>
          <a:prstGeom prst="rect">
            <a:avLst/>
          </a:prstGeom>
          <a:noFill/>
        </p:spPr>
        <p:txBody>
          <a:bodyPr wrap="square">
            <a:spAutoFit/>
          </a:bodyPr>
          <a:lstStyle/>
          <a:p>
            <a:pPr algn="ctr"/>
            <a:r>
              <a:rPr sz="1500" b="0">
                <a:solidFill>
                  <a:srgbClr val="5C4E7A"/>
                </a:solidFill>
                <a:latin typeface="Calibri"/>
              </a:rPr>
              <a:t>Stripe provides financial infrastructure and a comprehensive set of payments and financial tools for businesses of all sizes, from scaling startups to global enterprises. It allows them to accept and optimize payments globally, implement various billing models, and offer financial services, supporting growth from their first transaction to their billionth.</a:t>
            </a:r>
          </a:p>
        </p:txBody>
      </p:sp>
      <p:sp>
        <p:nvSpPr>
          <p:cNvPr id="7" name="TextBox 6"/>
          <p:cNvSpPr txBox="1"/>
          <p:nvPr/>
        </p:nvSpPr>
        <p:spPr>
          <a:xfrm>
            <a:off x="3200400" y="6309360"/>
            <a:ext cx="5760720" cy="365760"/>
          </a:xfrm>
          <a:prstGeom prst="rect">
            <a:avLst/>
          </a:prstGeom>
          <a:noFill/>
        </p:spPr>
        <p:txBody>
          <a:bodyPr wrap="square">
            <a:spAutoFit/>
          </a:bodyPr>
          <a:lstStyle/>
          <a:p>
            <a:pPr algn="ctr"/>
            <a:r>
              <a:rPr sz="1000" b="0">
                <a:solidFill>
                  <a:srgbClr val="5C4E7A"/>
                </a:solidFill>
                <a:latin typeface="Calibri"/>
              </a:rPr>
              <a:t>Investor Presentation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PROBLEM</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Problem</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The FinTech industry is broken</a:t>
            </a:r>
          </a:p>
        </p:txBody>
      </p:sp>
      <p:sp>
        <p:nvSpPr>
          <p:cNvPr id="6" name="Rectangle 5"/>
          <p:cNvSpPr/>
          <p:nvPr/>
        </p:nvSpPr>
        <p:spPr>
          <a:xfrm>
            <a:off x="17524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Pain Point 1</a:t>
            </a:r>
          </a:p>
        </p:txBody>
      </p:sp>
      <p:sp>
        <p:nvSpPr>
          <p:cNvPr id="9" name="TextBox 8"/>
          <p:cNvSpPr txBox="1"/>
          <p:nvPr/>
        </p:nvSpPr>
        <p:spPr>
          <a:xfrm>
            <a:off x="1935327" y="2697480"/>
            <a:ext cx="2377440" cy="2331720"/>
          </a:xfrm>
          <a:prstGeom prst="rect">
            <a:avLst/>
          </a:prstGeom>
          <a:noFill/>
        </p:spPr>
        <p:txBody>
          <a:bodyPr wrap="square">
            <a:spAutoFit/>
          </a:bodyPr>
          <a:lstStyle/>
          <a:p>
            <a:pPr algn="l"/>
            <a:r>
              <a:rPr sz="1300" b="0">
                <a:solidFill>
                  <a:srgbClr val="9B8EC4"/>
                </a:solidFill>
                <a:latin typeface="Calibri"/>
              </a:rPr>
              <a:t>High Payment Processing Costs &amp; Fees: Businesses face average online transaction fees of 2.2% - 2.9% + $0.30, constantly seeking to optimize these costs and increase profitability.</a:t>
            </a:r>
          </a:p>
        </p:txBody>
      </p:sp>
      <p:sp>
        <p:nvSpPr>
          <p:cNvPr id="10" name="Rectangle 9"/>
          <p:cNvSpPr/>
          <p:nvPr/>
        </p:nvSpPr>
        <p:spPr>
          <a:xfrm>
            <a:off x="47242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24247" y="1920240"/>
            <a:ext cx="2743200" cy="5486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Pain Point 1</a:t>
            </a:r>
          </a:p>
        </p:txBody>
      </p:sp>
      <p:sp>
        <p:nvSpPr>
          <p:cNvPr id="13" name="TextBox 12"/>
          <p:cNvSpPr txBox="1"/>
          <p:nvPr/>
        </p:nvSpPr>
        <p:spPr>
          <a:xfrm>
            <a:off x="4907127" y="2697480"/>
            <a:ext cx="2377440" cy="2331720"/>
          </a:xfrm>
          <a:prstGeom prst="rect">
            <a:avLst/>
          </a:prstGeom>
          <a:noFill/>
        </p:spPr>
        <p:txBody>
          <a:bodyPr wrap="square">
            <a:spAutoFit/>
          </a:bodyPr>
          <a:lstStyle/>
          <a:p>
            <a:pPr algn="l"/>
            <a:r>
              <a:rPr sz="1300" b="0">
                <a:solidFill>
                  <a:srgbClr val="9B8EC4"/>
                </a:solidFill>
                <a:latin typeface="Calibri"/>
              </a:rPr>
              <a:t>Escalating Fraud &amp; Chargeback Losses: E-commerce fraud losses are projected to exceed $48 billion globally in 2023, with chargebacks costing merchants 1.5-3x the transaction value, leading to significant revenue drain.</a:t>
            </a:r>
          </a:p>
        </p:txBody>
      </p:sp>
      <p:sp>
        <p:nvSpPr>
          <p:cNvPr id="14" name="Rectangle 13"/>
          <p:cNvSpPr/>
          <p:nvPr/>
        </p:nvSpPr>
        <p:spPr>
          <a:xfrm>
            <a:off x="76960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960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Pain Point 1</a:t>
            </a:r>
          </a:p>
        </p:txBody>
      </p:sp>
      <p:sp>
        <p:nvSpPr>
          <p:cNvPr id="17" name="TextBox 16"/>
          <p:cNvSpPr txBox="1"/>
          <p:nvPr/>
        </p:nvSpPr>
        <p:spPr>
          <a:xfrm>
            <a:off x="7878927" y="2697480"/>
            <a:ext cx="2377440" cy="2331720"/>
          </a:xfrm>
          <a:prstGeom prst="rect">
            <a:avLst/>
          </a:prstGeom>
          <a:noFill/>
        </p:spPr>
        <p:txBody>
          <a:bodyPr wrap="square">
            <a:spAutoFit/>
          </a:bodyPr>
          <a:lstStyle/>
          <a:p>
            <a:pPr algn="l"/>
            <a:r>
              <a:rPr sz="1300" b="0">
                <a:solidFill>
                  <a:srgbClr val="9B8EC4"/>
                </a:solidFill>
                <a:latin typeface="Calibri"/>
              </a:rPr>
              <a:t>Complexity of Global Expansion: Managing multiple local payment methods, navigating diverse regulatory landscapes, and ensuring tax compliance across 100+ countries remains a major hurdle for businesses scaling internationally.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SOLUTION</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Our Solution</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Stripe provides financial infrastructure and a comprehensive set of payments and financial tools for businesses of all sizes, from scaling startups to global enterprises. It allows them to accept and optimize payments globally, implement various billing models, and offer financial services, supporting growth from their first transaction to their billionth.</a:t>
            </a:r>
          </a:p>
        </p:txBody>
      </p:sp>
      <p:sp>
        <p:nvSpPr>
          <p:cNvPr id="6" name="Oval 5"/>
          <p:cNvSpPr/>
          <p:nvPr/>
        </p:nvSpPr>
        <p:spPr>
          <a:xfrm>
            <a:off x="731520" y="2048256"/>
            <a:ext cx="109728" cy="109728"/>
          </a:xfrm>
          <a:prstGeom prst="ellipse">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920240"/>
            <a:ext cx="5010912" cy="512064"/>
          </a:xfrm>
          <a:prstGeom prst="rect">
            <a:avLst/>
          </a:prstGeom>
          <a:noFill/>
        </p:spPr>
        <p:txBody>
          <a:bodyPr wrap="square">
            <a:spAutoFit/>
          </a:bodyPr>
          <a:lstStyle/>
          <a:p>
            <a:pPr algn="l"/>
            <a:r>
              <a:rPr sz="1400" b="0">
                <a:solidFill>
                  <a:srgbClr val="9B8EC4"/>
                </a:solidFill>
                <a:latin typeface="Calibri"/>
              </a:rPr>
              <a:t>Developer-first API and comprehensive product suite: Stripe offers 100+ API calls and a full stack of tools (payments, billing, fraud, identity, corporate cards, treasury, lending) designed for seamless integration.</a:t>
            </a:r>
          </a:p>
        </p:txBody>
      </p:sp>
      <p:sp>
        <p:nvSpPr>
          <p:cNvPr id="8" name="Oval 7"/>
          <p:cNvSpPr/>
          <p:nvPr/>
        </p:nvSpPr>
        <p:spPr>
          <a:xfrm>
            <a:off x="731520" y="2615184"/>
            <a:ext cx="109728" cy="109728"/>
          </a:xfrm>
          <a:prstGeom prst="ellipse">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487168"/>
            <a:ext cx="5010912" cy="512064"/>
          </a:xfrm>
          <a:prstGeom prst="rect">
            <a:avLst/>
          </a:prstGeom>
          <a:noFill/>
        </p:spPr>
        <p:txBody>
          <a:bodyPr wrap="square">
            <a:spAutoFit/>
          </a:bodyPr>
          <a:lstStyle/>
          <a:p>
            <a:pPr algn="l"/>
            <a:r>
              <a:rPr sz="1400" b="0">
                <a:solidFill>
                  <a:srgbClr val="9B8EC4"/>
                </a:solidFill>
                <a:latin typeface="Calibri"/>
              </a:rPr>
              <a:t>Global reach and localization: Supports payments in 135+ currencies and 40+ countries, with localized payment methods, tax, and compliance solutions, reducing complexity for international expansion.</a:t>
            </a:r>
          </a:p>
        </p:txBody>
      </p:sp>
      <p:sp>
        <p:nvSpPr>
          <p:cNvPr id="10" name="Oval 9"/>
          <p:cNvSpPr/>
          <p:nvPr/>
        </p:nvSpPr>
        <p:spPr>
          <a:xfrm>
            <a:off x="6400800" y="2048256"/>
            <a:ext cx="109728" cy="109728"/>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1968" y="1920240"/>
            <a:ext cx="5010912" cy="512064"/>
          </a:xfrm>
          <a:prstGeom prst="rect">
            <a:avLst/>
          </a:prstGeom>
          <a:noFill/>
        </p:spPr>
        <p:txBody>
          <a:bodyPr wrap="square">
            <a:spAutoFit/>
          </a:bodyPr>
          <a:lstStyle/>
          <a:p>
            <a:pPr algn="l"/>
            <a:r>
              <a:rPr sz="1400" b="0">
                <a:solidFill>
                  <a:srgbClr val="9B8EC4"/>
                </a:solidFill>
                <a:latin typeface="Calibri"/>
              </a:rPr>
              <a:t>Innovation in financial infrastructure: Continuously launching new financial services like Stripe Treasury, Stripe Capital, and Stripe Identity, moving beyond pure payments into embedded finance.</a:t>
            </a:r>
          </a:p>
        </p:txBody>
      </p:sp>
      <p:sp>
        <p:nvSpPr>
          <p:cNvPr id="12" name="Oval 11"/>
          <p:cNvSpPr/>
          <p:nvPr/>
        </p:nvSpPr>
        <p:spPr>
          <a:xfrm>
            <a:off x="6400800" y="2615184"/>
            <a:ext cx="109728" cy="109728"/>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01968" y="2487168"/>
            <a:ext cx="5010912" cy="512064"/>
          </a:xfrm>
          <a:prstGeom prst="rect">
            <a:avLst/>
          </a:prstGeom>
          <a:noFill/>
        </p:spPr>
        <p:txBody>
          <a:bodyPr wrap="square">
            <a:spAutoFit/>
          </a:bodyPr>
          <a:lstStyle/>
          <a:p>
            <a:pPr algn="l"/>
            <a:r>
              <a:rPr sz="1400" b="0">
                <a:solidFill>
                  <a:srgbClr val="9B8EC4"/>
                </a:solidFill>
                <a:latin typeface="Calibri"/>
              </a:rPr>
              <a:t>Scalability and reliability: Engineered to handle massive transaction volumes (over $1 trillion annually processed) with high uptime, catering to both startups and Fortune 500 companies.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MARKET</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Market Opportunity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$280B global FinTech Infrastructure &amp; Payments Software market (2024)</a:t>
            </a:r>
          </a:p>
        </p:txBody>
      </p:sp>
      <p:sp>
        <p:nvSpPr>
          <p:cNvPr id="6" name="Rectangle 5"/>
          <p:cNvSpPr/>
          <p:nvPr/>
        </p:nvSpPr>
        <p:spPr>
          <a:xfrm>
            <a:off x="342122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$280B</a:t>
            </a:r>
          </a:p>
        </p:txBody>
      </p:sp>
      <p:sp>
        <p:nvSpPr>
          <p:cNvPr id="8" name="TextBox 7"/>
          <p:cNvSpPr txBox="1"/>
          <p:nvPr/>
        </p:nvSpPr>
        <p:spPr>
          <a:xfrm>
            <a:off x="3558387" y="3246120"/>
            <a:ext cx="2286000" cy="411480"/>
          </a:xfrm>
          <a:prstGeom prst="rect">
            <a:avLst/>
          </a:prstGeom>
          <a:noFill/>
        </p:spPr>
        <p:txBody>
          <a:bodyPr wrap="square">
            <a:spAutoFit/>
          </a:bodyPr>
          <a:lstStyle/>
          <a:p>
            <a:pPr algn="ctr"/>
            <a:r>
              <a:rPr sz="1200" b="0">
                <a:solidFill>
                  <a:srgbClr val="9B8EC4"/>
                </a:solidFill>
                <a:latin typeface="Calibri"/>
              </a:rPr>
              <a:t>TAM</a:t>
            </a:r>
          </a:p>
        </p:txBody>
      </p:sp>
      <p:sp>
        <p:nvSpPr>
          <p:cNvPr id="9" name="Rectangle 8"/>
          <p:cNvSpPr/>
          <p:nvPr/>
        </p:nvSpPr>
        <p:spPr>
          <a:xfrm>
            <a:off x="621014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21.5% CAGR 2024-2030</a:t>
            </a:r>
          </a:p>
        </p:txBody>
      </p:sp>
      <p:sp>
        <p:nvSpPr>
          <p:cNvPr id="11" name="TextBox 10"/>
          <p:cNvSpPr txBox="1"/>
          <p:nvPr/>
        </p:nvSpPr>
        <p:spPr>
          <a:xfrm>
            <a:off x="6347307" y="3246120"/>
            <a:ext cx="2286000" cy="411480"/>
          </a:xfrm>
          <a:prstGeom prst="rect">
            <a:avLst/>
          </a:prstGeom>
          <a:noFill/>
        </p:spPr>
        <p:txBody>
          <a:bodyPr wrap="square">
            <a:spAutoFit/>
          </a:bodyPr>
          <a:lstStyle/>
          <a:p>
            <a:pPr algn="ctr"/>
            <a:r>
              <a:rPr sz="1200" b="0">
                <a:solidFill>
                  <a:srgbClr val="9B8EC4"/>
                </a:solidFill>
                <a:latin typeface="Calibri"/>
              </a:rPr>
              <a:t>Growth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463040"/>
          </a:xfrm>
          <a:prstGeom prst="rect">
            <a:avLst/>
          </a:prstGeom>
          <a:noFill/>
        </p:spPr>
        <p:txBody>
          <a:bodyPr wrap="square">
            <a:spAutoFit/>
          </a:bodyPr>
          <a:lstStyle/>
          <a:p>
            <a:pPr algn="ctr"/>
            <a:r>
              <a:rPr sz="4800" b="1">
                <a:solidFill>
                  <a:srgbClr val="F5F3FF"/>
                </a:solidFill>
                <a:latin typeface="Calibri"/>
              </a:rPr>
              <a:t>Let's Build Together</a:t>
            </a:r>
          </a:p>
        </p:txBody>
      </p:sp>
      <p:sp>
        <p:nvSpPr>
          <p:cNvPr id="5" name="TextBox 4"/>
          <p:cNvSpPr txBox="1"/>
          <p:nvPr/>
        </p:nvSpPr>
        <p:spPr>
          <a:xfrm>
            <a:off x="1371600" y="3200400"/>
            <a:ext cx="9418320" cy="731520"/>
          </a:xfrm>
          <a:prstGeom prst="rect">
            <a:avLst/>
          </a:prstGeom>
          <a:noFill/>
        </p:spPr>
        <p:txBody>
          <a:bodyPr wrap="square">
            <a:spAutoFit/>
          </a:bodyPr>
          <a:lstStyle/>
          <a:p>
            <a:pPr algn="ctr"/>
            <a:r>
              <a:rPr sz="2200" b="0">
                <a:solidFill>
                  <a:srgbClr val="9B8EC4"/>
                </a:solidFill>
                <a:latin typeface="Calibri"/>
              </a:rPr>
              <a:t>Financial Infrastructure to Grow Your Revenue</a:t>
            </a:r>
          </a:p>
        </p:txBody>
      </p:sp>
      <p:sp>
        <p:nvSpPr>
          <p:cNvPr id="6" name="TextBox 5"/>
          <p:cNvSpPr txBox="1"/>
          <p:nvPr/>
        </p:nvSpPr>
        <p:spPr>
          <a:xfrm>
            <a:off x="1828800" y="4023360"/>
            <a:ext cx="8503920" cy="731520"/>
          </a:xfrm>
          <a:prstGeom prst="rect">
            <a:avLst/>
          </a:prstGeom>
          <a:noFill/>
        </p:spPr>
        <p:txBody>
          <a:bodyPr wrap="square">
            <a:spAutoFit/>
          </a:bodyPr>
          <a:lstStyle/>
          <a:p>
            <a:pPr algn="ctr"/>
            <a:r>
              <a:rPr sz="1500" b="0">
                <a:solidFill>
                  <a:srgbClr val="5C4E7A"/>
                </a:solidFill>
                <a:latin typeface="Calibri"/>
              </a:rPr>
              <a:t>Contact: Stripe</a:t>
            </a:r>
          </a:p>
        </p:txBody>
      </p:sp>
      <p:sp>
        <p:nvSpPr>
          <p:cNvPr id="7" name="TextBox 6"/>
          <p:cNvSpPr txBox="1"/>
          <p:nvPr/>
        </p:nvSpPr>
        <p:spPr>
          <a:xfrm>
            <a:off x="3200400" y="6309360"/>
            <a:ext cx="5760720" cy="365760"/>
          </a:xfrm>
          <a:prstGeom prst="rect">
            <a:avLst/>
          </a:prstGeom>
          <a:noFill/>
        </p:spPr>
        <p:txBody>
          <a:bodyPr wrap="square">
            <a:spAutoFit/>
          </a:bodyPr>
          <a:lstStyle/>
          <a:p>
            <a:pPr algn="ctr"/>
            <a:r>
              <a:rPr sz="1000" b="0">
                <a:solidFill>
                  <a:srgbClr val="5C4E7A"/>
                </a:solidFill>
                <a:latin typeface="Calibri"/>
              </a:rPr>
              <a:t>Investor Presentation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